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70" r:id="rId4"/>
    <p:sldId id="264" r:id="rId5"/>
    <p:sldId id="259" r:id="rId6"/>
    <p:sldId id="258" r:id="rId7"/>
    <p:sldId id="276" r:id="rId8"/>
    <p:sldId id="317" r:id="rId9"/>
    <p:sldId id="306" r:id="rId10"/>
    <p:sldId id="279" r:id="rId11"/>
    <p:sldId id="265" r:id="rId12"/>
    <p:sldId id="262" r:id="rId13"/>
    <p:sldId id="277" r:id="rId14"/>
    <p:sldId id="269" r:id="rId15"/>
    <p:sldId id="275" r:id="rId16"/>
    <p:sldId id="273" r:id="rId17"/>
    <p:sldId id="266" r:id="rId18"/>
    <p:sldId id="337" r:id="rId19"/>
    <p:sldId id="278" r:id="rId20"/>
    <p:sldId id="310" r:id="rId21"/>
    <p:sldId id="274" r:id="rId22"/>
    <p:sldId id="330" r:id="rId23"/>
    <p:sldId id="331" r:id="rId24"/>
    <p:sldId id="332" r:id="rId25"/>
    <p:sldId id="304" r:id="rId26"/>
    <p:sldId id="305" r:id="rId27"/>
    <p:sldId id="307" r:id="rId28"/>
    <p:sldId id="308" r:id="rId29"/>
    <p:sldId id="312" r:id="rId30"/>
    <p:sldId id="316" r:id="rId31"/>
    <p:sldId id="313" r:id="rId32"/>
    <p:sldId id="334" r:id="rId33"/>
    <p:sldId id="314" r:id="rId34"/>
    <p:sldId id="315" r:id="rId35"/>
    <p:sldId id="335" r:id="rId36"/>
    <p:sldId id="318" r:id="rId37"/>
    <p:sldId id="319" r:id="rId38"/>
    <p:sldId id="343" r:id="rId39"/>
    <p:sldId id="323" r:id="rId40"/>
    <p:sldId id="324" r:id="rId41"/>
    <p:sldId id="326" r:id="rId42"/>
    <p:sldId id="327" r:id="rId43"/>
    <p:sldId id="272" r:id="rId44"/>
    <p:sldId id="291" r:id="rId45"/>
    <p:sldId id="296" r:id="rId46"/>
    <p:sldId id="338" r:id="rId47"/>
    <p:sldId id="344" r:id="rId48"/>
    <p:sldId id="302" r:id="rId49"/>
    <p:sldId id="345" r:id="rId50"/>
    <p:sldId id="303" r:id="rId51"/>
    <p:sldId id="346" r:id="rId52"/>
    <p:sldId id="295" r:id="rId53"/>
    <p:sldId id="281" r:id="rId54"/>
    <p:sldId id="347" r:id="rId55"/>
    <p:sldId id="283" r:id="rId56"/>
    <p:sldId id="285" r:id="rId57"/>
    <p:sldId id="282" r:id="rId58"/>
    <p:sldId id="339" r:id="rId59"/>
    <p:sldId id="340" r:id="rId60"/>
    <p:sldId id="297" r:id="rId61"/>
    <p:sldId id="298" r:id="rId62"/>
    <p:sldId id="341" r:id="rId63"/>
    <p:sldId id="342" r:id="rId6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854" y="7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89368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93601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9834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3715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9834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692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72692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3877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061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5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692F33-5736-44C0-9D77-675559796DB2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rgbClr val="002060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/>
              <a:t> 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F6466-27C4-4041-ACCA-FF315A1ECEB4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6D1DA-41A4-48F4-9040-076C493BD476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FF6ED5-133D-40CB-9700-D1117EF796D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0A34A1-B7E1-4CA4-881F-593157926AF7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843502-DC9E-4343-91F8-782A977E7840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14C259-747F-4D34-B3AE-17ACC05DCDD1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A3C5A-B856-4BC6-ABF3-716284C220D2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45FC4-1196-46D3-8213-128B181496D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EC9935-188C-491F-8CB0-04DB0BC30CEC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BF4847-E8B0-41FE-A43F-410C29FC420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0C106-22B9-45A8-93CE-680E43D2663F}" type="datetime1">
              <a:rPr lang="ko-KR" altLang="en-US" smtClean="0"/>
              <a:t>2026-07-28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381328"/>
            <a:ext cx="9945555" cy="476672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  마스터 제목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53433" y="6453337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2050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652" y="5933989"/>
            <a:ext cx="685900" cy="685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eclipse.org/downloads/" TargetMode="Externa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hyperlink" Target="https://namu.wiki/w/ANSI" TargetMode="Externa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Relationship Id="rId4" Type="http://schemas.openxmlformats.org/officeDocument/2006/relationships/image" Target="NUL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pPr algn="l"/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자바</a:t>
            </a:r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(Java)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 환경 구축 및 기본문법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75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400" i="1" dirty="0">
                <a:solidFill>
                  <a:schemeClr val="bg1"/>
                </a:solidFill>
              </a:rPr>
              <a:t> JDK &amp; </a:t>
            </a:r>
            <a:r>
              <a:rPr lang="en-US" altLang="ko-KR" sz="2000" i="1" dirty="0">
                <a:solidFill>
                  <a:schemeClr val="bg1"/>
                </a:solidFill>
              </a:rPr>
              <a:t>Eclipse</a:t>
            </a:r>
            <a:endParaRPr lang="ko-KR" altLang="en-US" sz="18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5" name="Picture 2" descr="java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57056" y="3645024"/>
            <a:ext cx="4078760" cy="2447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0D63F9B-A0CD-40DB-9700-D85C71A79654}"/>
              </a:ext>
            </a:extLst>
          </p:cNvPr>
          <p:cNvSpPr txBox="1">
            <a:spLocks/>
          </p:cNvSpPr>
          <p:nvPr/>
        </p:nvSpPr>
        <p:spPr>
          <a:xfrm>
            <a:off x="776536" y="1124744"/>
            <a:ext cx="8784976" cy="48245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</a:rPr>
              <a:t> 프로그래밍이란</a:t>
            </a:r>
            <a:r>
              <a:rPr lang="en-US" altLang="ko-KR" sz="2400" b="1" dirty="0">
                <a:solidFill>
                  <a:schemeClr val="accent6">
                    <a:lumMod val="75000"/>
                  </a:schemeClr>
                </a:solidFill>
              </a:rPr>
              <a:t>?</a:t>
            </a:r>
          </a:p>
          <a:p>
            <a:pPr lvl="1"/>
            <a:r>
              <a:rPr lang="ko-KR" altLang="en-US" sz="1800" dirty="0"/>
              <a:t>컴퓨터 프로그램을 만드는 일</a:t>
            </a:r>
            <a:endParaRPr lang="en-US" altLang="ko-KR" sz="1800" dirty="0"/>
          </a:p>
          <a:p>
            <a:pPr lvl="1"/>
            <a:r>
              <a:rPr lang="ko-KR" altLang="en-US" sz="1800" dirty="0"/>
              <a:t>컴퓨터에게 일을 하도록 명령어를 만드는 것</a:t>
            </a: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>
              <a:buFont typeface="Wingdings" panose="05000000000000000000" pitchFamily="2" charset="2"/>
              <a:buChar char="l"/>
            </a:pPr>
            <a:r>
              <a:rPr lang="ko-KR" altLang="en-US" sz="2400" b="1" dirty="0">
                <a:solidFill>
                  <a:schemeClr val="accent6">
                    <a:lumMod val="75000"/>
                  </a:schemeClr>
                </a:solidFill>
              </a:rPr>
              <a:t> 프로그래밍 언어의 종류</a:t>
            </a:r>
            <a:endParaRPr lang="en-US" altLang="ko-KR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/>
            <a:r>
              <a:rPr lang="en-US" altLang="ko-KR" sz="1800" dirty="0"/>
              <a:t>C</a:t>
            </a:r>
            <a:r>
              <a:rPr lang="ko-KR" altLang="en-US" sz="1800" dirty="0"/>
              <a:t>언어 </a:t>
            </a:r>
            <a:r>
              <a:rPr lang="en-US" altLang="ko-KR" sz="1800" dirty="0"/>
              <a:t>, C++, Java, Python, </a:t>
            </a:r>
            <a:r>
              <a:rPr lang="en-US" altLang="ko-KR" sz="1800" dirty="0" err="1"/>
              <a:t>Javascript</a:t>
            </a:r>
            <a:r>
              <a:rPr lang="en-US" altLang="ko-KR" sz="1800" dirty="0"/>
              <a:t>, C#</a:t>
            </a:r>
          </a:p>
          <a:p>
            <a:pPr marL="457200" lvl="1" indent="0">
              <a:buNone/>
            </a:pPr>
            <a:endParaRPr lang="en-US" altLang="ko-KR" sz="1800" dirty="0"/>
          </a:p>
          <a:p>
            <a:pPr marL="457200" lvl="1" indent="0">
              <a:buNone/>
            </a:pPr>
            <a:endParaRPr lang="en-US" altLang="ko-KR" sz="1950" b="1" dirty="0">
              <a:solidFill>
                <a:schemeClr val="accent6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altLang="ko-KR" sz="2275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프로그래밍과 자바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6314026" y="1196752"/>
            <a:ext cx="3031462" cy="1584176"/>
          </a:xfrm>
          <a:prstGeom prst="wedgeRoundRectCallout">
            <a:avLst>
              <a:gd name="adj1" fmla="val -59352"/>
              <a:gd name="adj2" fmla="val -14094"/>
              <a:gd name="adj3" fmla="val 16667"/>
            </a:avLst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</a:rPr>
              <a:t>만약 사람이 원하는 바를 대략 말하면 컴퓨터가 알아서  프로그램을 만들어 준다면 좋은 것이다</a:t>
            </a:r>
            <a:r>
              <a:rPr lang="en-US" altLang="ko-KR" sz="16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360" y="4581128"/>
            <a:ext cx="1080120" cy="1080120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776536" y="3356992"/>
            <a:ext cx="8856984" cy="22621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200" b="1" dirty="0">
                <a:solidFill>
                  <a:srgbClr val="C00000"/>
                </a:solidFill>
              </a:rPr>
              <a:t> 자바</a:t>
            </a:r>
            <a:r>
              <a:rPr lang="en-US" altLang="ko-KR" sz="2200" b="1" dirty="0">
                <a:solidFill>
                  <a:srgbClr val="C00000"/>
                </a:solidFill>
              </a:rPr>
              <a:t>(Java)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1991</a:t>
            </a:r>
            <a:r>
              <a:rPr lang="ko-KR" altLang="en-US" dirty="0"/>
              <a:t>년 제임스 고슬링을 비롯한 썬 </a:t>
            </a:r>
            <a:r>
              <a:rPr lang="ko-KR" altLang="en-US" dirty="0" err="1"/>
              <a:t>마이크로시스템즈</a:t>
            </a:r>
            <a:r>
              <a:rPr lang="ko-KR" altLang="en-US" dirty="0"/>
              <a:t> 연구원들이 개발했고</a:t>
            </a:r>
            <a:r>
              <a:rPr lang="en-US" altLang="ko-KR" dirty="0"/>
              <a:t>, </a:t>
            </a:r>
            <a:r>
              <a:rPr lang="ko-KR" altLang="en-US" dirty="0"/>
              <a:t>당시에는 </a:t>
            </a:r>
            <a:r>
              <a:rPr lang="en-US" altLang="ko-KR" dirty="0"/>
              <a:t>C, C++</a:t>
            </a:r>
            <a:r>
              <a:rPr lang="ko-KR" altLang="en-US" dirty="0"/>
              <a:t>언어 사용되었고</a:t>
            </a:r>
            <a:r>
              <a:rPr lang="en-US" altLang="ko-KR" dirty="0"/>
              <a:t>, </a:t>
            </a:r>
            <a:r>
              <a:rPr lang="ko-KR" altLang="en-US" dirty="0"/>
              <a:t>가전제품이나 휴대용 장치에 사용하는 독립적으로 작동하는 더 안정된 프로그래밍 언어가 필요했음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지금은 데이터베이스로 유명한 </a:t>
            </a:r>
            <a:r>
              <a:rPr lang="ko-KR" altLang="en-US" dirty="0" err="1"/>
              <a:t>오라클사에</a:t>
            </a:r>
            <a:r>
              <a:rPr lang="ko-KR" altLang="en-US" dirty="0"/>
              <a:t> 인수 되었음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87432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0D63F9B-A0CD-40DB-9700-D85C71A79654}"/>
              </a:ext>
            </a:extLst>
          </p:cNvPr>
          <p:cNvSpPr txBox="1">
            <a:spLocks/>
          </p:cNvSpPr>
          <p:nvPr/>
        </p:nvSpPr>
        <p:spPr>
          <a:xfrm>
            <a:off x="776536" y="980728"/>
            <a:ext cx="8856984" cy="504056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200" b="1" dirty="0">
                <a:solidFill>
                  <a:srgbClr val="C00000"/>
                </a:solidFill>
              </a:rPr>
              <a:t> 자바 언어의 특징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운영 체제에 독립적이다</a:t>
            </a:r>
            <a:r>
              <a:rPr lang="en-US" altLang="ko-KR" sz="2000" dirty="0"/>
              <a:t>. – JVM(</a:t>
            </a:r>
            <a:r>
              <a:rPr lang="ko-KR" altLang="en-US" sz="2000" dirty="0" err="1"/>
              <a:t>자바가상머신</a:t>
            </a:r>
            <a:r>
              <a:rPr lang="en-US" altLang="ko-KR" sz="2000" dirty="0"/>
              <a:t>)</a:t>
            </a:r>
            <a:r>
              <a:rPr lang="ko-KR" altLang="en-US" sz="2000" dirty="0"/>
              <a:t>이 가능하게 함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객체지향 언어이다</a:t>
            </a:r>
            <a:r>
              <a:rPr lang="en-US" altLang="ko-KR" sz="2000" dirty="0"/>
              <a:t>. – </a:t>
            </a:r>
            <a:r>
              <a:rPr lang="ko-KR" altLang="en-US" sz="2000" dirty="0"/>
              <a:t>유지보수가 쉽고</a:t>
            </a:r>
            <a:r>
              <a:rPr lang="en-US" altLang="ko-KR" sz="2000" dirty="0"/>
              <a:t>, </a:t>
            </a:r>
            <a:r>
              <a:rPr lang="ko-KR" altLang="en-US" sz="2000" dirty="0" err="1"/>
              <a:t>확장성이</a:t>
            </a:r>
            <a:r>
              <a:rPr lang="ko-KR" altLang="en-US" sz="2000" dirty="0"/>
              <a:t> 좋다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풍부한 기능이 제공되는 오픈 소스이다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네트워크와 멀티 </a:t>
            </a:r>
            <a:r>
              <a:rPr lang="ko-KR" altLang="en-US" sz="2000" dirty="0" err="1"/>
              <a:t>쓰레드를</a:t>
            </a:r>
            <a:r>
              <a:rPr lang="ko-KR" altLang="en-US" sz="2000" dirty="0"/>
              <a:t> 지원하는 다양한 </a:t>
            </a:r>
            <a:r>
              <a:rPr lang="en-US" altLang="ko-KR" sz="2000" dirty="0"/>
              <a:t>API(</a:t>
            </a:r>
            <a:r>
              <a:rPr lang="ko-KR" altLang="en-US" sz="2000" dirty="0"/>
              <a:t>라이브러리</a:t>
            </a:r>
            <a:r>
              <a:rPr lang="en-US" altLang="ko-KR" sz="20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안드로이드용</a:t>
            </a:r>
            <a:r>
              <a:rPr lang="ko-KR" altLang="en-US" sz="2000" dirty="0"/>
              <a:t> </a:t>
            </a:r>
            <a:r>
              <a:rPr lang="ko-KR" altLang="en-US" sz="2000" dirty="0" err="1"/>
              <a:t>스마트폰</a:t>
            </a:r>
            <a:r>
              <a:rPr lang="ko-KR" altLang="en-US" sz="2000" dirty="0"/>
              <a:t> </a:t>
            </a:r>
            <a:r>
              <a:rPr lang="en-US" altLang="ko-KR" sz="2000" dirty="0"/>
              <a:t>App(</a:t>
            </a:r>
            <a:r>
              <a:rPr lang="ko-KR" altLang="en-US" sz="2000" dirty="0" err="1"/>
              <a:t>앱</a:t>
            </a:r>
            <a:r>
              <a:rPr lang="en-US" altLang="ko-KR" sz="2000" dirty="0"/>
              <a:t>) </a:t>
            </a:r>
            <a:r>
              <a:rPr lang="ko-KR" altLang="en-US" sz="2000" dirty="0"/>
              <a:t>개발 언어로 사용되고 있다</a:t>
            </a:r>
            <a:r>
              <a:rPr lang="en-US" altLang="ko-KR" sz="2000" dirty="0"/>
              <a:t>.</a:t>
            </a:r>
            <a:endParaRPr lang="en-US" altLang="ko-KR" sz="1800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자바란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9392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98B6A95-12FA-466D-A5C6-3DDC5BF5F84B}"/>
              </a:ext>
            </a:extLst>
          </p:cNvPr>
          <p:cNvSpPr txBox="1">
            <a:spLocks/>
          </p:cNvSpPr>
          <p:nvPr/>
        </p:nvSpPr>
        <p:spPr>
          <a:xfrm>
            <a:off x="560512" y="1124744"/>
            <a:ext cx="9001000" cy="38164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200" b="1" dirty="0"/>
              <a:t>웹 사이트</a:t>
            </a:r>
            <a:r>
              <a:rPr lang="en-US" altLang="ko-KR" sz="2200" b="1" dirty="0"/>
              <a:t>(</a:t>
            </a:r>
            <a:r>
              <a:rPr lang="ko-KR" altLang="en-US" sz="2200" b="1" dirty="0"/>
              <a:t>서버</a:t>
            </a:r>
            <a:r>
              <a:rPr lang="en-US" altLang="ko-KR" sz="2200" b="1" dirty="0"/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웹 사이트를 운영하려면 반드시 서버</a:t>
            </a:r>
            <a:r>
              <a:rPr lang="en-US" altLang="ko-KR" sz="1800" dirty="0"/>
              <a:t>(server)</a:t>
            </a:r>
            <a:r>
              <a:rPr lang="ko-KR" altLang="en-US" sz="1800" dirty="0"/>
              <a:t>가 필요하다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검색 사이트</a:t>
            </a:r>
            <a:r>
              <a:rPr lang="en-US" altLang="ko-KR" sz="1800" dirty="0"/>
              <a:t>, </a:t>
            </a:r>
            <a:r>
              <a:rPr lang="ko-KR" altLang="en-US" sz="1800" dirty="0"/>
              <a:t>쇼핑몰</a:t>
            </a:r>
            <a:r>
              <a:rPr lang="en-US" altLang="ko-KR" sz="1800" dirty="0"/>
              <a:t>, </a:t>
            </a:r>
            <a:r>
              <a:rPr lang="ko-KR" altLang="en-US" sz="1800" dirty="0"/>
              <a:t>금융 사이트 등 자바로 개발한 웹 서버 프로그램으로 운영</a:t>
            </a:r>
            <a:endParaRPr lang="en-US" altLang="ko-KR" sz="1800" dirty="0"/>
          </a:p>
          <a:p>
            <a:pPr>
              <a:lnSpc>
                <a:spcPct val="150000"/>
              </a:lnSpc>
            </a:pPr>
            <a:r>
              <a:rPr lang="ko-KR" altLang="en-US" sz="2200" b="1" dirty="0" err="1"/>
              <a:t>안드로이드</a:t>
            </a:r>
            <a:r>
              <a:rPr lang="ko-KR" altLang="en-US" sz="2200" b="1" dirty="0"/>
              <a:t> </a:t>
            </a:r>
            <a:r>
              <a:rPr lang="ko-KR" altLang="en-US" sz="2200" b="1" dirty="0" err="1"/>
              <a:t>앱</a:t>
            </a:r>
            <a:endParaRPr lang="en-US" altLang="ko-KR" sz="2200" b="1" dirty="0"/>
          </a:p>
          <a:p>
            <a:pPr lvl="1">
              <a:lnSpc>
                <a:spcPct val="150000"/>
              </a:lnSpc>
            </a:pPr>
            <a:r>
              <a:rPr lang="ko-KR" altLang="en-US" sz="1950" dirty="0" err="1"/>
              <a:t>안드로이드</a:t>
            </a:r>
            <a:r>
              <a:rPr lang="ko-KR" altLang="en-US" sz="1950" dirty="0"/>
              <a:t> </a:t>
            </a:r>
            <a:r>
              <a:rPr lang="ko-KR" altLang="en-US" sz="1950" dirty="0" err="1"/>
              <a:t>폰에서</a:t>
            </a:r>
            <a:r>
              <a:rPr lang="ko-KR" altLang="en-US" sz="1950" dirty="0"/>
              <a:t> 사용하는 </a:t>
            </a:r>
            <a:r>
              <a:rPr lang="ko-KR" altLang="en-US" sz="1950" dirty="0" err="1"/>
              <a:t>앱을</a:t>
            </a:r>
            <a:r>
              <a:rPr lang="ko-KR" altLang="en-US" sz="1950" dirty="0"/>
              <a:t> 만들 수 있다</a:t>
            </a:r>
            <a:r>
              <a:rPr lang="en-US" altLang="ko-KR" sz="195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2200" b="1" dirty="0"/>
              <a:t>게임</a:t>
            </a:r>
            <a:endParaRPr lang="en-US" altLang="ko-KR" sz="2200" b="1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게임을 </a:t>
            </a:r>
            <a:r>
              <a:rPr lang="ko-KR" altLang="en-US" sz="1800" dirty="0" err="1"/>
              <a:t>만들때는</a:t>
            </a:r>
            <a:r>
              <a:rPr lang="ko-KR" altLang="en-US" sz="1800" dirty="0"/>
              <a:t> </a:t>
            </a:r>
            <a:r>
              <a:rPr lang="en-US" altLang="ko-KR" sz="1800" dirty="0"/>
              <a:t>C++, C</a:t>
            </a:r>
            <a:r>
              <a:rPr lang="ko-KR" altLang="en-US" sz="1800" dirty="0"/>
              <a:t>를 주로 사용하지만 </a:t>
            </a:r>
            <a:r>
              <a:rPr lang="ko-KR" altLang="en-US" sz="1800" dirty="0" err="1"/>
              <a:t>마인크래프트처럼</a:t>
            </a:r>
            <a:r>
              <a:rPr lang="ko-KR" altLang="en-US" sz="1800" dirty="0"/>
              <a:t> 게임을 구현하는데도 사용된다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</a:pPr>
            <a:endParaRPr lang="en-US" altLang="ko-KR" sz="18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자바</a:t>
            </a:r>
            <a:r>
              <a:rPr lang="en-US" altLang="ko-KR" dirty="0"/>
              <a:t>(Java)</a:t>
            </a:r>
            <a:r>
              <a:rPr lang="ko-KR" altLang="en-US" dirty="0"/>
              <a:t>로 개발한 프로그램</a:t>
            </a:r>
          </a:p>
        </p:txBody>
      </p:sp>
      <p:sp>
        <p:nvSpPr>
          <p:cNvPr id="68" name="슬라이드 번호 개체 틀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3074" name="Picture 2" descr="ë§ì¸í¬ëíí¸ì ëí ì´ë¯¸ì§ ê²ìê²°ê³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2898" y="4581128"/>
            <a:ext cx="2438636" cy="1368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8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0745016-E082-4032-96A5-9A00054C8B34}"/>
              </a:ext>
            </a:extLst>
          </p:cNvPr>
          <p:cNvSpPr txBox="1">
            <a:spLocks/>
          </p:cNvSpPr>
          <p:nvPr/>
        </p:nvSpPr>
        <p:spPr>
          <a:xfrm>
            <a:off x="704528" y="980727"/>
            <a:ext cx="8352928" cy="194421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JVM(Java Virtual Machine)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자바 프로그램 실행 환경을 만들어 주는 소프트웨어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자바 코드를 </a:t>
            </a:r>
            <a:r>
              <a:rPr lang="ko-KR" altLang="en-US" sz="1800" dirty="0" err="1"/>
              <a:t>컴파일한</a:t>
            </a:r>
            <a:r>
              <a:rPr lang="ko-KR" altLang="en-US" sz="1800" dirty="0"/>
              <a:t> </a:t>
            </a:r>
            <a:r>
              <a:rPr lang="en-US" altLang="ko-KR" sz="1800" b="1" i="1" dirty="0"/>
              <a:t>.class(</a:t>
            </a:r>
            <a:r>
              <a:rPr lang="ko-KR" altLang="en-US" sz="1800" b="1" i="1" dirty="0"/>
              <a:t>바이트 코드</a:t>
            </a:r>
            <a:r>
              <a:rPr lang="en-US" altLang="ko-KR" sz="1800" b="1" i="1" dirty="0"/>
              <a:t>)</a:t>
            </a:r>
            <a:r>
              <a:rPr lang="ko-KR" altLang="en-US" sz="1800" dirty="0"/>
              <a:t>는 </a:t>
            </a:r>
            <a:r>
              <a:rPr lang="en-US" altLang="ko-KR" sz="1800" dirty="0"/>
              <a:t>JVM </a:t>
            </a:r>
            <a:r>
              <a:rPr lang="ko-KR" altLang="en-US" sz="1800" dirty="0"/>
              <a:t>환경에서 실행됨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컴퓨터의 운영체제에 맞는 자바 실행 환경</a:t>
            </a:r>
            <a:r>
              <a:rPr lang="en-US" altLang="ko-KR" sz="1800" dirty="0"/>
              <a:t>(JRE)</a:t>
            </a:r>
            <a:r>
              <a:rPr lang="ko-KR" altLang="en-US" sz="1800" dirty="0"/>
              <a:t>가 설치되어 있다면 자바 </a:t>
            </a:r>
            <a:r>
              <a:rPr lang="ko-KR" altLang="en-US" sz="1800" dirty="0" err="1"/>
              <a:t>가상머신이</a:t>
            </a:r>
            <a:r>
              <a:rPr lang="ko-KR" altLang="en-US" sz="1800" dirty="0"/>
              <a:t> 설치되어 있는 것이다</a:t>
            </a:r>
            <a:r>
              <a:rPr lang="en-US" altLang="ko-KR" sz="1800" dirty="0"/>
              <a:t>. (JRE &gt; JVM)</a:t>
            </a:r>
          </a:p>
        </p:txBody>
      </p:sp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자바 가상 머신</a:t>
            </a:r>
            <a:r>
              <a:rPr lang="en-US" altLang="ko-KR" dirty="0"/>
              <a:t>(JVM)</a:t>
            </a:r>
            <a:endParaRPr lang="ko-KR" altLang="en-US" dirty="0"/>
          </a:p>
        </p:txBody>
      </p:sp>
      <p:sp>
        <p:nvSpPr>
          <p:cNvPr id="15" name="슬라이드 번호 개체 틀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560512" y="4365104"/>
            <a:ext cx="9001000" cy="1584176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2400" b="1" dirty="0">
                <a:solidFill>
                  <a:sysClr val="windowText" lastClr="000000"/>
                </a:solidFill>
              </a:rPr>
              <a:t>▶ </a:t>
            </a:r>
            <a:r>
              <a:rPr lang="ko-KR" altLang="en-US" sz="2000" b="1" dirty="0">
                <a:solidFill>
                  <a:srgbClr val="E46C0A"/>
                </a:solidFill>
              </a:rPr>
              <a:t>컴파일</a:t>
            </a:r>
            <a:r>
              <a:rPr lang="en-US" altLang="ko-KR" sz="2000" b="1" dirty="0">
                <a:solidFill>
                  <a:srgbClr val="E46C0A"/>
                </a:solidFill>
              </a:rPr>
              <a:t>(Compile)</a:t>
            </a:r>
            <a:r>
              <a:rPr lang="ko-KR" altLang="en-US" sz="2000" b="1" dirty="0">
                <a:solidFill>
                  <a:srgbClr val="E46C0A"/>
                </a:solidFill>
              </a:rPr>
              <a:t>과 컴파일러</a:t>
            </a:r>
            <a:endParaRPr lang="en-US" altLang="ko-KR" b="1" dirty="0">
              <a:solidFill>
                <a:srgbClr val="E46C0A"/>
              </a:solidFill>
            </a:endParaRPr>
          </a:p>
          <a:p>
            <a:pPr marL="0" lvl="1"/>
            <a:r>
              <a:rPr lang="en-US" altLang="ko-KR" b="1" dirty="0">
                <a:solidFill>
                  <a:srgbClr val="E46C0A"/>
                </a:solidFill>
              </a:rPr>
              <a:t>     </a:t>
            </a:r>
            <a:r>
              <a:rPr lang="ko-KR" altLang="en-US" b="1" dirty="0">
                <a:solidFill>
                  <a:schemeClr val="tx1"/>
                </a:solidFill>
              </a:rPr>
              <a:t>컴파일</a:t>
            </a:r>
            <a:r>
              <a:rPr lang="ko-KR" altLang="en-US" dirty="0">
                <a:solidFill>
                  <a:schemeClr val="tx1"/>
                </a:solidFill>
              </a:rPr>
              <a:t>은</a:t>
            </a:r>
            <a:r>
              <a:rPr lang="ko-KR" altLang="en-US" b="1" dirty="0">
                <a:solidFill>
                  <a:srgbClr val="E46C0A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프로그램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코드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를</a:t>
            </a:r>
            <a:r>
              <a:rPr lang="ko-KR" altLang="en-US" b="1" dirty="0">
                <a:solidFill>
                  <a:srgbClr val="E46C0A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컴퓨터가 알 수 있는 언어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기계어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로 바꿔 주는 일</a:t>
            </a:r>
            <a:endParaRPr lang="en-US" altLang="ko-KR" b="1" dirty="0">
              <a:solidFill>
                <a:srgbClr val="E46C0A"/>
              </a:solidFill>
            </a:endParaRPr>
          </a:p>
          <a:p>
            <a:pPr lvl="1"/>
            <a:r>
              <a:rPr lang="ko-KR" altLang="en-US" b="1" dirty="0">
                <a:solidFill>
                  <a:schemeClr val="tx1"/>
                </a:solidFill>
              </a:rPr>
              <a:t>컴파일러</a:t>
            </a:r>
            <a:r>
              <a:rPr lang="ko-KR" altLang="en-US" dirty="0">
                <a:solidFill>
                  <a:schemeClr val="tx1"/>
                </a:solidFill>
              </a:rPr>
              <a:t>는 프로그램 언어를 기계어로 번역해 주는 프로그램으로 자바</a:t>
            </a:r>
            <a:r>
              <a:rPr lang="en-US" altLang="ko-KR" dirty="0">
                <a:solidFill>
                  <a:schemeClr val="tx1"/>
                </a:solidFill>
              </a:rPr>
              <a:t>(JDK)</a:t>
            </a:r>
            <a:r>
              <a:rPr lang="ko-KR" altLang="en-US" dirty="0">
                <a:solidFill>
                  <a:schemeClr val="tx1"/>
                </a:solidFill>
              </a:rPr>
              <a:t>를 설치하면 자바 컴파일러도 설치 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704528" y="2996952"/>
            <a:ext cx="8496944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en-US" altLang="ko-KR" sz="2000" b="1" dirty="0">
                <a:solidFill>
                  <a:srgbClr val="C00000"/>
                </a:solidFill>
              </a:rPr>
              <a:t>JDK</a:t>
            </a:r>
            <a:r>
              <a:rPr lang="ko-KR" altLang="en-US" sz="2000" b="1" dirty="0">
                <a:solidFill>
                  <a:srgbClr val="C00000"/>
                </a:solidFill>
              </a:rPr>
              <a:t>와 </a:t>
            </a:r>
            <a:r>
              <a:rPr lang="en-US" altLang="ko-KR" sz="2000" b="1" dirty="0">
                <a:solidFill>
                  <a:srgbClr val="C00000"/>
                </a:solidFill>
              </a:rPr>
              <a:t>JRE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ysClr val="windowText" lastClr="000000"/>
                </a:solidFill>
              </a:rPr>
              <a:t>  </a:t>
            </a:r>
            <a:r>
              <a:rPr lang="en-US" altLang="ko-KR" b="1" dirty="0">
                <a:solidFill>
                  <a:sysClr val="windowText" lastClr="000000"/>
                </a:solidFill>
              </a:rPr>
              <a:t>JDK</a:t>
            </a:r>
            <a:r>
              <a:rPr lang="en-US" altLang="ko-KR" dirty="0">
                <a:solidFill>
                  <a:sysClr val="windowText" lastClr="000000"/>
                </a:solidFill>
              </a:rPr>
              <a:t>(Java Development Kit) – </a:t>
            </a:r>
            <a:r>
              <a:rPr lang="ko-KR" altLang="en-US" dirty="0">
                <a:solidFill>
                  <a:sysClr val="windowText" lastClr="000000"/>
                </a:solidFill>
              </a:rPr>
              <a:t>자바 개발을 위해 설치하는 라이브러리이다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ysClr val="windowText" lastClr="000000"/>
                </a:solidFill>
              </a:rPr>
              <a:t>  </a:t>
            </a:r>
            <a:r>
              <a:rPr lang="en-US" altLang="ko-KR" b="1" dirty="0">
                <a:solidFill>
                  <a:sysClr val="windowText" lastClr="000000"/>
                </a:solidFill>
              </a:rPr>
              <a:t>JRE</a:t>
            </a:r>
            <a:r>
              <a:rPr lang="en-US" altLang="ko-KR" dirty="0">
                <a:solidFill>
                  <a:sysClr val="windowText" lastClr="000000"/>
                </a:solidFill>
              </a:rPr>
              <a:t>(Java Runtime Environment) – </a:t>
            </a:r>
            <a:r>
              <a:rPr lang="ko-KR" altLang="en-US" dirty="0">
                <a:solidFill>
                  <a:sysClr val="windowText" lastClr="000000"/>
                </a:solidFill>
              </a:rPr>
              <a:t>자바 프로그램이 실행되는 자바실행환경이다</a:t>
            </a:r>
            <a:r>
              <a:rPr lang="en-US" altLang="ko-KR" dirty="0">
                <a:solidFill>
                  <a:sysClr val="windowText" lastClr="000000"/>
                </a:solidFill>
              </a:rPr>
              <a:t>.</a:t>
            </a:r>
            <a:endParaRPr lang="ko-KR" altLang="en-US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3225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자바</a:t>
            </a:r>
            <a:r>
              <a:rPr lang="en-US" altLang="ko-KR" dirty="0"/>
              <a:t>(Java) </a:t>
            </a:r>
            <a:r>
              <a:rPr lang="ko-KR" altLang="en-US" dirty="0"/>
              <a:t>언어</a:t>
            </a:r>
          </a:p>
        </p:txBody>
      </p:sp>
      <p:cxnSp>
        <p:nvCxnSpPr>
          <p:cNvPr id="7" name="직선 연결선 6"/>
          <p:cNvCxnSpPr/>
          <p:nvPr/>
        </p:nvCxnSpPr>
        <p:spPr>
          <a:xfrm>
            <a:off x="4953000" y="1309410"/>
            <a:ext cx="0" cy="421134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2">
            <a:extLst>
              <a:ext uri="{FF2B5EF4-FFF2-40B4-BE49-F238E27FC236}">
                <a16:creationId xmlns:a16="http://schemas.microsoft.com/office/drawing/2014/main" id="{F9FE7181-095B-4129-AFF2-F7405E189265}"/>
              </a:ext>
            </a:extLst>
          </p:cNvPr>
          <p:cNvSpPr/>
          <p:nvPr/>
        </p:nvSpPr>
        <p:spPr>
          <a:xfrm>
            <a:off x="1712641" y="1735693"/>
            <a:ext cx="2016224" cy="454025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63" dirty="0"/>
              <a:t>C </a:t>
            </a:r>
            <a:r>
              <a:rPr lang="ko-KR" altLang="en-US" sz="1463" dirty="0"/>
              <a:t>소스코드</a:t>
            </a:r>
            <a:r>
              <a:rPr lang="en-US" altLang="ko-KR" sz="1463" dirty="0"/>
              <a:t>(*.c)</a:t>
            </a:r>
            <a:endParaRPr lang="ko-KR" altLang="en-US" sz="1463" dirty="0"/>
          </a:p>
        </p:txBody>
      </p:sp>
      <p:grpSp>
        <p:nvGrpSpPr>
          <p:cNvPr id="70" name="그룹 69"/>
          <p:cNvGrpSpPr/>
          <p:nvPr/>
        </p:nvGrpSpPr>
        <p:grpSpPr>
          <a:xfrm>
            <a:off x="1712640" y="2427049"/>
            <a:ext cx="2010802" cy="299244"/>
            <a:chOff x="1712640" y="3688308"/>
            <a:chExt cx="2010802" cy="299244"/>
          </a:xfrm>
        </p:grpSpPr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82FB88BE-A370-4019-B5D3-2FDF9A8FDA90}"/>
                </a:ext>
              </a:extLst>
            </p:cNvPr>
            <p:cNvCxnSpPr>
              <a:cxnSpLocks/>
            </p:cNvCxnSpPr>
            <p:nvPr/>
          </p:nvCxnSpPr>
          <p:spPr>
            <a:xfrm>
              <a:off x="1712640" y="3688308"/>
              <a:ext cx="0" cy="29924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9" name="그룹 68"/>
            <p:cNvGrpSpPr/>
            <p:nvPr/>
          </p:nvGrpSpPr>
          <p:grpSpPr>
            <a:xfrm>
              <a:off x="1712640" y="3688308"/>
              <a:ext cx="2010802" cy="299244"/>
              <a:chOff x="1712640" y="3688308"/>
              <a:chExt cx="2010802" cy="299244"/>
            </a:xfrm>
          </p:grpSpPr>
          <p:cxnSp>
            <p:nvCxnSpPr>
              <p:cNvPr id="16" name="직선 연결선 15">
                <a:extLst>
                  <a:ext uri="{FF2B5EF4-FFF2-40B4-BE49-F238E27FC236}">
                    <a16:creationId xmlns:a16="http://schemas.microsoft.com/office/drawing/2014/main" id="{3C1FE7C3-CEAA-4A3D-8575-5A0BD6642CC5}"/>
                  </a:ext>
                </a:extLst>
              </p:cNvPr>
              <p:cNvCxnSpPr/>
              <p:nvPr/>
            </p:nvCxnSpPr>
            <p:spPr>
              <a:xfrm>
                <a:off x="1712640" y="3688308"/>
                <a:ext cx="201080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118F5D5F-05CA-4DD8-828A-643A67408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723442" y="3688308"/>
                <a:ext cx="0" cy="2992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사각형: 둥근 모서리 36">
            <a:extLst>
              <a:ext uri="{FF2B5EF4-FFF2-40B4-BE49-F238E27FC236}">
                <a16:creationId xmlns:a16="http://schemas.microsoft.com/office/drawing/2014/main" id="{7DB628C6-8E61-4140-A497-6BD70019F87C}"/>
              </a:ext>
            </a:extLst>
          </p:cNvPr>
          <p:cNvSpPr/>
          <p:nvPr/>
        </p:nvSpPr>
        <p:spPr>
          <a:xfrm>
            <a:off x="744214" y="4129643"/>
            <a:ext cx="1760514" cy="454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+mn-ea"/>
              </a:rPr>
              <a:t>윈도우에서 실행</a:t>
            </a:r>
          </a:p>
        </p:txBody>
      </p:sp>
      <p:sp>
        <p:nvSpPr>
          <p:cNvPr id="20" name="사각형: 둥근 모서리 37">
            <a:extLst>
              <a:ext uri="{FF2B5EF4-FFF2-40B4-BE49-F238E27FC236}">
                <a16:creationId xmlns:a16="http://schemas.microsoft.com/office/drawing/2014/main" id="{3D99DF43-933D-4C27-ABB7-EA46C917D0D9}"/>
              </a:ext>
            </a:extLst>
          </p:cNvPr>
          <p:cNvSpPr/>
          <p:nvPr/>
        </p:nvSpPr>
        <p:spPr>
          <a:xfrm>
            <a:off x="744214" y="3458925"/>
            <a:ext cx="1760514" cy="454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latin typeface="+mn-ea"/>
              </a:rPr>
              <a:t>윈도우 실행 파일</a:t>
            </a:r>
          </a:p>
        </p:txBody>
      </p:sp>
      <p:sp>
        <p:nvSpPr>
          <p:cNvPr id="21" name="사각형: 둥근 모서리 38">
            <a:extLst>
              <a:ext uri="{FF2B5EF4-FFF2-40B4-BE49-F238E27FC236}">
                <a16:creationId xmlns:a16="http://schemas.microsoft.com/office/drawing/2014/main" id="{EBFBDE50-9F10-486A-920D-66DAA8AFE4DA}"/>
              </a:ext>
            </a:extLst>
          </p:cNvPr>
          <p:cNvSpPr/>
          <p:nvPr/>
        </p:nvSpPr>
        <p:spPr>
          <a:xfrm>
            <a:off x="744214" y="2777887"/>
            <a:ext cx="1760514" cy="4540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63" dirty="0"/>
              <a:t>윈도우 컴파일러</a:t>
            </a:r>
          </a:p>
        </p:txBody>
      </p:sp>
      <p:sp>
        <p:nvSpPr>
          <p:cNvPr id="29" name="사각형: 둥근 모서리 36">
            <a:extLst>
              <a:ext uri="{FF2B5EF4-FFF2-40B4-BE49-F238E27FC236}">
                <a16:creationId xmlns:a16="http://schemas.microsoft.com/office/drawing/2014/main" id="{7DB628C6-8E61-4140-A497-6BD70019F87C}"/>
              </a:ext>
            </a:extLst>
          </p:cNvPr>
          <p:cNvSpPr/>
          <p:nvPr/>
        </p:nvSpPr>
        <p:spPr>
          <a:xfrm>
            <a:off x="2936776" y="4129643"/>
            <a:ext cx="1760514" cy="454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+mn-ea"/>
              </a:rPr>
              <a:t>리눅스에서</a:t>
            </a:r>
            <a:r>
              <a:rPr lang="ko-KR" altLang="en-US" sz="1600" dirty="0">
                <a:latin typeface="+mn-ea"/>
              </a:rPr>
              <a:t> 실행</a:t>
            </a:r>
          </a:p>
        </p:txBody>
      </p:sp>
      <p:sp>
        <p:nvSpPr>
          <p:cNvPr id="30" name="사각형: 둥근 모서리 37">
            <a:extLst>
              <a:ext uri="{FF2B5EF4-FFF2-40B4-BE49-F238E27FC236}">
                <a16:creationId xmlns:a16="http://schemas.microsoft.com/office/drawing/2014/main" id="{3D99DF43-933D-4C27-ABB7-EA46C917D0D9}"/>
              </a:ext>
            </a:extLst>
          </p:cNvPr>
          <p:cNvSpPr/>
          <p:nvPr/>
        </p:nvSpPr>
        <p:spPr>
          <a:xfrm>
            <a:off x="2936776" y="3458925"/>
            <a:ext cx="1760514" cy="4540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 err="1">
                <a:latin typeface="+mn-ea"/>
              </a:rPr>
              <a:t>리눅스</a:t>
            </a:r>
            <a:r>
              <a:rPr lang="ko-KR" altLang="en-US" sz="1600" dirty="0">
                <a:latin typeface="+mn-ea"/>
              </a:rPr>
              <a:t> 실행 파일</a:t>
            </a:r>
          </a:p>
        </p:txBody>
      </p:sp>
      <p:sp>
        <p:nvSpPr>
          <p:cNvPr id="31" name="사각형: 둥근 모서리 38">
            <a:extLst>
              <a:ext uri="{FF2B5EF4-FFF2-40B4-BE49-F238E27FC236}">
                <a16:creationId xmlns:a16="http://schemas.microsoft.com/office/drawing/2014/main" id="{EBFBDE50-9F10-486A-920D-66DAA8AFE4DA}"/>
              </a:ext>
            </a:extLst>
          </p:cNvPr>
          <p:cNvSpPr/>
          <p:nvPr/>
        </p:nvSpPr>
        <p:spPr>
          <a:xfrm>
            <a:off x="2936776" y="2777887"/>
            <a:ext cx="1760514" cy="454025"/>
          </a:xfrm>
          <a:prstGeom prst="roundRect">
            <a:avLst>
              <a:gd name="adj" fmla="val 50000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63" dirty="0" err="1"/>
              <a:t>리눅스</a:t>
            </a:r>
            <a:r>
              <a:rPr lang="ko-KR" altLang="en-US" sz="1463" dirty="0"/>
              <a:t> 컴파일러</a:t>
            </a:r>
          </a:p>
        </p:txBody>
      </p:sp>
      <p:cxnSp>
        <p:nvCxnSpPr>
          <p:cNvPr id="34" name="직선 화살표 연결선 33"/>
          <p:cNvCxnSpPr>
            <a:stCxn id="11" idx="2"/>
          </p:cNvCxnSpPr>
          <p:nvPr/>
        </p:nvCxnSpPr>
        <p:spPr>
          <a:xfrm flipH="1">
            <a:off x="2718041" y="2189718"/>
            <a:ext cx="2712" cy="2373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21" idx="2"/>
            <a:endCxn id="20" idx="0"/>
          </p:cNvCxnSpPr>
          <p:nvPr/>
        </p:nvCxnSpPr>
        <p:spPr>
          <a:xfrm>
            <a:off x="1624471" y="3231912"/>
            <a:ext cx="0" cy="227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/>
          <p:nvPr/>
        </p:nvCxnSpPr>
        <p:spPr>
          <a:xfrm>
            <a:off x="1620439" y="3912950"/>
            <a:ext cx="0" cy="227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/>
          <p:nvPr/>
        </p:nvCxnSpPr>
        <p:spPr>
          <a:xfrm>
            <a:off x="3732795" y="3231912"/>
            <a:ext cx="0" cy="227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/>
          <p:cNvCxnSpPr/>
          <p:nvPr/>
        </p:nvCxnSpPr>
        <p:spPr>
          <a:xfrm>
            <a:off x="3732795" y="3912950"/>
            <a:ext cx="0" cy="2270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슬라이드 번호 개체 틀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2" name="그룹 1"/>
          <p:cNvGrpSpPr/>
          <p:nvPr/>
        </p:nvGrpSpPr>
        <p:grpSpPr>
          <a:xfrm>
            <a:off x="5160101" y="1663685"/>
            <a:ext cx="4113379" cy="3493783"/>
            <a:chOff x="5160101" y="1663685"/>
            <a:chExt cx="4113379" cy="3493783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5961112" y="2236375"/>
              <a:ext cx="2664296" cy="137239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2">
              <a:extLst>
                <a:ext uri="{FF2B5EF4-FFF2-40B4-BE49-F238E27FC236}">
                  <a16:creationId xmlns:a16="http://schemas.microsoft.com/office/drawing/2014/main" id="{F9FE7181-095B-4129-AFF2-F7405E189265}"/>
                </a:ext>
              </a:extLst>
            </p:cNvPr>
            <p:cNvSpPr/>
            <p:nvPr/>
          </p:nvSpPr>
          <p:spPr>
            <a:xfrm>
              <a:off x="6288831" y="3036079"/>
              <a:ext cx="2016224" cy="45402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63" dirty="0"/>
                <a:t>바이트 코드</a:t>
              </a:r>
              <a:r>
                <a:rPr lang="en-US" altLang="ko-KR" sz="1463" dirty="0"/>
                <a:t>(*.class)</a:t>
              </a:r>
              <a:endParaRPr lang="ko-KR" altLang="en-US" sz="1463" dirty="0"/>
            </a:p>
          </p:txBody>
        </p:sp>
        <p:grpSp>
          <p:nvGrpSpPr>
            <p:cNvPr id="71" name="그룹 70"/>
            <p:cNvGrpSpPr/>
            <p:nvPr/>
          </p:nvGrpSpPr>
          <p:grpSpPr>
            <a:xfrm>
              <a:off x="6288830" y="3727435"/>
              <a:ext cx="2010802" cy="299244"/>
              <a:chOff x="6156636" y="4879287"/>
              <a:chExt cx="2010802" cy="299244"/>
            </a:xfrm>
          </p:grpSpPr>
          <p:cxnSp>
            <p:nvCxnSpPr>
              <p:cNvPr id="47" name="직선 연결선 46">
                <a:extLst>
                  <a:ext uri="{FF2B5EF4-FFF2-40B4-BE49-F238E27FC236}">
                    <a16:creationId xmlns:a16="http://schemas.microsoft.com/office/drawing/2014/main" id="{3C1FE7C3-CEAA-4A3D-8575-5A0BD6642CC5}"/>
                  </a:ext>
                </a:extLst>
              </p:cNvPr>
              <p:cNvCxnSpPr/>
              <p:nvPr/>
            </p:nvCxnSpPr>
            <p:spPr>
              <a:xfrm>
                <a:off x="6156636" y="4879287"/>
                <a:ext cx="2010802" cy="0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직선 화살표 연결선 47">
                <a:extLst>
                  <a:ext uri="{FF2B5EF4-FFF2-40B4-BE49-F238E27FC236}">
                    <a16:creationId xmlns:a16="http://schemas.microsoft.com/office/drawing/2014/main" id="{82FB88BE-A370-4019-B5D3-2FDF9A8FDA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6636" y="4879287"/>
                <a:ext cx="0" cy="2992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118F5D5F-05CA-4DD8-828A-643A67408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167438" y="4879287"/>
                <a:ext cx="0" cy="299244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0" name="사각형: 둥근 모서리 36">
              <a:extLst>
                <a:ext uri="{FF2B5EF4-FFF2-40B4-BE49-F238E27FC236}">
                  <a16:creationId xmlns:a16="http://schemas.microsoft.com/office/drawing/2014/main" id="{7DB628C6-8E61-4140-A497-6BD70019F87C}"/>
                </a:ext>
              </a:extLst>
            </p:cNvPr>
            <p:cNvSpPr/>
            <p:nvPr/>
          </p:nvSpPr>
          <p:spPr>
            <a:xfrm>
              <a:off x="5320404" y="4703443"/>
              <a:ext cx="1760514" cy="4540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윈도우에서 실행</a:t>
              </a:r>
            </a:p>
          </p:txBody>
        </p:sp>
        <p:sp>
          <p:nvSpPr>
            <p:cNvPr id="51" name="사각형: 둥근 모서리 37">
              <a:extLst>
                <a:ext uri="{FF2B5EF4-FFF2-40B4-BE49-F238E27FC236}">
                  <a16:creationId xmlns:a16="http://schemas.microsoft.com/office/drawing/2014/main" id="{3D99DF43-933D-4C27-ABB7-EA46C917D0D9}"/>
                </a:ext>
              </a:extLst>
            </p:cNvPr>
            <p:cNvSpPr/>
            <p:nvPr/>
          </p:nvSpPr>
          <p:spPr>
            <a:xfrm>
              <a:off x="5320404" y="4032725"/>
              <a:ext cx="1760514" cy="4540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>
                  <a:latin typeface="+mn-ea"/>
                </a:rPr>
                <a:t>윈도우 실행 파일</a:t>
              </a:r>
            </a:p>
          </p:txBody>
        </p:sp>
        <p:sp>
          <p:nvSpPr>
            <p:cNvPr id="53" name="사각형: 둥근 모서리 36">
              <a:extLst>
                <a:ext uri="{FF2B5EF4-FFF2-40B4-BE49-F238E27FC236}">
                  <a16:creationId xmlns:a16="http://schemas.microsoft.com/office/drawing/2014/main" id="{7DB628C6-8E61-4140-A497-6BD70019F87C}"/>
                </a:ext>
              </a:extLst>
            </p:cNvPr>
            <p:cNvSpPr/>
            <p:nvPr/>
          </p:nvSpPr>
          <p:spPr>
            <a:xfrm>
              <a:off x="7512966" y="4703443"/>
              <a:ext cx="1760514" cy="4540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latin typeface="+mn-ea"/>
                </a:rPr>
                <a:t>리눅스에서</a:t>
              </a:r>
              <a:r>
                <a:rPr lang="ko-KR" altLang="en-US" sz="1600" dirty="0">
                  <a:latin typeface="+mn-ea"/>
                </a:rPr>
                <a:t> 실행</a:t>
              </a:r>
            </a:p>
          </p:txBody>
        </p:sp>
        <p:sp>
          <p:nvSpPr>
            <p:cNvPr id="54" name="사각형: 둥근 모서리 37">
              <a:extLst>
                <a:ext uri="{FF2B5EF4-FFF2-40B4-BE49-F238E27FC236}">
                  <a16:creationId xmlns:a16="http://schemas.microsoft.com/office/drawing/2014/main" id="{3D99DF43-933D-4C27-ABB7-EA46C917D0D9}"/>
                </a:ext>
              </a:extLst>
            </p:cNvPr>
            <p:cNvSpPr/>
            <p:nvPr/>
          </p:nvSpPr>
          <p:spPr>
            <a:xfrm>
              <a:off x="7512966" y="4032725"/>
              <a:ext cx="1760514" cy="45402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600" dirty="0" err="1">
                  <a:latin typeface="+mn-ea"/>
                </a:rPr>
                <a:t>리눅스</a:t>
              </a:r>
              <a:r>
                <a:rPr lang="ko-KR" altLang="en-US" sz="1600" dirty="0">
                  <a:latin typeface="+mn-ea"/>
                </a:rPr>
                <a:t> 실행 파일</a:t>
              </a:r>
            </a:p>
          </p:txBody>
        </p:sp>
        <p:cxnSp>
          <p:nvCxnSpPr>
            <p:cNvPr id="56" name="직선 화살표 연결선 55"/>
            <p:cNvCxnSpPr/>
            <p:nvPr/>
          </p:nvCxnSpPr>
          <p:spPr>
            <a:xfrm flipH="1">
              <a:off x="7294231" y="3490104"/>
              <a:ext cx="2712" cy="237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화살표 연결선 57"/>
            <p:cNvCxnSpPr/>
            <p:nvPr/>
          </p:nvCxnSpPr>
          <p:spPr>
            <a:xfrm>
              <a:off x="6196629" y="4486750"/>
              <a:ext cx="0" cy="2270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직선 화살표 연결선 59"/>
            <p:cNvCxnSpPr/>
            <p:nvPr/>
          </p:nvCxnSpPr>
          <p:spPr>
            <a:xfrm>
              <a:off x="8308985" y="4486750"/>
              <a:ext cx="0" cy="2270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사각형: 둥근 모서리 2">
              <a:extLst>
                <a:ext uri="{FF2B5EF4-FFF2-40B4-BE49-F238E27FC236}">
                  <a16:creationId xmlns:a16="http://schemas.microsoft.com/office/drawing/2014/main" id="{F9FE7181-095B-4129-AFF2-F7405E189265}"/>
                </a:ext>
              </a:extLst>
            </p:cNvPr>
            <p:cNvSpPr/>
            <p:nvPr/>
          </p:nvSpPr>
          <p:spPr>
            <a:xfrm>
              <a:off x="6288831" y="2344723"/>
              <a:ext cx="2016224" cy="454025"/>
            </a:xfrm>
            <a:prstGeom prst="roundRect">
              <a:avLst>
                <a:gd name="adj" fmla="val 50000"/>
              </a:avLst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63" dirty="0"/>
                <a:t>자바컴파일러</a:t>
              </a:r>
            </a:p>
          </p:txBody>
        </p:sp>
        <p:cxnSp>
          <p:nvCxnSpPr>
            <p:cNvPr id="62" name="직선 화살표 연결선 61"/>
            <p:cNvCxnSpPr>
              <a:stCxn id="61" idx="2"/>
            </p:cNvCxnSpPr>
            <p:nvPr/>
          </p:nvCxnSpPr>
          <p:spPr>
            <a:xfrm flipH="1">
              <a:off x="7294231" y="2798748"/>
              <a:ext cx="2712" cy="237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사각형: 둥근 모서리 2">
              <a:extLst>
                <a:ext uri="{FF2B5EF4-FFF2-40B4-BE49-F238E27FC236}">
                  <a16:creationId xmlns:a16="http://schemas.microsoft.com/office/drawing/2014/main" id="{F9FE7181-095B-4129-AFF2-F7405E189265}"/>
                </a:ext>
              </a:extLst>
            </p:cNvPr>
            <p:cNvSpPr/>
            <p:nvPr/>
          </p:nvSpPr>
          <p:spPr>
            <a:xfrm>
              <a:off x="6288831" y="1663685"/>
              <a:ext cx="2016224" cy="454025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1463" dirty="0"/>
                <a:t>자바소스 코드</a:t>
              </a:r>
              <a:r>
                <a:rPr lang="en-US" altLang="ko-KR" sz="1463" dirty="0"/>
                <a:t>(*.java)</a:t>
              </a:r>
              <a:endParaRPr lang="ko-KR" altLang="en-US" sz="1463" dirty="0"/>
            </a:p>
          </p:txBody>
        </p:sp>
        <p:cxnSp>
          <p:nvCxnSpPr>
            <p:cNvPr id="64" name="직선 화살표 연결선 63"/>
            <p:cNvCxnSpPr>
              <a:stCxn id="63" idx="2"/>
            </p:cNvCxnSpPr>
            <p:nvPr/>
          </p:nvCxnSpPr>
          <p:spPr>
            <a:xfrm flipH="1">
              <a:off x="7294231" y="2117710"/>
              <a:ext cx="2712" cy="23733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/>
            <p:cNvSpPr txBox="1"/>
            <p:nvPr/>
          </p:nvSpPr>
          <p:spPr>
            <a:xfrm>
              <a:off x="5160101" y="1913528"/>
              <a:ext cx="864096" cy="408623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US" altLang="ko-KR" dirty="0"/>
                <a:t>JVM</a:t>
              </a:r>
              <a:endParaRPr lang="ko-KR" altLang="en-US" dirty="0"/>
            </a:p>
          </p:txBody>
        </p:sp>
        <p:cxnSp>
          <p:nvCxnSpPr>
            <p:cNvPr id="14" name="직선 화살표 연결선 13"/>
            <p:cNvCxnSpPr/>
            <p:nvPr/>
          </p:nvCxnSpPr>
          <p:spPr>
            <a:xfrm>
              <a:off x="5601072" y="2308383"/>
              <a:ext cx="599589" cy="50635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51"/>
          <p:cNvSpPr txBox="1"/>
          <p:nvPr/>
        </p:nvSpPr>
        <p:spPr>
          <a:xfrm>
            <a:off x="632520" y="1121797"/>
            <a:ext cx="26642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u"/>
            </a:pPr>
            <a:r>
              <a:rPr lang="en-US" altLang="ko-KR" sz="2000" dirty="0"/>
              <a:t>JVM</a:t>
            </a:r>
            <a:r>
              <a:rPr lang="ko-KR" altLang="en-US" sz="2000" dirty="0"/>
              <a:t>의 기능</a:t>
            </a:r>
            <a:r>
              <a:rPr lang="en-US" altLang="ko-KR" sz="2000" dirty="0"/>
              <a:t>(</a:t>
            </a:r>
            <a:r>
              <a:rPr lang="ko-KR" altLang="en-US" sz="2000" dirty="0"/>
              <a:t>역할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04677" y="4925520"/>
            <a:ext cx="211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구조적 언어</a:t>
            </a:r>
            <a:r>
              <a:rPr lang="en-US" altLang="ko-KR" dirty="0"/>
              <a:t>-C</a:t>
            </a:r>
            <a:r>
              <a:rPr lang="ko-KR" altLang="en-US" dirty="0"/>
              <a:t>언어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673080" y="5336093"/>
            <a:ext cx="33726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객체 지향 언어</a:t>
            </a:r>
            <a:r>
              <a:rPr lang="en-US" altLang="ko-KR" dirty="0"/>
              <a:t>- Java, Python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5188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564877" y="1044968"/>
            <a:ext cx="4032448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>
                <a:solidFill>
                  <a:srgbClr val="C00000"/>
                </a:solidFill>
              </a:rPr>
              <a:t> 자바 개발도구</a:t>
            </a:r>
            <a:r>
              <a:rPr lang="en-US" altLang="ko-KR" sz="2000" b="1" dirty="0">
                <a:solidFill>
                  <a:srgbClr val="C00000"/>
                </a:solidFill>
              </a:rPr>
              <a:t>(JDK) </a:t>
            </a:r>
            <a:r>
              <a:rPr lang="ko-KR" altLang="en-US" sz="2000" b="1" dirty="0">
                <a:solidFill>
                  <a:srgbClr val="C00000"/>
                </a:solidFill>
              </a:rPr>
              <a:t>설치 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00000"/>
              </a:lnSpc>
            </a:pP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/>
              <a:t>자바 개발 환경 구축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51836" y="1658155"/>
            <a:ext cx="7645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오라클 </a:t>
            </a:r>
            <a:r>
              <a:rPr lang="en-US" altLang="ko-KR" sz="1600" dirty="0"/>
              <a:t>java </a:t>
            </a:r>
            <a:r>
              <a:rPr lang="ko-KR" altLang="en-US" sz="1600" dirty="0"/>
              <a:t>다운로드</a:t>
            </a:r>
            <a:r>
              <a:rPr lang="en-US" altLang="ko-KR" sz="1600" dirty="0"/>
              <a:t>(</a:t>
            </a:r>
            <a:r>
              <a:rPr lang="ko-KR" altLang="en-US" sz="1600" dirty="0"/>
              <a:t>검색</a:t>
            </a:r>
            <a:r>
              <a:rPr lang="en-US" altLang="ko-KR" sz="1600" dirty="0"/>
              <a:t>)-&gt; windows&gt; Java SE21 </a:t>
            </a:r>
            <a:r>
              <a:rPr lang="ko-KR" altLang="en-US" sz="1600" dirty="0"/>
              <a:t>다운로드 </a:t>
            </a:r>
            <a:r>
              <a:rPr lang="en-US" altLang="ko-KR" sz="1600" dirty="0"/>
              <a:t>-&gt; x64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인스톨러</a:t>
            </a:r>
            <a:r>
              <a:rPr lang="ko-KR" altLang="en-US" sz="1600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242" y="2204864"/>
            <a:ext cx="7486768" cy="329660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018500" y="4700843"/>
            <a:ext cx="7750924" cy="424279"/>
          </a:xfrm>
          <a:prstGeom prst="roundRect">
            <a:avLst/>
          </a:prstGeom>
          <a:noFill/>
          <a:ln w="1905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7885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564877" y="1044968"/>
            <a:ext cx="4032448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>
                <a:solidFill>
                  <a:srgbClr val="C00000"/>
                </a:solidFill>
              </a:rPr>
              <a:t> 자바 개발도구</a:t>
            </a:r>
            <a:r>
              <a:rPr lang="en-US" altLang="ko-KR" sz="2000" b="1" dirty="0">
                <a:solidFill>
                  <a:srgbClr val="C00000"/>
                </a:solidFill>
              </a:rPr>
              <a:t>(JDK) </a:t>
            </a:r>
            <a:r>
              <a:rPr lang="ko-KR" altLang="en-US" sz="2000" b="1" dirty="0">
                <a:solidFill>
                  <a:srgbClr val="C00000"/>
                </a:solidFill>
              </a:rPr>
              <a:t>설치 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00000"/>
              </a:lnSpc>
            </a:pP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/>
              <a:t>자바 개발 환경 구축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051836" y="1658155"/>
            <a:ext cx="620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설치 경로 </a:t>
            </a:r>
            <a:r>
              <a:rPr lang="en-US" altLang="ko-KR" sz="1600" dirty="0"/>
              <a:t>: C:&gt; Program Files &gt; Java </a:t>
            </a:r>
            <a:r>
              <a:rPr lang="ko-KR" altLang="en-US" sz="1600" dirty="0"/>
              <a:t> </a:t>
            </a:r>
            <a:r>
              <a:rPr lang="en-US" altLang="ko-KR" sz="1600" dirty="0"/>
              <a:t>-&gt; jdk-21</a:t>
            </a:r>
            <a:r>
              <a:rPr lang="ko-KR" altLang="en-US" sz="1600" dirty="0"/>
              <a:t> 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2204865"/>
            <a:ext cx="4608512" cy="161110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51836" y="4170566"/>
            <a:ext cx="6205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/>
              <a:t>명령 프롬프트</a:t>
            </a:r>
            <a:r>
              <a:rPr lang="en-US" altLang="ko-KR" sz="1600" dirty="0"/>
              <a:t>(</a:t>
            </a:r>
            <a:r>
              <a:rPr lang="en-US" altLang="ko-KR" sz="1600" dirty="0" err="1"/>
              <a:t>cmd</a:t>
            </a:r>
            <a:r>
              <a:rPr lang="en-US" altLang="ko-KR" sz="1600" dirty="0"/>
              <a:t>)</a:t>
            </a:r>
            <a:r>
              <a:rPr lang="ko-KR" altLang="en-US" sz="1600" dirty="0"/>
              <a:t>로 설치 확인  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4608" y="4675606"/>
            <a:ext cx="8064896" cy="913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5154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564877" y="1044968"/>
            <a:ext cx="4032448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>
                <a:solidFill>
                  <a:srgbClr val="C00000"/>
                </a:solidFill>
              </a:rPr>
              <a:t> 자바 </a:t>
            </a:r>
            <a:r>
              <a:rPr lang="en-US" altLang="ko-KR" sz="2000" b="1" dirty="0">
                <a:solidFill>
                  <a:srgbClr val="C00000"/>
                </a:solidFill>
              </a:rPr>
              <a:t>Documentation </a:t>
            </a:r>
            <a:r>
              <a:rPr lang="ko-KR" altLang="en-US" sz="2000" b="1" dirty="0">
                <a:solidFill>
                  <a:srgbClr val="C00000"/>
                </a:solidFill>
              </a:rPr>
              <a:t>설치 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00000"/>
              </a:lnSpc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0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00000"/>
              </a:lnSpc>
            </a:pPr>
            <a:endParaRPr lang="ko-KR" alt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/>
              <a:t>자바 개발 환경 구축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6936" y="2189299"/>
            <a:ext cx="4946198" cy="34270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992560" y="1628800"/>
            <a:ext cx="4680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Java </a:t>
            </a:r>
            <a:r>
              <a:rPr lang="en-US" altLang="ko-KR" dirty="0" err="1"/>
              <a:t>Api</a:t>
            </a:r>
            <a:r>
              <a:rPr lang="en-US" altLang="ko-KR" dirty="0"/>
              <a:t> </a:t>
            </a:r>
            <a:r>
              <a:rPr lang="ko-KR" altLang="en-US" dirty="0"/>
              <a:t>를 설명하고 있는 문서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rcRect r="22469"/>
          <a:stretch/>
        </p:blipFill>
        <p:spPr>
          <a:xfrm>
            <a:off x="1118689" y="2189299"/>
            <a:ext cx="2924823" cy="27816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25366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이클립스</a:t>
            </a:r>
            <a:r>
              <a:rPr lang="en-US" altLang="ko-KR" dirty="0"/>
              <a:t>(Eclipse)</a:t>
            </a:r>
            <a:r>
              <a:rPr lang="ko-KR" altLang="en-US" dirty="0"/>
              <a:t> </a:t>
            </a:r>
            <a:r>
              <a:rPr lang="en-US" altLang="ko-KR" dirty="0"/>
              <a:t>IDE </a:t>
            </a:r>
            <a:r>
              <a:rPr lang="ko-KR" altLang="en-US" dirty="0"/>
              <a:t>설치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80728"/>
            <a:ext cx="6552728" cy="13681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이클립스</a:t>
            </a: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en-US" altLang="ko-KR" sz="2000" b="1" dirty="0">
                <a:solidFill>
                  <a:srgbClr val="C00000"/>
                </a:solidFill>
              </a:rPr>
              <a:t>IDE(</a:t>
            </a:r>
            <a:r>
              <a:rPr lang="ko-KR" altLang="en-US" sz="2000" b="1" dirty="0">
                <a:solidFill>
                  <a:srgbClr val="C00000"/>
                </a:solidFill>
              </a:rPr>
              <a:t>통합개발환경</a:t>
            </a:r>
            <a:r>
              <a:rPr lang="en-US" altLang="ko-KR" sz="2000" b="1" dirty="0">
                <a:solidFill>
                  <a:srgbClr val="C00000"/>
                </a:solidFill>
              </a:rPr>
              <a:t>) </a:t>
            </a:r>
            <a:r>
              <a:rPr lang="ko-KR" altLang="en-US" sz="2000" b="1" dirty="0">
                <a:solidFill>
                  <a:srgbClr val="C00000"/>
                </a:solidFill>
              </a:rPr>
              <a:t>설치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검색 </a:t>
            </a:r>
            <a:r>
              <a:rPr lang="en-US" altLang="ko-KR" sz="1800" dirty="0">
                <a:hlinkClick r:id="rId2"/>
              </a:rPr>
              <a:t>–</a:t>
            </a:r>
            <a:r>
              <a:rPr lang="en-US" altLang="ko-KR" sz="1800" dirty="0"/>
              <a:t> </a:t>
            </a:r>
            <a:r>
              <a:rPr lang="ko-KR" altLang="en-US" sz="1800" dirty="0" err="1"/>
              <a:t>이클립스</a:t>
            </a:r>
            <a:r>
              <a:rPr lang="en-US" altLang="ko-KR" sz="1800" dirty="0"/>
              <a:t>(</a:t>
            </a:r>
            <a:r>
              <a:rPr lang="en-US" altLang="ko-KR" sz="1800" dirty="0">
                <a:hlinkClick r:id="rId2"/>
              </a:rPr>
              <a:t>https://www.eclipse.org/downloads/</a:t>
            </a:r>
            <a:r>
              <a:rPr lang="en-US" altLang="ko-KR" sz="1800" dirty="0"/>
              <a:t>)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버전 </a:t>
            </a:r>
            <a:r>
              <a:rPr lang="en-US" altLang="ko-KR" sz="2000" b="1" dirty="0"/>
              <a:t>- Eclipse IDE 2024‑09</a:t>
            </a:r>
            <a:endParaRPr lang="en-US" altLang="ko-KR" sz="2000" dirty="0"/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endParaRPr lang="en-US" altLang="ko-KR" sz="20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958" y="2420888"/>
            <a:ext cx="3636852" cy="367240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66625" y="3573016"/>
            <a:ext cx="4328854" cy="684076"/>
          </a:xfrm>
          <a:prstGeom prst="round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232289" y="3681028"/>
            <a:ext cx="944478" cy="36004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선택</a:t>
            </a:r>
            <a:endParaRPr lang="en-US" altLang="ko-KR" sz="1600" dirty="0">
              <a:solidFill>
                <a:sysClr val="windowText" lastClr="00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42707" y="5187851"/>
            <a:ext cx="40290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workspace(</a:t>
            </a:r>
            <a:r>
              <a:rPr lang="ko-KR" altLang="en-US" dirty="0" err="1"/>
              <a:t>작업영역</a:t>
            </a:r>
            <a:r>
              <a:rPr lang="en-US" altLang="ko-KR" dirty="0"/>
              <a:t>) – C:\javaworks </a:t>
            </a:r>
            <a:r>
              <a:rPr lang="ko-KR" altLang="en-US" dirty="0"/>
              <a:t>폴더 생성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3934" y="2852237"/>
            <a:ext cx="4080212" cy="201692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0757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6177136" cy="854968"/>
          </a:xfrm>
        </p:spPr>
        <p:txBody>
          <a:bodyPr/>
          <a:lstStyle/>
          <a:p>
            <a:r>
              <a:rPr lang="en-US" altLang="ko-KR" dirty="0"/>
              <a:t>  </a:t>
            </a:r>
            <a:r>
              <a:rPr lang="ko-KR" altLang="en-US" dirty="0"/>
              <a:t>프로젝트 만들기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1052736"/>
            <a:ext cx="6480720" cy="122413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 첫 자바 프로젝트</a:t>
            </a:r>
            <a:r>
              <a:rPr lang="en-US" altLang="ko-KR" sz="2000" b="1" dirty="0"/>
              <a:t>(Project)</a:t>
            </a:r>
            <a:r>
              <a:rPr lang="ko-KR" altLang="en-US" sz="2000" b="1" dirty="0"/>
              <a:t> 만들기</a:t>
            </a:r>
            <a:endParaRPr lang="en-US" altLang="ko-KR" sz="2000" b="1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/>
              <a:t>File-&gt;New-&gt;Java Project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/>
              <a:t>Project Name : Chapter01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>
              <a:lnSpc>
                <a:spcPct val="150000"/>
              </a:lnSpc>
            </a:pPr>
            <a:endParaRPr lang="en-US" altLang="ko-KR" sz="24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54" t="21848" r="41607" b="23223"/>
          <a:stretch/>
        </p:blipFill>
        <p:spPr bwMode="auto">
          <a:xfrm>
            <a:off x="1156082" y="2420888"/>
            <a:ext cx="3384376" cy="3551939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741"/>
          <a:stretch/>
        </p:blipFill>
        <p:spPr>
          <a:xfrm>
            <a:off x="5529064" y="2472189"/>
            <a:ext cx="3024336" cy="21391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오른쪽 화살표 6"/>
          <p:cNvSpPr/>
          <p:nvPr/>
        </p:nvSpPr>
        <p:spPr>
          <a:xfrm>
            <a:off x="4792824" y="3397763"/>
            <a:ext cx="432048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모서리가 둥근 직사각형 4"/>
          <p:cNvSpPr/>
          <p:nvPr/>
        </p:nvSpPr>
        <p:spPr>
          <a:xfrm>
            <a:off x="6321152" y="3325755"/>
            <a:ext cx="1440160" cy="319269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Chapter1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72101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첫번째</a:t>
            </a:r>
            <a:r>
              <a:rPr lang="ko-KR" altLang="en-US" dirty="0"/>
              <a:t> 패키지 만들기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61528"/>
            <a:ext cx="9073008" cy="95530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  </a:t>
            </a:r>
            <a:r>
              <a:rPr lang="ko-KR" altLang="en-US" sz="2000" b="1" dirty="0" err="1"/>
              <a:t>첫번째</a:t>
            </a:r>
            <a:r>
              <a:rPr lang="ko-KR" altLang="en-US" sz="2000" b="1" dirty="0"/>
              <a:t> 패키지 만들기</a:t>
            </a:r>
            <a:endParaRPr lang="en-US" altLang="ko-KR" sz="2000" b="1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1800" dirty="0"/>
              <a:t>패키지 만들기 </a:t>
            </a:r>
            <a:r>
              <a:rPr lang="en-US" altLang="ko-KR" sz="1800" dirty="0"/>
              <a:t>: Chapter01(</a:t>
            </a:r>
            <a:r>
              <a:rPr lang="ko-KR" altLang="en-US" sz="1800" dirty="0"/>
              <a:t>마우스우측</a:t>
            </a:r>
            <a:r>
              <a:rPr lang="en-US" altLang="ko-KR" sz="1800" dirty="0"/>
              <a:t>)</a:t>
            </a:r>
            <a:r>
              <a:rPr lang="ko-KR" altLang="en-US" sz="1800" dirty="0"/>
              <a:t>  </a:t>
            </a:r>
            <a:r>
              <a:rPr lang="en-US" altLang="ko-KR" sz="1800" dirty="0"/>
              <a:t>-&gt; New package -&gt; Name : hello</a:t>
            </a:r>
            <a:endParaRPr lang="en-US" altLang="ko-KR" sz="2000" b="1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811" b="50000"/>
          <a:stretch/>
        </p:blipFill>
        <p:spPr bwMode="auto">
          <a:xfrm>
            <a:off x="848544" y="2489042"/>
            <a:ext cx="4008740" cy="2952328"/>
          </a:xfrm>
          <a:prstGeom prst="rect">
            <a:avLst/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3080" y="2492896"/>
            <a:ext cx="3659657" cy="2952328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  <p:sp>
        <p:nvSpPr>
          <p:cNvPr id="6" name="오른쪽 화살표 5"/>
          <p:cNvSpPr/>
          <p:nvPr/>
        </p:nvSpPr>
        <p:spPr>
          <a:xfrm>
            <a:off x="5025008" y="3573016"/>
            <a:ext cx="432048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97587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첫번째</a:t>
            </a:r>
            <a:r>
              <a:rPr lang="ko-KR" altLang="en-US" dirty="0"/>
              <a:t> 클래스 만들기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04528" y="961528"/>
            <a:ext cx="9073008" cy="10993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  </a:t>
            </a:r>
            <a:r>
              <a:rPr lang="ko-KR" altLang="en-US" sz="2000" b="1" dirty="0" err="1"/>
              <a:t>첫번째</a:t>
            </a:r>
            <a:r>
              <a:rPr lang="ko-KR" altLang="en-US" sz="2000" b="1" dirty="0"/>
              <a:t> 클래스 만들기</a:t>
            </a:r>
            <a:endParaRPr lang="en-US" altLang="ko-KR" sz="20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000" b="1" dirty="0"/>
              <a:t>     </a:t>
            </a:r>
            <a:r>
              <a:rPr lang="ko-KR" altLang="en-US" sz="1800" dirty="0"/>
              <a:t>클래스 만들기 </a:t>
            </a:r>
            <a:r>
              <a:rPr lang="en-US" altLang="ko-KR" sz="1800" dirty="0"/>
              <a:t>: hello(</a:t>
            </a:r>
            <a:r>
              <a:rPr lang="ko-KR" altLang="en-US" sz="1800" dirty="0"/>
              <a:t>우측</a:t>
            </a:r>
            <a:r>
              <a:rPr lang="en-US" altLang="ko-KR" sz="1800" dirty="0"/>
              <a:t>)-&gt;New class-&gt;Name : </a:t>
            </a:r>
            <a:r>
              <a:rPr lang="en-US" altLang="ko-KR" sz="1800" dirty="0" err="1"/>
              <a:t>HelloJava</a:t>
            </a:r>
            <a:endParaRPr lang="en-US" altLang="ko-KR" sz="2000" b="1" dirty="0"/>
          </a:p>
          <a:p>
            <a:pPr lvl="2">
              <a:lnSpc>
                <a:spcPct val="150000"/>
              </a:lnSpc>
            </a:pPr>
            <a:endParaRPr lang="ko-KR" altLang="en-US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013"/>
          <a:stretch/>
        </p:blipFill>
        <p:spPr>
          <a:xfrm>
            <a:off x="5241032" y="2294739"/>
            <a:ext cx="3600400" cy="358389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473280" y="5735075"/>
            <a:ext cx="2016224" cy="432048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main()</a:t>
            </a:r>
            <a:r>
              <a:rPr lang="ko-KR" altLang="en-US" sz="1600" dirty="0">
                <a:solidFill>
                  <a:sysClr val="windowText" lastClr="000000"/>
                </a:solidFill>
              </a:rPr>
              <a:t>함수 체크</a:t>
            </a:r>
          </a:p>
        </p:txBody>
      </p:sp>
      <p:cxnSp>
        <p:nvCxnSpPr>
          <p:cNvPr id="13" name="직선 화살표 연결선 12"/>
          <p:cNvCxnSpPr>
            <a:stCxn id="11" idx="1"/>
          </p:cNvCxnSpPr>
          <p:nvPr/>
        </p:nvCxnSpPr>
        <p:spPr>
          <a:xfrm flipH="1" flipV="1">
            <a:off x="6249144" y="5636003"/>
            <a:ext cx="1224136" cy="315096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816" b="31565"/>
          <a:stretch/>
        </p:blipFill>
        <p:spPr bwMode="auto">
          <a:xfrm>
            <a:off x="992560" y="2274786"/>
            <a:ext cx="3522202" cy="3460289"/>
          </a:xfrm>
          <a:prstGeom prst="rect">
            <a:avLst/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9" name="오른쪽 화살표 8"/>
          <p:cNvSpPr/>
          <p:nvPr/>
        </p:nvSpPr>
        <p:spPr>
          <a:xfrm>
            <a:off x="4664968" y="3645024"/>
            <a:ext cx="432048" cy="144016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7548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첫번째</a:t>
            </a:r>
            <a:r>
              <a:rPr lang="ko-KR" altLang="en-US" dirty="0"/>
              <a:t> 클래스 만들기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980728"/>
            <a:ext cx="9073008" cy="183492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/>
              <a:t>  </a:t>
            </a:r>
            <a:r>
              <a:rPr lang="en-US" altLang="ko-KR" sz="2000" b="1" dirty="0"/>
              <a:t>1.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java </a:t>
            </a:r>
            <a:r>
              <a:rPr lang="ko-KR" altLang="en-US" sz="2000" b="1" dirty="0"/>
              <a:t>코드 작성</a:t>
            </a:r>
            <a:r>
              <a:rPr lang="en-US" altLang="ko-KR" sz="1800" dirty="0"/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      - </a:t>
            </a:r>
            <a:r>
              <a:rPr lang="ko-KR" altLang="en-US" sz="1800" dirty="0"/>
              <a:t>파일 이름 </a:t>
            </a:r>
            <a:r>
              <a:rPr lang="en-US" altLang="ko-KR" sz="1800" dirty="0"/>
              <a:t>: HelloJava.java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      - </a:t>
            </a:r>
            <a:r>
              <a:rPr lang="ko-KR" altLang="en-US" sz="1800" dirty="0"/>
              <a:t>클래스 </a:t>
            </a:r>
            <a:r>
              <a:rPr lang="en-US" altLang="ko-KR" sz="1800" dirty="0"/>
              <a:t>:</a:t>
            </a:r>
            <a:r>
              <a:rPr lang="ko-KR" altLang="en-US" sz="1800" dirty="0"/>
              <a:t> </a:t>
            </a:r>
            <a:r>
              <a:rPr lang="en-US" altLang="ko-KR" sz="1800" dirty="0"/>
              <a:t>System , </a:t>
            </a:r>
            <a:r>
              <a:rPr lang="ko-KR" altLang="en-US" sz="1800" dirty="0"/>
              <a:t>패키지</a:t>
            </a:r>
            <a:r>
              <a:rPr lang="en-US" altLang="ko-KR" sz="1800" dirty="0"/>
              <a:t>: out, </a:t>
            </a:r>
            <a:r>
              <a:rPr lang="ko-KR" altLang="en-US" sz="1800" dirty="0"/>
              <a:t>메서드</a:t>
            </a:r>
            <a:r>
              <a:rPr lang="en-US" altLang="ko-KR" sz="1800" dirty="0"/>
              <a:t>(</a:t>
            </a:r>
            <a:r>
              <a:rPr lang="ko-KR" altLang="en-US" sz="1800" dirty="0"/>
              <a:t>함수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r>
              <a:rPr lang="en-US" altLang="ko-KR" sz="1800" dirty="0"/>
              <a:t>: main(), print(), </a:t>
            </a:r>
            <a:r>
              <a:rPr lang="en-US" altLang="ko-KR" sz="1800" dirty="0" err="1"/>
              <a:t>println</a:t>
            </a:r>
            <a:r>
              <a:rPr lang="en-US" altLang="ko-KR" sz="1800" dirty="0"/>
              <a:t>()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      - </a:t>
            </a:r>
            <a:r>
              <a:rPr lang="ko-KR" altLang="en-US" sz="1800" dirty="0"/>
              <a:t>파일 실행하려면 </a:t>
            </a:r>
            <a:r>
              <a:rPr lang="en-US" altLang="ko-KR" sz="1800" dirty="0"/>
              <a:t>main() </a:t>
            </a:r>
            <a:r>
              <a:rPr lang="ko-KR" altLang="en-US" sz="1800" dirty="0" err="1"/>
              <a:t>메서드가</a:t>
            </a:r>
            <a:r>
              <a:rPr lang="ko-KR" altLang="en-US" sz="1800" dirty="0"/>
              <a:t> 필요함</a:t>
            </a:r>
            <a:r>
              <a:rPr lang="en-US" altLang="ko-KR" sz="1800" dirty="0"/>
              <a:t> </a:t>
            </a: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5000" y="3154636"/>
            <a:ext cx="6074630" cy="1893260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136576" y="3031672"/>
            <a:ext cx="2376264" cy="504056"/>
          </a:xfrm>
          <a:prstGeom prst="roundRect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446850" y="3103680"/>
            <a:ext cx="1586270" cy="36004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>
                <a:solidFill>
                  <a:sysClr val="windowText" lastClr="000000"/>
                </a:solidFill>
              </a:rPr>
              <a:t>패키지 이름</a:t>
            </a:r>
            <a:endParaRPr lang="en-US" altLang="ko-KR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2" name="직선 화살표 연결선 11"/>
          <p:cNvCxnSpPr/>
          <p:nvPr/>
        </p:nvCxnSpPr>
        <p:spPr>
          <a:xfrm flipH="1">
            <a:off x="3512840" y="3283699"/>
            <a:ext cx="934010" cy="1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856656" y="3967776"/>
            <a:ext cx="5832648" cy="1296144"/>
          </a:xfrm>
          <a:prstGeom prst="roundRect">
            <a:avLst/>
          </a:prstGeom>
          <a:noFill/>
          <a:ln>
            <a:solidFill>
              <a:srgbClr val="0070C0"/>
            </a:solidFill>
            <a:prstDash val="sysDot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7437276" y="5407936"/>
            <a:ext cx="1838298" cy="360040"/>
          </a:xfrm>
          <a:prstGeom prst="round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main()</a:t>
            </a:r>
            <a:r>
              <a:rPr lang="ko-KR" altLang="en-US" sz="1600" dirty="0" err="1">
                <a:solidFill>
                  <a:sysClr val="windowText" lastClr="000000"/>
                </a:solidFill>
              </a:rPr>
              <a:t>메서드</a:t>
            </a:r>
            <a:endParaRPr lang="en-US" altLang="ko-KR" sz="1600" dirty="0">
              <a:solidFill>
                <a:sysClr val="windowText" lastClr="000000"/>
              </a:solidFill>
            </a:endParaRPr>
          </a:p>
        </p:txBody>
      </p:sp>
      <p:cxnSp>
        <p:nvCxnSpPr>
          <p:cNvPr id="17" name="직선 화살표 연결선 16"/>
          <p:cNvCxnSpPr/>
          <p:nvPr/>
        </p:nvCxnSpPr>
        <p:spPr>
          <a:xfrm flipH="1" flipV="1">
            <a:off x="7185248" y="4903880"/>
            <a:ext cx="294382" cy="504057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37621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첫번째</a:t>
            </a:r>
            <a:r>
              <a:rPr lang="ko-KR" altLang="en-US" dirty="0"/>
              <a:t> 클래스 만들기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980728"/>
            <a:ext cx="9073008" cy="208823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/>
              <a:t>  </a:t>
            </a:r>
            <a:r>
              <a:rPr lang="en-US" altLang="ko-KR" sz="2000" b="1" dirty="0"/>
              <a:t>2.</a:t>
            </a:r>
            <a:r>
              <a:rPr lang="ko-KR" altLang="en-US" sz="2000" b="1" dirty="0"/>
              <a:t> 컴파일 및 실행</a:t>
            </a:r>
            <a:endParaRPr lang="en-US" altLang="ko-KR" sz="1800" dirty="0"/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b="1" dirty="0"/>
              <a:t>- </a:t>
            </a:r>
            <a:r>
              <a:rPr lang="ko-KR" altLang="en-US" sz="1800" dirty="0"/>
              <a:t>컴파일 하기 </a:t>
            </a:r>
            <a:r>
              <a:rPr lang="en-US" altLang="ko-KR" sz="1800" dirty="0"/>
              <a:t>: </a:t>
            </a:r>
            <a:r>
              <a:rPr lang="ko-KR" altLang="en-US" sz="1800" dirty="0" err="1"/>
              <a:t>빌드</a:t>
            </a:r>
            <a:r>
              <a:rPr lang="ko-KR" altLang="en-US" sz="1800" dirty="0"/>
              <a:t> 자동화</a:t>
            </a:r>
            <a:r>
              <a:rPr lang="en-US" altLang="ko-KR" sz="1800" dirty="0"/>
              <a:t> </a:t>
            </a:r>
            <a:r>
              <a:rPr lang="ko-KR" altLang="en-US" sz="1800" dirty="0"/>
              <a:t>옵션 지정 </a:t>
            </a:r>
            <a:r>
              <a:rPr lang="en-US" altLang="ko-KR" sz="1800" dirty="0"/>
              <a:t> -&gt; </a:t>
            </a:r>
            <a:r>
              <a:rPr lang="ko-KR" altLang="en-US" sz="1800" dirty="0"/>
              <a:t>클래스 파일 생성</a:t>
            </a:r>
            <a:endParaRPr lang="en-US" altLang="ko-KR" sz="1800" dirty="0"/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ko-KR" altLang="en-US" sz="1800" dirty="0"/>
              <a:t>실행</a:t>
            </a:r>
            <a:r>
              <a:rPr lang="en-US" altLang="ko-KR" sz="1800" dirty="0"/>
              <a:t> : Run -&gt; Run as -&gt; Java Application [</a:t>
            </a:r>
            <a:r>
              <a:rPr lang="ko-KR" altLang="en-US" sz="1800" dirty="0"/>
              <a:t>실행 단추</a:t>
            </a:r>
            <a:r>
              <a:rPr lang="en-US" altLang="ko-KR" sz="1800" dirty="0"/>
              <a:t>(      )</a:t>
            </a:r>
            <a:r>
              <a:rPr lang="ko-KR" altLang="en-US" sz="1800" dirty="0"/>
              <a:t> 클릭</a:t>
            </a:r>
            <a:r>
              <a:rPr lang="en-US" altLang="ko-KR" sz="1800" dirty="0"/>
              <a:t>]</a:t>
            </a:r>
          </a:p>
          <a:p>
            <a:pPr lvl="1">
              <a:lnSpc>
                <a:spcPct val="100000"/>
              </a:lnSpc>
              <a:buFontTx/>
              <a:buChar char="-"/>
            </a:pPr>
            <a:r>
              <a:rPr lang="ko-KR" altLang="en-US" sz="1800" dirty="0"/>
              <a:t>실행 결과 </a:t>
            </a:r>
            <a:r>
              <a:rPr lang="en-US" altLang="ko-KR" sz="1800" dirty="0"/>
              <a:t>: </a:t>
            </a:r>
            <a:r>
              <a:rPr lang="ko-KR" altLang="en-US" sz="1800" dirty="0"/>
              <a:t>콘솔</a:t>
            </a:r>
            <a:r>
              <a:rPr lang="en-US" altLang="ko-KR" sz="1800" dirty="0"/>
              <a:t>(Console)</a:t>
            </a:r>
            <a:endParaRPr lang="en-US" altLang="ko-KR" sz="2000" dirty="0"/>
          </a:p>
          <a:p>
            <a:pPr lvl="2">
              <a:lnSpc>
                <a:spcPct val="150000"/>
              </a:lnSpc>
            </a:pPr>
            <a:endParaRPr lang="ko-KR" altLang="en-US" sz="1800" b="1" i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096" y="1798995"/>
            <a:ext cx="420280" cy="4202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96616" y="4081214"/>
            <a:ext cx="4536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rgbClr val="0070C0"/>
                </a:solidFill>
              </a:rPr>
              <a:t>※ </a:t>
            </a:r>
            <a:r>
              <a:rPr lang="ko-KR" altLang="en-US" dirty="0">
                <a:solidFill>
                  <a:srgbClr val="0070C0"/>
                </a:solidFill>
              </a:rPr>
              <a:t>클래스</a:t>
            </a:r>
            <a:r>
              <a:rPr lang="en-US" altLang="ko-KR" dirty="0">
                <a:solidFill>
                  <a:srgbClr val="0070C0"/>
                </a:solidFill>
              </a:rPr>
              <a:t>(.class) </a:t>
            </a:r>
            <a:r>
              <a:rPr lang="ko-KR" altLang="en-US" dirty="0">
                <a:solidFill>
                  <a:srgbClr val="0070C0"/>
                </a:solidFill>
              </a:rPr>
              <a:t>파일의 위치는 어디일까</a:t>
            </a:r>
            <a:r>
              <a:rPr lang="en-US" altLang="ko-KR" dirty="0">
                <a:solidFill>
                  <a:srgbClr val="0070C0"/>
                </a:solidFill>
              </a:rPr>
              <a:t>?</a:t>
            </a:r>
            <a:endParaRPr lang="ko-KR" altLang="en-US" dirty="0">
              <a:solidFill>
                <a:srgbClr val="0070C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6616" y="2816650"/>
            <a:ext cx="4002039" cy="101806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5883" y="4615848"/>
            <a:ext cx="6545470" cy="1145284"/>
          </a:xfrm>
          <a:prstGeom prst="rect">
            <a:avLst/>
          </a:prstGeom>
          <a:ln>
            <a:solidFill>
              <a:schemeClr val="accent5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46089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컴파일과 </a:t>
            </a:r>
            <a:r>
              <a:rPr lang="ko-KR" altLang="en-US" dirty="0" err="1"/>
              <a:t>빌드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1052736"/>
            <a:ext cx="2664296" cy="50405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 컴파일</a:t>
            </a:r>
            <a:r>
              <a:rPr lang="en-US" altLang="ko-KR" sz="2000" b="1" dirty="0"/>
              <a:t>(compile)</a:t>
            </a:r>
          </a:p>
        </p:txBody>
      </p:sp>
      <p:sp>
        <p:nvSpPr>
          <p:cNvPr id="9" name="사각형: 모서리가 접힌 도형 2">
            <a:extLst>
              <a:ext uri="{FF2B5EF4-FFF2-40B4-BE49-F238E27FC236}">
                <a16:creationId xmlns:a16="http://schemas.microsoft.com/office/drawing/2014/main" id="{089615A3-338D-4DBD-8E12-7B045568CEA6}"/>
              </a:ext>
            </a:extLst>
          </p:cNvPr>
          <p:cNvSpPr/>
          <p:nvPr/>
        </p:nvSpPr>
        <p:spPr>
          <a:xfrm>
            <a:off x="901317" y="1875033"/>
            <a:ext cx="1753862" cy="767501"/>
          </a:xfrm>
          <a:prstGeom prst="foldedCorner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자바 소스 파일</a:t>
            </a:r>
            <a:endParaRPr lang="en-US" altLang="ko-KR" sz="1600" dirty="0"/>
          </a:p>
          <a:p>
            <a:pPr algn="ctr"/>
            <a:r>
              <a:rPr lang="en-US" altLang="ko-KR" sz="1600" dirty="0"/>
              <a:t>(*.java)</a:t>
            </a:r>
            <a:endParaRPr lang="ko-KR" altLang="en-US" sz="1600" dirty="0"/>
          </a:p>
        </p:txBody>
      </p:sp>
      <p:sp>
        <p:nvSpPr>
          <p:cNvPr id="10" name="사각형: 모서리가 접힌 도형 3">
            <a:extLst>
              <a:ext uri="{FF2B5EF4-FFF2-40B4-BE49-F238E27FC236}">
                <a16:creationId xmlns:a16="http://schemas.microsoft.com/office/drawing/2014/main" id="{04137F8D-0493-4201-B078-407A7F00A6AB}"/>
              </a:ext>
            </a:extLst>
          </p:cNvPr>
          <p:cNvSpPr/>
          <p:nvPr/>
        </p:nvSpPr>
        <p:spPr>
          <a:xfrm>
            <a:off x="3224808" y="1875033"/>
            <a:ext cx="1964873" cy="767501"/>
          </a:xfrm>
          <a:prstGeom prst="foldedCorner">
            <a:avLst/>
          </a:prstGeom>
          <a:noFill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바이트 코드 파일</a:t>
            </a:r>
            <a:endParaRPr lang="en-US" altLang="ko-KR" sz="1600" dirty="0"/>
          </a:p>
          <a:p>
            <a:pPr algn="ctr"/>
            <a:r>
              <a:rPr lang="en-US" altLang="ko-KR" sz="1600" dirty="0"/>
              <a:t>(*.class)</a:t>
            </a:r>
            <a:endParaRPr lang="ko-KR" altLang="en-US" sz="16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0248BF4-E76A-49AD-8534-2E191F146D3B}"/>
              </a:ext>
            </a:extLst>
          </p:cNvPr>
          <p:cNvSpPr/>
          <p:nvPr/>
        </p:nvSpPr>
        <p:spPr>
          <a:xfrm>
            <a:off x="5930337" y="1875033"/>
            <a:ext cx="1525274" cy="807969"/>
          </a:xfrm>
          <a:prstGeom prst="rect">
            <a:avLst/>
          </a:prstGeom>
          <a:noFill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/>
              <a:t>00001010101</a:t>
            </a:r>
          </a:p>
          <a:p>
            <a:pPr algn="ctr"/>
            <a:r>
              <a:rPr lang="en-US" altLang="ko-KR" sz="1600" dirty="0"/>
              <a:t>11001010101</a:t>
            </a: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EAC4C9A-4EE1-4611-897F-64FF886D03D8}"/>
              </a:ext>
            </a:extLst>
          </p:cNvPr>
          <p:cNvSpPr/>
          <p:nvPr/>
        </p:nvSpPr>
        <p:spPr>
          <a:xfrm>
            <a:off x="7945300" y="1962921"/>
            <a:ext cx="972868" cy="720080"/>
          </a:xfrm>
          <a:prstGeom prst="ellipse">
            <a:avLst/>
          </a:prstGeom>
          <a:noFill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25" dirty="0">
                <a:solidFill>
                  <a:sysClr val="windowText" lastClr="000000"/>
                </a:solidFill>
              </a:rPr>
              <a:t>실행</a:t>
            </a:r>
          </a:p>
        </p:txBody>
      </p:sp>
      <p:sp>
        <p:nvSpPr>
          <p:cNvPr id="15" name="화살표: 톱니 모양의 오른쪽 9">
            <a:extLst>
              <a:ext uri="{FF2B5EF4-FFF2-40B4-BE49-F238E27FC236}">
                <a16:creationId xmlns:a16="http://schemas.microsoft.com/office/drawing/2014/main" id="{5A375150-9FF3-4285-A9FE-6B7DDE703365}"/>
              </a:ext>
            </a:extLst>
          </p:cNvPr>
          <p:cNvSpPr/>
          <p:nvPr/>
        </p:nvSpPr>
        <p:spPr>
          <a:xfrm>
            <a:off x="2761316" y="2173150"/>
            <a:ext cx="326571" cy="182449"/>
          </a:xfrm>
          <a:prstGeom prst="notched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6" name="화살표: 톱니 모양의 오른쪽 10">
            <a:extLst>
              <a:ext uri="{FF2B5EF4-FFF2-40B4-BE49-F238E27FC236}">
                <a16:creationId xmlns:a16="http://schemas.microsoft.com/office/drawing/2014/main" id="{6066EC28-52A2-4747-96F7-F0564C4A721C}"/>
              </a:ext>
            </a:extLst>
          </p:cNvPr>
          <p:cNvSpPr/>
          <p:nvPr/>
        </p:nvSpPr>
        <p:spPr>
          <a:xfrm>
            <a:off x="5391918" y="2173150"/>
            <a:ext cx="326571" cy="182449"/>
          </a:xfrm>
          <a:prstGeom prst="notched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7" name="화살표: 톱니 모양의 오른쪽 11">
            <a:extLst>
              <a:ext uri="{FF2B5EF4-FFF2-40B4-BE49-F238E27FC236}">
                <a16:creationId xmlns:a16="http://schemas.microsoft.com/office/drawing/2014/main" id="{CABC91A5-F924-450D-872E-5808894DEEAF}"/>
              </a:ext>
            </a:extLst>
          </p:cNvPr>
          <p:cNvSpPr/>
          <p:nvPr/>
        </p:nvSpPr>
        <p:spPr>
          <a:xfrm>
            <a:off x="7578757" y="2173150"/>
            <a:ext cx="326571" cy="182449"/>
          </a:xfrm>
          <a:prstGeom prst="notched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63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2FEA725-49CA-40A0-9C37-9E1B835D2F30}"/>
              </a:ext>
            </a:extLst>
          </p:cNvPr>
          <p:cNvSpPr/>
          <p:nvPr/>
        </p:nvSpPr>
        <p:spPr>
          <a:xfrm>
            <a:off x="2243646" y="2642533"/>
            <a:ext cx="1485217" cy="893227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>
                <a:solidFill>
                  <a:sysClr val="windowText" lastClr="000000"/>
                </a:solidFill>
              </a:rPr>
              <a:t>컴파일러</a:t>
            </a:r>
            <a:endParaRPr lang="en-US" altLang="ko-KR" sz="1600" dirty="0">
              <a:solidFill>
                <a:sysClr val="windowText" lastClr="000000"/>
              </a:solidFill>
            </a:endParaRP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javac.exe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4736976" y="2642534"/>
            <a:ext cx="1414773" cy="893226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JVM</a:t>
            </a:r>
          </a:p>
          <a:p>
            <a:pPr algn="ctr"/>
            <a:r>
              <a:rPr lang="en-US" altLang="ko-KR" sz="1600" dirty="0">
                <a:solidFill>
                  <a:sysClr val="windowText" lastClr="000000"/>
                </a:solidFill>
              </a:rPr>
              <a:t>java.exe</a:t>
            </a:r>
            <a:endParaRPr lang="ko-KR" altLang="en-US" sz="1600" dirty="0">
              <a:solidFill>
                <a:sysClr val="windowText" lastClr="000000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D0248BF4-E76A-49AD-8534-2E191F146D3B}"/>
              </a:ext>
            </a:extLst>
          </p:cNvPr>
          <p:cNvSpPr/>
          <p:nvPr/>
        </p:nvSpPr>
        <p:spPr>
          <a:xfrm>
            <a:off x="6249144" y="1556792"/>
            <a:ext cx="864096" cy="406129"/>
          </a:xfrm>
          <a:prstGeom prst="roundRect">
            <a:avLst/>
          </a:prstGeom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기계어</a:t>
            </a:r>
            <a:endParaRPr lang="en-US" altLang="ko-KR" sz="1600" dirty="0"/>
          </a:p>
        </p:txBody>
      </p:sp>
      <p:sp>
        <p:nvSpPr>
          <p:cNvPr id="21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632520" y="4149080"/>
            <a:ext cx="8640960" cy="18002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ü"/>
            </a:pPr>
            <a:r>
              <a:rPr lang="ko-KR" altLang="en-US" sz="2000" b="1" dirty="0"/>
              <a:t> 빌드</a:t>
            </a:r>
            <a:r>
              <a:rPr lang="en-US" altLang="ko-KR" sz="2000" b="1" dirty="0"/>
              <a:t>(build)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2000" b="1" dirty="0"/>
              <a:t>     </a:t>
            </a:r>
            <a:r>
              <a:rPr lang="ko-KR" altLang="en-US" sz="1600" dirty="0"/>
              <a:t>컴파일과 링크된 코드들을 </a:t>
            </a:r>
            <a:r>
              <a:rPr lang="ko-KR" altLang="en-US" sz="1600" dirty="0" err="1"/>
              <a:t>실행가능한</a:t>
            </a:r>
            <a:r>
              <a:rPr lang="ko-KR" altLang="en-US" sz="1600" dirty="0"/>
              <a:t> 파일로 만드는 일련의 과정으로 전처리</a:t>
            </a:r>
            <a:r>
              <a:rPr lang="en-US" altLang="ko-KR" sz="1600" dirty="0"/>
              <a:t>, </a:t>
            </a:r>
            <a:r>
              <a:rPr lang="ko-KR" altLang="en-US" sz="1600" dirty="0"/>
              <a:t>컴파일</a:t>
            </a:r>
            <a:r>
              <a:rPr lang="en-US" altLang="ko-KR" sz="1600" dirty="0"/>
              <a:t>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/>
              <a:t>      </a:t>
            </a:r>
            <a:r>
              <a:rPr lang="ko-KR" altLang="en-US" sz="1600" dirty="0" err="1"/>
              <a:t>패키징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배포등이</a:t>
            </a:r>
            <a:r>
              <a:rPr lang="ko-KR" altLang="en-US" sz="1600" dirty="0"/>
              <a:t> 포함된다</a:t>
            </a:r>
            <a:r>
              <a:rPr lang="en-US" altLang="ko-KR" sz="1600" dirty="0"/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dirty="0"/>
              <a:t>      Java </a:t>
            </a:r>
            <a:r>
              <a:rPr lang="ko-KR" altLang="en-US" sz="1600" dirty="0"/>
              <a:t>빌드 툴로는 </a:t>
            </a:r>
            <a:r>
              <a:rPr lang="en-US" altLang="ko-KR" sz="1600" dirty="0"/>
              <a:t>Maven, </a:t>
            </a:r>
            <a:r>
              <a:rPr lang="en-US" altLang="ko-KR" sz="1600" dirty="0" err="1"/>
              <a:t>Gradle</a:t>
            </a:r>
            <a:r>
              <a:rPr lang="en-US" altLang="ko-KR" sz="1600" dirty="0"/>
              <a:t> </a:t>
            </a:r>
            <a:r>
              <a:rPr lang="ko-KR" altLang="en-US" sz="1600" dirty="0"/>
              <a:t>등이 있다</a:t>
            </a:r>
            <a:r>
              <a:rPr lang="en-US" altLang="ko-KR" sz="1600" dirty="0"/>
              <a:t>.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912744" y="3645024"/>
            <a:ext cx="81369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>
                <a:solidFill>
                  <a:srgbClr val="C00000"/>
                </a:solidFill>
              </a:rPr>
              <a:t>▷ </a:t>
            </a:r>
            <a:r>
              <a:rPr lang="ko-KR" altLang="en-US" sz="1600" dirty="0"/>
              <a:t>바이트 코드 파일은 완전한 기계어가 아니므로 바로 실행할 수 있는 파일이 아니다</a:t>
            </a:r>
            <a:r>
              <a:rPr lang="en-US" altLang="ko-KR" sz="1600" dirty="0">
                <a:solidFill>
                  <a:srgbClr val="C00000"/>
                </a:solidFill>
              </a:rPr>
              <a:t>.</a:t>
            </a:r>
            <a:endParaRPr lang="ko-KR" altLang="en-US" sz="16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40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주석 </a:t>
            </a:r>
            <a:r>
              <a:rPr lang="en-US" altLang="ko-KR" dirty="0"/>
              <a:t>, </a:t>
            </a:r>
            <a:r>
              <a:rPr lang="ko-KR" altLang="en-US" dirty="0"/>
              <a:t>블록</a:t>
            </a:r>
            <a:r>
              <a:rPr lang="en-US" altLang="ko-KR" dirty="0"/>
              <a:t>, </a:t>
            </a:r>
            <a:r>
              <a:rPr lang="ko-KR" altLang="en-US" dirty="0"/>
              <a:t>세미콜론</a:t>
            </a:r>
            <a:r>
              <a:rPr lang="en-US" altLang="ko-KR" dirty="0"/>
              <a:t>(;)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9913" y="980728"/>
            <a:ext cx="83075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기초 문법</a:t>
            </a:r>
            <a:endParaRPr lang="en-US" altLang="ko-KR" sz="2000" b="1" dirty="0"/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주석은 소스코드에 설명을 추가하거나 특정 코드가 </a:t>
            </a:r>
            <a:r>
              <a:rPr lang="ko-KR" altLang="en-US" dirty="0" err="1"/>
              <a:t>컴파일되지</a:t>
            </a:r>
            <a:r>
              <a:rPr lang="ko-KR" altLang="en-US" dirty="0"/>
              <a:t> 않도록  </a:t>
            </a:r>
            <a:r>
              <a:rPr lang="ko-KR" altLang="en-US" dirty="0" err="1"/>
              <a:t>처리할때</a:t>
            </a:r>
            <a:r>
              <a:rPr lang="ko-KR" altLang="en-US" dirty="0"/>
              <a:t> 사용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 err="1"/>
              <a:t>한줄</a:t>
            </a:r>
            <a:r>
              <a:rPr lang="ko-KR" altLang="en-US" dirty="0"/>
              <a:t> 주석 </a:t>
            </a:r>
            <a:r>
              <a:rPr lang="en-US" altLang="ko-KR" dirty="0"/>
              <a:t>: </a:t>
            </a:r>
            <a:r>
              <a:rPr lang="ko-KR" altLang="en-US" dirty="0"/>
              <a:t>문장 앞에 </a:t>
            </a:r>
            <a:r>
              <a:rPr lang="en-US" altLang="ko-KR" dirty="0"/>
              <a:t>‘// ‘ </a:t>
            </a:r>
            <a:r>
              <a:rPr lang="ko-KR" altLang="en-US" dirty="0"/>
              <a:t>표시</a:t>
            </a:r>
            <a:endParaRPr lang="en-US" altLang="ko-KR" dirty="0"/>
          </a:p>
          <a:p>
            <a:pPr marL="1200150" lvl="2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여러 줄 주석 </a:t>
            </a:r>
            <a:r>
              <a:rPr lang="en-US" altLang="ko-KR" dirty="0"/>
              <a:t>: /*~ */ </a:t>
            </a:r>
            <a:r>
              <a:rPr lang="ko-KR" altLang="en-US" dirty="0"/>
              <a:t>기호 사용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문장이 종료는 세미콜론</a:t>
            </a:r>
            <a:r>
              <a:rPr lang="en-US" altLang="ko-KR" dirty="0"/>
              <a:t>(;)</a:t>
            </a:r>
            <a:r>
              <a:rPr lang="ko-KR" altLang="en-US" dirty="0"/>
              <a:t>을 사용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{  } </a:t>
            </a:r>
            <a:r>
              <a:rPr lang="ko-KR" altLang="en-US" dirty="0"/>
              <a:t>블록 안에 코드 작성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50307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주석 </a:t>
            </a:r>
            <a:r>
              <a:rPr lang="en-US" altLang="ko-KR" dirty="0"/>
              <a:t>, </a:t>
            </a:r>
            <a:r>
              <a:rPr lang="ko-KR" altLang="en-US" dirty="0"/>
              <a:t>블록</a:t>
            </a:r>
            <a:r>
              <a:rPr lang="en-US" altLang="ko-KR" dirty="0"/>
              <a:t>, </a:t>
            </a:r>
            <a:r>
              <a:rPr lang="ko-KR" altLang="en-US" dirty="0"/>
              <a:t>세미콜론</a:t>
            </a:r>
            <a:r>
              <a:rPr lang="en-US" altLang="ko-KR" dirty="0"/>
              <a:t>(;)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9913" y="980728"/>
            <a:ext cx="830754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기초 문법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19238"/>
            <a:ext cx="5815613" cy="46557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512662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데이터</a:t>
            </a:r>
            <a:r>
              <a:rPr lang="en-US" altLang="ko-KR" dirty="0"/>
              <a:t>(data) </a:t>
            </a:r>
            <a:r>
              <a:rPr lang="ko-KR" altLang="en-US" dirty="0"/>
              <a:t>출력하기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t="7469"/>
          <a:stretch/>
        </p:blipFill>
        <p:spPr>
          <a:xfrm>
            <a:off x="1496616" y="1599901"/>
            <a:ext cx="5616624" cy="46165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49913" y="980728"/>
            <a:ext cx="8307543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/>
              <a:t>기초 문법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41297251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System </a:t>
            </a:r>
            <a:r>
              <a:rPr lang="ko-KR" altLang="en-US" dirty="0"/>
              <a:t>클래스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592" y="1593632"/>
            <a:ext cx="5018762" cy="30243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5212" y="3449092"/>
            <a:ext cx="4320480" cy="241143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4304928" y="1556792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java.base</a:t>
            </a:r>
            <a:r>
              <a:rPr lang="en-US" altLang="ko-KR" dirty="0"/>
              <a:t> &gt; </a:t>
            </a:r>
            <a:r>
              <a:rPr lang="en-US" altLang="ko-KR" dirty="0" err="1"/>
              <a:t>java.lang</a:t>
            </a:r>
            <a:r>
              <a:rPr lang="en-US" altLang="ko-KR" dirty="0"/>
              <a:t> &gt; System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49913" y="980728"/>
            <a:ext cx="341099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/>
              <a:t>System </a:t>
            </a:r>
            <a:r>
              <a:rPr lang="ko-KR" altLang="en-US" sz="2000" b="1" dirty="0"/>
              <a:t>클래스</a:t>
            </a:r>
            <a:endParaRPr lang="en-US" altLang="ko-KR" sz="2000" b="1" dirty="0"/>
          </a:p>
        </p:txBody>
      </p:sp>
    </p:spTree>
    <p:extLst>
      <p:ext uri="{BB962C8B-B14F-4D97-AF65-F5344CB8AC3E}">
        <p14:creationId xmlns:p14="http://schemas.microsoft.com/office/powerpoint/2010/main" val="1677045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연습 문제 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6496" y="1278293"/>
            <a:ext cx="914501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실습 문제 </a:t>
            </a:r>
            <a:r>
              <a:rPr lang="en-US" altLang="ko-KR" sz="2000" dirty="0"/>
              <a:t>: Java </a:t>
            </a:r>
            <a:r>
              <a:rPr lang="ko-KR" altLang="en-US" sz="2000" dirty="0"/>
              <a:t>개발 환경 구축</a:t>
            </a:r>
            <a:endParaRPr lang="en-US" altLang="ko-KR" sz="2000" dirty="0"/>
          </a:p>
          <a:p>
            <a:endParaRPr lang="en-US" altLang="ko-KR" dirty="0"/>
          </a:p>
          <a:p>
            <a:r>
              <a:rPr lang="en-US" altLang="ko-KR" dirty="0"/>
              <a:t>----------------------------------------------------------------------------------</a:t>
            </a:r>
          </a:p>
          <a:p>
            <a:r>
              <a:rPr lang="en-US" altLang="ko-KR" dirty="0"/>
              <a:t> ( ) </a:t>
            </a:r>
            <a:r>
              <a:rPr lang="ko-KR" altLang="en-US" dirty="0"/>
              <a:t>안에 들어갈 적당한 말을 맞춰보세요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----------------------------------------------------------------------------------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프로그램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을 기계가 이해할 수 있는 언어로 바꾸는 일을 </a:t>
            </a:r>
            <a:r>
              <a:rPr lang="en-US" altLang="ko-KR" dirty="0"/>
              <a:t>(            )</a:t>
            </a:r>
            <a:r>
              <a:rPr lang="ko-KR" altLang="en-US" dirty="0"/>
              <a:t>이라고 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자바로 만든 프로그램은 </a:t>
            </a:r>
            <a:r>
              <a:rPr lang="en-US" altLang="ko-KR" dirty="0"/>
              <a:t>(                      )</a:t>
            </a:r>
            <a:r>
              <a:rPr lang="ko-KR" altLang="en-US" dirty="0"/>
              <a:t>이 설치되어 있으면 운영체제와 상관없이 실행할 수 있다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자바 개발을 위해 설치하는 자바 라이브러리를 </a:t>
            </a:r>
            <a:r>
              <a:rPr lang="en-US" altLang="ko-KR" dirty="0"/>
              <a:t>(                ) </a:t>
            </a:r>
            <a:r>
              <a:rPr lang="ko-KR" altLang="en-US" dirty="0"/>
              <a:t>라고 한다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</p:txBody>
      </p:sp>
      <p:sp>
        <p:nvSpPr>
          <p:cNvPr id="4" name="TextBox 3"/>
          <p:cNvSpPr txBox="1"/>
          <p:nvPr/>
        </p:nvSpPr>
        <p:spPr>
          <a:xfrm>
            <a:off x="6033120" y="5753001"/>
            <a:ext cx="31683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1.</a:t>
            </a:r>
            <a:r>
              <a:rPr lang="ko-KR" altLang="en-US" sz="1400" dirty="0"/>
              <a:t>컴파일</a:t>
            </a:r>
            <a:r>
              <a:rPr lang="en-US" altLang="ko-KR" sz="1400" dirty="0"/>
              <a:t> 2.JVM(</a:t>
            </a:r>
            <a:r>
              <a:rPr lang="ko-KR" altLang="en-US" sz="1400" dirty="0" err="1"/>
              <a:t>자바가상머신</a:t>
            </a:r>
            <a:r>
              <a:rPr lang="en-US" altLang="ko-KR" sz="1400" dirty="0"/>
              <a:t>)</a:t>
            </a:r>
            <a:r>
              <a:rPr lang="ko-KR" altLang="en-US" sz="1400" dirty="0"/>
              <a:t> </a:t>
            </a:r>
            <a:r>
              <a:rPr lang="en-US" altLang="ko-KR" sz="1400" dirty="0"/>
              <a:t>3.JDK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9473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1052735"/>
            <a:ext cx="8568952" cy="518457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200" b="1" dirty="0">
                <a:solidFill>
                  <a:srgbClr val="C00000"/>
                </a:solidFill>
              </a:rPr>
              <a:t>변수란</a:t>
            </a:r>
            <a:r>
              <a:rPr lang="en-US" altLang="ko-KR" sz="2200" b="1" dirty="0">
                <a:solidFill>
                  <a:srgbClr val="C00000"/>
                </a:solidFill>
              </a:rPr>
              <a:t>?</a:t>
            </a:r>
            <a:r>
              <a:rPr lang="ko-KR" altLang="en-US" sz="2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altLang="ko-KR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프로그램에서 사용되는 자료를 저장하기 위한 공간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1800" dirty="0" err="1"/>
              <a:t>할당받은</a:t>
            </a:r>
            <a:r>
              <a:rPr lang="ko-KR" altLang="en-US" sz="1800" dirty="0"/>
              <a:t> 메모리의 주소 대신 부르는 이름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프로그램 실행 중에 값 변경 가능</a:t>
            </a:r>
            <a:r>
              <a:rPr lang="en-US" altLang="ko-KR" sz="1800" dirty="0"/>
              <a:t>, variable </a:t>
            </a:r>
            <a:r>
              <a:rPr lang="ko-KR" altLang="en-US" sz="1800" dirty="0"/>
              <a:t>이라 함</a:t>
            </a:r>
            <a:endParaRPr lang="en-US" altLang="ko-KR" sz="1800" dirty="0"/>
          </a:p>
          <a:p>
            <a:pPr marL="457200" lvl="1" indent="0">
              <a:buNone/>
            </a:pPr>
            <a:endParaRPr lang="en-US" altLang="ko-KR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200" b="1" dirty="0">
                <a:solidFill>
                  <a:srgbClr val="C00000"/>
                </a:solidFill>
              </a:rPr>
              <a:t>변수의 선언 및 초기화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변수 선언은 어떤 타입의 데이터를 저장할 것인지 그리고 변수이름은 무엇인지를 결정한다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 err="1">
                <a:solidFill>
                  <a:srgbClr val="0070C0"/>
                </a:solidFill>
              </a:rPr>
              <a:t>자료형</a:t>
            </a:r>
            <a:r>
              <a:rPr lang="ko-KR" altLang="en-US" sz="1800" dirty="0"/>
              <a:t> </a:t>
            </a:r>
            <a:r>
              <a:rPr lang="ko-KR" altLang="en-US" sz="1800" b="1" dirty="0"/>
              <a:t>변수이름</a:t>
            </a:r>
            <a:r>
              <a:rPr lang="en-US" altLang="ko-KR" sz="1800" dirty="0"/>
              <a:t>;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 err="1">
                <a:solidFill>
                  <a:srgbClr val="0070C0"/>
                </a:solidFill>
              </a:rPr>
              <a:t>자료형</a:t>
            </a:r>
            <a:r>
              <a:rPr lang="ko-KR" altLang="en-US" sz="1800" dirty="0"/>
              <a:t> </a:t>
            </a:r>
            <a:r>
              <a:rPr lang="ko-KR" altLang="en-US" sz="1800" b="1" dirty="0"/>
              <a:t>변수이름 </a:t>
            </a:r>
            <a:r>
              <a:rPr lang="en-US" altLang="ko-KR" sz="1800" b="1" dirty="0"/>
              <a:t>= </a:t>
            </a:r>
            <a:r>
              <a:rPr lang="ko-KR" altLang="en-US" sz="1800" b="1" dirty="0"/>
              <a:t>초기값</a:t>
            </a:r>
            <a:r>
              <a:rPr lang="en-US" altLang="ko-KR" sz="1800" b="1" dirty="0"/>
              <a:t>;</a:t>
            </a:r>
            <a:endParaRPr lang="en-US" altLang="ko-KR" sz="1800" dirty="0"/>
          </a:p>
          <a:p>
            <a:pPr marL="457200" lvl="1" indent="0">
              <a:buNone/>
            </a:pPr>
            <a:r>
              <a:rPr lang="en-US" altLang="ko-KR" sz="1800" dirty="0"/>
              <a:t>   </a:t>
            </a:r>
            <a:r>
              <a:rPr lang="en-US" altLang="ko-KR" sz="1800" dirty="0" err="1"/>
              <a:t>int</a:t>
            </a:r>
            <a:r>
              <a:rPr lang="en-US" altLang="ko-KR" sz="1800" dirty="0"/>
              <a:t> level; 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   double height;</a:t>
            </a:r>
            <a:endParaRPr lang="en-US" altLang="ko-KR" sz="16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/>
              <a:t>변수</a:t>
            </a:r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6789204" y="4293096"/>
            <a:ext cx="1692188" cy="1512168"/>
            <a:chOff x="6033120" y="3501008"/>
            <a:chExt cx="2088232" cy="1728192"/>
          </a:xfrm>
        </p:grpSpPr>
        <p:sp>
          <p:nvSpPr>
            <p:cNvPr id="5" name="직사각형 4"/>
            <p:cNvSpPr/>
            <p:nvPr/>
          </p:nvSpPr>
          <p:spPr>
            <a:xfrm>
              <a:off x="6033120" y="3501008"/>
              <a:ext cx="2088232" cy="1728192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6249144" y="4191678"/>
              <a:ext cx="936104" cy="288032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 sz="2000" dirty="0"/>
                <a:t>level</a:t>
              </a:r>
              <a:endParaRPr lang="ko-KR" altLang="en-US" sz="2000" dirty="0"/>
            </a:p>
          </p:txBody>
        </p:sp>
      </p:grpSp>
      <p:sp>
        <p:nvSpPr>
          <p:cNvPr id="8" name="슬라이드 번호 개체 틀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148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13520" y="3127919"/>
            <a:ext cx="5760640" cy="2808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200" b="1" dirty="0">
                <a:solidFill>
                  <a:srgbClr val="C00000"/>
                </a:solidFill>
              </a:rPr>
              <a:t>변수 이름 </a:t>
            </a:r>
            <a:r>
              <a:rPr lang="ko-KR" altLang="en-US" sz="2200" b="1" dirty="0" err="1">
                <a:solidFill>
                  <a:srgbClr val="C00000"/>
                </a:solidFill>
              </a:rPr>
              <a:t>선언시</a:t>
            </a:r>
            <a:r>
              <a:rPr lang="ko-KR" altLang="en-US" sz="2200" b="1" dirty="0">
                <a:solidFill>
                  <a:srgbClr val="C00000"/>
                </a:solidFill>
              </a:rPr>
              <a:t> 유의점</a:t>
            </a:r>
            <a:r>
              <a:rPr lang="ko-KR" altLang="en-US" sz="2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altLang="ko-KR" sz="22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변수의 이름은 알파벳</a:t>
            </a:r>
            <a:r>
              <a:rPr lang="en-US" altLang="ko-KR" sz="1800" dirty="0"/>
              <a:t>, </a:t>
            </a:r>
            <a:r>
              <a:rPr lang="ko-KR" altLang="en-US" sz="1800" dirty="0"/>
              <a:t>숫자</a:t>
            </a:r>
            <a:r>
              <a:rPr lang="en-US" altLang="ko-KR" sz="1800" dirty="0"/>
              <a:t>, _, $</a:t>
            </a:r>
            <a:r>
              <a:rPr lang="ko-KR" altLang="en-US" sz="1800" dirty="0"/>
              <a:t>로</a:t>
            </a:r>
            <a:r>
              <a:rPr lang="en-US" altLang="ko-KR" sz="1800" dirty="0"/>
              <a:t> </a:t>
            </a:r>
            <a:r>
              <a:rPr lang="ko-KR" altLang="en-US" sz="1800" dirty="0"/>
              <a:t>구성된다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대소문자를 구분한다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C00000"/>
                </a:solidFill>
              </a:rPr>
              <a:t>숫자로 시작할 수 없고</a:t>
            </a:r>
            <a:r>
              <a:rPr lang="en-US" altLang="ko-KR" sz="1800" dirty="0"/>
              <a:t>, </a:t>
            </a:r>
            <a:r>
              <a:rPr lang="ko-KR" altLang="en-US" sz="1800" dirty="0">
                <a:solidFill>
                  <a:srgbClr val="C00000"/>
                </a:solidFill>
              </a:rPr>
              <a:t>키워드</a:t>
            </a:r>
            <a:r>
              <a:rPr lang="en-US" altLang="ko-KR" sz="1800" dirty="0">
                <a:solidFill>
                  <a:srgbClr val="C00000"/>
                </a:solidFill>
              </a:rPr>
              <a:t>(</a:t>
            </a:r>
            <a:r>
              <a:rPr lang="ko-KR" altLang="en-US" sz="1800" dirty="0" err="1">
                <a:solidFill>
                  <a:srgbClr val="C00000"/>
                </a:solidFill>
              </a:rPr>
              <a:t>예약어</a:t>
            </a:r>
            <a:r>
              <a:rPr lang="en-US" altLang="ko-KR" sz="1800" dirty="0">
                <a:solidFill>
                  <a:srgbClr val="C00000"/>
                </a:solidFill>
              </a:rPr>
              <a:t>)</a:t>
            </a:r>
            <a:r>
              <a:rPr lang="ko-KR" altLang="en-US" sz="1800" dirty="0">
                <a:solidFill>
                  <a:srgbClr val="C00000"/>
                </a:solidFill>
              </a:rPr>
              <a:t>도 변수의 이름으로 사용할 수 없다</a:t>
            </a:r>
            <a:r>
              <a:rPr lang="en-US" altLang="ko-KR" sz="1800" dirty="0">
                <a:solidFill>
                  <a:srgbClr val="C00000"/>
                </a:solidFill>
              </a:rPr>
              <a:t>.(</a:t>
            </a:r>
            <a:r>
              <a:rPr lang="ko-KR" altLang="en-US" sz="1800" dirty="0">
                <a:solidFill>
                  <a:srgbClr val="C00000"/>
                </a:solidFill>
              </a:rPr>
              <a:t>문법 오류</a:t>
            </a:r>
            <a:r>
              <a:rPr lang="en-US" altLang="ko-KR" sz="1800" dirty="0">
                <a:solidFill>
                  <a:srgbClr val="C00000"/>
                </a:solidFill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>
                <a:solidFill>
                  <a:srgbClr val="C00000"/>
                </a:solidFill>
              </a:rPr>
              <a:t>이름 사이에 공백이 있을 수 없다</a:t>
            </a:r>
            <a:r>
              <a:rPr lang="en-US" altLang="ko-KR" sz="1800" dirty="0">
                <a:solidFill>
                  <a:srgbClr val="C00000"/>
                </a:solidFill>
              </a:rPr>
              <a:t>.(</a:t>
            </a:r>
            <a:r>
              <a:rPr lang="ko-KR" altLang="en-US" sz="1800" dirty="0">
                <a:solidFill>
                  <a:srgbClr val="C00000"/>
                </a:solidFill>
              </a:rPr>
              <a:t>문법 오류</a:t>
            </a:r>
            <a:r>
              <a:rPr lang="en-US" altLang="ko-KR" sz="1800" dirty="0">
                <a:solidFill>
                  <a:srgbClr val="C00000"/>
                </a:solidFill>
              </a:rPr>
              <a:t>)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변수의 이름을 정할 때는 변수의 역할에 어울리는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의미있는</a:t>
            </a:r>
            <a:r>
              <a:rPr lang="ko-KR" altLang="en-US" sz="1800" dirty="0"/>
              <a:t> 이름을 지어야 한다</a:t>
            </a:r>
            <a:r>
              <a:rPr lang="en-US" altLang="ko-KR" sz="2000" dirty="0"/>
              <a:t>.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/>
              <a:t>변수 사용하기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671456" y="3792250"/>
            <a:ext cx="2818048" cy="197500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b="1" dirty="0" err="1"/>
              <a:t>예약어</a:t>
            </a:r>
            <a:r>
              <a:rPr lang="en-US" altLang="ko-KR" b="1" dirty="0"/>
              <a:t>(reserved word)</a:t>
            </a:r>
          </a:p>
          <a:p>
            <a:r>
              <a:rPr lang="ko-KR" altLang="en-US" dirty="0"/>
              <a:t>프로그래밍 구문에 사용되는 명령어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break, </a:t>
            </a:r>
            <a:r>
              <a:rPr lang="en-US" altLang="ko-KR" dirty="0" err="1"/>
              <a:t>int</a:t>
            </a:r>
            <a:r>
              <a:rPr lang="en-US" altLang="ko-KR" dirty="0"/>
              <a:t>, </a:t>
            </a:r>
            <a:r>
              <a:rPr lang="en-US" altLang="ko-KR" dirty="0" err="1"/>
              <a:t>const</a:t>
            </a:r>
            <a:r>
              <a:rPr lang="en-US" altLang="ko-KR" dirty="0"/>
              <a:t>, if, for, class, this</a:t>
            </a:r>
            <a:r>
              <a:rPr lang="ko-KR" altLang="en-US" dirty="0"/>
              <a:t>등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13520" y="908720"/>
            <a:ext cx="4953000" cy="18466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200" b="1" dirty="0">
                <a:solidFill>
                  <a:srgbClr val="C00000"/>
                </a:solidFill>
              </a:rPr>
              <a:t> 변수의  초기화</a:t>
            </a:r>
            <a:endParaRPr lang="en-US" altLang="ko-KR" sz="2200" b="1" dirty="0">
              <a:solidFill>
                <a:srgbClr val="C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altLang="ko-KR" dirty="0" err="1">
                <a:solidFill>
                  <a:srgbClr val="0070C0"/>
                </a:solidFill>
              </a:rPr>
              <a:t>int</a:t>
            </a:r>
            <a:r>
              <a:rPr lang="ko-KR" altLang="en-US" dirty="0"/>
              <a:t> </a:t>
            </a:r>
            <a:r>
              <a:rPr lang="en-US" altLang="ko-KR" dirty="0"/>
              <a:t>age</a:t>
            </a:r>
            <a:r>
              <a:rPr lang="ko-KR" altLang="en-US" dirty="0"/>
              <a:t> </a:t>
            </a:r>
            <a:r>
              <a:rPr lang="en-US" altLang="ko-KR" dirty="0"/>
              <a:t>=</a:t>
            </a:r>
            <a:r>
              <a:rPr lang="ko-KR" altLang="en-US" dirty="0"/>
              <a:t> </a:t>
            </a:r>
            <a:r>
              <a:rPr lang="en-US" altLang="ko-KR" dirty="0"/>
              <a:t>27;</a:t>
            </a:r>
            <a:r>
              <a:rPr lang="ko-KR" altLang="en-US" dirty="0"/>
              <a:t>  </a:t>
            </a:r>
            <a:endParaRPr lang="en-US" altLang="ko-KR" dirty="0"/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70C0"/>
                </a:solidFill>
              </a:rPr>
              <a:t>char</a:t>
            </a:r>
            <a:r>
              <a:rPr lang="en-US" altLang="ko-KR" dirty="0"/>
              <a:t> c = ‘k’;</a:t>
            </a:r>
          </a:p>
          <a:p>
            <a:pPr lvl="1">
              <a:lnSpc>
                <a:spcPct val="150000"/>
              </a:lnSpc>
            </a:pPr>
            <a:r>
              <a:rPr lang="en-US" altLang="ko-KR" dirty="0">
                <a:solidFill>
                  <a:srgbClr val="0070C0"/>
                </a:solidFill>
              </a:rPr>
              <a:t>String</a:t>
            </a:r>
            <a:r>
              <a:rPr lang="en-US" altLang="ko-KR" dirty="0"/>
              <a:t> fruit= “</a:t>
            </a:r>
            <a:r>
              <a:rPr lang="ko-KR" altLang="en-US" dirty="0"/>
              <a:t>사과</a:t>
            </a:r>
            <a:r>
              <a:rPr lang="en-US" altLang="ko-KR" dirty="0"/>
              <a:t>” 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75258" y="1592794"/>
            <a:ext cx="648072" cy="382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27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6339154" y="2302945"/>
            <a:ext cx="792088" cy="4542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2" name="구부러진 연결선 11"/>
          <p:cNvCxnSpPr>
            <a:endCxn id="10" idx="0"/>
          </p:cNvCxnSpPr>
          <p:nvPr/>
        </p:nvCxnSpPr>
        <p:spPr>
          <a:xfrm rot="10800000" flipV="1">
            <a:off x="6735198" y="1783915"/>
            <a:ext cx="540060" cy="519029"/>
          </a:xfrm>
          <a:prstGeom prst="curvedConnector2">
            <a:avLst/>
          </a:prstGeom>
          <a:ln w="28575">
            <a:solidFill>
              <a:schemeClr val="tx1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691082" y="2374953"/>
            <a:ext cx="648072" cy="382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125215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/>
              <a:t>변수 사용하기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BF5621B-67C3-4A25-A1B1-779ADAACC6F7}"/>
              </a:ext>
            </a:extLst>
          </p:cNvPr>
          <p:cNvSpPr txBox="1">
            <a:spLocks/>
          </p:cNvSpPr>
          <p:nvPr/>
        </p:nvSpPr>
        <p:spPr>
          <a:xfrm>
            <a:off x="776536" y="908720"/>
            <a:ext cx="4392488" cy="53877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변수 선언과 사용</a:t>
            </a:r>
            <a:endParaRPr lang="en-US" altLang="ko-KR" sz="18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1" y="1447496"/>
            <a:ext cx="5935947" cy="48618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072244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8256"/>
            <a:ext cx="7689304" cy="854968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 err="1"/>
              <a:t>자료형</a:t>
            </a:r>
            <a:r>
              <a:rPr lang="en-US" altLang="ko-KR" b="1" dirty="0"/>
              <a:t>(Data Type)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776536" y="980728"/>
            <a:ext cx="9073008" cy="1368152"/>
          </a:xfrm>
          <a:prstGeom prst="rect">
            <a:avLst/>
          </a:prstGeom>
        </p:spPr>
        <p:txBody>
          <a:bodyPr>
            <a:normAutofit fontScale="92500" lnSpcReduction="20000"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400" b="1" dirty="0" err="1">
                <a:solidFill>
                  <a:srgbClr val="002060"/>
                </a:solidFill>
              </a:rPr>
              <a:t>자료형이란</a:t>
            </a:r>
            <a:r>
              <a:rPr lang="en-US" altLang="ko-KR" sz="2400" b="1" dirty="0">
                <a:solidFill>
                  <a:srgbClr val="002060"/>
                </a:solidFill>
              </a:rPr>
              <a:t>?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900" dirty="0"/>
              <a:t>데이터를 저장하는 공간의 유형</a:t>
            </a:r>
            <a:endParaRPr lang="en-US" altLang="ko-KR" sz="1900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900" dirty="0"/>
              <a:t>사용할 데이터의 종류에 따라 메모리 공간을 적절하게 설정해 주는 것</a:t>
            </a:r>
          </a:p>
        </p:txBody>
      </p:sp>
      <p:sp>
        <p:nvSpPr>
          <p:cNvPr id="3" name="모서리가 둥근 직사각형 2"/>
          <p:cNvSpPr/>
          <p:nvPr/>
        </p:nvSpPr>
        <p:spPr>
          <a:xfrm>
            <a:off x="1757198" y="3249014"/>
            <a:ext cx="1080120" cy="699755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</a:t>
            </a:r>
          </a:p>
          <a:p>
            <a:pPr algn="ctr"/>
            <a:r>
              <a:rPr lang="en-US" altLang="ko-KR" dirty="0"/>
              <a:t>(</a:t>
            </a:r>
            <a:r>
              <a:rPr lang="ko-KR" altLang="en-US" dirty="0"/>
              <a:t>기본형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/>
          <p:cNvSpPr/>
          <p:nvPr/>
        </p:nvSpPr>
        <p:spPr>
          <a:xfrm>
            <a:off x="3629406" y="2564904"/>
            <a:ext cx="1008112" cy="43204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문자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3629406" y="3393030"/>
            <a:ext cx="1008112" cy="43204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숫자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3629406" y="4257126"/>
            <a:ext cx="1008112" cy="43204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불리언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4853542" y="259626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‘B’, ‘5’, “apple”</a:t>
            </a:r>
            <a:endParaRPr lang="ko-KR" altLang="en-US" dirty="0"/>
          </a:p>
        </p:txBody>
      </p:sp>
      <p:cxnSp>
        <p:nvCxnSpPr>
          <p:cNvPr id="12" name="직선 화살표 연결선 11"/>
          <p:cNvCxnSpPr>
            <a:stCxn id="3" idx="3"/>
            <a:endCxn id="9" idx="1"/>
          </p:cNvCxnSpPr>
          <p:nvPr/>
        </p:nvCxnSpPr>
        <p:spPr>
          <a:xfrm flipV="1">
            <a:off x="2837318" y="2780928"/>
            <a:ext cx="792088" cy="817964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3" idx="3"/>
            <a:endCxn id="10" idx="1"/>
          </p:cNvCxnSpPr>
          <p:nvPr/>
        </p:nvCxnSpPr>
        <p:spPr>
          <a:xfrm>
            <a:off x="2837318" y="3598892"/>
            <a:ext cx="792088" cy="10162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직선 화살표 연결선 15"/>
          <p:cNvCxnSpPr>
            <a:stCxn id="3" idx="3"/>
            <a:endCxn id="11" idx="1"/>
          </p:cNvCxnSpPr>
          <p:nvPr/>
        </p:nvCxnSpPr>
        <p:spPr>
          <a:xfrm>
            <a:off x="2837318" y="3598892"/>
            <a:ext cx="792088" cy="874258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80992" y="4319842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true, false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4853542" y="339303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10, -20, 3.14, 2.54</a:t>
            </a:r>
            <a:endParaRPr lang="ko-KR" altLang="en-US" dirty="0"/>
          </a:p>
        </p:txBody>
      </p:sp>
      <p:sp>
        <p:nvSpPr>
          <p:cNvPr id="23" name="모서리가 둥근 직사각형 22"/>
          <p:cNvSpPr/>
          <p:nvPr/>
        </p:nvSpPr>
        <p:spPr>
          <a:xfrm>
            <a:off x="1757198" y="4977206"/>
            <a:ext cx="1197565" cy="68404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class</a:t>
            </a:r>
          </a:p>
          <a:p>
            <a:pPr algn="ctr"/>
            <a:r>
              <a:rPr lang="ko-KR" altLang="en-US" dirty="0" err="1"/>
              <a:t>참조형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80992" y="5107420"/>
            <a:ext cx="2979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Date </a:t>
            </a:r>
            <a:r>
              <a:rPr lang="en-US" altLang="ko-KR" b="1" dirty="0"/>
              <a:t>today</a:t>
            </a:r>
            <a:r>
              <a:rPr lang="en-US" altLang="ko-KR" dirty="0"/>
              <a:t> = new Date()</a:t>
            </a:r>
            <a:endParaRPr lang="ko-KR" altLang="en-US" dirty="0"/>
          </a:p>
        </p:txBody>
      </p:sp>
      <p:cxnSp>
        <p:nvCxnSpPr>
          <p:cNvPr id="34" name="직선 화살표 연결선 33"/>
          <p:cNvCxnSpPr/>
          <p:nvPr/>
        </p:nvCxnSpPr>
        <p:spPr>
          <a:xfrm>
            <a:off x="3044788" y="5281924"/>
            <a:ext cx="540060" cy="5081"/>
          </a:xfrm>
          <a:prstGeom prst="straightConnector1">
            <a:avLst/>
          </a:prstGeom>
          <a:ln w="19050">
            <a:solidFill>
              <a:srgbClr val="C00000"/>
            </a:solidFill>
            <a:prstDash val="sys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3647526" y="5107420"/>
            <a:ext cx="1008112" cy="43204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객체</a:t>
            </a:r>
          </a:p>
        </p:txBody>
      </p:sp>
    </p:spTree>
    <p:extLst>
      <p:ext uri="{BB962C8B-B14F-4D97-AF65-F5344CB8AC3E}">
        <p14:creationId xmlns:p14="http://schemas.microsoft.com/office/powerpoint/2010/main" val="28741554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8256"/>
            <a:ext cx="7689304" cy="854968"/>
          </a:xfrm>
        </p:spPr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 err="1"/>
              <a:t>자료형</a:t>
            </a:r>
            <a:r>
              <a:rPr lang="en-US" altLang="ko-KR" b="1" dirty="0"/>
              <a:t>(Data Type)</a:t>
            </a:r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776536" y="980728"/>
            <a:ext cx="3528392" cy="5760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기본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표 5"/>
              <p:cNvGraphicFramePr>
                <a:graphicFrameLocks noGrp="1"/>
              </p:cNvGraphicFramePr>
              <p:nvPr/>
            </p:nvGraphicFramePr>
            <p:xfrm>
              <a:off x="848544" y="1681998"/>
              <a:ext cx="8666093" cy="420465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61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57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158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02433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69737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err="1"/>
                            <a:t>자료형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/>
                            <a:t>용량</a:t>
                          </a:r>
                          <a:r>
                            <a:rPr lang="en-US" altLang="ko-KR" sz="1600" dirty="0"/>
                            <a:t>(bytes)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/>
                            <a:t>주요 용도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/>
                            <a:t>범위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3192">
                    <a:tc row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/>
                            <a:t>정수형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/>
                            <a:t>byte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1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작은 정수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-128~127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/>
                            <a:t>short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2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정수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-32768~32767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err="1"/>
                            <a:t>int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4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큰 범위의 정수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-2147483648~2147483647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/>
                            <a:t>long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4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큰 범위의 정수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60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smtClean="0">
                                      <a:latin typeface="Cambria Math"/>
                                    </a:rPr>
                                    <m:t>−2</m:t>
                                  </m:r>
                                </m:e>
                                <m:sup>
                                  <m:r>
                                    <a:rPr lang="en-US" altLang="ko-KR" sz="1600" b="0" i="0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altLang="ko-KR" sz="1600" dirty="0"/>
                            <a:t>~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600" smtClean="0">
                                      <a:latin typeface="Cambria Math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smtClean="0">
                                      <a:latin typeface="Cambria Math"/>
                                    </a:rPr>
                                    <m:t>(2</m:t>
                                  </m:r>
                                </m:e>
                                <m:sup>
                                  <m:r>
                                    <a:rPr lang="en-US" altLang="ko-KR" sz="1600" b="0" i="0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p>
                              </m:sSup>
                              <m:r>
                                <a:rPr lang="en-US" altLang="ko-KR" sz="1600" smtClean="0">
                                  <a:latin typeface="Cambria Math"/>
                                </a:rPr>
                                <m:t>−1</m:t>
                              </m:r>
                            </m:oMath>
                          </a14:m>
                          <a:r>
                            <a:rPr lang="ko-KR" altLang="en-US" sz="1600" dirty="0"/>
                            <a:t> </a:t>
                          </a:r>
                          <a:r>
                            <a:rPr lang="en-US" altLang="ko-KR" sz="1600" dirty="0"/>
                            <a:t>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3192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err="1"/>
                            <a:t>실수형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/>
                            <a:t>float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4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실수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−38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600" dirty="0"/>
                            <a:t> </a:t>
                          </a:r>
                          <a:r>
                            <a:rPr lang="en-US" altLang="ko-KR" sz="1600" dirty="0"/>
                            <a:t>~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altLang="ko-KR" sz="1600" b="0" i="1" smtClean="0">
                                      <a:latin typeface="Cambria Math" panose="02040503050406030204" pitchFamily="18" charset="0"/>
                                    </a:rPr>
                                    <m:t>38</m:t>
                                  </m:r>
                                </m:sup>
                              </m:sSup>
                            </m:oMath>
                          </a14:m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/>
                            <a:t>double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8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정밀한 실수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−380</m:t>
                                    </m:r>
                                  </m:sup>
                                </m:sSup>
                                <m:r>
                                  <a:rPr lang="en-US" altLang="ko-KR" sz="1600" b="0" i="1" smtClean="0">
                                    <a:latin typeface="Cambria Math" panose="02040503050406030204" pitchFamily="18" charset="0"/>
                                  </a:rPr>
                                  <m:t> ~ </m:t>
                                </m:r>
                                <m:sSup>
                                  <m:sSupPr>
                                    <m:ctrlP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en-US" altLang="ko-KR" sz="1600" b="0" i="1" smtClean="0">
                                        <a:latin typeface="Cambria Math" panose="02040503050406030204" pitchFamily="18" charset="0"/>
                                      </a:rPr>
                                      <m:t>380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31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/>
                            <a:t>문자형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/>
                            <a:t>char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2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/>
                            <a:t>영문자</a:t>
                          </a:r>
                          <a:r>
                            <a:rPr lang="en-US" altLang="ko-KR" sz="1600" dirty="0"/>
                            <a:t>, </a:t>
                          </a:r>
                          <a:r>
                            <a:rPr lang="ko-KR" altLang="en-US" sz="1600" dirty="0"/>
                            <a:t>한글 표현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/>
                            <a:t>-32768~32767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7927079"/>
                      </a:ext>
                    </a:extLst>
                  </a:tr>
                  <a:tr h="4531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/>
                            <a:t>논리형</a:t>
                          </a:r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err="1"/>
                            <a:t>boolean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/>
                            <a:t>1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600" dirty="0"/>
                            <a:t>true(</a:t>
                          </a:r>
                          <a:r>
                            <a:rPr lang="ko-KR" altLang="en-US" sz="1600" dirty="0"/>
                            <a:t>참</a:t>
                          </a:r>
                          <a:r>
                            <a:rPr lang="en-US" altLang="ko-KR" sz="1600" dirty="0"/>
                            <a:t>)</a:t>
                          </a:r>
                          <a:r>
                            <a:rPr lang="en-US" altLang="ko-KR" sz="1600" baseline="0" dirty="0"/>
                            <a:t> / false(</a:t>
                          </a:r>
                          <a:r>
                            <a:rPr lang="ko-KR" altLang="en-US" sz="1600" baseline="0" dirty="0"/>
                            <a:t>거짓</a:t>
                          </a:r>
                          <a:r>
                            <a:rPr lang="en-US" altLang="ko-KR" sz="1600" baseline="0" dirty="0"/>
                            <a:t>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/>
                            <a:t>-128~127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66593853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표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1958281"/>
                  </p:ext>
                </p:extLst>
              </p:nvPr>
            </p:nvGraphicFramePr>
            <p:xfrm>
              <a:off x="848544" y="1681998"/>
              <a:ext cx="8666093" cy="4204656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93610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22574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8640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1581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3024336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579120">
                    <a:tc grid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err="1" smtClean="0"/>
                            <a:t>자료형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용량</a:t>
                          </a:r>
                          <a:r>
                            <a:rPr lang="en-US" altLang="ko-KR" sz="1600" dirty="0" smtClean="0"/>
                            <a:t>(bytes)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주요 용도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범위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3">
                            <a:lumMod val="20000"/>
                            <a:lumOff val="8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3192">
                    <a:tc rowSpan="4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정수형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smtClean="0"/>
                            <a:t>byte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작은 </a:t>
                          </a:r>
                          <a:r>
                            <a:rPr lang="ko-KR" altLang="en-US" sz="1600" dirty="0" smtClean="0"/>
                            <a:t>정수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-128~127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smtClean="0"/>
                            <a:t>short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정수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-32768~32767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err="1" smtClean="0"/>
                            <a:t>int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큰 범위의 정수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-2147483648~2147483647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smtClean="0"/>
                            <a:t>long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FF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큰 범위의 정수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694" t="-433784" r="-202" b="-4135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453192">
                    <a:tc rowSpan="2"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err="1" smtClean="0"/>
                            <a:t>실수형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smtClean="0"/>
                            <a:t>float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4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실수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694" t="-526667" r="-202" b="-30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453192">
                    <a:tc vMerge="1"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smtClean="0"/>
                            <a:t>double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8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정밀한 실수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694" t="-635135" r="-202" b="-2121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4531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문자형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smtClean="0"/>
                            <a:t>char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2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ko-KR" altLang="en-US" sz="1600" dirty="0" smtClean="0"/>
                            <a:t>영문자</a:t>
                          </a:r>
                          <a:r>
                            <a:rPr lang="en-US" altLang="ko-KR" sz="1600" dirty="0" smtClean="0"/>
                            <a:t>, </a:t>
                          </a:r>
                          <a:r>
                            <a:rPr lang="ko-KR" altLang="en-US" sz="1600" dirty="0" smtClean="0"/>
                            <a:t>한글 표현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 smtClean="0"/>
                            <a:t>-32768~32767</a:t>
                          </a:r>
                          <a:endParaRPr lang="ko-KR" altLang="en-US" sz="1600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27927079"/>
                      </a:ext>
                    </a:extLst>
                  </a:tr>
                  <a:tr h="453192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sz="1600" dirty="0" smtClean="0"/>
                            <a:t>논리형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mpd="sng">
                          <a:noFill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800" b="1" dirty="0" err="1" smtClean="0"/>
                            <a:t>boolean</a:t>
                          </a:r>
                          <a:endParaRPr lang="ko-KR" altLang="en-US" sz="1800" b="1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sz="1600" dirty="0" smtClean="0"/>
                            <a:t>1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sz="1600" dirty="0" smtClean="0"/>
                            <a:t>true(</a:t>
                          </a:r>
                          <a:r>
                            <a:rPr lang="ko-KR" altLang="en-US" sz="1600" dirty="0" smtClean="0"/>
                            <a:t>참</a:t>
                          </a:r>
                          <a:r>
                            <a:rPr lang="en-US" altLang="ko-KR" sz="1600" dirty="0" smtClean="0"/>
                            <a:t>)</a:t>
                          </a:r>
                          <a:r>
                            <a:rPr lang="en-US" altLang="ko-KR" sz="1600" baseline="0" dirty="0" smtClean="0"/>
                            <a:t> / false(</a:t>
                          </a:r>
                          <a:r>
                            <a:rPr lang="ko-KR" altLang="en-US" sz="1600" baseline="0" dirty="0" smtClean="0"/>
                            <a:t>거짓</a:t>
                          </a:r>
                          <a:r>
                            <a:rPr lang="en-US" altLang="ko-KR" sz="1600" baseline="0" dirty="0" smtClean="0"/>
                            <a:t>)</a:t>
                          </a:r>
                          <a:endParaRPr lang="ko-KR" altLang="en-US" sz="1600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600" dirty="0" smtClean="0"/>
                            <a:t>-128~127</a:t>
                          </a:r>
                          <a:endParaRPr lang="ko-KR" altLang="en-US" sz="1600" dirty="0" smtClean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266593853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2328511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정수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54535" y="1556792"/>
            <a:ext cx="7902921" cy="294147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byte(1byte)</a:t>
            </a:r>
          </a:p>
          <a:p>
            <a:pPr lvl="1"/>
            <a:r>
              <a:rPr lang="ko-KR" altLang="en-US" sz="1800" dirty="0"/>
              <a:t>동영상</a:t>
            </a:r>
            <a:r>
              <a:rPr lang="en-US" altLang="ko-KR" sz="1800" dirty="0"/>
              <a:t>, </a:t>
            </a:r>
            <a:r>
              <a:rPr lang="ko-KR" altLang="en-US" sz="1800" dirty="0"/>
              <a:t>음악</a:t>
            </a:r>
            <a:r>
              <a:rPr lang="en-US" altLang="ko-KR" sz="1800" dirty="0"/>
              <a:t>, </a:t>
            </a:r>
            <a:r>
              <a:rPr lang="ko-KR" altLang="en-US" sz="1800" dirty="0"/>
              <a:t>이미지 </a:t>
            </a:r>
            <a:r>
              <a:rPr lang="ko-KR" altLang="en-US" sz="1800" dirty="0" err="1"/>
              <a:t>파일등</a:t>
            </a:r>
            <a:r>
              <a:rPr lang="ko-KR" altLang="en-US" sz="1800" dirty="0"/>
              <a:t> 이진</a:t>
            </a:r>
            <a:r>
              <a:rPr lang="en-US" altLang="ko-KR" sz="1800" dirty="0"/>
              <a:t>(</a:t>
            </a:r>
            <a:r>
              <a:rPr lang="ko-KR" altLang="en-US" sz="1800" dirty="0"/>
              <a:t>바이너리</a:t>
            </a:r>
            <a:r>
              <a:rPr lang="en-US" altLang="ko-KR" sz="1800" dirty="0"/>
              <a:t>) </a:t>
            </a:r>
            <a:r>
              <a:rPr lang="ko-KR" altLang="en-US" sz="1800" dirty="0"/>
              <a:t>실행 파일의 자료</a:t>
            </a:r>
            <a:endParaRPr lang="en-US" altLang="ko-KR" sz="2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short(2byte)</a:t>
            </a:r>
            <a:endParaRPr lang="en-US" altLang="ko-KR" sz="2000" dirty="0"/>
          </a:p>
          <a:p>
            <a:pPr lvl="1"/>
            <a:r>
              <a:rPr lang="ko-KR" altLang="en-US" sz="1800" dirty="0"/>
              <a:t>주로 </a:t>
            </a:r>
            <a:r>
              <a:rPr lang="en-US" altLang="ko-KR" sz="1800" dirty="0"/>
              <a:t>C/C++ </a:t>
            </a:r>
            <a:r>
              <a:rPr lang="ko-KR" altLang="en-US" sz="1800" dirty="0"/>
              <a:t>언어와의 호환 시 사용됨</a:t>
            </a:r>
            <a:endParaRPr lang="en-US" altLang="ko-KR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 err="1">
                <a:solidFill>
                  <a:srgbClr val="C00000"/>
                </a:solidFill>
              </a:rPr>
              <a:t>int</a:t>
            </a:r>
            <a:r>
              <a:rPr lang="en-US" altLang="ko-KR" sz="2000" b="1" dirty="0">
                <a:solidFill>
                  <a:srgbClr val="C00000"/>
                </a:solidFill>
              </a:rPr>
              <a:t>(4byte) </a:t>
            </a:r>
          </a:p>
          <a:p>
            <a:pPr lvl="1"/>
            <a:r>
              <a:rPr lang="ko-KR" altLang="en-US" sz="1800" dirty="0"/>
              <a:t>프로그램에서 사용하는 모든 정수는 기본적으로 </a:t>
            </a:r>
            <a:r>
              <a:rPr lang="en-US" altLang="ko-KR" sz="1800" dirty="0" err="1"/>
              <a:t>int</a:t>
            </a:r>
            <a:r>
              <a:rPr lang="ko-KR" altLang="en-US" sz="1800" dirty="0"/>
              <a:t>로</a:t>
            </a:r>
            <a:r>
              <a:rPr lang="en-US" altLang="ko-KR" sz="1800" dirty="0"/>
              <a:t> </a:t>
            </a:r>
            <a:r>
              <a:rPr lang="ko-KR" altLang="en-US" sz="1800" dirty="0"/>
              <a:t>저장됨</a:t>
            </a:r>
            <a:endParaRPr lang="en-US" altLang="ko-KR" sz="18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long(8byte)</a:t>
            </a:r>
            <a:r>
              <a:rPr lang="en-US" altLang="ko-KR" sz="2400" b="1" dirty="0"/>
              <a:t> </a:t>
            </a:r>
          </a:p>
          <a:p>
            <a:pPr lvl="1"/>
            <a:r>
              <a:rPr lang="ko-KR" altLang="en-US" sz="1800" dirty="0"/>
              <a:t>가장 큰 정수 </a:t>
            </a:r>
            <a:r>
              <a:rPr lang="ko-KR" altLang="en-US" sz="1800" dirty="0" err="1"/>
              <a:t>자료형으로</a:t>
            </a:r>
            <a:r>
              <a:rPr lang="ko-KR" altLang="en-US" sz="1800" dirty="0"/>
              <a:t> 숫자 뒤에 </a:t>
            </a:r>
            <a:r>
              <a:rPr lang="en-US" altLang="ko-KR" sz="1800" dirty="0"/>
              <a:t>‘</a:t>
            </a:r>
            <a:r>
              <a:rPr lang="en-US" altLang="ko-KR" sz="1800" b="1" dirty="0"/>
              <a:t>L’ </a:t>
            </a:r>
            <a:r>
              <a:rPr lang="ko-KR" altLang="en-US" sz="1800" b="1" dirty="0"/>
              <a:t>또는 </a:t>
            </a:r>
            <a:r>
              <a:rPr lang="en-US" altLang="ko-KR" sz="1800" b="1" dirty="0"/>
              <a:t>‘l’</a:t>
            </a:r>
            <a:r>
              <a:rPr lang="ko-KR" altLang="en-US" sz="1800" dirty="0"/>
              <a:t>을 써서 표시</a:t>
            </a:r>
            <a:endParaRPr lang="en-US" altLang="ko-KR" sz="2200" dirty="0"/>
          </a:p>
          <a:p>
            <a:pPr lvl="1"/>
            <a:endParaRPr lang="en-US" altLang="ko-KR" sz="1800" dirty="0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68624" y="5582182"/>
            <a:ext cx="65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93399" y="1052736"/>
            <a:ext cx="5599761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숫자</a:t>
            </a:r>
            <a:r>
              <a:rPr lang="en-US" altLang="ko-KR" sz="2000" b="1" dirty="0">
                <a:solidFill>
                  <a:srgbClr val="002060"/>
                </a:solidFill>
              </a:rPr>
              <a:t>(</a:t>
            </a:r>
            <a:r>
              <a:rPr lang="ko-KR" altLang="en-US" sz="2000" b="1" dirty="0">
                <a:solidFill>
                  <a:srgbClr val="002060"/>
                </a:solidFill>
              </a:rPr>
              <a:t>정수</a:t>
            </a:r>
            <a:r>
              <a:rPr lang="en-US" altLang="ko-KR" sz="2000" b="1" dirty="0">
                <a:solidFill>
                  <a:srgbClr val="002060"/>
                </a:solidFill>
              </a:rPr>
              <a:t>, </a:t>
            </a:r>
            <a:r>
              <a:rPr lang="ko-KR" altLang="en-US" sz="2000" b="1" dirty="0">
                <a:solidFill>
                  <a:srgbClr val="002060"/>
                </a:solidFill>
              </a:rPr>
              <a:t>실수</a:t>
            </a:r>
            <a:r>
              <a:rPr lang="en-US" altLang="ko-KR" sz="2000" b="1" dirty="0">
                <a:solidFill>
                  <a:srgbClr val="002060"/>
                </a:solidFill>
              </a:rPr>
              <a:t>)</a:t>
            </a:r>
            <a:r>
              <a:rPr lang="ko-KR" altLang="en-US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자료형의</a:t>
            </a:r>
            <a:r>
              <a:rPr lang="ko-KR" altLang="en-US" sz="2000" b="1" dirty="0">
                <a:solidFill>
                  <a:srgbClr val="002060"/>
                </a:solidFill>
              </a:rPr>
              <a:t> 종류 및 크기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54535" y="4581128"/>
            <a:ext cx="7902921" cy="15427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/>
              <a:t>float(4byte) </a:t>
            </a:r>
          </a:p>
          <a:p>
            <a:pPr lvl="1"/>
            <a:r>
              <a:rPr lang="ko-KR" altLang="en-US" sz="1800" dirty="0"/>
              <a:t>실수 </a:t>
            </a:r>
            <a:r>
              <a:rPr lang="ko-KR" altLang="en-US" sz="1800" dirty="0" err="1"/>
              <a:t>자료형으로</a:t>
            </a:r>
            <a:r>
              <a:rPr lang="ko-KR" altLang="en-US" sz="1800" dirty="0"/>
              <a:t> 숫자 뒤에 </a:t>
            </a:r>
            <a:r>
              <a:rPr lang="en-US" altLang="ko-KR" sz="1800" dirty="0"/>
              <a:t>‘</a:t>
            </a:r>
            <a:r>
              <a:rPr lang="en-US" altLang="ko-KR" sz="1800" b="1" dirty="0"/>
              <a:t>F’ </a:t>
            </a:r>
            <a:r>
              <a:rPr lang="ko-KR" altLang="en-US" sz="1800" b="1" dirty="0"/>
              <a:t>또는 </a:t>
            </a:r>
            <a:r>
              <a:rPr lang="en-US" altLang="ko-KR" sz="1800" b="1" dirty="0"/>
              <a:t>‘f’</a:t>
            </a:r>
            <a:r>
              <a:rPr lang="ko-KR" altLang="en-US" sz="1800" dirty="0"/>
              <a:t>를 써서 표시</a:t>
            </a:r>
            <a:endParaRPr lang="en-US" altLang="ko-KR" sz="2200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double(8byte)</a:t>
            </a:r>
            <a:r>
              <a:rPr lang="en-US" altLang="ko-KR" sz="2400" b="1" dirty="0">
                <a:solidFill>
                  <a:srgbClr val="C00000"/>
                </a:solidFill>
              </a:rPr>
              <a:t> </a:t>
            </a:r>
          </a:p>
          <a:p>
            <a:pPr lvl="1"/>
            <a:r>
              <a:rPr lang="ko-KR" altLang="en-US" sz="1800" dirty="0"/>
              <a:t>프로그램에서 실수는 기본적으로 </a:t>
            </a:r>
            <a:r>
              <a:rPr lang="en-US" altLang="ko-KR" sz="1800" dirty="0"/>
              <a:t>double</a:t>
            </a:r>
            <a:r>
              <a:rPr lang="ko-KR" altLang="en-US" sz="1800" dirty="0"/>
              <a:t>로 저장됨</a:t>
            </a:r>
            <a:endParaRPr lang="en-US" altLang="ko-KR" sz="2200" dirty="0"/>
          </a:p>
          <a:p>
            <a:pPr lvl="1"/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216426353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숫자 </a:t>
            </a:r>
            <a:r>
              <a:rPr lang="ko-KR" altLang="en-US" dirty="0" err="1"/>
              <a:t>자료형</a:t>
            </a:r>
            <a:r>
              <a:rPr lang="ko-KR" altLang="en-US" dirty="0"/>
              <a:t> 실습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793399" y="1052736"/>
            <a:ext cx="4303617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숫자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자료형의</a:t>
            </a:r>
            <a:r>
              <a:rPr lang="ko-KR" altLang="en-US" sz="2000" b="1" dirty="0">
                <a:solidFill>
                  <a:srgbClr val="002060"/>
                </a:solidFill>
              </a:rPr>
              <a:t> 종류 및 범위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5840228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1060" y="3573016"/>
            <a:ext cx="2069640" cy="139518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938674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문자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36576" y="1412776"/>
            <a:ext cx="8618634" cy="160209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char</a:t>
            </a:r>
            <a:r>
              <a:rPr lang="en-US" altLang="ko-KR" sz="2400" b="1" dirty="0">
                <a:solidFill>
                  <a:srgbClr val="C00000"/>
                </a:solidFill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자바에서는 문자를 </a:t>
            </a:r>
            <a:r>
              <a:rPr lang="en-US" altLang="ko-KR" sz="1800" dirty="0"/>
              <a:t>2</a:t>
            </a:r>
            <a:r>
              <a:rPr lang="ko-KR" altLang="en-US" sz="1800" dirty="0"/>
              <a:t>바이트로 처리</a:t>
            </a:r>
            <a:endParaRPr lang="en-US" altLang="ko-KR" sz="18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문자 </a:t>
            </a:r>
            <a:r>
              <a:rPr lang="en-US" altLang="ko-KR" sz="1800" dirty="0"/>
              <a:t>1</a:t>
            </a:r>
            <a:r>
              <a:rPr lang="ko-KR" altLang="en-US" sz="1800" dirty="0"/>
              <a:t>개를 </a:t>
            </a:r>
            <a:r>
              <a:rPr lang="ko-KR" altLang="en-US" sz="1800" dirty="0" err="1"/>
              <a:t>표기할때</a:t>
            </a:r>
            <a:r>
              <a:rPr lang="ko-KR" altLang="en-US" sz="1800" dirty="0"/>
              <a:t> </a:t>
            </a:r>
            <a:r>
              <a:rPr lang="ko-KR" altLang="en-US" sz="1800" dirty="0" err="1"/>
              <a:t>홑따옴표</a:t>
            </a:r>
            <a:r>
              <a:rPr lang="en-US" altLang="ko-KR" sz="1800" dirty="0"/>
              <a:t>(‘ ’)</a:t>
            </a:r>
            <a:r>
              <a:rPr lang="ko-KR" altLang="en-US" sz="1800" dirty="0"/>
              <a:t>로</a:t>
            </a:r>
            <a:r>
              <a:rPr lang="en-US" altLang="ko-KR" sz="1800" dirty="0"/>
              <a:t> </a:t>
            </a:r>
            <a:r>
              <a:rPr lang="ko-KR" altLang="en-US" sz="1800" dirty="0"/>
              <a:t>감싸준다</a:t>
            </a:r>
            <a:r>
              <a:rPr lang="en-US" altLang="ko-KR" sz="1800" dirty="0"/>
              <a:t>. (‘A’, ‘a’, ‘</a:t>
            </a:r>
            <a:r>
              <a:rPr lang="ko-KR" altLang="en-US" sz="1800" dirty="0"/>
              <a:t>가</a:t>
            </a:r>
            <a:r>
              <a:rPr lang="en-US" altLang="ko-KR" sz="1800" dirty="0"/>
              <a:t>’)</a:t>
            </a:r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793399" y="1052736"/>
            <a:ext cx="3151489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문자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자료형의</a:t>
            </a:r>
            <a:r>
              <a:rPr lang="ko-KR" altLang="en-US" sz="2000" b="1" dirty="0">
                <a:solidFill>
                  <a:srgbClr val="002060"/>
                </a:solidFill>
              </a:rPr>
              <a:t> 종류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1127867" y="3104964"/>
            <a:ext cx="6247833" cy="16921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String</a:t>
            </a:r>
            <a:r>
              <a:rPr lang="en-US" altLang="ko-KR" sz="2200" b="1" dirty="0">
                <a:solidFill>
                  <a:srgbClr val="C00000"/>
                </a:solidFill>
              </a:rPr>
              <a:t>		</a:t>
            </a:r>
            <a:endParaRPr lang="en-US" altLang="ko-KR" sz="2200" dirty="0"/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문자열을 사용할 때는 </a:t>
            </a:r>
            <a:r>
              <a:rPr lang="en-US" altLang="ko-KR" sz="1800" dirty="0"/>
              <a:t>String </a:t>
            </a:r>
            <a:r>
              <a:rPr lang="ko-KR" altLang="en-US" sz="1800" dirty="0" err="1"/>
              <a:t>자료형을</a:t>
            </a:r>
            <a:r>
              <a:rPr lang="ko-KR" altLang="en-US" sz="1800" dirty="0"/>
              <a:t> 사용한다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문자열을 </a:t>
            </a:r>
            <a:r>
              <a:rPr lang="ko-KR" altLang="en-US" sz="1800" dirty="0" err="1"/>
              <a:t>표기할때</a:t>
            </a:r>
            <a:r>
              <a:rPr lang="ko-KR" altLang="en-US" sz="1800" dirty="0"/>
              <a:t> </a:t>
            </a:r>
            <a:r>
              <a:rPr lang="ko-KR" altLang="en-US" sz="1800" dirty="0" err="1"/>
              <a:t>쌍따옴표</a:t>
            </a:r>
            <a:r>
              <a:rPr lang="en-US" altLang="ko-KR" sz="1800" dirty="0"/>
              <a:t>(“”)</a:t>
            </a:r>
            <a:r>
              <a:rPr lang="ko-KR" altLang="en-US" sz="1800" dirty="0"/>
              <a:t>로</a:t>
            </a:r>
            <a:r>
              <a:rPr lang="en-US" altLang="ko-KR" sz="1800" dirty="0"/>
              <a:t> </a:t>
            </a:r>
            <a:r>
              <a:rPr lang="ko-KR" altLang="en-US" sz="1800" dirty="0"/>
              <a:t>감싸준다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35254764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문자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8" name="내용 개체 틀 2"/>
          <p:cNvSpPr txBox="1">
            <a:spLocks/>
          </p:cNvSpPr>
          <p:nvPr/>
        </p:nvSpPr>
        <p:spPr>
          <a:xfrm>
            <a:off x="793399" y="1052736"/>
            <a:ext cx="4519641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문자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자료형의</a:t>
            </a:r>
            <a:r>
              <a:rPr lang="ko-KR" altLang="en-US" sz="2000" b="1" dirty="0">
                <a:solidFill>
                  <a:srgbClr val="002060"/>
                </a:solidFill>
              </a:rPr>
              <a:t> 종류 및 범위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498848"/>
            <a:ext cx="5832648" cy="4787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1" name="모서리가 둥근 사각형 설명선 10"/>
          <p:cNvSpPr/>
          <p:nvPr/>
        </p:nvSpPr>
        <p:spPr>
          <a:xfrm>
            <a:off x="4808984" y="3519405"/>
            <a:ext cx="884535" cy="352576"/>
          </a:xfrm>
          <a:prstGeom prst="wedgeRoundRectCallout">
            <a:avLst>
              <a:gd name="adj1" fmla="val -50410"/>
              <a:gd name="adj2" fmla="val -95252"/>
              <a:gd name="adj3" fmla="val 16667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 err="1">
                <a:solidFill>
                  <a:srgbClr val="FF0000"/>
                </a:solidFill>
              </a:rPr>
              <a:t>형변환</a:t>
            </a:r>
            <a:endParaRPr lang="ko-KR" altLang="en-US" sz="1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3672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문자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7" name="내용 개체 틀 2"/>
          <p:cNvSpPr txBox="1">
            <a:spLocks/>
          </p:cNvSpPr>
          <p:nvPr/>
        </p:nvSpPr>
        <p:spPr>
          <a:xfrm>
            <a:off x="793399" y="1052736"/>
            <a:ext cx="4519641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문자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자료형의</a:t>
            </a:r>
            <a:r>
              <a:rPr lang="ko-KR" altLang="en-US" sz="2000" b="1" dirty="0">
                <a:solidFill>
                  <a:srgbClr val="002060"/>
                </a:solidFill>
              </a:rPr>
              <a:t> 종류 및 범위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556792"/>
            <a:ext cx="5920713" cy="46085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928" y="3068960"/>
            <a:ext cx="2103511" cy="282639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023482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문자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25372" y="980728"/>
            <a:ext cx="8618634" cy="295232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문자 세트</a:t>
            </a:r>
            <a:r>
              <a:rPr lang="en-US" altLang="ko-KR" sz="2000" b="1" dirty="0">
                <a:solidFill>
                  <a:srgbClr val="C00000"/>
                </a:solidFill>
              </a:rPr>
              <a:t>(charset)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문자세트 </a:t>
            </a:r>
            <a:r>
              <a:rPr lang="en-US" altLang="ko-KR" sz="1600" dirty="0"/>
              <a:t>– </a:t>
            </a:r>
            <a:r>
              <a:rPr lang="ko-KR" altLang="en-US" sz="1600" dirty="0"/>
              <a:t>문자를 위한 코드 값</a:t>
            </a:r>
            <a:r>
              <a:rPr lang="en-US" altLang="ko-KR" sz="1600" dirty="0"/>
              <a:t>(</a:t>
            </a:r>
            <a:r>
              <a:rPr lang="ko-KR" altLang="en-US" sz="1600" dirty="0"/>
              <a:t>숫자 값</a:t>
            </a:r>
            <a:r>
              <a:rPr lang="en-US" altLang="ko-KR" sz="1600" dirty="0"/>
              <a:t>)</a:t>
            </a:r>
            <a:r>
              <a:rPr lang="ko-KR" altLang="en-US" sz="1600" dirty="0"/>
              <a:t> 들을 정해 놓은 세트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 err="1"/>
              <a:t>인코딩</a:t>
            </a:r>
            <a:r>
              <a:rPr lang="ko-KR" altLang="en-US" sz="1600" dirty="0"/>
              <a:t> </a:t>
            </a:r>
            <a:r>
              <a:rPr lang="en-US" altLang="ko-KR" sz="1600" dirty="0"/>
              <a:t>– </a:t>
            </a:r>
            <a:r>
              <a:rPr lang="ko-KR" altLang="en-US" sz="1600" dirty="0"/>
              <a:t>각 문자에 따른 특정한 숫자 값</a:t>
            </a:r>
            <a:r>
              <a:rPr lang="en-US" altLang="ko-KR" sz="1600" dirty="0"/>
              <a:t>(</a:t>
            </a:r>
            <a:r>
              <a:rPr lang="ko-KR" altLang="en-US" sz="1600" dirty="0"/>
              <a:t>코드 값</a:t>
            </a:r>
            <a:r>
              <a:rPr lang="en-US" altLang="ko-KR" sz="1600" dirty="0"/>
              <a:t>)</a:t>
            </a:r>
            <a:r>
              <a:rPr lang="ko-KR" altLang="en-US" sz="1600" dirty="0"/>
              <a:t>을 부여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아스키</a:t>
            </a:r>
            <a:r>
              <a:rPr lang="en-US" altLang="ko-KR" sz="1600" dirty="0"/>
              <a:t>(ASCII)</a:t>
            </a:r>
            <a:r>
              <a:rPr lang="ko-KR" altLang="en-US" sz="1600" dirty="0"/>
              <a:t> </a:t>
            </a:r>
            <a:r>
              <a:rPr lang="en-US" altLang="ko-KR" sz="1600" dirty="0"/>
              <a:t>– 1 </a:t>
            </a:r>
            <a:r>
              <a:rPr lang="ko-KR" altLang="en-US" sz="1600" dirty="0"/>
              <a:t>바이트로 영문자</a:t>
            </a:r>
            <a:r>
              <a:rPr lang="en-US" altLang="ko-KR" sz="1600" dirty="0"/>
              <a:t>, </a:t>
            </a:r>
            <a:r>
              <a:rPr lang="ko-KR" altLang="en-US" sz="1600" dirty="0"/>
              <a:t>숫자</a:t>
            </a:r>
            <a:r>
              <a:rPr lang="en-US" altLang="ko-KR" sz="1600" dirty="0"/>
              <a:t>, </a:t>
            </a:r>
            <a:r>
              <a:rPr lang="ko-KR" altLang="en-US" sz="1600" dirty="0"/>
              <a:t>특수 문자 등을 표현 함</a:t>
            </a:r>
            <a:endParaRPr lang="en-US" altLang="ko-KR" sz="1600" dirty="0"/>
          </a:p>
          <a:p>
            <a:pPr lvl="1">
              <a:lnSpc>
                <a:spcPct val="150000"/>
              </a:lnSpc>
            </a:pPr>
            <a:r>
              <a:rPr lang="ko-KR" altLang="en-US" sz="1600" dirty="0"/>
              <a:t>유니코드</a:t>
            </a:r>
            <a:r>
              <a:rPr lang="en-US" altLang="ko-KR" sz="1600" dirty="0"/>
              <a:t>(Unicode)</a:t>
            </a:r>
            <a:r>
              <a:rPr lang="ko-KR" altLang="en-US" sz="1600" dirty="0"/>
              <a:t> </a:t>
            </a:r>
            <a:r>
              <a:rPr lang="en-US" altLang="ko-KR" sz="1600" dirty="0"/>
              <a:t>– 2</a:t>
            </a:r>
            <a:r>
              <a:rPr lang="ko-KR" altLang="en-US" sz="1600" dirty="0"/>
              <a:t>바이트로 한글과 같은 복잡한 언어를 표현하기 위한 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600" dirty="0"/>
              <a:t>                              </a:t>
            </a:r>
            <a:r>
              <a:rPr lang="ko-KR" altLang="en-US" sz="1600" dirty="0"/>
              <a:t>표준 </a:t>
            </a:r>
            <a:r>
              <a:rPr lang="ko-KR" altLang="en-US" sz="1600" dirty="0" err="1"/>
              <a:t>인코딩</a:t>
            </a:r>
            <a:r>
              <a:rPr lang="ko-KR" altLang="en-US" sz="1600" dirty="0"/>
              <a:t> </a:t>
            </a:r>
            <a:r>
              <a:rPr lang="en-US" altLang="ko-KR" sz="1600" dirty="0"/>
              <a:t>UTF-8, UTF-16</a:t>
            </a:r>
            <a:r>
              <a:rPr lang="ko-KR" altLang="en-US" sz="1600" dirty="0"/>
              <a:t>이 대표적</a:t>
            </a:r>
            <a:r>
              <a:rPr lang="en-US" altLang="ko-KR" sz="1600" dirty="0"/>
              <a:t>, 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352600" y="4149080"/>
            <a:ext cx="5385048" cy="3693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ko-KR" dirty="0"/>
              <a:t>https://www.unicode.org/charts/PDF/UAC00.pdf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30985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아스키 코드 </a:t>
            </a:r>
            <a:r>
              <a:rPr lang="en-US" altLang="ko-KR" dirty="0"/>
              <a:t>vs </a:t>
            </a:r>
            <a:r>
              <a:rPr lang="ko-KR" altLang="en-US" dirty="0"/>
              <a:t>유니코드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1136745" y="1480887"/>
            <a:ext cx="792071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아스키 코드는 미국 </a:t>
            </a:r>
            <a:r>
              <a:rPr lang="en-US" altLang="ko-KR" sz="1600" dirty="0">
                <a:hlinkClick r:id="rId2" tooltip="ANSI"/>
              </a:rPr>
              <a:t>ANSI</a:t>
            </a:r>
            <a:r>
              <a:rPr lang="ko-KR" altLang="en-US" sz="1600" dirty="0"/>
              <a:t>에서 표준화한 정보교환용 </a:t>
            </a:r>
            <a:r>
              <a:rPr lang="en-US" altLang="ko-KR" sz="1600" dirty="0"/>
              <a:t>7</a:t>
            </a:r>
            <a:r>
              <a:rPr lang="ko-KR" altLang="en-US" sz="1600" dirty="0"/>
              <a:t>비트 부호체계이다</a:t>
            </a:r>
            <a:r>
              <a:rPr lang="en-US" altLang="ko-KR" sz="1600" dirty="0"/>
              <a:t>. 000(0x00)</a:t>
            </a:r>
            <a:r>
              <a:rPr lang="ko-KR" altLang="en-US" sz="1600" dirty="0"/>
              <a:t>부터 </a:t>
            </a:r>
            <a:r>
              <a:rPr lang="en-US" altLang="ko-KR" sz="1600" dirty="0"/>
              <a:t>127(0x7F)</a:t>
            </a:r>
            <a:r>
              <a:rPr lang="ko-KR" altLang="en-US" sz="1600" dirty="0"/>
              <a:t>까지 총 </a:t>
            </a:r>
            <a:r>
              <a:rPr lang="en-US" altLang="ko-KR" sz="1600" dirty="0"/>
              <a:t>128</a:t>
            </a:r>
            <a:r>
              <a:rPr lang="ko-KR" altLang="en-US" sz="1600" dirty="0"/>
              <a:t>개의 부호가 사용된다</a:t>
            </a:r>
            <a:r>
              <a:rPr lang="en-US" altLang="ko-KR" sz="1600" dirty="0"/>
              <a:t>. </a:t>
            </a:r>
            <a:r>
              <a:rPr lang="ko-KR" altLang="en-US" sz="1600" dirty="0"/>
              <a:t>이는 영문 키보드로 입력할 수 있는 모든 기호들이 할당되어 있는 부호 체계이다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  <p:sp>
        <p:nvSpPr>
          <p:cNvPr id="3" name="TextBox 2"/>
          <p:cNvSpPr txBox="1"/>
          <p:nvPr/>
        </p:nvSpPr>
        <p:spPr>
          <a:xfrm>
            <a:off x="745770" y="1045728"/>
            <a:ext cx="35591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 ★ 아스키 코드</a:t>
            </a:r>
            <a:r>
              <a:rPr lang="en-US" altLang="ko-KR" sz="2000" dirty="0"/>
              <a:t>(ASCII Code)</a:t>
            </a:r>
            <a:endParaRPr lang="ko-KR" altLang="en-US" sz="20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161"/>
          <a:stretch/>
        </p:blipFill>
        <p:spPr>
          <a:xfrm>
            <a:off x="1352600" y="2745542"/>
            <a:ext cx="7079594" cy="320384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949642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아스키 코드 </a:t>
            </a:r>
            <a:r>
              <a:rPr lang="en-US" altLang="ko-KR" dirty="0"/>
              <a:t>vs </a:t>
            </a:r>
            <a:r>
              <a:rPr lang="ko-KR" altLang="en-US" dirty="0"/>
              <a:t>유니코드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/>
          <p:cNvSpPr txBox="1"/>
          <p:nvPr/>
        </p:nvSpPr>
        <p:spPr>
          <a:xfrm>
            <a:off x="733769" y="1045728"/>
            <a:ext cx="29830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/>
              <a:t> ★ 유니 코드</a:t>
            </a:r>
            <a:r>
              <a:rPr lang="en-US" altLang="ko-KR" sz="2000" dirty="0"/>
              <a:t>(</a:t>
            </a:r>
            <a:r>
              <a:rPr lang="en-US" altLang="ko-KR" sz="2000" dirty="0" err="1"/>
              <a:t>Uni</a:t>
            </a:r>
            <a:r>
              <a:rPr lang="en-US" altLang="ko-KR" sz="2000" dirty="0"/>
              <a:t> code)</a:t>
            </a:r>
            <a:endParaRPr lang="ko-KR" altLang="en-US" sz="2000" dirty="0"/>
          </a:p>
        </p:txBody>
      </p:sp>
      <p:sp>
        <p:nvSpPr>
          <p:cNvPr id="7" name="직사각형 6"/>
          <p:cNvSpPr/>
          <p:nvPr/>
        </p:nvSpPr>
        <p:spPr>
          <a:xfrm>
            <a:off x="1196583" y="1484784"/>
            <a:ext cx="793288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전 세계의 모든 문자를 다루도록 설계된 표준 문자 전산 처리 방식</a:t>
            </a:r>
            <a:r>
              <a:rPr lang="en-US" altLang="ko-KR" sz="1600" dirty="0"/>
              <a:t>. </a:t>
            </a:r>
            <a:r>
              <a:rPr lang="ko-KR" altLang="en-US" sz="1600" dirty="0"/>
              <a:t>유니코드를 사용하면 한글과 간체자</a:t>
            </a:r>
            <a:r>
              <a:rPr lang="en-US" altLang="ko-KR" sz="1600" dirty="0"/>
              <a:t>, </a:t>
            </a:r>
            <a:r>
              <a:rPr lang="ko-KR" altLang="en-US" sz="1600" dirty="0"/>
              <a:t>아랍 문자 등을 통일된 환경에서 깨뜨리지 않고 사용할 수 있다</a:t>
            </a:r>
            <a:r>
              <a:rPr lang="en-US" altLang="ko-KR" sz="1600" dirty="0"/>
              <a:t>.</a:t>
            </a:r>
            <a:br>
              <a:rPr lang="ko-KR" altLang="en-US" sz="1600" dirty="0"/>
            </a:br>
            <a:br>
              <a:rPr lang="ko-KR" altLang="en-US" sz="1600" dirty="0"/>
            </a:br>
            <a:r>
              <a:rPr lang="ko-KR" altLang="en-US" sz="1600" dirty="0"/>
              <a:t>초창기에는 문자 코드는 </a:t>
            </a:r>
            <a:r>
              <a:rPr lang="en-US" altLang="ko-KR" sz="1600" dirty="0"/>
              <a:t>ASCII</a:t>
            </a:r>
            <a:r>
              <a:rPr lang="ko-KR" altLang="en-US" sz="1600" dirty="0"/>
              <a:t>의 로마자 위주 코드였고</a:t>
            </a:r>
            <a:r>
              <a:rPr lang="en-US" altLang="ko-KR" sz="1600" dirty="0"/>
              <a:t>, 1</a:t>
            </a:r>
            <a:r>
              <a:rPr lang="ko-KR" altLang="en-US" sz="1600" dirty="0"/>
              <a:t>바이트의 남은 공간에 각 나라가 자국 문자를 할당하였다</a:t>
            </a:r>
            <a:r>
              <a:rPr lang="en-US" altLang="ko-KR" sz="1600" dirty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하지만 영어권 이외의 국가에 이메일을 보냈더니 글자가 깨졌던 것</a:t>
            </a:r>
            <a:r>
              <a:rPr lang="en-US" altLang="ko-KR" sz="1600" dirty="0"/>
              <a:t>. </a:t>
            </a:r>
            <a:r>
              <a:rPr lang="ko-KR" altLang="en-US" sz="1600" dirty="0"/>
              <a:t>이에 따라 </a:t>
            </a:r>
            <a:r>
              <a:rPr lang="en-US" altLang="ko-KR" sz="1600" dirty="0"/>
              <a:t>2~3</a:t>
            </a:r>
            <a:r>
              <a:rPr lang="ko-KR" altLang="en-US" sz="1600" dirty="0"/>
              <a:t>바이트의 넉넉한 공간에 세상의 모든 문자를 할당한 결과물이 이 코드이다</a:t>
            </a:r>
            <a:r>
              <a:rPr lang="en-US" altLang="ko-KR" sz="1600" dirty="0"/>
              <a:t>. 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1117" y="4201386"/>
            <a:ext cx="5328592" cy="1731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623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논리형 </a:t>
            </a:r>
            <a:r>
              <a:rPr lang="ko-KR" altLang="en-US" dirty="0" err="1"/>
              <a:t>자료형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93399" y="1479961"/>
            <a:ext cx="8472016" cy="11569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</a:pPr>
            <a:r>
              <a:rPr lang="ko-KR" altLang="en-US" sz="1600" dirty="0"/>
              <a:t>논리값 </a:t>
            </a:r>
            <a:r>
              <a:rPr lang="en-US" altLang="ko-KR" sz="1600" dirty="0"/>
              <a:t>true(</a:t>
            </a:r>
            <a:r>
              <a:rPr lang="ko-KR" altLang="en-US" sz="1600" dirty="0"/>
              <a:t>참</a:t>
            </a:r>
            <a:r>
              <a:rPr lang="en-US" altLang="ko-KR" sz="1600" dirty="0"/>
              <a:t>), false(</a:t>
            </a:r>
            <a:r>
              <a:rPr lang="ko-KR" altLang="en-US" sz="1600" dirty="0"/>
              <a:t>거짓</a:t>
            </a:r>
            <a:r>
              <a:rPr lang="en-US" altLang="ko-KR" sz="1600" dirty="0"/>
              <a:t>)</a:t>
            </a:r>
            <a:r>
              <a:rPr lang="ko-KR" altLang="en-US" sz="1600" dirty="0"/>
              <a:t>을</a:t>
            </a:r>
            <a:r>
              <a:rPr lang="en-US" altLang="ko-KR" sz="1600" dirty="0"/>
              <a:t> </a:t>
            </a:r>
            <a:r>
              <a:rPr lang="ko-KR" altLang="en-US" sz="1600" dirty="0"/>
              <a:t>표현하는 </a:t>
            </a:r>
            <a:r>
              <a:rPr lang="ko-KR" altLang="en-US" sz="1600" dirty="0" err="1"/>
              <a:t>자료형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프로그램 수행이 잘되었는지 여부</a:t>
            </a:r>
            <a:r>
              <a:rPr lang="en-US" altLang="ko-KR" sz="1600" dirty="0"/>
              <a:t>, </a:t>
            </a:r>
            <a:r>
              <a:rPr lang="ko-KR" altLang="en-US" sz="1600" dirty="0"/>
              <a:t>값이 존재하는지 여부 등</a:t>
            </a:r>
          </a:p>
          <a:p>
            <a:pPr lvl="1">
              <a:lnSpc>
                <a:spcPct val="100000"/>
              </a:lnSpc>
            </a:pPr>
            <a:r>
              <a:rPr lang="en-US" altLang="ko-KR" sz="1600" dirty="0"/>
              <a:t> </a:t>
            </a:r>
            <a:r>
              <a:rPr lang="en-US" altLang="ko-KR" sz="1600" dirty="0" err="1"/>
              <a:t>boolean</a:t>
            </a:r>
            <a:r>
              <a:rPr lang="ko-KR" altLang="en-US" sz="1600" dirty="0"/>
              <a:t>으로 선언</a:t>
            </a:r>
            <a:endParaRPr lang="en-US" altLang="ko-KR" sz="1600" dirty="0"/>
          </a:p>
        </p:txBody>
      </p:sp>
      <p:sp>
        <p:nvSpPr>
          <p:cNvPr id="9" name="내용 개체 틀 2"/>
          <p:cNvSpPr txBox="1">
            <a:spLocks/>
          </p:cNvSpPr>
          <p:nvPr/>
        </p:nvSpPr>
        <p:spPr>
          <a:xfrm>
            <a:off x="793399" y="1052736"/>
            <a:ext cx="5167713" cy="432048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ko-KR" altLang="en-US" sz="2000" b="1" dirty="0">
                <a:solidFill>
                  <a:srgbClr val="002060"/>
                </a:solidFill>
              </a:rPr>
              <a:t>논리형</a:t>
            </a:r>
            <a:r>
              <a:rPr lang="en-US" altLang="ko-KR" sz="2000" b="1" dirty="0">
                <a:solidFill>
                  <a:srgbClr val="002060"/>
                </a:solidFill>
              </a:rPr>
              <a:t>(</a:t>
            </a:r>
            <a:r>
              <a:rPr lang="ko-KR" altLang="en-US" sz="2000" b="1" dirty="0" err="1">
                <a:solidFill>
                  <a:srgbClr val="002060"/>
                </a:solidFill>
              </a:rPr>
              <a:t>불리언</a:t>
            </a:r>
            <a:r>
              <a:rPr lang="en-US" altLang="ko-KR" sz="2000" b="1" dirty="0">
                <a:solidFill>
                  <a:srgbClr val="002060"/>
                </a:solidFill>
              </a:rPr>
              <a:t>)</a:t>
            </a:r>
            <a:r>
              <a:rPr lang="ko-KR" altLang="en-US" sz="2000" b="1" dirty="0">
                <a:solidFill>
                  <a:srgbClr val="002060"/>
                </a:solidFill>
              </a:rPr>
              <a:t> </a:t>
            </a:r>
            <a:r>
              <a:rPr lang="ko-KR" altLang="en-US" sz="2000" b="1" dirty="0" err="1">
                <a:solidFill>
                  <a:srgbClr val="002060"/>
                </a:solidFill>
              </a:rPr>
              <a:t>자료형의</a:t>
            </a:r>
            <a:r>
              <a:rPr lang="ko-KR" altLang="en-US" sz="2000" b="1" dirty="0">
                <a:solidFill>
                  <a:srgbClr val="002060"/>
                </a:solidFill>
              </a:rPr>
              <a:t> 종류</a:t>
            </a:r>
            <a:endParaRPr lang="en-US" altLang="ko-KR" sz="2000" b="1" dirty="0">
              <a:solidFill>
                <a:srgbClr val="002060"/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500" y="2186022"/>
            <a:ext cx="5225436" cy="412329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811826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형 변환</a:t>
            </a:r>
            <a:r>
              <a:rPr lang="en-US" altLang="ko-KR" dirty="0"/>
              <a:t>(Type Conversion)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1464" y="1052736"/>
            <a:ext cx="7967960" cy="151216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형 변환</a:t>
            </a:r>
            <a:r>
              <a:rPr lang="en-US" altLang="ko-KR" sz="2000" b="1" dirty="0">
                <a:solidFill>
                  <a:srgbClr val="C00000"/>
                </a:solidFill>
              </a:rPr>
              <a:t> 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 err="1"/>
              <a:t>자료형은</a:t>
            </a:r>
            <a:r>
              <a:rPr lang="ko-KR" altLang="en-US" sz="1800" dirty="0"/>
              <a:t> 각각 사용하는 메모리 크기와 방식이 다름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정수와 실수를 </a:t>
            </a:r>
            <a:r>
              <a:rPr lang="ko-KR" altLang="en-US" sz="1800" dirty="0" err="1"/>
              <a:t>더할때</a:t>
            </a:r>
            <a:r>
              <a:rPr lang="ko-KR" altLang="en-US" sz="1800" dirty="0"/>
              <a:t> 하나의 </a:t>
            </a:r>
            <a:r>
              <a:rPr lang="ko-KR" altLang="en-US" sz="1800" dirty="0" err="1"/>
              <a:t>자료형으로</a:t>
            </a:r>
            <a:r>
              <a:rPr lang="ko-KR" altLang="en-US" sz="1800" dirty="0"/>
              <a:t> 통일한 후 연산을 </a:t>
            </a:r>
            <a:r>
              <a:rPr lang="ko-KR" altLang="en-US" sz="1800" dirty="0" err="1"/>
              <a:t>해야함</a:t>
            </a:r>
            <a:r>
              <a:rPr lang="en-US" altLang="ko-KR" sz="1800" dirty="0"/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512" y="3068960"/>
            <a:ext cx="439248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  </a:t>
            </a:r>
            <a:r>
              <a:rPr lang="en-US" altLang="ko-KR" b="1" dirty="0"/>
              <a:t>&lt;</a:t>
            </a:r>
            <a:r>
              <a:rPr lang="ko-KR" altLang="en-US" b="1" dirty="0"/>
              <a:t>묵시적 </a:t>
            </a:r>
            <a:r>
              <a:rPr lang="ko-KR" altLang="en-US" b="1" dirty="0" err="1"/>
              <a:t>형변환</a:t>
            </a:r>
            <a:r>
              <a:rPr lang="en-US" altLang="ko-KR" b="1" dirty="0"/>
              <a:t>(</a:t>
            </a:r>
            <a:r>
              <a:rPr lang="ko-KR" altLang="en-US" b="1" dirty="0"/>
              <a:t>자동 </a:t>
            </a:r>
            <a:r>
              <a:rPr lang="ko-KR" altLang="en-US" b="1" dirty="0" err="1"/>
              <a:t>형변환</a:t>
            </a:r>
            <a:r>
              <a:rPr lang="en-US" altLang="ko-KR" b="1" dirty="0"/>
              <a:t>)&gt;</a:t>
            </a:r>
          </a:p>
          <a:p>
            <a:endParaRPr lang="en-US" altLang="ko-KR" b="1" dirty="0"/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작은 </a:t>
            </a:r>
            <a:r>
              <a:rPr lang="ko-KR" altLang="en-US" dirty="0" err="1"/>
              <a:t>자료형에서</a:t>
            </a:r>
            <a:r>
              <a:rPr lang="ko-KR" altLang="en-US" dirty="0"/>
              <a:t> 큰 </a:t>
            </a:r>
            <a:r>
              <a:rPr lang="ko-KR" altLang="en-US" dirty="0" err="1"/>
              <a:t>자료형으로</a:t>
            </a:r>
            <a:r>
              <a:rPr lang="ko-KR" altLang="en-US" dirty="0"/>
              <a:t> 변환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iNum</a:t>
            </a:r>
            <a:r>
              <a:rPr lang="en-US" altLang="ko-KR" dirty="0"/>
              <a:t> = 20;</a:t>
            </a:r>
          </a:p>
          <a:p>
            <a:r>
              <a:rPr lang="en-US" altLang="ko-KR" dirty="0"/>
              <a:t>     float </a:t>
            </a:r>
            <a:r>
              <a:rPr lang="en-US" altLang="ko-KR" dirty="0" err="1"/>
              <a:t>fNum</a:t>
            </a:r>
            <a:r>
              <a:rPr lang="en-US" altLang="ko-KR" dirty="0"/>
              <a:t> = </a:t>
            </a:r>
            <a:r>
              <a:rPr lang="en-US" altLang="ko-KR" dirty="0" err="1"/>
              <a:t>iNum</a:t>
            </a:r>
            <a:r>
              <a:rPr lang="en-US" altLang="ko-KR" dirty="0"/>
              <a:t>;</a:t>
            </a:r>
          </a:p>
          <a:p>
            <a:endParaRPr lang="en-US" altLang="ko-KR" dirty="0"/>
          </a:p>
          <a:p>
            <a:r>
              <a:rPr lang="en-US" altLang="ko-KR" dirty="0"/>
              <a:t>  - </a:t>
            </a:r>
            <a:r>
              <a:rPr lang="ko-KR" altLang="en-US" dirty="0"/>
              <a:t>연산 중 </a:t>
            </a:r>
            <a:r>
              <a:rPr lang="ko-KR" altLang="en-US" dirty="0" err="1"/>
              <a:t>자동변환</a:t>
            </a:r>
            <a:endParaRPr lang="en-US" altLang="ko-KR" dirty="0"/>
          </a:p>
          <a:p>
            <a:r>
              <a:rPr lang="en-US" altLang="ko-KR" dirty="0"/>
              <a:t>     double </a:t>
            </a:r>
            <a:r>
              <a:rPr lang="en-US" altLang="ko-KR" dirty="0" err="1"/>
              <a:t>dNum</a:t>
            </a:r>
            <a:r>
              <a:rPr lang="en-US" altLang="ko-KR" dirty="0"/>
              <a:t> = </a:t>
            </a:r>
            <a:r>
              <a:rPr lang="en-US" altLang="ko-KR" dirty="0" err="1"/>
              <a:t>fNum</a:t>
            </a:r>
            <a:r>
              <a:rPr lang="en-US" altLang="ko-KR" dirty="0"/>
              <a:t> + </a:t>
            </a:r>
            <a:r>
              <a:rPr lang="en-US" altLang="ko-KR" dirty="0" err="1"/>
              <a:t>iNum</a:t>
            </a:r>
            <a:endParaRPr lang="ko-KR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081464" y="3068960"/>
            <a:ext cx="453650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ysClr val="windowText" lastClr="000000"/>
                </a:solidFill>
              </a:rPr>
              <a:t>  </a:t>
            </a:r>
            <a:r>
              <a:rPr lang="en-US" altLang="ko-KR" b="1" dirty="0">
                <a:solidFill>
                  <a:sysClr val="windowText" lastClr="000000"/>
                </a:solidFill>
              </a:rPr>
              <a:t>&lt;</a:t>
            </a:r>
            <a:r>
              <a:rPr lang="ko-KR" altLang="en-US" b="1" dirty="0">
                <a:solidFill>
                  <a:sysClr val="windowText" lastClr="000000"/>
                </a:solidFill>
              </a:rPr>
              <a:t>명시적 </a:t>
            </a:r>
            <a:r>
              <a:rPr lang="ko-KR" altLang="en-US" b="1" dirty="0" err="1">
                <a:solidFill>
                  <a:sysClr val="windowText" lastClr="000000"/>
                </a:solidFill>
              </a:rPr>
              <a:t>형변환</a:t>
            </a:r>
            <a:r>
              <a:rPr lang="en-US" altLang="ko-KR" b="1" dirty="0">
                <a:solidFill>
                  <a:sysClr val="windowText" lastClr="000000"/>
                </a:solidFill>
              </a:rPr>
              <a:t>(</a:t>
            </a:r>
            <a:r>
              <a:rPr lang="ko-KR" altLang="en-US" b="1" dirty="0">
                <a:solidFill>
                  <a:sysClr val="windowText" lastClr="000000"/>
                </a:solidFill>
              </a:rPr>
              <a:t>강제 </a:t>
            </a:r>
            <a:r>
              <a:rPr lang="ko-KR" altLang="en-US" b="1" dirty="0" err="1">
                <a:solidFill>
                  <a:sysClr val="windowText" lastClr="000000"/>
                </a:solidFill>
              </a:rPr>
              <a:t>형변환</a:t>
            </a:r>
            <a:r>
              <a:rPr lang="en-US" altLang="ko-KR" b="1" dirty="0">
                <a:solidFill>
                  <a:sysClr val="windowText" lastClr="000000"/>
                </a:solidFill>
              </a:rPr>
              <a:t>)&gt;</a:t>
            </a:r>
          </a:p>
          <a:p>
            <a:endParaRPr lang="en-US" altLang="ko-KR" b="1" dirty="0">
              <a:solidFill>
                <a:sysClr val="windowText" lastClr="000000"/>
              </a:solidFill>
            </a:endParaRPr>
          </a:p>
          <a:p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큰 </a:t>
            </a:r>
            <a:r>
              <a:rPr lang="ko-KR" altLang="en-US" dirty="0" err="1"/>
              <a:t>자료형에서</a:t>
            </a:r>
            <a:r>
              <a:rPr lang="ko-KR" altLang="en-US" dirty="0"/>
              <a:t> 작은 </a:t>
            </a:r>
            <a:r>
              <a:rPr lang="ko-KR" altLang="en-US" dirty="0" err="1"/>
              <a:t>자료형으로</a:t>
            </a:r>
            <a:r>
              <a:rPr lang="ko-KR" altLang="en-US" dirty="0"/>
              <a:t> 변환</a:t>
            </a:r>
            <a:endParaRPr lang="en-US" altLang="ko-KR" dirty="0"/>
          </a:p>
          <a:p>
            <a:r>
              <a:rPr lang="en-US" altLang="ko-KR" dirty="0"/>
              <a:t>     </a:t>
            </a:r>
            <a:r>
              <a:rPr lang="ko-KR" altLang="en-US" dirty="0"/>
              <a:t>변환 </a:t>
            </a:r>
            <a:r>
              <a:rPr lang="ko-KR" altLang="en-US" dirty="0" err="1"/>
              <a:t>자료형을</a:t>
            </a:r>
            <a:r>
              <a:rPr lang="ko-KR" altLang="en-US" dirty="0"/>
              <a:t> 명시</a:t>
            </a:r>
            <a:r>
              <a:rPr lang="en-US" altLang="ko-KR" dirty="0"/>
              <a:t> : ( ) </a:t>
            </a:r>
            <a:r>
              <a:rPr lang="ko-KR" altLang="en-US" dirty="0"/>
              <a:t>괄호 사용</a:t>
            </a:r>
            <a:endParaRPr lang="en-US" altLang="ko-KR" dirty="0"/>
          </a:p>
          <a:p>
            <a:endParaRPr lang="en-US" altLang="ko-KR" dirty="0"/>
          </a:p>
          <a:p>
            <a:pPr lvl="1"/>
            <a:r>
              <a:rPr lang="en-US" altLang="ko-KR" dirty="0"/>
              <a:t> double </a:t>
            </a:r>
            <a:r>
              <a:rPr lang="en-US" altLang="ko-KR" dirty="0" err="1"/>
              <a:t>dNum</a:t>
            </a:r>
            <a:r>
              <a:rPr lang="en-US" altLang="ko-KR" dirty="0"/>
              <a:t> = 12.34;</a:t>
            </a:r>
          </a:p>
          <a:p>
            <a:pPr lvl="1"/>
            <a:r>
              <a:rPr lang="en-US" altLang="ko-KR" dirty="0"/>
              <a:t> </a:t>
            </a:r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iNum</a:t>
            </a:r>
            <a:r>
              <a:rPr lang="en-US" altLang="ko-KR" dirty="0"/>
              <a:t> = </a:t>
            </a:r>
            <a:r>
              <a:rPr lang="en-US" altLang="ko-KR" b="1" dirty="0">
                <a:solidFill>
                  <a:srgbClr val="C00000"/>
                </a:solidFill>
              </a:rPr>
              <a:t>(</a:t>
            </a:r>
            <a:r>
              <a:rPr lang="en-US" altLang="ko-KR" b="1" dirty="0" err="1">
                <a:solidFill>
                  <a:srgbClr val="C00000"/>
                </a:solidFill>
              </a:rPr>
              <a:t>int</a:t>
            </a:r>
            <a:r>
              <a:rPr lang="en-US" altLang="ko-KR" b="1" dirty="0">
                <a:solidFill>
                  <a:srgbClr val="C00000"/>
                </a:solidFill>
              </a:rPr>
              <a:t>)</a:t>
            </a:r>
            <a:r>
              <a:rPr lang="en-US" altLang="ko-KR" dirty="0" err="1"/>
              <a:t>dNum</a:t>
            </a:r>
            <a:r>
              <a:rPr lang="en-US" altLang="ko-KR" dirty="0"/>
              <a:t>;</a:t>
            </a:r>
          </a:p>
        </p:txBody>
      </p:sp>
      <p:sp>
        <p:nvSpPr>
          <p:cNvPr id="2" name="모서리가 둥근 직사각형 1"/>
          <p:cNvSpPr/>
          <p:nvPr/>
        </p:nvSpPr>
        <p:spPr>
          <a:xfrm>
            <a:off x="560512" y="2765828"/>
            <a:ext cx="9057456" cy="2895420"/>
          </a:xfrm>
          <a:prstGeom prst="roundRect">
            <a:avLst/>
          </a:pr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연결선 7"/>
          <p:cNvCxnSpPr>
            <a:stCxn id="2" idx="0"/>
            <a:endCxn id="2" idx="2"/>
          </p:cNvCxnSpPr>
          <p:nvPr/>
        </p:nvCxnSpPr>
        <p:spPr>
          <a:xfrm>
            <a:off x="5089240" y="2765828"/>
            <a:ext cx="0" cy="28954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64974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형 변환</a:t>
            </a:r>
            <a:r>
              <a:rPr lang="en-US" altLang="ko-KR" dirty="0"/>
              <a:t>(Type Conversion)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848544" y="1048961"/>
            <a:ext cx="3672408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 </a:t>
            </a:r>
            <a:r>
              <a:rPr lang="ko-KR" altLang="en-US" b="1" dirty="0" err="1"/>
              <a:t>자료형의</a:t>
            </a:r>
            <a:r>
              <a:rPr lang="ko-KR" altLang="en-US" b="1" dirty="0"/>
              <a:t> 크기 및 형 변환 </a:t>
            </a:r>
            <a:r>
              <a:rPr lang="en-US" altLang="ko-KR" b="1" dirty="0"/>
              <a:t> 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800"/>
            <a:ext cx="7857726" cy="41352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813755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형 변환</a:t>
            </a:r>
            <a:r>
              <a:rPr lang="en-US" altLang="ko-KR" dirty="0"/>
              <a:t>(Type Conversion)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848544" y="1048961"/>
            <a:ext cx="3672408" cy="4542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b="1" dirty="0"/>
              <a:t> </a:t>
            </a:r>
            <a:r>
              <a:rPr lang="ko-KR" altLang="en-US" b="1" dirty="0" err="1"/>
              <a:t>자료형의</a:t>
            </a:r>
            <a:r>
              <a:rPr lang="ko-KR" altLang="en-US" b="1" dirty="0"/>
              <a:t> 크기 및 형 변환 </a:t>
            </a:r>
            <a:r>
              <a:rPr lang="en-US" altLang="ko-KR" b="1" dirty="0"/>
              <a:t> </a:t>
            </a: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28800"/>
            <a:ext cx="5381061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7216" y="3068960"/>
            <a:ext cx="2474511" cy="26642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3913615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04528" y="1052736"/>
            <a:ext cx="9001000" cy="237626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컴퓨터는 </a:t>
            </a:r>
            <a:r>
              <a:rPr lang="en-US" altLang="ko-KR" sz="1800" dirty="0"/>
              <a:t>0</a:t>
            </a:r>
            <a:r>
              <a:rPr lang="ko-KR" altLang="en-US" sz="1800" dirty="0"/>
              <a:t>과 </a:t>
            </a:r>
            <a:r>
              <a:rPr lang="en-US" altLang="ko-KR" sz="1800" dirty="0"/>
              <a:t>1</a:t>
            </a:r>
            <a:r>
              <a:rPr lang="ko-KR" altLang="en-US" sz="1800" dirty="0"/>
              <a:t>로만 데이터를 저장함</a:t>
            </a:r>
            <a:r>
              <a:rPr lang="en-US" altLang="ko-KR" sz="1800" dirty="0"/>
              <a:t>(0-&gt; </a:t>
            </a:r>
            <a:r>
              <a:rPr lang="ko-KR" altLang="en-US" sz="1800" dirty="0" err="1"/>
              <a:t>신호꺼짐</a:t>
            </a:r>
            <a:r>
              <a:rPr lang="en-US" altLang="ko-KR" sz="1800" dirty="0"/>
              <a:t>, 1-&gt; </a:t>
            </a:r>
            <a:r>
              <a:rPr lang="ko-KR" altLang="en-US" sz="1800" dirty="0" err="1"/>
              <a:t>신호켜짐</a:t>
            </a:r>
            <a:r>
              <a:rPr lang="en-US" altLang="ko-KR" sz="1800" dirty="0"/>
              <a:t>)</a:t>
            </a:r>
            <a:r>
              <a:rPr lang="ko-KR" altLang="en-US" sz="1800" dirty="0"/>
              <a:t> </a:t>
            </a:r>
            <a:endParaRPr lang="en-US" altLang="ko-KR" sz="1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dirty="0"/>
              <a:t>Bit(</a:t>
            </a:r>
            <a:r>
              <a:rPr lang="ko-KR" altLang="en-US" sz="1800" dirty="0"/>
              <a:t>비트</a:t>
            </a:r>
            <a:r>
              <a:rPr lang="en-US" altLang="ko-KR" sz="1800" dirty="0"/>
              <a:t>) : </a:t>
            </a:r>
            <a:r>
              <a:rPr lang="ko-KR" altLang="en-US" sz="1800" dirty="0"/>
              <a:t>컴퓨터가 표현하는 데이터의 최소 단위로 </a:t>
            </a:r>
            <a:r>
              <a:rPr lang="en-US" altLang="ko-KR" sz="1800" dirty="0"/>
              <a:t>2</a:t>
            </a:r>
            <a:r>
              <a:rPr lang="ko-KR" altLang="en-US" sz="1800" dirty="0"/>
              <a:t>진수 하나의 값  </a:t>
            </a: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/>
              <a:t>                </a:t>
            </a:r>
            <a:r>
              <a:rPr lang="ko-KR" altLang="en-US" sz="1800" dirty="0"/>
              <a:t>을 저장할 수 있는 메모리의 크기</a:t>
            </a:r>
            <a:endParaRPr lang="en-US" altLang="ko-KR" sz="1800" dirty="0"/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dirty="0"/>
              <a:t>숫자</a:t>
            </a:r>
            <a:r>
              <a:rPr lang="en-US" altLang="ko-KR" sz="1800" dirty="0"/>
              <a:t>, </a:t>
            </a:r>
            <a:r>
              <a:rPr lang="ko-KR" altLang="en-US" sz="1800" dirty="0"/>
              <a:t>문자 표현 </a:t>
            </a:r>
            <a:r>
              <a:rPr lang="en-US" altLang="ko-KR" sz="1800" dirty="0"/>
              <a:t>– </a:t>
            </a:r>
            <a:r>
              <a:rPr lang="ko-KR" altLang="en-US" sz="1800" dirty="0"/>
              <a:t>컴퓨터 내부에서는 숫자뿐만 아니라 문자도 </a:t>
            </a:r>
            <a:r>
              <a:rPr lang="en-US" altLang="ko-KR" sz="1800" dirty="0"/>
              <a:t>2</a:t>
            </a:r>
            <a:r>
              <a:rPr lang="ko-KR" altLang="en-US" sz="1800" dirty="0"/>
              <a:t>진수로 표현 </a:t>
            </a:r>
            <a:endParaRPr lang="en-US" altLang="ko-KR" sz="18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800" dirty="0">
                <a:solidFill>
                  <a:schemeClr val="accent6">
                    <a:lumMod val="75000"/>
                  </a:schemeClr>
                </a:solidFill>
              </a:rPr>
              <a:t>   </a:t>
            </a:r>
            <a:r>
              <a:rPr lang="ko-KR" altLang="en-US" sz="1800" dirty="0">
                <a:solidFill>
                  <a:srgbClr val="C00000"/>
                </a:solidFill>
              </a:rPr>
              <a:t>예</a:t>
            </a:r>
            <a:r>
              <a:rPr lang="en-US" altLang="ko-KR" sz="1800" dirty="0">
                <a:solidFill>
                  <a:srgbClr val="C00000"/>
                </a:solidFill>
              </a:rPr>
              <a:t>) ‘A’</a:t>
            </a:r>
            <a:r>
              <a:rPr lang="ko-KR" altLang="en-US" sz="1800" dirty="0">
                <a:solidFill>
                  <a:srgbClr val="C00000"/>
                </a:solidFill>
              </a:rPr>
              <a:t>는 </a:t>
            </a:r>
            <a:r>
              <a:rPr lang="en-US" altLang="ko-KR" sz="1800" dirty="0">
                <a:solidFill>
                  <a:srgbClr val="C00000"/>
                </a:solidFill>
              </a:rPr>
              <a:t>65</a:t>
            </a:r>
            <a:r>
              <a:rPr lang="ko-KR" altLang="en-US" sz="1800" dirty="0">
                <a:solidFill>
                  <a:srgbClr val="C00000"/>
                </a:solidFill>
              </a:rPr>
              <a:t>로 정함</a:t>
            </a:r>
            <a:r>
              <a:rPr lang="en-US" altLang="ko-KR" sz="1800" dirty="0">
                <a:solidFill>
                  <a:srgbClr val="C00000"/>
                </a:solidFill>
              </a:rPr>
              <a:t>(</a:t>
            </a:r>
            <a:r>
              <a:rPr lang="ko-KR" altLang="en-US" sz="1800" dirty="0">
                <a:solidFill>
                  <a:srgbClr val="C00000"/>
                </a:solidFill>
              </a:rPr>
              <a:t>아스키코드</a:t>
            </a:r>
            <a:r>
              <a:rPr lang="en-US" altLang="ko-KR" sz="1800" dirty="0">
                <a:solidFill>
                  <a:srgbClr val="C00000"/>
                </a:solidFill>
              </a:rPr>
              <a:t>) 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이진수로 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01000001, </a:t>
            </a:r>
            <a:r>
              <a:rPr lang="ko-KR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한글 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‘</a:t>
            </a:r>
            <a:r>
              <a:rPr lang="ko-KR" altLang="en-US" sz="1800" dirty="0" err="1">
                <a:solidFill>
                  <a:srgbClr val="C00000"/>
                </a:solidFill>
                <a:sym typeface="Wingdings" panose="05000000000000000000" pitchFamily="2" charset="2"/>
              </a:rPr>
              <a:t>ㄱ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’</a:t>
            </a:r>
            <a:r>
              <a:rPr lang="ko-KR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은 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12593(</a:t>
            </a:r>
            <a:r>
              <a:rPr lang="ko-KR" altLang="en-US" sz="1800" dirty="0">
                <a:solidFill>
                  <a:srgbClr val="C00000"/>
                </a:solidFill>
                <a:sym typeface="Wingdings" panose="05000000000000000000" pitchFamily="2" charset="2"/>
              </a:rPr>
              <a:t>유니코드</a:t>
            </a:r>
            <a:r>
              <a:rPr lang="en-US" altLang="ko-KR" sz="1800" dirty="0">
                <a:solidFill>
                  <a:srgbClr val="C00000"/>
                </a:solidFill>
                <a:sym typeface="Wingdings" panose="05000000000000000000" pitchFamily="2" charset="2"/>
              </a:rPr>
              <a:t>)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컴퓨터에서 데이터 표현하기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/>
        </p:nvGraphicFramePr>
        <p:xfrm>
          <a:off x="1136576" y="3140968"/>
          <a:ext cx="2952328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00000000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00000001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00000010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00000011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00001001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00001010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39</a:t>
            </a:fld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4911087" y="3151529"/>
          <a:ext cx="3960440" cy="2966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49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9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90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문자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err="1"/>
                        <a:t>코드값</a:t>
                      </a:r>
                      <a:endParaRPr lang="ko-KR" altLang="en-US" dirty="0"/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65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01000001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66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01000010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67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01000011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…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48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00110000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00110001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/>
                        <a:t>00110010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6726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908720"/>
            <a:ext cx="8496944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비트로 표현할 수 있는 수의 범위 </a:t>
            </a:r>
            <a:endParaRPr lang="en-US" altLang="ko-KR" sz="2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b="1" dirty="0"/>
          </a:p>
          <a:p>
            <a:pPr marL="0" indent="0">
              <a:buNone/>
            </a:pP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컴퓨터에서 데이터 표현하기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표 7"/>
              <p:cNvGraphicFramePr>
                <a:graphicFrameLocks noGrp="1"/>
              </p:cNvGraphicFramePr>
              <p:nvPr/>
            </p:nvGraphicFramePr>
            <p:xfrm>
              <a:off x="1064568" y="1484784"/>
              <a:ext cx="7344816" cy="1463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834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00631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44016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27986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/>
                            <a:t>비트수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/>
                            <a:t>표현할 수 있는 범위</a:t>
                          </a:r>
                          <a:r>
                            <a:rPr lang="en-US" altLang="ko-KR" dirty="0"/>
                            <a:t>(</a:t>
                          </a:r>
                          <a:r>
                            <a:rPr lang="ko-KR" altLang="en-US" dirty="0"/>
                            <a:t>십진수</a:t>
                          </a:r>
                          <a:r>
                            <a:rPr lang="en-US" altLang="ko-KR" dirty="0"/>
                            <a:t>)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7986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1bit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/>
                            <a:t> 0,</a:t>
                          </a:r>
                          <a:r>
                            <a:rPr lang="en-US" altLang="ko-KR" baseline="0" dirty="0"/>
                            <a:t> 1(0~1)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ko-KR" sz="18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7986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2bit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/>
                            <a:t> 00,</a:t>
                          </a:r>
                          <a:r>
                            <a:rPr lang="en-US" altLang="ko-KR" baseline="0" dirty="0"/>
                            <a:t> 01, 10, 11(0~3)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ko-KR" sz="18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279863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/>
                            <a:t>3bit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/>
                            <a:t> 000,</a:t>
                          </a:r>
                          <a:r>
                            <a:rPr lang="en-US" altLang="ko-KR" baseline="0" dirty="0"/>
                            <a:t> 001, 010, 011, 100, 101, 110, 111(0~7)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n-US" altLang="ko-KR" sz="180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80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ko-KR" sz="18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ko-KR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표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8472764"/>
                  </p:ext>
                </p:extLst>
              </p:nvPr>
            </p:nvGraphicFramePr>
            <p:xfrm>
              <a:off x="1064568" y="1484784"/>
              <a:ext cx="7344816" cy="146304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898344"/>
                    <a:gridCol w="5006312"/>
                    <a:gridCol w="1440160"/>
                  </a:tblGrid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err="1" smtClean="0"/>
                            <a:t>비트수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ko-KR" altLang="en-US" dirty="0" smtClean="0"/>
                            <a:t>표현할 수 있는 범위</a:t>
                          </a:r>
                          <a:r>
                            <a:rPr lang="en-US" altLang="ko-KR" dirty="0" smtClean="0"/>
                            <a:t>(</a:t>
                          </a:r>
                          <a:r>
                            <a:rPr lang="ko-KR" altLang="en-US" dirty="0" smtClean="0"/>
                            <a:t>십진수</a:t>
                          </a:r>
                          <a:r>
                            <a:rPr lang="en-US" altLang="ko-KR" dirty="0" smtClean="0"/>
                            <a:t>)</a:t>
                          </a:r>
                          <a:endParaRPr lang="ko-KR" alt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/>
                          <a:endParaRPr lang="ko-KR" altLang="en-US" dirty="0"/>
                        </a:p>
                      </a:txBody>
                      <a:tcPr>
                        <a:solidFill>
                          <a:srgbClr val="FFC000"/>
                        </a:solid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1bit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 0</a:t>
                          </a:r>
                          <a:r>
                            <a:rPr lang="en-US" altLang="ko-KR" dirty="0" smtClean="0"/>
                            <a:t>,</a:t>
                          </a:r>
                          <a:r>
                            <a:rPr lang="en-US" altLang="ko-KR" baseline="0" dirty="0" smtClean="0"/>
                            <a:t> 1(0~1)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11441" t="-106557" r="-847" b="-222951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2bit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 00</a:t>
                          </a:r>
                          <a:r>
                            <a:rPr lang="en-US" altLang="ko-KR" dirty="0" smtClean="0"/>
                            <a:t>,</a:t>
                          </a:r>
                          <a:r>
                            <a:rPr lang="en-US" altLang="ko-KR" baseline="0" dirty="0" smtClean="0"/>
                            <a:t> 01, 10, 11(0~3)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11441" t="-210000" r="-847" b="-126667"/>
                          </a:stretch>
                        </a:blipFill>
                      </a:tcPr>
                    </a:tc>
                  </a:tr>
                  <a:tr h="365760">
                    <a:tc>
                      <a:txBody>
                        <a:bodyPr/>
                        <a:lstStyle/>
                        <a:p>
                          <a:pPr algn="ctr" latinLnBrk="1"/>
                          <a:r>
                            <a:rPr lang="en-US" altLang="ko-KR" dirty="0" smtClean="0"/>
                            <a:t>3bit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 latinLnBrk="1"/>
                          <a:r>
                            <a:rPr lang="en-US" altLang="ko-KR" dirty="0" smtClean="0"/>
                            <a:t> 000</a:t>
                          </a:r>
                          <a:r>
                            <a:rPr lang="en-US" altLang="ko-KR" dirty="0" smtClean="0"/>
                            <a:t>,</a:t>
                          </a:r>
                          <a:r>
                            <a:rPr lang="en-US" altLang="ko-KR" baseline="0" dirty="0" smtClean="0"/>
                            <a:t> 001, 010, 011, 100, 101, 110, 111(0~7)</a:t>
                          </a:r>
                          <a:endParaRPr lang="ko-KR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411441" t="-310000" r="-847" b="-26667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40</a:t>
            </a:fld>
            <a:endParaRPr lang="ko-KR" altLang="en-US"/>
          </a:p>
        </p:txBody>
      </p:sp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2150610" y="3056776"/>
          <a:ext cx="2520240" cy="329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16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</a:t>
                      </a:r>
                      <a:r>
                        <a:rPr lang="ko-KR" altLang="en-US" dirty="0"/>
                        <a:t>진수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9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A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C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D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1101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1110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F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1111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74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10000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모서리가 둥근 사각형 설명선 10"/>
          <p:cNvSpPr/>
          <p:nvPr/>
        </p:nvSpPr>
        <p:spPr>
          <a:xfrm>
            <a:off x="4814866" y="5842208"/>
            <a:ext cx="1621187" cy="352576"/>
          </a:xfrm>
          <a:prstGeom prst="wedgeRoundRectCallout">
            <a:avLst>
              <a:gd name="adj1" fmla="val -62207"/>
              <a:gd name="adj2" fmla="val 30365"/>
              <a:gd name="adj3" fmla="val 16667"/>
            </a:avLst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ko-KR" altLang="en-US" sz="1600" dirty="0">
                <a:solidFill>
                  <a:schemeClr val="tx1"/>
                </a:solidFill>
              </a:rPr>
              <a:t>자리 올림 발생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070552" y="3212976"/>
                <a:ext cx="4062428" cy="2169825"/>
              </a:xfrm>
              <a:prstGeom prst="rect">
                <a:avLst/>
              </a:prstGeom>
              <a:ln w="1270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※ 10</a:t>
                </a:r>
                <a:r>
                  <a:rPr lang="ko-KR" altLang="en-US" dirty="0"/>
                  <a:t>진수를 </a:t>
                </a:r>
                <a:r>
                  <a:rPr lang="en-US" altLang="ko-KR" dirty="0"/>
                  <a:t>2</a:t>
                </a:r>
                <a:r>
                  <a:rPr lang="ko-KR" altLang="en-US" dirty="0"/>
                  <a:t>진수로 바꾸기</a:t>
                </a:r>
                <a:endParaRPr lang="en-US" altLang="ko-KR" dirty="0"/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</a:t>
                </a:r>
                <a:r>
                  <a:rPr lang="ko-KR" altLang="en-US" dirty="0">
                    <a:solidFill>
                      <a:srgbClr val="C00000"/>
                    </a:solidFill>
                  </a:rPr>
                  <a:t>가중치 방식</a:t>
                </a:r>
                <a:endParaRPr lang="en-US" altLang="ko-KR" dirty="0">
                  <a:solidFill>
                    <a:srgbClr val="C0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  10 = 1010</a:t>
                </a:r>
                <a:r>
                  <a:rPr lang="en-US" altLang="ko-KR" sz="1100" dirty="0"/>
                  <a:t>(2</a:t>
                </a:r>
                <a:r>
                  <a:rPr lang="en-US" altLang="ko-KR" sz="12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sz="1200" dirty="0"/>
                  <a:t>           </a:t>
                </a:r>
                <a:r>
                  <a:rPr lang="en-US" altLang="ko-KR" dirty="0"/>
                  <a:t>8 4 2 1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ko-KR" dirty="0"/>
                  <a:t>        1 0 1 0(1x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altLang="ko-KR" dirty="0"/>
                  <a:t>+ 1x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→8+2)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0552" y="3212976"/>
                <a:ext cx="4062428" cy="2169825"/>
              </a:xfrm>
              <a:prstGeom prst="rect">
                <a:avLst/>
              </a:prstGeom>
              <a:blipFill rotWithShape="1">
                <a:blip r:embed="rId4"/>
                <a:stretch>
                  <a:fillRect l="-1198" b="-838"/>
                </a:stretch>
              </a:blipFill>
              <a:ln w="12700"/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29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00D63F9B-A0CD-40DB-9700-D85C71A79654}"/>
              </a:ext>
            </a:extLst>
          </p:cNvPr>
          <p:cNvSpPr txBox="1">
            <a:spLocks/>
          </p:cNvSpPr>
          <p:nvPr/>
        </p:nvSpPr>
        <p:spPr>
          <a:xfrm>
            <a:off x="776785" y="1052736"/>
            <a:ext cx="8424687" cy="462233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en-US" altLang="ko-KR" sz="2000" b="1" dirty="0"/>
              <a:t> </a:t>
            </a:r>
            <a:r>
              <a:rPr lang="ko-KR" altLang="en-US" sz="2000" b="1" dirty="0"/>
              <a:t>음의 정수는 어떻게 표현할까</a:t>
            </a:r>
            <a:r>
              <a:rPr lang="en-US" altLang="ko-KR" sz="2000" b="1" dirty="0"/>
              <a:t>?</a:t>
            </a:r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정수의 가장 왼쪽에 존재하는 비트는 부호비트입니다</a:t>
            </a:r>
            <a:r>
              <a:rPr lang="en-US" altLang="ko-KR" sz="1800" dirty="0"/>
              <a:t>. </a:t>
            </a:r>
          </a:p>
          <a:p>
            <a:pPr marL="457200" lvl="1" indent="0">
              <a:lnSpc>
                <a:spcPct val="100000"/>
              </a:lnSpc>
              <a:buNone/>
            </a:pPr>
            <a:r>
              <a:rPr lang="en-US" altLang="ko-KR" sz="1800" dirty="0"/>
              <a:t>   MSB(Most Significant Bit) </a:t>
            </a:r>
            <a:r>
              <a:rPr lang="ko-KR" altLang="en-US" sz="1800" dirty="0"/>
              <a:t>가장 </a:t>
            </a:r>
            <a:r>
              <a:rPr lang="ko-KR" altLang="en-US" sz="1800" dirty="0" err="1"/>
              <a:t>의미있는</a:t>
            </a:r>
            <a:r>
              <a:rPr lang="ko-KR" altLang="en-US" sz="1800" dirty="0"/>
              <a:t> 비트라는 뜻</a:t>
            </a:r>
            <a:endParaRPr lang="en-US" altLang="ko-KR" sz="1800" dirty="0"/>
          </a:p>
          <a:p>
            <a:pPr lvl="1">
              <a:lnSpc>
                <a:spcPct val="100000"/>
              </a:lnSpc>
            </a:pPr>
            <a:r>
              <a:rPr lang="ko-KR" altLang="en-US" sz="1800" dirty="0"/>
              <a:t>음수를 만드는 방법은 </a:t>
            </a:r>
            <a:r>
              <a:rPr lang="en-US" altLang="ko-KR" sz="1800" dirty="0"/>
              <a:t>2</a:t>
            </a:r>
            <a:r>
              <a:rPr lang="ko-KR" altLang="en-US" sz="1800" dirty="0"/>
              <a:t>의 보수</a:t>
            </a:r>
            <a:r>
              <a:rPr lang="en-US" altLang="ko-KR" sz="1800" dirty="0"/>
              <a:t>(1</a:t>
            </a:r>
            <a:r>
              <a:rPr lang="ko-KR" altLang="en-US" sz="1800" b="1" dirty="0">
                <a:solidFill>
                  <a:srgbClr val="C00000"/>
                </a:solidFill>
              </a:rPr>
              <a:t>의 보수에 </a:t>
            </a:r>
            <a:r>
              <a:rPr lang="en-US" altLang="ko-KR" sz="1800" b="1" dirty="0">
                <a:solidFill>
                  <a:srgbClr val="C00000"/>
                </a:solidFill>
              </a:rPr>
              <a:t>1</a:t>
            </a:r>
            <a:r>
              <a:rPr lang="ko-KR" altLang="en-US" sz="1800" b="1" dirty="0">
                <a:solidFill>
                  <a:srgbClr val="C00000"/>
                </a:solidFill>
              </a:rPr>
              <a:t>을 더함</a:t>
            </a:r>
            <a:r>
              <a:rPr lang="en-US" altLang="ko-KR" sz="1800" dirty="0"/>
              <a:t>)</a:t>
            </a:r>
            <a:r>
              <a:rPr lang="ko-KR" altLang="en-US" sz="1800" dirty="0"/>
              <a:t>를 취한다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00000"/>
              </a:lnSpc>
            </a:pPr>
            <a:r>
              <a:rPr lang="en-US" altLang="ko-KR" sz="1800" dirty="0"/>
              <a:t>1</a:t>
            </a:r>
            <a:r>
              <a:rPr lang="ko-KR" altLang="en-US" sz="1800" dirty="0"/>
              <a:t>의 보수  표기법 </a:t>
            </a:r>
            <a:r>
              <a:rPr lang="en-US" altLang="ko-KR" sz="1800" dirty="0"/>
              <a:t>– 0</a:t>
            </a:r>
            <a:r>
              <a:rPr lang="ko-KR" altLang="en-US" sz="1800" dirty="0"/>
              <a:t>을 </a:t>
            </a:r>
            <a:r>
              <a:rPr lang="en-US" altLang="ko-KR" sz="1800" dirty="0"/>
              <a:t>1</a:t>
            </a:r>
            <a:r>
              <a:rPr lang="ko-KR" altLang="en-US" sz="1800" dirty="0"/>
              <a:t>로</a:t>
            </a:r>
            <a:r>
              <a:rPr lang="en-US" altLang="ko-KR" sz="1800" dirty="0"/>
              <a:t>, 1</a:t>
            </a:r>
            <a:r>
              <a:rPr lang="ko-KR" altLang="en-US" sz="1800" dirty="0"/>
              <a:t>을 </a:t>
            </a:r>
            <a:r>
              <a:rPr lang="en-US" altLang="ko-KR" sz="1800" dirty="0"/>
              <a:t>0</a:t>
            </a:r>
            <a:r>
              <a:rPr lang="ko-KR" altLang="en-US" sz="1800" dirty="0"/>
              <a:t>으로 표기</a:t>
            </a:r>
            <a:endParaRPr lang="en-US" altLang="ko-KR" sz="1800" dirty="0"/>
          </a:p>
          <a:p>
            <a:pPr marL="742950" lvl="2" indent="0">
              <a:buNone/>
            </a:pPr>
            <a:endParaRPr lang="ko-KR" altLang="en-US" sz="1625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부호 있는 수를 표현하는 방법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2582500" y="2996952"/>
          <a:ext cx="4536504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0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582500" y="3537879"/>
            <a:ext cx="28256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의 보수를 취한다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2582500" y="4041381"/>
          <a:ext cx="4536504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582500" y="4582308"/>
            <a:ext cx="17454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을 더한다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graphicFrame>
        <p:nvGraphicFramePr>
          <p:cNvPr id="10" name="표 9"/>
          <p:cNvGraphicFramePr>
            <a:graphicFrameLocks noGrp="1"/>
          </p:cNvGraphicFramePr>
          <p:nvPr/>
        </p:nvGraphicFramePr>
        <p:xfrm>
          <a:off x="2582500" y="5291879"/>
          <a:ext cx="4536504" cy="39691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67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7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91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solidFill>
                            <a:srgbClr val="C00000"/>
                          </a:solidFill>
                        </a:rPr>
                        <a:t>1</a:t>
                      </a:r>
                      <a:endParaRPr lang="ko-KR" alt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7712363" y="3013192"/>
            <a:ext cx="122413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r>
              <a:rPr lang="ko-KR" altLang="en-US" dirty="0"/>
              <a:t>진수 </a:t>
            </a:r>
            <a:r>
              <a:rPr lang="en-US" altLang="ko-KR" dirty="0"/>
              <a:t>5</a:t>
            </a:r>
            <a:endParaRPr lang="ko-KR" altLang="en-US" dirty="0"/>
          </a:p>
        </p:txBody>
      </p:sp>
      <p:cxnSp>
        <p:nvCxnSpPr>
          <p:cNvPr id="15" name="직선 화살표 연결선 14"/>
          <p:cNvCxnSpPr>
            <a:stCxn id="11" idx="1"/>
            <a:endCxn id="6" idx="3"/>
          </p:cNvCxnSpPr>
          <p:nvPr/>
        </p:nvCxnSpPr>
        <p:spPr>
          <a:xfrm flipH="1" flipV="1">
            <a:off x="7119004" y="3195408"/>
            <a:ext cx="593359" cy="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2363" y="5303659"/>
            <a:ext cx="122413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10</a:t>
            </a:r>
            <a:r>
              <a:rPr lang="ko-KR" altLang="en-US" dirty="0"/>
              <a:t>진수 </a:t>
            </a:r>
            <a:r>
              <a:rPr lang="en-US" altLang="ko-KR" dirty="0"/>
              <a:t>-5</a:t>
            </a:r>
            <a:endParaRPr lang="ko-KR" altLang="en-US" dirty="0"/>
          </a:p>
        </p:txBody>
      </p:sp>
      <p:cxnSp>
        <p:nvCxnSpPr>
          <p:cNvPr id="17" name="직선 화살표 연결선 16"/>
          <p:cNvCxnSpPr>
            <a:stCxn id="16" idx="1"/>
          </p:cNvCxnSpPr>
          <p:nvPr/>
        </p:nvCxnSpPr>
        <p:spPr>
          <a:xfrm flipH="1" flipV="1">
            <a:off x="7119004" y="5485875"/>
            <a:ext cx="593359" cy="24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84171" y="4582308"/>
            <a:ext cx="1134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+      1</a:t>
            </a:r>
            <a:endParaRPr lang="ko-KR" altLang="en-US" dirty="0"/>
          </a:p>
        </p:txBody>
      </p:sp>
      <p:cxnSp>
        <p:nvCxnSpPr>
          <p:cNvPr id="20" name="직선 연결선 19"/>
          <p:cNvCxnSpPr/>
          <p:nvPr/>
        </p:nvCxnSpPr>
        <p:spPr>
          <a:xfrm>
            <a:off x="2671803" y="5050047"/>
            <a:ext cx="4536504" cy="0"/>
          </a:xfrm>
          <a:prstGeom prst="line">
            <a:avLst/>
          </a:prstGeom>
          <a:ln w="127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4" name="자유형 23"/>
          <p:cNvSpPr/>
          <p:nvPr/>
        </p:nvSpPr>
        <p:spPr>
          <a:xfrm>
            <a:off x="1862511" y="3138193"/>
            <a:ext cx="714107" cy="2394857"/>
          </a:xfrm>
          <a:custGeom>
            <a:avLst/>
            <a:gdLst>
              <a:gd name="connsiteX0" fmla="*/ 705398 w 714107"/>
              <a:gd name="connsiteY0" fmla="*/ 0 h 2394857"/>
              <a:gd name="connsiteX1" fmla="*/ 4 w 714107"/>
              <a:gd name="connsiteY1" fmla="*/ 1123406 h 2394857"/>
              <a:gd name="connsiteX2" fmla="*/ 714107 w 714107"/>
              <a:gd name="connsiteY2" fmla="*/ 2394857 h 2394857"/>
              <a:gd name="connsiteX3" fmla="*/ 714107 w 714107"/>
              <a:gd name="connsiteY3" fmla="*/ 2394857 h 23948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4107" h="2394857">
                <a:moveTo>
                  <a:pt x="705398" y="0"/>
                </a:moveTo>
                <a:cubicBezTo>
                  <a:pt x="351975" y="362131"/>
                  <a:pt x="-1448" y="724263"/>
                  <a:pt x="4" y="1123406"/>
                </a:cubicBezTo>
                <a:cubicBezTo>
                  <a:pt x="1455" y="1522549"/>
                  <a:pt x="714107" y="2394857"/>
                  <a:pt x="714107" y="2394857"/>
                </a:cubicBezTo>
                <a:lnTo>
                  <a:pt x="714107" y="2394857"/>
                </a:lnTo>
              </a:path>
            </a:pathLst>
          </a:custGeom>
          <a:noFill/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Box 24"/>
          <p:cNvSpPr txBox="1"/>
          <p:nvPr/>
        </p:nvSpPr>
        <p:spPr>
          <a:xfrm>
            <a:off x="934701" y="3474312"/>
            <a:ext cx="1369017" cy="132343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ko-KR" altLang="en-US" sz="1600" dirty="0"/>
              <a:t>두 수를 더하면 </a:t>
            </a:r>
            <a:r>
              <a:rPr lang="en-US" altLang="ko-KR" sz="1600" dirty="0"/>
              <a:t>0</a:t>
            </a:r>
            <a:r>
              <a:rPr lang="ko-KR" altLang="en-US" sz="1600" dirty="0" err="1"/>
              <a:t>이됨</a:t>
            </a:r>
            <a:endParaRPr lang="en-US" altLang="ko-KR" sz="1600" dirty="0"/>
          </a:p>
          <a:p>
            <a:r>
              <a:rPr lang="en-US" altLang="ko-KR" sz="1600" dirty="0"/>
              <a:t>100000000</a:t>
            </a:r>
          </a:p>
          <a:p>
            <a:r>
              <a:rPr lang="ko-KR" altLang="en-US" sz="1600" dirty="0" err="1"/>
              <a:t>맨앞</a:t>
            </a:r>
            <a:r>
              <a:rPr lang="ko-KR" altLang="en-US" sz="1600" dirty="0"/>
              <a:t> </a:t>
            </a:r>
            <a:r>
              <a:rPr lang="en-US" altLang="ko-KR" sz="1600" dirty="0"/>
              <a:t>1</a:t>
            </a:r>
            <a:r>
              <a:rPr lang="ko-KR" altLang="en-US" sz="1600" dirty="0"/>
              <a:t>은 제거됨</a:t>
            </a:r>
          </a:p>
        </p:txBody>
      </p:sp>
      <p:cxnSp>
        <p:nvCxnSpPr>
          <p:cNvPr id="27" name="직선 연결선 26"/>
          <p:cNvCxnSpPr/>
          <p:nvPr/>
        </p:nvCxnSpPr>
        <p:spPr>
          <a:xfrm flipH="1">
            <a:off x="1015619" y="4104615"/>
            <a:ext cx="148597" cy="23100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>
            <a:off x="1009737" y="4104615"/>
            <a:ext cx="178894" cy="231006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1885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las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부호 있는 수를 표현하는 방법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32520" y="908720"/>
            <a:ext cx="4824536" cy="4320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b="1" dirty="0"/>
              <a:t>진수 표기 및 음의 정수 구현하기 </a:t>
            </a:r>
            <a:endParaRPr lang="en-US" altLang="ko-KR" sz="18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b="1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b="1" dirty="0"/>
          </a:p>
          <a:p>
            <a:pPr marL="0" indent="0">
              <a:buNone/>
            </a:pPr>
            <a:endParaRPr lang="en-US" altLang="ko-KR" sz="18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412776"/>
            <a:ext cx="7653230" cy="482453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307754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대입 및 부호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48136" y="980728"/>
            <a:ext cx="8616032" cy="165618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</a:rPr>
              <a:t>대입 연산자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변수에 값을 대입하는 연산자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연산의 결과를 변수에 대입</a:t>
            </a:r>
            <a:endParaRPr lang="en-US" altLang="ko-KR" sz="1600" dirty="0"/>
          </a:p>
          <a:p>
            <a:pPr lvl="1">
              <a:lnSpc>
                <a:spcPct val="100000"/>
              </a:lnSpc>
            </a:pPr>
            <a:r>
              <a:rPr lang="ko-KR" altLang="en-US" sz="1600" dirty="0"/>
              <a:t>왼쪽 변수</a:t>
            </a:r>
            <a:r>
              <a:rPr lang="en-US" altLang="ko-KR" sz="1600" dirty="0"/>
              <a:t>(</a:t>
            </a:r>
            <a:r>
              <a:rPr lang="en-US" altLang="ko-KR" sz="1600" dirty="0" err="1"/>
              <a:t>lvalue</a:t>
            </a:r>
            <a:r>
              <a:rPr lang="en-US" altLang="ko-KR" sz="1600" dirty="0"/>
              <a:t>)</a:t>
            </a:r>
            <a:r>
              <a:rPr lang="ko-KR" altLang="en-US" sz="1600" dirty="0"/>
              <a:t>에 오른쪽 값</a:t>
            </a:r>
            <a:r>
              <a:rPr lang="en-US" altLang="ko-KR" sz="1600" dirty="0"/>
              <a:t>(</a:t>
            </a:r>
            <a:r>
              <a:rPr lang="en-US" altLang="ko-KR" sz="1600" dirty="0" err="1"/>
              <a:t>rvalue</a:t>
            </a:r>
            <a:r>
              <a:rPr lang="en-US" altLang="ko-KR" sz="1600" dirty="0"/>
              <a:t>)</a:t>
            </a:r>
            <a:r>
              <a:rPr lang="ko-KR" altLang="en-US" sz="1600" dirty="0"/>
              <a:t>를 대입</a:t>
            </a:r>
            <a:endParaRPr lang="en-US" altLang="ko-KR" sz="16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2000" dirty="0"/>
          </a:p>
        </p:txBody>
      </p:sp>
      <p:sp>
        <p:nvSpPr>
          <p:cNvPr id="11" name="TextBox 10"/>
          <p:cNvSpPr txBox="1"/>
          <p:nvPr/>
        </p:nvSpPr>
        <p:spPr>
          <a:xfrm>
            <a:off x="7185248" y="1624154"/>
            <a:ext cx="657384" cy="369332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10</a:t>
            </a:r>
            <a:endParaRPr lang="ko-KR" altLang="en-US" dirty="0"/>
          </a:p>
        </p:txBody>
      </p:sp>
      <p:cxnSp>
        <p:nvCxnSpPr>
          <p:cNvPr id="14" name="꺾인 연결선 13"/>
          <p:cNvCxnSpPr/>
          <p:nvPr/>
        </p:nvCxnSpPr>
        <p:spPr>
          <a:xfrm rot="16200000" flipH="1">
            <a:off x="7981380" y="330617"/>
            <a:ext cx="12701" cy="2642486"/>
          </a:xfrm>
          <a:prstGeom prst="bentConnector2">
            <a:avLst/>
          </a:prstGeom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95871" y="1645509"/>
            <a:ext cx="720080" cy="369332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 err="1"/>
              <a:t>int</a:t>
            </a:r>
            <a:r>
              <a:rPr lang="en-US" altLang="ko-KR" dirty="0"/>
              <a:t> x</a:t>
            </a:r>
            <a:endParaRPr lang="ko-KR" alt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6938550" y="1645509"/>
            <a:ext cx="391082" cy="369332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dirty="0"/>
              <a:t>=</a:t>
            </a:r>
            <a:endParaRPr lang="ko-KR" altLang="en-US" dirty="0"/>
          </a:p>
        </p:txBody>
      </p:sp>
      <p:cxnSp>
        <p:nvCxnSpPr>
          <p:cNvPr id="32" name="꺾인 연결선 31"/>
          <p:cNvCxnSpPr>
            <a:stCxn id="11" idx="2"/>
            <a:endCxn id="16" idx="2"/>
          </p:cNvCxnSpPr>
          <p:nvPr/>
        </p:nvCxnSpPr>
        <p:spPr>
          <a:xfrm rot="5400000">
            <a:off x="7074249" y="1575149"/>
            <a:ext cx="21355" cy="858029"/>
          </a:xfrm>
          <a:prstGeom prst="bentConnector3">
            <a:avLst>
              <a:gd name="adj1" fmla="val 117047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2564904"/>
            <a:ext cx="5263470" cy="396044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8860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산술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384376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산술 및 증감 연산자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208584" y="1613509"/>
          <a:ext cx="7416824" cy="21755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40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6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58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+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항을 더합니다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5+3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앞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dirty="0"/>
                        <a:t>항에서 뒤 항을 뺍니다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5-3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*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항을 곱합니다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5*3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2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/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앞</a:t>
                      </a:r>
                      <a:r>
                        <a:rPr lang="ko-KR" altLang="en-US" sz="1600" baseline="0" dirty="0"/>
                        <a:t> </a:t>
                      </a:r>
                      <a:r>
                        <a:rPr lang="ko-KR" altLang="en-US" sz="1600" dirty="0"/>
                        <a:t>항에서 뒤 항을 나누어 몫을 구합니다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5/3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25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앞 항에서 뒤 항을 나누어 나머지를 구합니다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5%3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229801" y="3921817"/>
          <a:ext cx="7395607" cy="20171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68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4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127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1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++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항의 값에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을 더합니다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aseline="0" dirty="0" err="1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++;  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// </a:t>
                      </a:r>
                      <a:r>
                        <a:rPr lang="en-US" altLang="ko-KR" sz="1600" b="1" baseline="0" dirty="0" err="1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 = num+1(</a:t>
                      </a:r>
                      <a:r>
                        <a:rPr lang="ko-KR" altLang="en-US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후치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++</a:t>
                      </a:r>
                      <a:r>
                        <a:rPr lang="en-US" altLang="ko-KR" sz="1600" baseline="0" dirty="0" err="1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;  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// </a:t>
                      </a:r>
                      <a:r>
                        <a:rPr lang="en-US" altLang="ko-KR" sz="1600" b="1" baseline="0" dirty="0" err="1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 = num+1(</a:t>
                      </a:r>
                      <a:r>
                        <a:rPr lang="ko-KR" altLang="en-US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전치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dirty="0">
                        <a:solidFill>
                          <a:srgbClr val="00B05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167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--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항의 값에서 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600" dirty="0">
                          <a:latin typeface="+mn-ea"/>
                          <a:ea typeface="+mn-ea"/>
                        </a:rPr>
                        <a:t>을 뺍니다</a:t>
                      </a: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600" baseline="0" dirty="0" err="1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--    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// </a:t>
                      </a:r>
                      <a:r>
                        <a:rPr lang="en-US" altLang="ko-KR" sz="1600" b="1" baseline="0" dirty="0" err="1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 = num-1(</a:t>
                      </a:r>
                      <a:r>
                        <a:rPr lang="ko-KR" altLang="en-US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후치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) </a:t>
                      </a:r>
                      <a:endParaRPr lang="en-US" altLang="ko-KR" sz="1600" baseline="0" dirty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 --</a:t>
                      </a:r>
                      <a:r>
                        <a:rPr lang="en-US" altLang="ko-KR" sz="1600" baseline="0" dirty="0" err="1"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aseline="0" dirty="0">
                          <a:latin typeface="+mn-ea"/>
                          <a:ea typeface="+mn-ea"/>
                        </a:rPr>
                        <a:t>    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// </a:t>
                      </a:r>
                      <a:r>
                        <a:rPr lang="en-US" altLang="ko-KR" sz="1600" b="1" baseline="0" dirty="0" err="1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num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 = num-1(</a:t>
                      </a:r>
                      <a:r>
                        <a:rPr lang="ko-KR" altLang="en-US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전치</a:t>
                      </a:r>
                      <a:r>
                        <a:rPr lang="en-US" altLang="ko-KR" sz="1600" b="1" baseline="0" dirty="0">
                          <a:solidFill>
                            <a:srgbClr val="00B050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b="1" dirty="0">
                        <a:solidFill>
                          <a:srgbClr val="00B050"/>
                        </a:solidFill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9863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산술 연산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384376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산술 연산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6576" y="1628800"/>
            <a:ext cx="7716857" cy="443561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152636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산술 연산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384376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산술 연산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5471748" cy="41764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4791246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관계</a:t>
            </a:r>
            <a:r>
              <a:rPr lang="en-US" altLang="ko-KR" dirty="0"/>
              <a:t>(</a:t>
            </a:r>
            <a:r>
              <a:rPr lang="ko-KR" altLang="en-US" dirty="0"/>
              <a:t>비교</a:t>
            </a:r>
            <a:r>
              <a:rPr lang="en-US" altLang="ko-KR" dirty="0"/>
              <a:t>)</a:t>
            </a:r>
            <a:r>
              <a:rPr lang="ko-KR" altLang="en-US" dirty="0"/>
              <a:t> 및 논리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24430" y="1117536"/>
            <a:ext cx="7584954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비교 및 논리 연산자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992559" y="1628801"/>
          <a:ext cx="8280921" cy="25922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2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250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37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&gt;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왼쪽 항이 크면 참을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아니면 거짓을 반환합니다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&gt; 3;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왼쪽 항이 작으면 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아니면 거짓을 반환합니다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&lt; 3;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&gt;=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왼쪽 항이 크거나 같으면 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아니면 거짓을 반환합니다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&gt;= 3;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왼쪽 항이 작거나 같으면 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아니면 거짓을 반환합니다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&lt;= 3;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==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두 개의 항 값이 같으면 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아니면 거짓을 반환합니다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== 3;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32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!=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개의 항 값이 다르면 참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아니면 거짓을 반환합니다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 != 3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92560" y="4437112"/>
          <a:ext cx="8280919" cy="15121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94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829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85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04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&amp;&amp;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항이 모두 참인 경우에만 결과 값이 참 입니다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(7&lt;3)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</a:rPr>
                        <a:t> &amp;&amp; (5&gt;2)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||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</a:t>
                      </a:r>
                      <a:r>
                        <a:rPr lang="ko-KR" altLang="en-US" sz="1600" dirty="0" err="1"/>
                        <a:t>항중</a:t>
                      </a:r>
                      <a:r>
                        <a:rPr lang="ko-KR" altLang="en-US" sz="1600" dirty="0"/>
                        <a:t> 하나의 항만 참이면 결과 값이 참 입니다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(7&lt;3)</a:t>
                      </a:r>
                      <a:r>
                        <a:rPr lang="en-US" altLang="ko-KR" sz="1600" baseline="0" dirty="0">
                          <a:solidFill>
                            <a:schemeClr val="tx1"/>
                          </a:solidFill>
                        </a:rPr>
                        <a:t> || (5&gt;2)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04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!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참인 경우는 거짓으로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거짓은 참으로 바꿉니다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!(7&gt;3)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8218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비교 및 논리 연산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6553559" cy="43565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384376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비교 및 논리 연산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686826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 err="1"/>
              <a:t>복합대입</a:t>
            </a:r>
            <a:r>
              <a:rPr lang="ko-KR" altLang="en-US" dirty="0"/>
              <a:t> 및 조건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49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80414" y="1045528"/>
            <a:ext cx="7584954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</a:t>
            </a:r>
            <a:r>
              <a:rPr lang="ko-KR" altLang="en-US" sz="2000" b="1" dirty="0" err="1">
                <a:solidFill>
                  <a:srgbClr val="C00000"/>
                </a:solidFill>
              </a:rPr>
              <a:t>복합대입</a:t>
            </a:r>
            <a:r>
              <a:rPr lang="ko-KR" altLang="en-US" sz="2000" b="1" dirty="0">
                <a:solidFill>
                  <a:srgbClr val="C00000"/>
                </a:solidFill>
              </a:rPr>
              <a:t> 및 조건 연산자 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992561" y="1484784"/>
          <a:ext cx="8136903" cy="32308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40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14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+=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항의 값을 더해서 왼쪽 항에 대입합니다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+= 2;</a:t>
                      </a:r>
                    </a:p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=num+2</a:t>
                      </a:r>
                      <a:r>
                        <a:rPr lang="ko-KR" altLang="en-US" sz="1600" dirty="0"/>
                        <a:t>와 같음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-=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왼쪽 항에서 오른쪽 항을 빼서 그 값을 왼쪽</a:t>
                      </a:r>
                      <a:r>
                        <a:rPr lang="ko-KR" altLang="en-US" sz="1600" baseline="0" dirty="0"/>
                        <a:t> 항에 대입합니다</a:t>
                      </a:r>
                      <a:r>
                        <a:rPr lang="en-US" altLang="ko-KR" sz="1600" baseline="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-= 2;</a:t>
                      </a:r>
                    </a:p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=num-2</a:t>
                      </a:r>
                      <a:r>
                        <a:rPr lang="ko-KR" altLang="en-US" sz="1600" dirty="0"/>
                        <a:t>와 같음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*=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두 항의 값을 곱해서 왼쪽 항에 대입합니다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*= 2;</a:t>
                      </a:r>
                    </a:p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=</a:t>
                      </a:r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*2</a:t>
                      </a:r>
                      <a:r>
                        <a:rPr lang="ko-KR" altLang="en-US" sz="1600" dirty="0"/>
                        <a:t>와 같음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/=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왼쪽 항을 오른쪽 항으로 나누어 그 몫을 왼쪽 항에 대입합니다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/= 2;</a:t>
                      </a:r>
                    </a:p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=</a:t>
                      </a:r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/2</a:t>
                      </a:r>
                      <a:r>
                        <a:rPr lang="ko-KR" altLang="en-US" sz="1600" dirty="0"/>
                        <a:t>와 같음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37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%=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왼쪽 항을 오른쪽 항으로 나누어 그 나머지를 왼쪽 항에 대입합니다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baseline="0" dirty="0"/>
                        <a:t> %= 2;</a:t>
                      </a:r>
                    </a:p>
                    <a:p>
                      <a:pPr algn="l" latinLnBrk="1"/>
                      <a:r>
                        <a:rPr lang="en-US" altLang="ko-KR" sz="1600" dirty="0" err="1"/>
                        <a:t>num</a:t>
                      </a:r>
                      <a:r>
                        <a:rPr lang="en-US" altLang="ko-KR" sz="1600" dirty="0"/>
                        <a:t>=num%2</a:t>
                      </a:r>
                      <a:r>
                        <a:rPr lang="ko-KR" altLang="en-US" sz="1600" dirty="0"/>
                        <a:t>와 같음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92561" y="4886587"/>
          <a:ext cx="8136903" cy="118708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92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0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371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412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05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ko-KR" altLang="en-US" sz="1600" dirty="0" err="1"/>
                        <a:t>조건식</a:t>
                      </a:r>
                      <a:r>
                        <a:rPr lang="en-US" altLang="ko-KR" sz="1600" dirty="0"/>
                        <a:t>?</a:t>
                      </a:r>
                      <a:r>
                        <a:rPr lang="ko-KR" altLang="en-US" sz="1600" dirty="0"/>
                        <a:t>결과</a:t>
                      </a:r>
                      <a:r>
                        <a:rPr lang="en-US" altLang="ko-KR" sz="1600" dirty="0"/>
                        <a:t>1:</a:t>
                      </a:r>
                      <a:r>
                        <a:rPr lang="ko-KR" altLang="en-US" sz="1600" dirty="0"/>
                        <a:t>결과</a:t>
                      </a:r>
                      <a:r>
                        <a:rPr lang="en-US" altLang="ko-KR" sz="1600" dirty="0"/>
                        <a:t>2;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dirty="0"/>
                        <a:t>조건식이 참이면 결과</a:t>
                      </a:r>
                      <a:r>
                        <a:rPr lang="en-US" altLang="ko-KR" sz="1600" dirty="0"/>
                        <a:t>1, </a:t>
                      </a:r>
                      <a:r>
                        <a:rPr lang="ko-KR" altLang="en-US" sz="1600" dirty="0"/>
                        <a:t>조건식이 거짓이면 결과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가 선택됩니다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int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dirty="0" err="1">
                          <a:solidFill>
                            <a:schemeClr val="tx1"/>
                          </a:solidFill>
                        </a:rPr>
                        <a:t>num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 = (5&gt;3)?10:20;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410993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복합 대입 및 조건 연산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384376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복합 대입 및 조건 연산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592" y="1628800"/>
            <a:ext cx="6431840" cy="468052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0015695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비트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39981" y="1124744"/>
            <a:ext cx="3824987" cy="32491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비트 연산자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057773" y="1772816"/>
          <a:ext cx="8352927" cy="264804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58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64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13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기 능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 예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~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비트의 반전</a:t>
                      </a:r>
                      <a:r>
                        <a:rPr lang="en-US" altLang="ko-KR" sz="1600" dirty="0"/>
                        <a:t>(1</a:t>
                      </a:r>
                      <a:r>
                        <a:rPr lang="ko-KR" altLang="en-US" sz="1600" dirty="0"/>
                        <a:t>의 보수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a = ~a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&amp;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비트 단위 </a:t>
                      </a:r>
                      <a:r>
                        <a:rPr lang="en-US" altLang="ko-KR" sz="1600" dirty="0"/>
                        <a:t>AND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1 &amp; 1 -&gt; 1</a:t>
                      </a:r>
                      <a:r>
                        <a:rPr lang="ko-KR" altLang="en-US" sz="1600" dirty="0"/>
                        <a:t>을 반환</a:t>
                      </a:r>
                      <a:r>
                        <a:rPr lang="en-US" altLang="ko-KR" sz="1600" dirty="0"/>
                        <a:t>, </a:t>
                      </a:r>
                      <a:r>
                        <a:rPr lang="ko-KR" altLang="en-US" sz="1600" dirty="0"/>
                        <a:t>그 외는 </a:t>
                      </a:r>
                      <a:r>
                        <a:rPr lang="en-US" altLang="ko-KR" sz="1600" dirty="0"/>
                        <a:t>0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|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비트 단위 </a:t>
                      </a:r>
                      <a:r>
                        <a:rPr lang="en-US" altLang="ko-KR" sz="1600" dirty="0"/>
                        <a:t>OR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0</a:t>
                      </a:r>
                      <a:r>
                        <a:rPr lang="en-US" altLang="ko-KR" sz="1600" baseline="0" dirty="0"/>
                        <a:t> | 0 -&gt; 0</a:t>
                      </a:r>
                      <a:r>
                        <a:rPr lang="ko-KR" altLang="en-US" sz="1600" baseline="0" dirty="0"/>
                        <a:t>을 반환</a:t>
                      </a:r>
                      <a:r>
                        <a:rPr lang="en-US" altLang="ko-KR" sz="1600" baseline="0" dirty="0"/>
                        <a:t>, </a:t>
                      </a:r>
                      <a:r>
                        <a:rPr lang="ko-KR" altLang="en-US" sz="1600" baseline="0" dirty="0"/>
                        <a:t>그 외는 </a:t>
                      </a:r>
                      <a:r>
                        <a:rPr lang="en-US" altLang="ko-KR" sz="1600" baseline="0" dirty="0"/>
                        <a:t>1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&lt;&lt;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왼쪽 </a:t>
                      </a:r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a&lt;&lt;2 </a:t>
                      </a:r>
                      <a:r>
                        <a:rPr lang="ko-KR" altLang="en-US" sz="1600" dirty="0"/>
                        <a:t>변수 </a:t>
                      </a:r>
                      <a:r>
                        <a:rPr lang="en-US" altLang="ko-KR" sz="1600" dirty="0"/>
                        <a:t>a</a:t>
                      </a:r>
                      <a:r>
                        <a:rPr lang="ko-KR" altLang="en-US" sz="1600" dirty="0"/>
                        <a:t>를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비트 만큼 왼쪽으로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13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&gt;&gt;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오른쪽 </a:t>
                      </a:r>
                      <a:r>
                        <a:rPr lang="en-US" altLang="ko-KR" sz="1600" dirty="0"/>
                        <a:t>shift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dirty="0"/>
                        <a:t>A&gt;&gt;2 </a:t>
                      </a:r>
                      <a:r>
                        <a:rPr lang="ko-KR" altLang="en-US" sz="1600" dirty="0"/>
                        <a:t>변수 </a:t>
                      </a:r>
                      <a:r>
                        <a:rPr lang="en-US" altLang="ko-KR" sz="1600" dirty="0"/>
                        <a:t>a</a:t>
                      </a:r>
                      <a:r>
                        <a:rPr lang="ko-KR" altLang="en-US" sz="1600" dirty="0"/>
                        <a:t>를 </a:t>
                      </a:r>
                      <a:r>
                        <a:rPr lang="en-US" altLang="ko-KR" sz="1600" dirty="0"/>
                        <a:t>2</a:t>
                      </a:r>
                      <a:r>
                        <a:rPr lang="ko-KR" altLang="en-US" sz="1600" dirty="0"/>
                        <a:t>비트 만큼 오른쪽으로 이동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698141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비트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67973" y="1196752"/>
            <a:ext cx="8937555" cy="46085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비트 논리연산자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US" altLang="ko-KR" sz="2000" b="1" dirty="0">
              <a:solidFill>
                <a:srgbClr val="C00000"/>
              </a:solidFill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비트 이동 연산자</a:t>
            </a:r>
            <a:endParaRPr lang="en-US" altLang="ko-KR" sz="2000" b="1" dirty="0">
              <a:solidFill>
                <a:srgbClr val="C00000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1231316" y="1755542"/>
            <a:ext cx="2929596" cy="1601450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int num1 = 5;</a:t>
            </a:r>
          </a:p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int num2 = 10;</a:t>
            </a:r>
          </a:p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int result = num1 &amp; num2;</a:t>
            </a:r>
            <a:endParaRPr lang="ko-KR" altLang="en-US" dirty="0">
              <a:latin typeface="+mn-ea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5236750" y="1770286"/>
            <a:ext cx="3316650" cy="1586706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   num1 : 0 0 0 0 0 1 0 1</a:t>
            </a:r>
          </a:p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&amp; num2 : 0 0 0 0 1 0 1 0</a:t>
            </a:r>
          </a:p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    result : 0 0 0 0 0 0 0 0</a:t>
            </a:r>
            <a:endParaRPr lang="ko-KR" altLang="en-US" dirty="0">
              <a:latin typeface="+mn-ea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5056630" y="2780928"/>
            <a:ext cx="3640786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직사각형 12"/>
          <p:cNvSpPr/>
          <p:nvPr/>
        </p:nvSpPr>
        <p:spPr>
          <a:xfrm>
            <a:off x="1739817" y="4687685"/>
            <a:ext cx="1912594" cy="1117579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int num = 5;</a:t>
            </a:r>
          </a:p>
          <a:p>
            <a:pPr>
              <a:lnSpc>
                <a:spcPct val="150000"/>
              </a:lnSpc>
            </a:pPr>
            <a:r>
              <a:rPr lang="en-US" altLang="ko-KR" dirty="0" err="1">
                <a:latin typeface="+mn-ea"/>
              </a:rPr>
              <a:t>num</a:t>
            </a:r>
            <a:r>
              <a:rPr lang="en-US" altLang="ko-KR" dirty="0">
                <a:latin typeface="+mn-ea"/>
              </a:rPr>
              <a:t> &lt;&lt; 2;</a:t>
            </a:r>
            <a:endParaRPr lang="pt-BR" altLang="ko-KR" dirty="0">
              <a:latin typeface="+mn-ea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4422491" y="4691314"/>
            <a:ext cx="3984423" cy="1090187"/>
          </a:xfrm>
          <a:prstGeom prst="rect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 num      : 0 0 0 0 0 1 0 1</a:t>
            </a:r>
          </a:p>
          <a:p>
            <a:pPr>
              <a:lnSpc>
                <a:spcPct val="150000"/>
              </a:lnSpc>
            </a:pPr>
            <a:r>
              <a:rPr lang="pt-BR" altLang="ko-KR" dirty="0">
                <a:latin typeface="+mn-ea"/>
              </a:rPr>
              <a:t> num&lt;&lt;2 : 0 0 1 0 1 0 0 0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5056630" y="4978625"/>
            <a:ext cx="1512168" cy="185775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sp>
        <p:nvSpPr>
          <p:cNvPr id="19" name="모서리가 둥근 직사각형 18"/>
          <p:cNvSpPr/>
          <p:nvPr/>
        </p:nvSpPr>
        <p:spPr>
          <a:xfrm>
            <a:off x="5056630" y="5236408"/>
            <a:ext cx="1236137" cy="195838"/>
          </a:xfrm>
          <a:prstGeom prst="round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758195" y="4141871"/>
            <a:ext cx="2664296" cy="349087"/>
          </a:xfrm>
          <a:prstGeom prst="roundRect">
            <a:avLst/>
          </a:prstGeom>
          <a:noFill/>
          <a:ln w="127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ysClr val="windowText" lastClr="000000"/>
                </a:solidFill>
              </a:rPr>
              <a:t>왼쪽으로 </a:t>
            </a:r>
            <a:r>
              <a:rPr lang="en-US" altLang="ko-KR" dirty="0">
                <a:solidFill>
                  <a:sysClr val="windowText" lastClr="000000"/>
                </a:solidFill>
              </a:rPr>
              <a:t>2</a:t>
            </a:r>
            <a:r>
              <a:rPr lang="ko-KR" altLang="en-US" dirty="0">
                <a:solidFill>
                  <a:sysClr val="windowText" lastClr="000000"/>
                </a:solidFill>
              </a:rPr>
              <a:t>자리 이동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 flipH="1">
            <a:off x="1799550" y="5949280"/>
            <a:ext cx="568234" cy="0"/>
          </a:xfrm>
          <a:prstGeom prst="straightConnector1">
            <a:avLst/>
          </a:prstGeom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직사각형 1"/>
          <p:cNvSpPr/>
          <p:nvPr/>
        </p:nvSpPr>
        <p:spPr>
          <a:xfrm>
            <a:off x="6895075" y="5255687"/>
            <a:ext cx="504056" cy="369220"/>
          </a:xfrm>
          <a:prstGeom prst="rect">
            <a:avLst/>
          </a:prstGeom>
          <a:noFill/>
          <a:ln w="1270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ko-KR" altLang="en-US"/>
          </a:p>
        </p:txBody>
      </p:sp>
      <p:sp>
        <p:nvSpPr>
          <p:cNvPr id="3" name="오른쪽 화살표 2"/>
          <p:cNvSpPr/>
          <p:nvPr/>
        </p:nvSpPr>
        <p:spPr>
          <a:xfrm>
            <a:off x="4389388" y="2354986"/>
            <a:ext cx="537964" cy="209917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오른쪽 화살표 20"/>
          <p:cNvSpPr/>
          <p:nvPr/>
        </p:nvSpPr>
        <p:spPr>
          <a:xfrm>
            <a:off x="3728864" y="5149245"/>
            <a:ext cx="537964" cy="209917"/>
          </a:xfrm>
          <a:prstGeom prst="right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84034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비트 연산자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8544" y="1124744"/>
            <a:ext cx="3384376" cy="3672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비트 연산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556792"/>
            <a:ext cx="5246090" cy="4752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97492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연산자 우선 순위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911988" y="1117536"/>
            <a:ext cx="7425388" cy="94331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 연산자 우선 순위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  </a:t>
            </a:r>
            <a:r>
              <a:rPr lang="ko-KR" altLang="en-US" sz="1800" dirty="0"/>
              <a:t>위쪽과 왼쪽이 우선 순위가 높음 </a:t>
            </a: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457200" lvl="1" indent="0">
              <a:buNone/>
            </a:pPr>
            <a:endParaRPr lang="en-US" altLang="ko-KR" sz="2000" dirty="0"/>
          </a:p>
          <a:p>
            <a:pPr marL="0" indent="0">
              <a:buNone/>
            </a:pPr>
            <a:endParaRPr lang="en-US" altLang="ko-KR" sz="2000" b="1" dirty="0">
              <a:solidFill>
                <a:srgbClr val="C00000"/>
              </a:solidFill>
            </a:endParaRPr>
          </a:p>
        </p:txBody>
      </p:sp>
      <p:graphicFrame>
        <p:nvGraphicFramePr>
          <p:cNvPr id="18" name="표 17"/>
          <p:cNvGraphicFramePr>
            <a:graphicFrameLocks noGrp="1"/>
          </p:cNvGraphicFramePr>
          <p:nvPr/>
        </p:nvGraphicFramePr>
        <p:xfrm>
          <a:off x="1640632" y="2060846"/>
          <a:ext cx="6120678" cy="36724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61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123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우선순위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형태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연산자</a:t>
                      </a:r>
                    </a:p>
                  </a:txBody>
                  <a:tcPr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1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일차식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( ) [ ]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2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단항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++ -- !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3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산술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% * / + -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4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비트이동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&lt;&lt;  &gt;&gt;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5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관계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&lt; &gt; == !=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6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비트 논리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&amp;</a:t>
                      </a:r>
                      <a:r>
                        <a:rPr lang="en-US" altLang="ko-KR" sz="1600" baseline="0" dirty="0"/>
                        <a:t> | ~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7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논리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&amp;&amp; || !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8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조건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? :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724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9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대입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/>
                        <a:t>= += -= *=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979587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입력 처리 </a:t>
            </a:r>
            <a:r>
              <a:rPr lang="en-US" altLang="ko-KR" dirty="0"/>
              <a:t>– Scanner </a:t>
            </a:r>
            <a:r>
              <a:rPr lang="ko-KR" altLang="en-US" dirty="0"/>
              <a:t>클래스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553287" y="1014181"/>
            <a:ext cx="7208025" cy="18387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   화면에서 입력하기 </a:t>
            </a:r>
            <a:r>
              <a:rPr lang="en-US" altLang="ko-KR" sz="2000" b="1" dirty="0">
                <a:solidFill>
                  <a:srgbClr val="C00000"/>
                </a:solidFill>
                <a:latin typeface="+mn-ea"/>
              </a:rPr>
              <a:t>- Scanner </a:t>
            </a:r>
            <a:r>
              <a:rPr lang="ko-KR" altLang="en-US" sz="2000" b="1" dirty="0">
                <a:solidFill>
                  <a:srgbClr val="C00000"/>
                </a:solidFill>
                <a:latin typeface="+mn-ea"/>
              </a:rPr>
              <a:t>클래스</a:t>
            </a:r>
            <a:endParaRPr lang="en-US" altLang="ko-KR" sz="2000" b="1" dirty="0">
              <a:solidFill>
                <a:srgbClr val="C00000"/>
              </a:solidFill>
              <a:latin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800" dirty="0"/>
              <a:t>문자</a:t>
            </a:r>
            <a:r>
              <a:rPr lang="en-US" altLang="ko-KR" sz="1800" dirty="0"/>
              <a:t>, </a:t>
            </a:r>
            <a:r>
              <a:rPr lang="ko-KR" altLang="en-US" sz="1800" dirty="0" err="1"/>
              <a:t>숫자등의</a:t>
            </a:r>
            <a:r>
              <a:rPr lang="ko-KR" altLang="en-US" sz="1800" dirty="0"/>
              <a:t> 자료를 표준 입력으로부터 읽어 들일 수 있다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1800" dirty="0" err="1"/>
              <a:t>Java.util</a:t>
            </a:r>
            <a:r>
              <a:rPr lang="en-US" altLang="ko-KR" sz="1800" dirty="0"/>
              <a:t> </a:t>
            </a:r>
            <a:r>
              <a:rPr lang="ko-KR" altLang="en-US" sz="1800" dirty="0"/>
              <a:t>패키지에 속해있어서 </a:t>
            </a:r>
            <a:r>
              <a:rPr lang="en-US" altLang="ko-KR" sz="1800" dirty="0"/>
              <a:t>import</a:t>
            </a:r>
            <a:r>
              <a:rPr lang="ko-KR" altLang="en-US" sz="1800" dirty="0"/>
              <a:t>해야 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1800" dirty="0" err="1"/>
              <a:t>종료시에</a:t>
            </a:r>
            <a:r>
              <a:rPr lang="ko-KR" altLang="en-US" sz="1800" dirty="0"/>
              <a:t> </a:t>
            </a:r>
            <a:r>
              <a:rPr lang="en-US" altLang="ko-KR" sz="1800" dirty="0"/>
              <a:t>close() </a:t>
            </a:r>
            <a:r>
              <a:rPr lang="ko-KR" altLang="en-US" sz="1800" dirty="0" err="1"/>
              <a:t>메서드를</a:t>
            </a:r>
            <a:r>
              <a:rPr lang="ko-KR" altLang="en-US" sz="1800" dirty="0"/>
              <a:t> 사용한다</a:t>
            </a:r>
            <a:r>
              <a:rPr lang="en-US" altLang="ko-KR" sz="1800" dirty="0"/>
              <a:t>. -&gt; </a:t>
            </a:r>
            <a:r>
              <a:rPr lang="en-US" altLang="ko-KR" sz="1800" dirty="0" err="1"/>
              <a:t>scanner.close</a:t>
            </a:r>
            <a:r>
              <a:rPr lang="en-US" altLang="ko-KR" sz="1800" dirty="0"/>
              <a:t>()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400" b="1" dirty="0">
              <a:solidFill>
                <a:srgbClr val="002060"/>
              </a:solidFill>
            </a:endParaRPr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0E5071F-8B27-48B4-967F-B36E96A59271}"/>
              </a:ext>
            </a:extLst>
          </p:cNvPr>
          <p:cNvSpPr/>
          <p:nvPr/>
        </p:nvSpPr>
        <p:spPr>
          <a:xfrm>
            <a:off x="1966933" y="3062238"/>
            <a:ext cx="5159560" cy="510778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anchor="ctr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/>
              <a:t>Scanner </a:t>
            </a:r>
            <a:r>
              <a:rPr lang="en-US" altLang="ko-KR" b="1" dirty="0" err="1"/>
              <a:t>scanner</a:t>
            </a:r>
            <a:r>
              <a:rPr lang="en-US" altLang="ko-KR" b="1" dirty="0"/>
              <a:t> = new Scanner(System.in)</a:t>
            </a: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1496616" y="3789040"/>
          <a:ext cx="7488832" cy="21602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07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1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메서드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설명</a:t>
                      </a:r>
                    </a:p>
                  </a:txBody>
                  <a:tcPr anchor="ctr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 err="1"/>
                        <a:t>int</a:t>
                      </a:r>
                      <a:r>
                        <a:rPr lang="en-US" altLang="ko-KR" sz="1800" dirty="0"/>
                        <a:t> </a:t>
                      </a:r>
                      <a:r>
                        <a:rPr lang="en-US" altLang="ko-KR" sz="1800" dirty="0" err="1"/>
                        <a:t>nextInt</a:t>
                      </a:r>
                      <a:r>
                        <a:rPr lang="en-US" altLang="ko-KR" sz="1800" dirty="0"/>
                        <a:t>()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 err="1"/>
                        <a:t>int</a:t>
                      </a:r>
                      <a:r>
                        <a:rPr lang="en-US" altLang="ko-KR" sz="1600" dirty="0"/>
                        <a:t> </a:t>
                      </a:r>
                      <a:r>
                        <a:rPr lang="ko-KR" altLang="en-US" sz="1600" dirty="0" err="1"/>
                        <a:t>자료형을</a:t>
                      </a:r>
                      <a:r>
                        <a:rPr lang="ko-KR" altLang="en-US" sz="1600" dirty="0"/>
                        <a:t> 읽습니다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/>
                        <a:t>double </a:t>
                      </a:r>
                      <a:r>
                        <a:rPr lang="en-US" altLang="ko-KR" sz="1800" dirty="0" err="1"/>
                        <a:t>nextDouble</a:t>
                      </a:r>
                      <a:r>
                        <a:rPr lang="en-US" altLang="ko-KR" sz="1800" dirty="0"/>
                        <a:t>()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600" dirty="0"/>
                        <a:t>double </a:t>
                      </a:r>
                      <a:r>
                        <a:rPr lang="ko-KR" altLang="en-US" sz="1600" dirty="0" err="1"/>
                        <a:t>자료형을</a:t>
                      </a:r>
                      <a:r>
                        <a:rPr lang="ko-KR" altLang="en-US" sz="1600" dirty="0"/>
                        <a:t> 읽습니다</a:t>
                      </a:r>
                      <a:r>
                        <a:rPr lang="en-US" altLang="ko-KR" sz="1600" dirty="0"/>
                        <a:t>.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800" dirty="0"/>
                        <a:t>String next()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600" dirty="0"/>
                        <a:t>문자열 </a:t>
                      </a:r>
                      <a:r>
                        <a:rPr lang="en-US" altLang="ko-KR" sz="1600" dirty="0"/>
                        <a:t>String</a:t>
                      </a:r>
                      <a:r>
                        <a:rPr lang="ko-KR" altLang="en-US" sz="1600" dirty="0"/>
                        <a:t>을 읽습니다</a:t>
                      </a:r>
                      <a:r>
                        <a:rPr lang="en-US" altLang="ko-KR" sz="1600" dirty="0"/>
                        <a:t>.(\n </a:t>
                      </a:r>
                      <a:r>
                        <a:rPr lang="ko-KR" altLang="en-US" sz="1600" dirty="0"/>
                        <a:t>버퍼에 남음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dirty="0"/>
                        <a:t>String</a:t>
                      </a:r>
                      <a:r>
                        <a:rPr lang="en-US" altLang="ko-KR" sz="1800" baseline="0" dirty="0"/>
                        <a:t> </a:t>
                      </a:r>
                      <a:r>
                        <a:rPr lang="en-US" altLang="ko-KR" sz="1800" baseline="0" dirty="0" err="1"/>
                        <a:t>nextLine</a:t>
                      </a:r>
                      <a:r>
                        <a:rPr lang="en-US" altLang="ko-KR" sz="1800" baseline="0" dirty="0"/>
                        <a:t>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/>
                        <a:t>문자열 </a:t>
                      </a:r>
                      <a:r>
                        <a:rPr lang="en-US" altLang="ko-KR" sz="1600" dirty="0"/>
                        <a:t>String</a:t>
                      </a:r>
                      <a:r>
                        <a:rPr lang="ko-KR" altLang="en-US" sz="1600" dirty="0"/>
                        <a:t>을 읽습니다</a:t>
                      </a:r>
                      <a:r>
                        <a:rPr lang="en-US" altLang="ko-KR" sz="1600" dirty="0"/>
                        <a:t>.(\n</a:t>
                      </a:r>
                      <a:r>
                        <a:rPr lang="ko-KR" altLang="en-US" sz="1600" dirty="0"/>
                        <a:t>을 포함</a:t>
                      </a:r>
                      <a:r>
                        <a:rPr lang="en-US" altLang="ko-KR" sz="1600" dirty="0"/>
                        <a:t>)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8073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Java API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669106" y="1124744"/>
            <a:ext cx="8388350" cy="86409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C00000"/>
                </a:solidFill>
              </a:rPr>
              <a:t>Java Document -&gt; Scanner </a:t>
            </a:r>
            <a:r>
              <a:rPr lang="ko-KR" altLang="en-US" sz="2000" b="1" dirty="0">
                <a:solidFill>
                  <a:srgbClr val="C00000"/>
                </a:solidFill>
              </a:rPr>
              <a:t>클래스 찾기</a:t>
            </a:r>
            <a:endParaRPr lang="en-US" altLang="ko-KR" sz="2000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altLang="ko-KR" sz="2000" b="1" dirty="0">
                <a:solidFill>
                  <a:srgbClr val="C00000"/>
                </a:solidFill>
              </a:rPr>
              <a:t>  </a:t>
            </a:r>
            <a:r>
              <a:rPr lang="ko-KR" altLang="en-US" sz="1800" dirty="0"/>
              <a:t>프로그램에서 데이터를 주고받기 위한 방법 등을 기술한 문서</a:t>
            </a:r>
            <a:endParaRPr lang="en-US" altLang="ko-KR" sz="18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608" y="2061756"/>
            <a:ext cx="5616624" cy="386761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1667770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4391" y="1630852"/>
            <a:ext cx="6322905" cy="46683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/>
              <a:t>입력 처리 </a:t>
            </a:r>
            <a:r>
              <a:rPr lang="en-US" altLang="ko-KR" dirty="0"/>
              <a:t>– Scanner </a:t>
            </a:r>
            <a:r>
              <a:rPr lang="ko-KR" altLang="en-US" dirty="0"/>
              <a:t>클래스</a:t>
            </a:r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41319" y="1014180"/>
            <a:ext cx="7208025" cy="54261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1800" dirty="0">
                <a:latin typeface="+mn-ea"/>
              </a:rPr>
              <a:t> </a:t>
            </a:r>
            <a:r>
              <a:rPr lang="en-US" altLang="ko-KR" sz="1800" dirty="0">
                <a:latin typeface="+mn-ea"/>
              </a:rPr>
              <a:t>Scanner </a:t>
            </a:r>
            <a:r>
              <a:rPr lang="ko-KR" altLang="en-US" sz="1800" dirty="0">
                <a:latin typeface="+mn-ea"/>
              </a:rPr>
              <a:t>클래스 사용하기</a:t>
            </a:r>
            <a:endParaRPr lang="en-US" altLang="ko-KR" sz="1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223127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상수</a:t>
            </a:r>
            <a:r>
              <a:rPr lang="en-US" altLang="ko-KR" dirty="0"/>
              <a:t>(Constant)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801464" y="1038537"/>
            <a:ext cx="8472016" cy="3974639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상수</a:t>
            </a:r>
            <a:r>
              <a:rPr lang="en-US" altLang="ko-KR" sz="2000" b="1" dirty="0">
                <a:solidFill>
                  <a:srgbClr val="C00000"/>
                </a:solidFill>
              </a:rPr>
              <a:t>(constant)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/>
              <a:t>상수</a:t>
            </a:r>
            <a:r>
              <a:rPr lang="ko-KR" altLang="en-US" sz="1800" dirty="0"/>
              <a:t> </a:t>
            </a:r>
            <a:r>
              <a:rPr lang="en-US" altLang="ko-KR" sz="1800" dirty="0"/>
              <a:t>: </a:t>
            </a:r>
            <a:r>
              <a:rPr lang="ko-KR" altLang="en-US" sz="1800" dirty="0"/>
              <a:t>변하지 않는 값</a:t>
            </a:r>
            <a:r>
              <a:rPr lang="en-US" altLang="ko-KR" sz="1800" dirty="0"/>
              <a:t>(1</a:t>
            </a:r>
            <a:r>
              <a:rPr lang="ko-KR" altLang="en-US" sz="1800" dirty="0"/>
              <a:t>년은 </a:t>
            </a:r>
            <a:r>
              <a:rPr lang="en-US" altLang="ko-KR" sz="1800" dirty="0"/>
              <a:t>12</a:t>
            </a:r>
            <a:r>
              <a:rPr lang="ko-KR" altLang="en-US" sz="1800" dirty="0"/>
              <a:t>개월</a:t>
            </a:r>
            <a:r>
              <a:rPr lang="en-US" altLang="ko-KR" sz="1800" dirty="0"/>
              <a:t>, </a:t>
            </a:r>
            <a:r>
              <a:rPr lang="ko-KR" altLang="en-US" sz="1800" dirty="0"/>
              <a:t>원주율은 </a:t>
            </a:r>
            <a:r>
              <a:rPr lang="en-US" altLang="ko-KR" sz="1800" dirty="0"/>
              <a:t>3.14 </a:t>
            </a:r>
            <a:r>
              <a:rPr lang="ko-KR" altLang="en-US" sz="1800" dirty="0"/>
              <a:t>등</a:t>
            </a:r>
            <a:r>
              <a:rPr lang="en-US" altLang="ko-KR" sz="1800" dirty="0"/>
              <a:t>)</a:t>
            </a:r>
          </a:p>
          <a:p>
            <a:pPr lvl="1">
              <a:lnSpc>
                <a:spcPct val="150000"/>
              </a:lnSpc>
            </a:pPr>
            <a:r>
              <a:rPr lang="ko-KR" altLang="en-US" sz="1800" b="1" dirty="0"/>
              <a:t>상수 선언하기 </a:t>
            </a:r>
            <a:r>
              <a:rPr lang="en-US" altLang="ko-KR" sz="1800" dirty="0"/>
              <a:t>: </a:t>
            </a:r>
            <a:r>
              <a:rPr lang="en-US" altLang="ko-KR" sz="1800" b="1" dirty="0">
                <a:solidFill>
                  <a:srgbClr val="C00000"/>
                </a:solidFill>
              </a:rPr>
              <a:t>final</a:t>
            </a:r>
            <a:r>
              <a:rPr lang="en-US" altLang="ko-KR" sz="1800" dirty="0"/>
              <a:t> </a:t>
            </a:r>
            <a:r>
              <a:rPr lang="ko-KR" altLang="en-US" sz="1800" dirty="0"/>
              <a:t>키워드 사용</a:t>
            </a:r>
            <a:r>
              <a:rPr lang="en-US" altLang="ko-KR" sz="1800" dirty="0"/>
              <a:t>, </a:t>
            </a:r>
            <a:r>
              <a:rPr lang="ko-KR" altLang="en-US" sz="1800" dirty="0"/>
              <a:t>대문자 사용</a:t>
            </a:r>
            <a:r>
              <a:rPr lang="en-US" altLang="ko-KR" sz="1800" dirty="0"/>
              <a:t>(</a:t>
            </a:r>
            <a:r>
              <a:rPr lang="ko-KR" altLang="en-US" sz="1800" dirty="0"/>
              <a:t>관례</a:t>
            </a:r>
            <a:r>
              <a:rPr lang="en-US" altLang="ko-KR" sz="1800" dirty="0"/>
              <a:t>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   </a:t>
            </a:r>
            <a:r>
              <a:rPr lang="en-US" altLang="ko-KR" sz="1800" dirty="0">
                <a:solidFill>
                  <a:srgbClr val="C00000"/>
                </a:solidFill>
              </a:rPr>
              <a:t>final</a:t>
            </a:r>
            <a:r>
              <a:rPr lang="en-US" altLang="ko-KR" sz="1800" dirty="0"/>
              <a:t> double PI = 3.14;</a:t>
            </a:r>
          </a:p>
          <a:p>
            <a:pPr marL="457200" lvl="1" indent="0">
              <a:lnSpc>
                <a:spcPct val="150000"/>
              </a:lnSpc>
              <a:buNone/>
            </a:pPr>
            <a:endParaRPr lang="en-US" altLang="ko-KR" sz="1800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   </a:t>
            </a:r>
            <a:r>
              <a:rPr lang="en-US" altLang="ko-KR" sz="1800" u="sng" dirty="0"/>
              <a:t>final</a:t>
            </a:r>
            <a:r>
              <a:rPr lang="ko-KR" altLang="en-US" sz="1800" u="sng" dirty="0"/>
              <a:t>로 선언된 상수는 다른 값을 대입할 수 없음</a:t>
            </a:r>
            <a:endParaRPr lang="en-US" altLang="ko-KR" sz="1800" u="sng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z="1800" dirty="0"/>
              <a:t>   PI = 3.15  //</a:t>
            </a:r>
            <a:r>
              <a:rPr lang="ko-KR" altLang="en-US" sz="1800" dirty="0">
                <a:solidFill>
                  <a:srgbClr val="C00000"/>
                </a:solidFill>
              </a:rPr>
              <a:t>에러</a:t>
            </a:r>
            <a:endParaRPr lang="en-US" altLang="ko-KR" sz="1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04676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상수와 </a:t>
            </a:r>
            <a:r>
              <a:rPr lang="ko-KR" altLang="en-US" dirty="0" err="1"/>
              <a:t>리터럴</a:t>
            </a:r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98AF3A4E-7D90-4241-89FE-799D6F9D5A94}"/>
              </a:ext>
            </a:extLst>
          </p:cNvPr>
          <p:cNvSpPr txBox="1">
            <a:spLocks/>
          </p:cNvSpPr>
          <p:nvPr/>
        </p:nvSpPr>
        <p:spPr>
          <a:xfrm>
            <a:off x="793447" y="1124744"/>
            <a:ext cx="3384376" cy="50405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2000" b="1" dirty="0">
                <a:solidFill>
                  <a:srgbClr val="C00000"/>
                </a:solidFill>
              </a:rPr>
              <a:t>상수 실습 예제</a:t>
            </a:r>
            <a:r>
              <a:rPr lang="ko-KR" altLang="en-US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endParaRPr lang="en-US" altLang="ko-K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600" y="1617129"/>
            <a:ext cx="5033597" cy="46916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24736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0" y="-18256"/>
            <a:ext cx="6537176" cy="85496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속도 </a:t>
            </a:r>
            <a:r>
              <a:rPr lang="en-US" altLang="ko-KR" dirty="0"/>
              <a:t>KM</a:t>
            </a:r>
            <a:r>
              <a:rPr lang="ko-KR" altLang="en-US" dirty="0"/>
              <a:t>를 마일로 변환하는 프로그램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60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14"/>
          <a:stretch/>
        </p:blipFill>
        <p:spPr>
          <a:xfrm>
            <a:off x="1866054" y="3861048"/>
            <a:ext cx="6130059" cy="205760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050" name="Picture 2" descr="류현진 토론토 입성할 듯…&amp;quot;토론토 구단, 선수들에게 이동 요청&amp;quot; | 연합뉴스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1078699"/>
            <a:ext cx="3168352" cy="2610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42371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0" y="-18256"/>
            <a:ext cx="6609184" cy="854968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 </a:t>
            </a:r>
            <a:r>
              <a:rPr lang="ko-KR" altLang="en-US" dirty="0"/>
              <a:t>속도 </a:t>
            </a:r>
            <a:r>
              <a:rPr lang="en-US" altLang="ko-KR" dirty="0"/>
              <a:t>KM</a:t>
            </a:r>
            <a:r>
              <a:rPr lang="ko-KR" altLang="en-US" dirty="0"/>
              <a:t>를 마일로 변환하는 프로그램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3591C5-7AF4-47AD-9A2A-53484BA45A9B}"/>
              </a:ext>
            </a:extLst>
          </p:cNvPr>
          <p:cNvSpPr txBox="1"/>
          <p:nvPr/>
        </p:nvSpPr>
        <p:spPr>
          <a:xfrm>
            <a:off x="992560" y="1052736"/>
            <a:ext cx="4243883" cy="5078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/>
              <a:t>◈ 속도 </a:t>
            </a:r>
            <a:r>
              <a:rPr lang="en-US" altLang="ko-KR" dirty="0"/>
              <a:t>KM</a:t>
            </a:r>
            <a:r>
              <a:rPr lang="ko-KR" altLang="en-US" dirty="0"/>
              <a:t>를 마일로 바꾸는 프로그램 </a:t>
            </a:r>
            <a:endParaRPr lang="en-US" altLang="ko-KR" dirty="0"/>
          </a:p>
        </p:txBody>
      </p:sp>
      <p:pic>
        <p:nvPicPr>
          <p:cNvPr id="10" name="그림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269" y="1700808"/>
            <a:ext cx="6351728" cy="43924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104" y="1916831"/>
            <a:ext cx="3888432" cy="5425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1141305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 </a:t>
            </a:r>
            <a:r>
              <a:rPr lang="ko-KR" altLang="en-US" b="1" dirty="0" err="1"/>
              <a:t>실습문제</a:t>
            </a:r>
            <a:r>
              <a:rPr lang="ko-KR" altLang="en-US" b="1" dirty="0"/>
              <a:t> </a:t>
            </a:r>
            <a:r>
              <a:rPr lang="en-US" altLang="ko-KR" b="1" dirty="0"/>
              <a:t>1 – </a:t>
            </a:r>
            <a:r>
              <a:rPr lang="ko-KR" altLang="en-US" b="1" dirty="0"/>
              <a:t>몫과 나머지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62</a:t>
            </a:fld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848544" y="1159584"/>
            <a:ext cx="84153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</a:t>
            </a:r>
            <a:r>
              <a:rPr lang="ko-KR" altLang="en-US" dirty="0"/>
              <a:t>빵 </a:t>
            </a:r>
            <a:r>
              <a:rPr lang="en-US" altLang="ko-KR" dirty="0"/>
              <a:t>25</a:t>
            </a:r>
            <a:r>
              <a:rPr lang="ko-KR" altLang="en-US" dirty="0"/>
              <a:t>개를 </a:t>
            </a:r>
            <a:r>
              <a:rPr lang="en-US" altLang="ko-KR" dirty="0"/>
              <a:t>4</a:t>
            </a:r>
            <a:r>
              <a:rPr lang="ko-KR" altLang="en-US" dirty="0"/>
              <a:t>명이 나눠 가질 경우 각자의 몫과 남은 빵의 개수를 구하시오</a:t>
            </a:r>
            <a:r>
              <a:rPr lang="en-US" altLang="ko-KR" dirty="0"/>
              <a:t>.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   (</a:t>
            </a:r>
            <a:r>
              <a:rPr lang="ko-KR" altLang="en-US" dirty="0"/>
              <a:t>파일 이름</a:t>
            </a:r>
            <a:r>
              <a:rPr lang="en-US" altLang="ko-KR" dirty="0"/>
              <a:t> :  Bread.java)</a:t>
            </a:r>
          </a:p>
          <a:p>
            <a:r>
              <a:rPr lang="en-US" altLang="ko-KR" dirty="0"/>
              <a:t>--------------------------------------------------------------------------------------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640632" y="280231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☞ 실행 결과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9330" y="3356992"/>
            <a:ext cx="2162477" cy="68589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5042809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5"/>
          <p:cNvSpPr txBox="1">
            <a:spLocks/>
          </p:cNvSpPr>
          <p:nvPr/>
        </p:nvSpPr>
        <p:spPr>
          <a:xfrm>
            <a:off x="0" y="-27384"/>
            <a:ext cx="6321151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/>
              <a:t> </a:t>
            </a:r>
            <a:r>
              <a:rPr lang="ko-KR" altLang="en-US" dirty="0" err="1"/>
              <a:t>실습문제</a:t>
            </a:r>
            <a:r>
              <a:rPr lang="ko-KR" altLang="en-US" dirty="0"/>
              <a:t> </a:t>
            </a:r>
            <a:r>
              <a:rPr lang="en-US" altLang="ko-KR" dirty="0"/>
              <a:t>2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조건 연산자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920552" y="1124744"/>
            <a:ext cx="8199288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-----------------------------------------------------------------------------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/>
              <a:t>  숫자를 </a:t>
            </a:r>
            <a:r>
              <a:rPr lang="ko-KR" altLang="en-US" dirty="0" err="1"/>
              <a:t>입력받아</a:t>
            </a:r>
            <a:r>
              <a:rPr lang="ko-KR" altLang="en-US" dirty="0"/>
              <a:t> 홀수</a:t>
            </a:r>
            <a:r>
              <a:rPr lang="en-US" altLang="ko-KR" dirty="0"/>
              <a:t>/</a:t>
            </a:r>
            <a:r>
              <a:rPr lang="ko-KR" altLang="en-US" dirty="0"/>
              <a:t>짝수를 판별하는 프로그램을 작성하세요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(</a:t>
            </a:r>
            <a:r>
              <a:rPr lang="ko-KR" altLang="en-US" dirty="0"/>
              <a:t>힌트</a:t>
            </a:r>
            <a:r>
              <a:rPr lang="en-US" altLang="ko-KR" dirty="0"/>
              <a:t>: </a:t>
            </a:r>
            <a:r>
              <a:rPr lang="ko-KR" altLang="en-US" dirty="0"/>
              <a:t>조건 연산자 활용</a:t>
            </a:r>
            <a:r>
              <a:rPr lang="en-US" altLang="ko-KR" dirty="0"/>
              <a:t>, </a:t>
            </a:r>
            <a:r>
              <a:rPr lang="ko-KR" altLang="en-US" dirty="0"/>
              <a:t>파일이름</a:t>
            </a:r>
            <a:r>
              <a:rPr lang="en-US" altLang="ko-KR" dirty="0"/>
              <a:t>: EvenOdd.java)</a:t>
            </a:r>
            <a:r>
              <a:rPr lang="ko-KR" altLang="en-US" dirty="0"/>
              <a:t>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-----------------------------------------------------------------------------</a:t>
            </a:r>
            <a:endParaRPr lang="ko-KR" alt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784648" y="2924944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☞ 실행 결과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672" y="3542174"/>
            <a:ext cx="3162741" cy="63826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40706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3505</TotalTime>
  <Words>3255</Words>
  <Application>Microsoft Office PowerPoint</Application>
  <PresentationFormat>A4 용지(210x297mm)</PresentationFormat>
  <Paragraphs>784</Paragraphs>
  <Slides>63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63</vt:i4>
      </vt:variant>
    </vt:vector>
  </HeadingPairs>
  <TitlesOfParts>
    <vt:vector size="71" baseType="lpstr">
      <vt:lpstr>HY헤드라인M</vt:lpstr>
      <vt:lpstr>맑은 고딕</vt:lpstr>
      <vt:lpstr>휴먼모음T</vt:lpstr>
      <vt:lpstr>휴먼엑스포</vt:lpstr>
      <vt:lpstr>Arial</vt:lpstr>
      <vt:lpstr>Cambria Math</vt:lpstr>
      <vt:lpstr>Wingdings</vt:lpstr>
      <vt:lpstr>Office 테마</vt:lpstr>
      <vt:lpstr>1장. 자바(Java) 환경 구축 및 기본문법</vt:lpstr>
      <vt:lpstr> 프로그래밍과 자바</vt:lpstr>
      <vt:lpstr> 자바란?</vt:lpstr>
      <vt:lpstr> 자바(Java)로 개발한 프로그램</vt:lpstr>
      <vt:lpstr> 자바 가상 머신(JVM)</vt:lpstr>
      <vt:lpstr> 자바(Java) 언어</vt:lpstr>
      <vt:lpstr> 자바 개발 환경 구축</vt:lpstr>
      <vt:lpstr> 자바 개발 환경 구축</vt:lpstr>
      <vt:lpstr> 자바 개발 환경 구축</vt:lpstr>
      <vt:lpstr> 이클립스(Eclipse) IDE 설치</vt:lpstr>
      <vt:lpstr>  프로젝트 만들기</vt:lpstr>
      <vt:lpstr> 첫번째 패키지 만들기</vt:lpstr>
      <vt:lpstr> 첫번째 클래스 만들기</vt:lpstr>
      <vt:lpstr> 첫번째 클래스 만들기</vt:lpstr>
      <vt:lpstr> 첫번째 클래스 만들기</vt:lpstr>
      <vt:lpstr> 컴파일과 빌드</vt:lpstr>
      <vt:lpstr> 주석 , 블록, 세미콜론(;)</vt:lpstr>
      <vt:lpstr> 주석 , 블록, 세미콜론(;)</vt:lpstr>
      <vt:lpstr>  데이터(data) 출력하기</vt:lpstr>
      <vt:lpstr>  System 클래스</vt:lpstr>
      <vt:lpstr> 연습 문제 </vt:lpstr>
      <vt:lpstr> 변수</vt:lpstr>
      <vt:lpstr> 변수 사용하기</vt:lpstr>
      <vt:lpstr> 변수 사용하기</vt:lpstr>
      <vt:lpstr> 자료형(Data Type)</vt:lpstr>
      <vt:lpstr> 자료형(Data Type)</vt:lpstr>
      <vt:lpstr> 정수 자료형</vt:lpstr>
      <vt:lpstr> 숫자 자료형 실습</vt:lpstr>
      <vt:lpstr> 문자 자료형</vt:lpstr>
      <vt:lpstr> 문자 자료형</vt:lpstr>
      <vt:lpstr> 문자 자료형</vt:lpstr>
      <vt:lpstr> 문자 자료형</vt:lpstr>
      <vt:lpstr> 아스키 코드 vs 유니코드</vt:lpstr>
      <vt:lpstr> 아스키 코드 vs 유니코드</vt:lpstr>
      <vt:lpstr> 논리형 자료형</vt:lpstr>
      <vt:lpstr> 형 변환(Type Conversion)</vt:lpstr>
      <vt:lpstr> 형 변환(Type Conversion)</vt:lpstr>
      <vt:lpstr> 형 변환(Type Conversion)</vt:lpstr>
      <vt:lpstr> 컴퓨터에서 데이터 표현하기</vt:lpstr>
      <vt:lpstr> 컴퓨터에서 데이터 표현하기</vt:lpstr>
      <vt:lpstr> 부호 있는 수를 표현하는 방법</vt:lpstr>
      <vt:lpstr> 부호 있는 수를 표현하는 방법</vt:lpstr>
      <vt:lpstr> 대입 및 부호 연산자</vt:lpstr>
      <vt:lpstr> 산술 연산자</vt:lpstr>
      <vt:lpstr> 산술 연산</vt:lpstr>
      <vt:lpstr> 산술 연산</vt:lpstr>
      <vt:lpstr> 관계(비교) 및 논리 연산자</vt:lpstr>
      <vt:lpstr> 비교 및 논리 연산</vt:lpstr>
      <vt:lpstr> 복합대입 및 조건 연산자</vt:lpstr>
      <vt:lpstr> 복합 대입 및 조건 연산</vt:lpstr>
      <vt:lpstr> 비트 연산자</vt:lpstr>
      <vt:lpstr> 비트 연산자</vt:lpstr>
      <vt:lpstr> 비트 연산자</vt:lpstr>
      <vt:lpstr> 연산자 우선 순위</vt:lpstr>
      <vt:lpstr>PowerPoint 프레젠테이션</vt:lpstr>
      <vt:lpstr> Java API</vt:lpstr>
      <vt:lpstr>PowerPoint 프레젠테이션</vt:lpstr>
      <vt:lpstr> 상수(Constant)</vt:lpstr>
      <vt:lpstr> 상수와 리터럴</vt:lpstr>
      <vt:lpstr> 속도 KM를 마일로 변환하는 프로그램</vt:lpstr>
      <vt:lpstr> 속도 KM를 마일로 변환하는 프로그램</vt:lpstr>
      <vt:lpstr> 실습문제 1 – 몫과 나머지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giyong kim</cp:lastModifiedBy>
  <cp:revision>205</cp:revision>
  <dcterms:created xsi:type="dcterms:W3CDTF">2019-03-04T02:36:55Z</dcterms:created>
  <dcterms:modified xsi:type="dcterms:W3CDTF">2026-07-28T06:07:31Z</dcterms:modified>
</cp:coreProperties>
</file>