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323" r:id="rId26"/>
    <p:sldId id="324" r:id="rId27"/>
    <p:sldId id="325" r:id="rId28"/>
    <p:sldId id="328" r:id="rId29"/>
    <p:sldId id="326" r:id="rId30"/>
    <p:sldId id="327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322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4660"/>
  </p:normalViewPr>
  <p:slideViewPr>
    <p:cSldViewPr>
      <p:cViewPr varScale="1">
        <p:scale>
          <a:sx n="81" d="100"/>
          <a:sy n="81" d="100"/>
        </p:scale>
        <p:origin x="859" y="6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856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433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5071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2026-07-30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8</a:t>
            </a:r>
            <a:r>
              <a:rPr lang="ko-KR" altLang="en-US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36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컬렉션 프레임워크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400" dirty="0">
                <a:solidFill>
                  <a:schemeClr val="bg1"/>
                </a:solidFill>
              </a:rPr>
              <a:t> </a:t>
            </a:r>
            <a:r>
              <a:rPr lang="en-US" altLang="ko-KR" sz="2000" i="1" dirty="0">
                <a:solidFill>
                  <a:schemeClr val="bg1"/>
                </a:solidFill>
              </a:rPr>
              <a:t>List,</a:t>
            </a:r>
            <a:r>
              <a:rPr lang="ko-KR" altLang="en-US" sz="2000" i="1" dirty="0">
                <a:solidFill>
                  <a:schemeClr val="bg1"/>
                </a:solidFill>
              </a:rPr>
              <a:t> </a:t>
            </a:r>
            <a:r>
              <a:rPr lang="en-US" altLang="ko-KR" sz="2000" i="1" dirty="0">
                <a:solidFill>
                  <a:schemeClr val="bg1"/>
                </a:solidFill>
              </a:rPr>
              <a:t>Set,</a:t>
            </a:r>
            <a:r>
              <a:rPr lang="ko-KR" altLang="en-US" sz="2000" i="1" dirty="0">
                <a:solidFill>
                  <a:schemeClr val="bg1"/>
                </a:solidFill>
              </a:rPr>
              <a:t> </a:t>
            </a:r>
            <a:r>
              <a:rPr lang="en-US" altLang="ko-KR" sz="2000" i="1" dirty="0">
                <a:solidFill>
                  <a:schemeClr val="bg1"/>
                </a:solidFill>
              </a:rPr>
              <a:t>Map</a:t>
            </a:r>
            <a:endParaRPr lang="ko-KR" altLang="en-US" sz="18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제네릭</a:t>
            </a:r>
            <a:r>
              <a:rPr lang="en-US" altLang="ko-KR" dirty="0"/>
              <a:t>(Generic)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1098975"/>
            <a:ext cx="2664296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제네릭</a:t>
            </a:r>
            <a:r>
              <a:rPr lang="ko-KR" altLang="en-US" sz="2000" b="1" dirty="0">
                <a:solidFill>
                  <a:srgbClr val="C00000"/>
                </a:solidFill>
              </a:rPr>
              <a:t> 프로그래밍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dirty="0">
              <a:solidFill>
                <a:srgbClr val="00206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211186" y="1587825"/>
            <a:ext cx="770225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n-ea"/>
              </a:rPr>
              <a:t>어떤 값이 하나의 </a:t>
            </a:r>
            <a:r>
              <a:rPr lang="ko-KR" altLang="en-US" sz="1600" b="1" dirty="0" err="1">
                <a:latin typeface="+mn-ea"/>
              </a:rPr>
              <a:t>자료형이</a:t>
            </a:r>
            <a:r>
              <a:rPr lang="ko-KR" altLang="en-US" sz="1600" b="1" dirty="0">
                <a:latin typeface="+mn-ea"/>
              </a:rPr>
              <a:t> 아닌 여러 </a:t>
            </a:r>
            <a:r>
              <a:rPr lang="ko-KR" altLang="en-US" sz="1600" b="1" dirty="0" err="1">
                <a:latin typeface="+mn-ea"/>
              </a:rPr>
              <a:t>자료형을</a:t>
            </a:r>
            <a:r>
              <a:rPr lang="ko-KR" altLang="en-US" sz="1600" b="1" dirty="0">
                <a:latin typeface="+mn-ea"/>
              </a:rPr>
              <a:t> 사용할 수 있도록  프로그래밍 하는 것</a:t>
            </a:r>
            <a:r>
              <a:rPr lang="en-US" altLang="ko-KR" sz="1600" b="1" dirty="0">
                <a:latin typeface="+mn-ea"/>
              </a:rPr>
              <a:t>.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Java 5</a:t>
            </a:r>
            <a:r>
              <a:rPr lang="ko-KR" altLang="en-US" sz="1600" dirty="0">
                <a:latin typeface="+mn-ea"/>
              </a:rPr>
              <a:t>부터 </a:t>
            </a:r>
            <a:r>
              <a:rPr lang="ko-KR" altLang="en-US" sz="1600" dirty="0" err="1">
                <a:latin typeface="+mn-ea"/>
              </a:rPr>
              <a:t>제네릭</a:t>
            </a:r>
            <a:r>
              <a:rPr lang="en-US" altLang="ko-KR" sz="1600" dirty="0">
                <a:latin typeface="+mn-ea"/>
              </a:rPr>
              <a:t>(Generic) </a:t>
            </a:r>
            <a:r>
              <a:rPr lang="ko-KR" altLang="en-US" sz="1600" dirty="0">
                <a:latin typeface="+mn-ea"/>
              </a:rPr>
              <a:t>타입이 새로 추가되었는데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제네릭</a:t>
            </a:r>
            <a:r>
              <a:rPr lang="ko-KR" altLang="en-US" sz="1600" dirty="0">
                <a:latin typeface="+mn-ea"/>
              </a:rPr>
              <a:t> 타입을 이용함으로써 잘못된 타입이 사용될 수 있는 문제를 </a:t>
            </a:r>
            <a:r>
              <a:rPr lang="ko-KR" altLang="en-US" sz="1600" dirty="0">
                <a:solidFill>
                  <a:srgbClr val="C00000"/>
                </a:solidFill>
                <a:latin typeface="+mn-ea"/>
              </a:rPr>
              <a:t>컴파일 과정에서 제거</a:t>
            </a:r>
            <a:r>
              <a:rPr lang="ko-KR" altLang="en-US" sz="1600" dirty="0">
                <a:latin typeface="+mn-ea"/>
              </a:rPr>
              <a:t>할 수 있게 되었다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      </a:t>
            </a:r>
            <a:r>
              <a:rPr lang="ko-KR" altLang="en-US" sz="1600" dirty="0">
                <a:latin typeface="+mn-ea"/>
              </a:rPr>
              <a:t>또한</a:t>
            </a:r>
            <a:r>
              <a:rPr lang="en-US" altLang="ko-KR" sz="1600" dirty="0">
                <a:latin typeface="+mn-ea"/>
              </a:rPr>
              <a:t>, </a:t>
            </a:r>
            <a:r>
              <a:rPr lang="ko-KR" altLang="en-US" sz="1600" dirty="0" err="1">
                <a:latin typeface="+mn-ea"/>
              </a:rPr>
              <a:t>비제네릭</a:t>
            </a:r>
            <a:r>
              <a:rPr lang="ko-KR" altLang="en-US" sz="1600" dirty="0">
                <a:latin typeface="+mn-ea"/>
              </a:rPr>
              <a:t> 코드는 불필요한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solidFill>
                  <a:srgbClr val="C00000"/>
                </a:solidFill>
                <a:latin typeface="+mn-ea"/>
              </a:rPr>
              <a:t>타입 변환</a:t>
            </a:r>
            <a:r>
              <a:rPr lang="ko-KR" altLang="en-US" sz="1600" dirty="0">
                <a:latin typeface="+mn-ea"/>
              </a:rPr>
              <a:t>을 하므로 프로그램 성능에 악영향</a:t>
            </a:r>
            <a:endParaRPr lang="en-US" altLang="ko-KR" sz="1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+mn-ea"/>
              </a:rPr>
              <a:t>      </a:t>
            </a:r>
            <a:r>
              <a:rPr lang="ko-KR" altLang="en-US" sz="1600" dirty="0">
                <a:latin typeface="+mn-ea"/>
              </a:rPr>
              <a:t>을 미친다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+mn-ea"/>
              </a:rPr>
              <a:t>‘</a:t>
            </a:r>
            <a:r>
              <a:rPr lang="ko-KR" altLang="en-US" sz="1600" b="1" dirty="0">
                <a:latin typeface="+mn-ea"/>
              </a:rPr>
              <a:t>컬렉션 프레임워크</a:t>
            </a:r>
            <a:r>
              <a:rPr lang="en-US" altLang="ko-KR" sz="1600" b="1" dirty="0">
                <a:latin typeface="+mn-ea"/>
              </a:rPr>
              <a:t>(</a:t>
            </a:r>
            <a:r>
              <a:rPr lang="ko-KR" altLang="en-US" sz="1600" b="1" dirty="0">
                <a:latin typeface="+mn-ea"/>
              </a:rPr>
              <a:t>자료구조</a:t>
            </a:r>
            <a:r>
              <a:rPr lang="en-US" altLang="ko-KR" sz="1600" b="1" dirty="0">
                <a:latin typeface="+mn-ea"/>
              </a:rPr>
              <a:t>)</a:t>
            </a:r>
            <a:r>
              <a:rPr lang="en-US" altLang="ko-KR" sz="1600" dirty="0">
                <a:latin typeface="+mn-ea"/>
              </a:rPr>
              <a:t>’</a:t>
            </a:r>
            <a:r>
              <a:rPr lang="ko-KR" altLang="en-US" sz="1600" dirty="0">
                <a:latin typeface="+mn-ea"/>
              </a:rPr>
              <a:t>도 많은 부분이 </a:t>
            </a:r>
            <a:r>
              <a:rPr lang="ko-KR" altLang="en-US" sz="1600" dirty="0" err="1">
                <a:latin typeface="+mn-ea"/>
              </a:rPr>
              <a:t>제네릭으로</a:t>
            </a:r>
            <a:r>
              <a:rPr lang="ko-KR" altLang="en-US" sz="1600" dirty="0">
                <a:latin typeface="+mn-ea"/>
              </a:rPr>
              <a:t> 구현되어 있다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504728" y="5186210"/>
            <a:ext cx="4135905" cy="55399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public class </a:t>
            </a:r>
            <a:r>
              <a:rPr lang="ko-KR" altLang="en-US" sz="2000" b="1" dirty="0" err="1">
                <a:latin typeface="+mn-ea"/>
              </a:rPr>
              <a:t>클래스명</a:t>
            </a: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&lt;T&gt;</a:t>
            </a:r>
            <a:r>
              <a:rPr lang="en-US" altLang="ko-KR" sz="2000" b="1" dirty="0">
                <a:latin typeface="+mn-ea"/>
              </a:rPr>
              <a:t>{….}</a:t>
            </a:r>
          </a:p>
        </p:txBody>
      </p:sp>
    </p:spTree>
    <p:extLst>
      <p:ext uri="{BB962C8B-B14F-4D97-AF65-F5344CB8AC3E}">
        <p14:creationId xmlns:p14="http://schemas.microsoft.com/office/powerpoint/2010/main" val="2061121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제네릭</a:t>
            </a:r>
            <a:r>
              <a:rPr lang="en-US" altLang="ko-KR" dirty="0"/>
              <a:t>(Generic)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4801" y="980728"/>
            <a:ext cx="3002095" cy="5215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rgbClr val="C00000"/>
                </a:solidFill>
              </a:rPr>
              <a:t> 제네릭 타입 정의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424608" y="1430800"/>
            <a:ext cx="67687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+mn-ea"/>
              </a:rPr>
              <a:t>제네릭</a:t>
            </a:r>
            <a:r>
              <a:rPr lang="ko-KR" altLang="en-US" sz="1600" dirty="0">
                <a:latin typeface="+mn-ea"/>
              </a:rPr>
              <a:t> 타입은 </a:t>
            </a:r>
            <a:r>
              <a:rPr lang="ko-KR" altLang="en-US" sz="1600" b="1" dirty="0">
                <a:latin typeface="+mn-ea"/>
              </a:rPr>
              <a:t>타입</a:t>
            </a:r>
            <a:r>
              <a:rPr lang="en-US" altLang="ko-KR" sz="1600" b="1" dirty="0">
                <a:latin typeface="+mn-ea"/>
              </a:rPr>
              <a:t>(type)</a:t>
            </a:r>
            <a:r>
              <a:rPr lang="ko-KR" altLang="en-US" sz="1600" b="1" dirty="0">
                <a:latin typeface="+mn-ea"/>
              </a:rPr>
              <a:t>을 </a:t>
            </a:r>
            <a:r>
              <a:rPr lang="ko-KR" altLang="en-US" sz="1600" b="1" dirty="0" err="1">
                <a:latin typeface="+mn-ea"/>
              </a:rPr>
              <a:t>파라미터</a:t>
            </a:r>
            <a:r>
              <a:rPr lang="ko-KR" altLang="en-US" sz="1600" dirty="0" err="1">
                <a:latin typeface="+mn-ea"/>
              </a:rPr>
              <a:t>로</a:t>
            </a:r>
            <a:r>
              <a:rPr lang="ko-KR" altLang="en-US" sz="1600" dirty="0">
                <a:latin typeface="+mn-ea"/>
              </a:rPr>
              <a:t> 가지는 클래스를 말한다</a:t>
            </a:r>
            <a:r>
              <a:rPr lang="en-US" altLang="ko-KR" sz="1600" dirty="0">
                <a:latin typeface="+mn-ea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760" y="2096382"/>
            <a:ext cx="3609618" cy="33006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268" y="2096381"/>
            <a:ext cx="3550251" cy="33006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61130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제네릭</a:t>
            </a:r>
            <a:r>
              <a:rPr lang="en-US" altLang="ko-KR" dirty="0"/>
              <a:t>(Generic)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4801" y="980728"/>
            <a:ext cx="3002095" cy="5215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rgbClr val="C00000"/>
                </a:solidFill>
              </a:rPr>
              <a:t> 제네릭 타입 테스트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200" y="4365104"/>
            <a:ext cx="1388195" cy="7920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624" y="1568468"/>
            <a:ext cx="4896544" cy="47408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438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제네릭</a:t>
            </a:r>
            <a:r>
              <a:rPr lang="en-US" altLang="ko-KR" dirty="0"/>
              <a:t>(Generic)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4801" y="980728"/>
            <a:ext cx="3002095" cy="5215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비제네릭</a:t>
            </a:r>
            <a:r>
              <a:rPr lang="ko-KR" altLang="en-US" sz="2000" b="1" dirty="0">
                <a:solidFill>
                  <a:srgbClr val="C00000"/>
                </a:solidFill>
              </a:rPr>
              <a:t> 타입 정의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46310"/>
            <a:ext cx="4171466" cy="34388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63960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제네릭</a:t>
            </a:r>
            <a:r>
              <a:rPr lang="en-US" altLang="ko-KR" dirty="0"/>
              <a:t>(Generic)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4801" y="980728"/>
            <a:ext cx="3002095" cy="5215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비제네릭</a:t>
            </a:r>
            <a:r>
              <a:rPr lang="ko-KR" altLang="en-US" sz="2000" b="1" dirty="0">
                <a:solidFill>
                  <a:srgbClr val="C00000"/>
                </a:solidFill>
              </a:rPr>
              <a:t> 타입 테스트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556792"/>
            <a:ext cx="6912768" cy="463355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0819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제네릭</a:t>
            </a:r>
            <a:r>
              <a:rPr lang="en-US" altLang="ko-KR" dirty="0"/>
              <a:t>(Generic)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4801" y="980728"/>
            <a:ext cx="5018319" cy="5215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멀티타입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파라미터</a:t>
            </a:r>
            <a:r>
              <a:rPr lang="en-US" altLang="ko-KR" sz="2000" b="1" dirty="0">
                <a:solidFill>
                  <a:srgbClr val="C00000"/>
                </a:solidFill>
              </a:rPr>
              <a:t> – class&lt;K, V&gt;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1527798"/>
            <a:ext cx="3600400" cy="47935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1323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제네릭</a:t>
            </a:r>
            <a:r>
              <a:rPr lang="en-US" altLang="ko-KR" dirty="0"/>
              <a:t>(Generic)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4801" y="980728"/>
            <a:ext cx="5018319" cy="5215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멀티타입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파라미터</a:t>
            </a:r>
            <a:r>
              <a:rPr lang="en-US" altLang="ko-KR" sz="2000" b="1" dirty="0">
                <a:solidFill>
                  <a:srgbClr val="C00000"/>
                </a:solidFill>
              </a:rPr>
              <a:t> – class&lt;K, V&gt;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75328"/>
            <a:ext cx="4643934" cy="14656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736" y="3429000"/>
            <a:ext cx="5029983" cy="158417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51649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제네릭</a:t>
            </a:r>
            <a:r>
              <a:rPr lang="en-US" altLang="ko-KR" dirty="0"/>
              <a:t>(Generic)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14801" y="980728"/>
            <a:ext cx="5018319" cy="5215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멀티타입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파라미터</a:t>
            </a:r>
            <a:r>
              <a:rPr lang="en-US" altLang="ko-KR" sz="2000" b="1" dirty="0">
                <a:solidFill>
                  <a:srgbClr val="C00000"/>
                </a:solidFill>
              </a:rPr>
              <a:t> – class&lt;K, V&gt;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16101"/>
            <a:ext cx="5400600" cy="48212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972" y="4509120"/>
            <a:ext cx="2388869" cy="9477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36584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컬렉션 프레임워크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908720"/>
            <a:ext cx="8541423" cy="18973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1800" b="1" dirty="0">
                <a:solidFill>
                  <a:srgbClr val="C00000"/>
                </a:solidFill>
              </a:rPr>
              <a:t>Collection </a:t>
            </a:r>
            <a:r>
              <a:rPr lang="ko-KR" altLang="en-US" sz="1800" b="1" dirty="0">
                <a:solidFill>
                  <a:srgbClr val="C00000"/>
                </a:solidFill>
              </a:rPr>
              <a:t>프레임워크</a:t>
            </a:r>
            <a:endParaRPr lang="en-US" altLang="ko-KR" sz="1800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+mn-ea"/>
              </a:rPr>
              <a:t>프로그램 구현에 필요한 자료구조</a:t>
            </a:r>
            <a:r>
              <a:rPr lang="en-US" altLang="ko-KR" sz="1600" dirty="0">
                <a:latin typeface="+mn-ea"/>
              </a:rPr>
              <a:t>(Data Structure)</a:t>
            </a:r>
            <a:r>
              <a:rPr lang="ko-KR" altLang="en-US" sz="1600" dirty="0">
                <a:latin typeface="+mn-ea"/>
              </a:rPr>
              <a:t>를 구현해 놓은 라이브러리이다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>
                <a:latin typeface="+mn-ea"/>
              </a:rPr>
              <a:t>프로그램 실행 중 메모리에 자료를 유지</a:t>
            </a:r>
            <a:r>
              <a:rPr lang="en-US" altLang="ko-KR" sz="1600" dirty="0">
                <a:latin typeface="+mn-ea"/>
              </a:rPr>
              <a:t>. </a:t>
            </a:r>
            <a:r>
              <a:rPr lang="ko-KR" altLang="en-US" sz="1600" dirty="0">
                <a:latin typeface="+mn-ea"/>
              </a:rPr>
              <a:t>관리하기 위해 사용한다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java.util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패키지에 구현되어 있음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개발에 소요되는 시간을 절약하면서 최적화 된 알고리즘을 사용할 수 있음</a:t>
            </a:r>
            <a:endParaRPr lang="en-US" altLang="ko-KR" sz="18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2899790"/>
            <a:ext cx="8541423" cy="10801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java.util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패키지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altLang="ko-KR" sz="1600" dirty="0" err="1">
                <a:latin typeface="+mn-ea"/>
              </a:rPr>
              <a:t>java.util.ArrayList</a:t>
            </a:r>
            <a:r>
              <a:rPr lang="en-US" altLang="ko-KR" sz="1600" dirty="0">
                <a:latin typeface="+mn-ea"/>
              </a:rPr>
              <a:t> // </a:t>
            </a:r>
            <a:r>
              <a:rPr lang="en-US" altLang="ko-KR" sz="1600" dirty="0" err="1">
                <a:latin typeface="+mn-ea"/>
              </a:rPr>
              <a:t>java.util.HashMap</a:t>
            </a: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의 위치하는 곳은 어디일까</a:t>
            </a:r>
            <a:r>
              <a:rPr lang="en-US" altLang="ko-KR" sz="1600" dirty="0">
                <a:latin typeface="+mn-ea"/>
              </a:rPr>
              <a:t>?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748" y="3933056"/>
            <a:ext cx="6408712" cy="198101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08361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컬렉션 프레임워크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951721"/>
            <a:ext cx="7533311" cy="17571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Collection </a:t>
            </a:r>
            <a:r>
              <a:rPr lang="ko-KR" altLang="en-US" sz="2000" b="1" dirty="0">
                <a:solidFill>
                  <a:srgbClr val="C00000"/>
                </a:solidFill>
              </a:rPr>
              <a:t>인터페이스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altLang="ko-KR" sz="18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하나의 객체를 관리하기 위한 </a:t>
            </a:r>
            <a:r>
              <a:rPr lang="ko-KR" altLang="en-US" sz="1600" dirty="0" err="1">
                <a:latin typeface="+mn-ea"/>
              </a:rPr>
              <a:t>메서드가</a:t>
            </a:r>
            <a:r>
              <a:rPr lang="ko-KR" altLang="en-US" sz="1600" dirty="0">
                <a:latin typeface="+mn-ea"/>
              </a:rPr>
              <a:t> 선언된 인터페이스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하위에 </a:t>
            </a:r>
            <a:r>
              <a:rPr lang="en-US" altLang="ko-KR" sz="1600" dirty="0">
                <a:latin typeface="+mn-ea"/>
              </a:rPr>
              <a:t>List</a:t>
            </a:r>
            <a:r>
              <a:rPr lang="ko-KR" altLang="en-US" sz="1600" dirty="0">
                <a:latin typeface="+mn-ea"/>
              </a:rPr>
              <a:t>와 </a:t>
            </a:r>
            <a:r>
              <a:rPr lang="en-US" altLang="ko-KR" sz="1600" dirty="0">
                <a:latin typeface="+mn-ea"/>
              </a:rPr>
              <a:t>Set </a:t>
            </a:r>
            <a:r>
              <a:rPr lang="ko-KR" altLang="en-US" sz="1600" dirty="0">
                <a:latin typeface="+mn-ea"/>
              </a:rPr>
              <a:t>인터페이스가 있음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여러 클래스들이 </a:t>
            </a:r>
            <a:r>
              <a:rPr lang="en-US" altLang="ko-KR" sz="1600" dirty="0">
                <a:latin typeface="+mn-ea"/>
              </a:rPr>
              <a:t>Collection </a:t>
            </a:r>
            <a:r>
              <a:rPr lang="ko-KR" altLang="en-US" sz="1600" dirty="0">
                <a:latin typeface="+mn-ea"/>
              </a:rPr>
              <a:t>인터페이스를 구현함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880" y="2510243"/>
            <a:ext cx="6480720" cy="34855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56709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컬렉션 프레임워크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8" name="사각형: 둥근 모서리 4">
            <a:extLst>
              <a:ext uri="{FF2B5EF4-FFF2-40B4-BE49-F238E27FC236}">
                <a16:creationId xmlns:a16="http://schemas.microsoft.com/office/drawing/2014/main" id="{84C4B354-85EF-4DA3-8B17-84C4B242A4CB}"/>
              </a:ext>
            </a:extLst>
          </p:cNvPr>
          <p:cNvSpPr/>
          <p:nvPr/>
        </p:nvSpPr>
        <p:spPr>
          <a:xfrm>
            <a:off x="1779198" y="1494001"/>
            <a:ext cx="1510279" cy="45540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Collection</a:t>
            </a:r>
          </a:p>
        </p:txBody>
      </p:sp>
      <p:sp>
        <p:nvSpPr>
          <p:cNvPr id="9" name="사각형: 둥근 모서리 6">
            <a:extLst>
              <a:ext uri="{FF2B5EF4-FFF2-40B4-BE49-F238E27FC236}">
                <a16:creationId xmlns:a16="http://schemas.microsoft.com/office/drawing/2014/main" id="{E4D5CFA4-6B59-4848-8995-34DCF0A43056}"/>
              </a:ext>
            </a:extLst>
          </p:cNvPr>
          <p:cNvSpPr/>
          <p:nvPr/>
        </p:nvSpPr>
        <p:spPr>
          <a:xfrm>
            <a:off x="776536" y="2515785"/>
            <a:ext cx="1434196" cy="455402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List</a:t>
            </a: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0" name="사각형: 둥근 모서리 8">
            <a:extLst>
              <a:ext uri="{FF2B5EF4-FFF2-40B4-BE49-F238E27FC236}">
                <a16:creationId xmlns:a16="http://schemas.microsoft.com/office/drawing/2014/main" id="{FAE1A408-89FD-4725-8078-AC1333BCC9F6}"/>
              </a:ext>
            </a:extLst>
          </p:cNvPr>
          <p:cNvSpPr/>
          <p:nvPr/>
        </p:nvSpPr>
        <p:spPr>
          <a:xfrm>
            <a:off x="3013805" y="2509567"/>
            <a:ext cx="1342500" cy="455402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Set</a:t>
            </a: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9E51979-72A5-496C-943E-4CDEE98DA116}"/>
              </a:ext>
            </a:extLst>
          </p:cNvPr>
          <p:cNvGrpSpPr/>
          <p:nvPr/>
        </p:nvGrpSpPr>
        <p:grpSpPr>
          <a:xfrm>
            <a:off x="2415535" y="1973877"/>
            <a:ext cx="123760" cy="371053"/>
            <a:chOff x="4022240" y="4146776"/>
            <a:chExt cx="164428" cy="628486"/>
          </a:xfrm>
        </p:grpSpPr>
        <p:sp>
          <p:nvSpPr>
            <p:cNvPr id="12" name="이등변 삼각형 11">
              <a:extLst>
                <a:ext uri="{FF2B5EF4-FFF2-40B4-BE49-F238E27FC236}">
                  <a16:creationId xmlns:a16="http://schemas.microsoft.com/office/drawing/2014/main" id="{6A12914B-9073-4C0E-8ACE-6FED961BB88B}"/>
                </a:ext>
              </a:extLst>
            </p:cNvPr>
            <p:cNvSpPr/>
            <p:nvPr/>
          </p:nvSpPr>
          <p:spPr>
            <a:xfrm>
              <a:off x="4022240" y="4146776"/>
              <a:ext cx="164428" cy="165165"/>
            </a:xfrm>
            <a:prstGeom prst="triangl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B29AB9C5-0427-46B7-BF90-A52C3B90231B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 flipH="1">
              <a:off x="4102218" y="4311941"/>
              <a:ext cx="2236" cy="463321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E7A5CE62-58A6-4A74-82EF-6AED4C3ACE07}"/>
              </a:ext>
            </a:extLst>
          </p:cNvPr>
          <p:cNvSpPr/>
          <p:nvPr/>
        </p:nvSpPr>
        <p:spPr>
          <a:xfrm>
            <a:off x="1493634" y="2347959"/>
            <a:ext cx="2144396" cy="188966"/>
          </a:xfrm>
          <a:custGeom>
            <a:avLst/>
            <a:gdLst>
              <a:gd name="connsiteX0" fmla="*/ 0 w 3338818"/>
              <a:gd name="connsiteY0" fmla="*/ 243280 h 285225"/>
              <a:gd name="connsiteX1" fmla="*/ 0 w 3338818"/>
              <a:gd name="connsiteY1" fmla="*/ 0 h 285225"/>
              <a:gd name="connsiteX2" fmla="*/ 3330429 w 3338818"/>
              <a:gd name="connsiteY2" fmla="*/ 0 h 285225"/>
              <a:gd name="connsiteX3" fmla="*/ 3338818 w 3338818"/>
              <a:gd name="connsiteY3" fmla="*/ 285225 h 28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8818" h="285225">
                <a:moveTo>
                  <a:pt x="0" y="243280"/>
                </a:moveTo>
                <a:lnTo>
                  <a:pt x="0" y="0"/>
                </a:lnTo>
                <a:lnTo>
                  <a:pt x="3330429" y="0"/>
                </a:lnTo>
                <a:lnTo>
                  <a:pt x="3338818" y="285225"/>
                </a:lnTo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15" name="사각형: 둥근 모서리 15">
            <a:extLst>
              <a:ext uri="{FF2B5EF4-FFF2-40B4-BE49-F238E27FC236}">
                <a16:creationId xmlns:a16="http://schemas.microsoft.com/office/drawing/2014/main" id="{0859C65F-4BBF-4F38-BF2B-299C461E7345}"/>
              </a:ext>
            </a:extLst>
          </p:cNvPr>
          <p:cNvSpPr/>
          <p:nvPr/>
        </p:nvSpPr>
        <p:spPr>
          <a:xfrm>
            <a:off x="1628149" y="3224280"/>
            <a:ext cx="1246705" cy="45540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ArrayList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사각형: 둥근 모서리 17">
            <a:extLst>
              <a:ext uri="{FF2B5EF4-FFF2-40B4-BE49-F238E27FC236}">
                <a16:creationId xmlns:a16="http://schemas.microsoft.com/office/drawing/2014/main" id="{DEDD4075-0208-4C64-AEEA-E80C66544DCD}"/>
              </a:ext>
            </a:extLst>
          </p:cNvPr>
          <p:cNvSpPr/>
          <p:nvPr/>
        </p:nvSpPr>
        <p:spPr>
          <a:xfrm>
            <a:off x="1628149" y="3783015"/>
            <a:ext cx="1246705" cy="455402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Vector</a:t>
            </a: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7" name="사각형: 둥근 모서리 18">
            <a:extLst>
              <a:ext uri="{FF2B5EF4-FFF2-40B4-BE49-F238E27FC236}">
                <a16:creationId xmlns:a16="http://schemas.microsoft.com/office/drawing/2014/main" id="{84BAF207-3C37-4EF9-9140-0E39205D3E2C}"/>
              </a:ext>
            </a:extLst>
          </p:cNvPr>
          <p:cNvSpPr/>
          <p:nvPr/>
        </p:nvSpPr>
        <p:spPr>
          <a:xfrm>
            <a:off x="1628149" y="4341750"/>
            <a:ext cx="1246705" cy="455402"/>
          </a:xfrm>
          <a:prstGeom prst="roundRect">
            <a:avLst/>
          </a:prstGeom>
          <a:noFill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LinkedList</a:t>
            </a: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사각형: 둥근 모서리 26">
            <a:extLst>
              <a:ext uri="{FF2B5EF4-FFF2-40B4-BE49-F238E27FC236}">
                <a16:creationId xmlns:a16="http://schemas.microsoft.com/office/drawing/2014/main" id="{97A92353-43D7-40E7-B089-EC8039693D69}"/>
              </a:ext>
            </a:extLst>
          </p:cNvPr>
          <p:cNvSpPr/>
          <p:nvPr/>
        </p:nvSpPr>
        <p:spPr>
          <a:xfrm>
            <a:off x="3817675" y="3224280"/>
            <a:ext cx="1246705" cy="45540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HashSet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9" name="사각형: 둥근 모서리 27">
            <a:extLst>
              <a:ext uri="{FF2B5EF4-FFF2-40B4-BE49-F238E27FC236}">
                <a16:creationId xmlns:a16="http://schemas.microsoft.com/office/drawing/2014/main" id="{D37510F9-5125-44CD-B068-A285F3284FCD}"/>
              </a:ext>
            </a:extLst>
          </p:cNvPr>
          <p:cNvSpPr/>
          <p:nvPr/>
        </p:nvSpPr>
        <p:spPr>
          <a:xfrm>
            <a:off x="3817675" y="3783015"/>
            <a:ext cx="1246705" cy="455402"/>
          </a:xfrm>
          <a:prstGeom prst="roundRect">
            <a:avLst/>
          </a:prstGeom>
          <a:noFill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TreeSet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69833E59-2BFA-4068-B788-B2619A500805}"/>
              </a:ext>
            </a:extLst>
          </p:cNvPr>
          <p:cNvSpPr/>
          <p:nvPr/>
        </p:nvSpPr>
        <p:spPr>
          <a:xfrm>
            <a:off x="1251921" y="3065027"/>
            <a:ext cx="139902" cy="101691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A8B79DF-361C-485E-8080-AD624D81CEF6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321872" y="3166718"/>
            <a:ext cx="0" cy="1455034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A97CE8F-CB9B-4765-88F5-59430662E984}"/>
              </a:ext>
            </a:extLst>
          </p:cNvPr>
          <p:cNvCxnSpPr>
            <a:endCxn id="15" idx="1"/>
          </p:cNvCxnSpPr>
          <p:nvPr/>
        </p:nvCxnSpPr>
        <p:spPr>
          <a:xfrm>
            <a:off x="1321872" y="3451981"/>
            <a:ext cx="306277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F0167490-B5D2-4CBE-893D-704B6E881639}"/>
              </a:ext>
            </a:extLst>
          </p:cNvPr>
          <p:cNvCxnSpPr/>
          <p:nvPr/>
        </p:nvCxnSpPr>
        <p:spPr>
          <a:xfrm>
            <a:off x="1321872" y="4014765"/>
            <a:ext cx="306277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21663BC-0022-4F8E-8132-D1F8AD20B2D1}"/>
              </a:ext>
            </a:extLst>
          </p:cNvPr>
          <p:cNvCxnSpPr/>
          <p:nvPr/>
        </p:nvCxnSpPr>
        <p:spPr>
          <a:xfrm>
            <a:off x="1321872" y="4618134"/>
            <a:ext cx="306277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이등변 삼각형 24">
            <a:extLst>
              <a:ext uri="{FF2B5EF4-FFF2-40B4-BE49-F238E27FC236}">
                <a16:creationId xmlns:a16="http://schemas.microsoft.com/office/drawing/2014/main" id="{EEC538A2-1A61-42C7-B3F1-0B19B57B8B56}"/>
              </a:ext>
            </a:extLst>
          </p:cNvPr>
          <p:cNvSpPr/>
          <p:nvPr/>
        </p:nvSpPr>
        <p:spPr>
          <a:xfrm>
            <a:off x="3433059" y="3090978"/>
            <a:ext cx="139902" cy="101691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957D0F5-FADF-448F-B628-40F844200BC8}"/>
              </a:ext>
            </a:extLst>
          </p:cNvPr>
          <p:cNvCxnSpPr>
            <a:cxnSpLocks/>
            <a:stCxn id="25" idx="3"/>
          </p:cNvCxnSpPr>
          <p:nvPr/>
        </p:nvCxnSpPr>
        <p:spPr>
          <a:xfrm>
            <a:off x="3503010" y="3192669"/>
            <a:ext cx="0" cy="848047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047D485-FE5B-4EE4-B13A-86AD3B70A3A9}"/>
              </a:ext>
            </a:extLst>
          </p:cNvPr>
          <p:cNvCxnSpPr/>
          <p:nvPr/>
        </p:nvCxnSpPr>
        <p:spPr>
          <a:xfrm>
            <a:off x="3503010" y="3477932"/>
            <a:ext cx="306277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0E6807D-AF31-4D56-B579-5CBB6A93E100}"/>
              </a:ext>
            </a:extLst>
          </p:cNvPr>
          <p:cNvCxnSpPr/>
          <p:nvPr/>
        </p:nvCxnSpPr>
        <p:spPr>
          <a:xfrm>
            <a:off x="3503010" y="4040716"/>
            <a:ext cx="306277" cy="0"/>
          </a:xfrm>
          <a:prstGeom prst="line">
            <a:avLst/>
          </a:prstGeom>
          <a:ln w="1270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사각형: 둥근 모서리 4">
            <a:extLst>
              <a:ext uri="{FF2B5EF4-FFF2-40B4-BE49-F238E27FC236}">
                <a16:creationId xmlns:a16="http://schemas.microsoft.com/office/drawing/2014/main" id="{84C4B354-85EF-4DA3-8B17-84C4B242A4CB}"/>
              </a:ext>
            </a:extLst>
          </p:cNvPr>
          <p:cNvSpPr/>
          <p:nvPr/>
        </p:nvSpPr>
        <p:spPr>
          <a:xfrm>
            <a:off x="6768381" y="2492896"/>
            <a:ext cx="1510279" cy="45540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Map</a:t>
            </a:r>
          </a:p>
        </p:txBody>
      </p:sp>
      <p:sp>
        <p:nvSpPr>
          <p:cNvPr id="31" name="사각형: 둥근 모서리 6">
            <a:extLst>
              <a:ext uri="{FF2B5EF4-FFF2-40B4-BE49-F238E27FC236}">
                <a16:creationId xmlns:a16="http://schemas.microsoft.com/office/drawing/2014/main" id="{E4D5CFA4-6B59-4848-8995-34DCF0A43056}"/>
              </a:ext>
            </a:extLst>
          </p:cNvPr>
          <p:cNvSpPr/>
          <p:nvPr/>
        </p:nvSpPr>
        <p:spPr>
          <a:xfrm>
            <a:off x="5457056" y="3514680"/>
            <a:ext cx="1311325" cy="455402"/>
          </a:xfrm>
          <a:prstGeom prst="round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Hashtable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2" name="사각형: 둥근 모서리 8">
            <a:extLst>
              <a:ext uri="{FF2B5EF4-FFF2-40B4-BE49-F238E27FC236}">
                <a16:creationId xmlns:a16="http://schemas.microsoft.com/office/drawing/2014/main" id="{FAE1A408-89FD-4725-8078-AC1333BCC9F6}"/>
              </a:ext>
            </a:extLst>
          </p:cNvPr>
          <p:cNvSpPr/>
          <p:nvPr/>
        </p:nvSpPr>
        <p:spPr>
          <a:xfrm>
            <a:off x="8481392" y="3508462"/>
            <a:ext cx="1224136" cy="455402"/>
          </a:xfrm>
          <a:prstGeom prst="roundRect">
            <a:avLst/>
          </a:prstGeom>
          <a:noFill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TreeMap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89E51979-72A5-496C-943E-4CDEE98DA116}"/>
              </a:ext>
            </a:extLst>
          </p:cNvPr>
          <p:cNvGrpSpPr/>
          <p:nvPr/>
        </p:nvGrpSpPr>
        <p:grpSpPr>
          <a:xfrm>
            <a:off x="7493536" y="2972772"/>
            <a:ext cx="123760" cy="563048"/>
            <a:chOff x="4022240" y="4146776"/>
            <a:chExt cx="164428" cy="628486"/>
          </a:xfrm>
        </p:grpSpPr>
        <p:sp>
          <p:nvSpPr>
            <p:cNvPr id="34" name="이등변 삼각형 33">
              <a:extLst>
                <a:ext uri="{FF2B5EF4-FFF2-40B4-BE49-F238E27FC236}">
                  <a16:creationId xmlns:a16="http://schemas.microsoft.com/office/drawing/2014/main" id="{6A12914B-9073-4C0E-8ACE-6FED961BB88B}"/>
                </a:ext>
              </a:extLst>
            </p:cNvPr>
            <p:cNvSpPr/>
            <p:nvPr/>
          </p:nvSpPr>
          <p:spPr>
            <a:xfrm>
              <a:off x="4022240" y="4146776"/>
              <a:ext cx="164428" cy="165165"/>
            </a:xfrm>
            <a:prstGeom prst="triangl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B29AB9C5-0427-46B7-BF90-A52C3B90231B}"/>
                </a:ext>
              </a:extLst>
            </p:cNvPr>
            <p:cNvCxnSpPr>
              <a:cxnSpLocks/>
              <a:stCxn id="34" idx="3"/>
            </p:cNvCxnSpPr>
            <p:nvPr/>
          </p:nvCxnSpPr>
          <p:spPr>
            <a:xfrm flipH="1">
              <a:off x="4102218" y="4311941"/>
              <a:ext cx="2236" cy="463321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36" name="자유형: 도형 13">
            <a:extLst>
              <a:ext uri="{FF2B5EF4-FFF2-40B4-BE49-F238E27FC236}">
                <a16:creationId xmlns:a16="http://schemas.microsoft.com/office/drawing/2014/main" id="{E7A5CE62-58A6-4A74-82EF-6AED4C3ACE07}"/>
              </a:ext>
            </a:extLst>
          </p:cNvPr>
          <p:cNvSpPr/>
          <p:nvPr/>
        </p:nvSpPr>
        <p:spPr>
          <a:xfrm>
            <a:off x="6112718" y="3328280"/>
            <a:ext cx="2944737" cy="207540"/>
          </a:xfrm>
          <a:custGeom>
            <a:avLst/>
            <a:gdLst>
              <a:gd name="connsiteX0" fmla="*/ 0 w 3338818"/>
              <a:gd name="connsiteY0" fmla="*/ 243280 h 285225"/>
              <a:gd name="connsiteX1" fmla="*/ 0 w 3338818"/>
              <a:gd name="connsiteY1" fmla="*/ 0 h 285225"/>
              <a:gd name="connsiteX2" fmla="*/ 3330429 w 3338818"/>
              <a:gd name="connsiteY2" fmla="*/ 0 h 285225"/>
              <a:gd name="connsiteX3" fmla="*/ 3338818 w 3338818"/>
              <a:gd name="connsiteY3" fmla="*/ 285225 h 28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38818" h="285225">
                <a:moveTo>
                  <a:pt x="0" y="243280"/>
                </a:moveTo>
                <a:lnTo>
                  <a:pt x="0" y="0"/>
                </a:lnTo>
                <a:lnTo>
                  <a:pt x="3330429" y="0"/>
                </a:lnTo>
                <a:lnTo>
                  <a:pt x="3338818" y="285225"/>
                </a:lnTo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ysClr val="windowText" lastClr="000000"/>
              </a:solidFill>
            </a:endParaRPr>
          </a:p>
        </p:txBody>
      </p:sp>
      <p:sp>
        <p:nvSpPr>
          <p:cNvPr id="39" name="사각형: 둥근 모서리 6">
            <a:extLst>
              <a:ext uri="{FF2B5EF4-FFF2-40B4-BE49-F238E27FC236}">
                <a16:creationId xmlns:a16="http://schemas.microsoft.com/office/drawing/2014/main" id="{E4D5CFA4-6B59-4848-8995-34DCF0A43056}"/>
              </a:ext>
            </a:extLst>
          </p:cNvPr>
          <p:cNvSpPr/>
          <p:nvPr/>
        </p:nvSpPr>
        <p:spPr>
          <a:xfrm>
            <a:off x="6954043" y="3514680"/>
            <a:ext cx="1239317" cy="45540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HashMap</a:t>
            </a:r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865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컬렉션 프레임워크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13</a:t>
            </a:fld>
            <a:endParaRPr lang="ko-KR" altLang="en-US"/>
          </a:p>
        </p:txBody>
      </p: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87908839-6D83-432F-8CE5-B33149AF3252}"/>
              </a:ext>
            </a:extLst>
          </p:cNvPr>
          <p:cNvGraphicFramePr>
            <a:graphicFrameLocks noGrp="1"/>
          </p:cNvGraphicFramePr>
          <p:nvPr/>
        </p:nvGraphicFramePr>
        <p:xfrm>
          <a:off x="1280592" y="1700808"/>
          <a:ext cx="7488832" cy="299561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294965">
                  <a:extLst>
                    <a:ext uri="{9D8B030D-6E8A-4147-A177-3AD203B41FA5}">
                      <a16:colId xmlns:a16="http://schemas.microsoft.com/office/drawing/2014/main" val="2887738532"/>
                    </a:ext>
                  </a:extLst>
                </a:gridCol>
                <a:gridCol w="5193867">
                  <a:extLst>
                    <a:ext uri="{9D8B030D-6E8A-4147-A177-3AD203B41FA5}">
                      <a16:colId xmlns:a16="http://schemas.microsoft.com/office/drawing/2014/main" val="2999485284"/>
                    </a:ext>
                  </a:extLst>
                </a:gridCol>
              </a:tblGrid>
              <a:tr h="44770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분류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800" dirty="0" err="1"/>
                        <a:t>특</a:t>
                      </a:r>
                      <a:r>
                        <a:rPr lang="ko-KR" altLang="en-US" sz="1800" dirty="0"/>
                        <a:t> 징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1180305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 List 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  인터페이스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800" dirty="0"/>
                        <a:t>- </a:t>
                      </a:r>
                      <a:r>
                        <a:rPr lang="ko-KR" altLang="en-US" sz="1800" dirty="0"/>
                        <a:t>순서를 유지하고 저장</a:t>
                      </a:r>
                      <a:endParaRPr lang="en-US" altLang="ko-KR" sz="1800" dirty="0"/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800" dirty="0"/>
                        <a:t>- </a:t>
                      </a:r>
                      <a:r>
                        <a:rPr lang="ko-KR" altLang="en-US" sz="1800" dirty="0"/>
                        <a:t>중복 저장 가능</a:t>
                      </a:r>
                      <a:endParaRPr lang="en-US" altLang="ko-KR" sz="1800" dirty="0"/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800" dirty="0"/>
                        <a:t>- </a:t>
                      </a:r>
                      <a:r>
                        <a:rPr lang="ko-KR" altLang="en-US" sz="1800" dirty="0"/>
                        <a:t>구현클래스 </a:t>
                      </a:r>
                      <a:r>
                        <a:rPr lang="en-US" altLang="ko-KR" sz="1800" dirty="0"/>
                        <a:t>: </a:t>
                      </a:r>
                      <a:r>
                        <a:rPr lang="en-US" altLang="ko-KR" sz="1800" dirty="0" err="1"/>
                        <a:t>ArrayList</a:t>
                      </a:r>
                      <a:r>
                        <a:rPr lang="en-US" altLang="ko-KR" sz="1800" dirty="0"/>
                        <a:t>, Vector,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dirty="0" err="1"/>
                        <a:t>LinkedList</a:t>
                      </a: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1180305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800" dirty="0"/>
                        <a:t>  Set 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ko-KR" altLang="en-US" sz="1800" dirty="0"/>
                        <a:t> 인터페이스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800" dirty="0"/>
                        <a:t>- </a:t>
                      </a:r>
                      <a:r>
                        <a:rPr lang="ko-KR" altLang="en-US" sz="1800" dirty="0"/>
                        <a:t>순서를 유지하지 않고 저장</a:t>
                      </a:r>
                      <a:endParaRPr lang="en-US" altLang="ko-KR" sz="1800" dirty="0"/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800" dirty="0"/>
                        <a:t>- </a:t>
                      </a:r>
                      <a:r>
                        <a:rPr lang="ko-KR" altLang="en-US" sz="1800" dirty="0"/>
                        <a:t>중복 저장 안됨</a:t>
                      </a:r>
                      <a:endParaRPr lang="en-US" altLang="ko-KR" sz="1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- </a:t>
                      </a:r>
                      <a:r>
                        <a:rPr lang="ko-KR" altLang="en-US" sz="1800" dirty="0"/>
                        <a:t>구현클래스 </a:t>
                      </a:r>
                      <a:r>
                        <a:rPr lang="en-US" altLang="ko-KR" sz="1800" dirty="0"/>
                        <a:t>:</a:t>
                      </a:r>
                      <a:r>
                        <a:rPr lang="en-US" altLang="ko-KR" sz="1800" dirty="0" err="1"/>
                        <a:t>HashSet</a:t>
                      </a:r>
                      <a:r>
                        <a:rPr lang="en-US" altLang="ko-KR" sz="1800" dirty="0"/>
                        <a:t>, </a:t>
                      </a:r>
                      <a:r>
                        <a:rPr lang="en-US" altLang="ko-KR" sz="1800" dirty="0" err="1"/>
                        <a:t>TreeSet</a:t>
                      </a:r>
                      <a:endParaRPr lang="ko-KR" altLang="en-US" sz="18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</a:tbl>
          </a:graphicData>
        </a:graphic>
      </p:graphicFrame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0785" y="1052736"/>
            <a:ext cx="5018319" cy="52156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</a:rPr>
              <a:t>List</a:t>
            </a:r>
            <a:r>
              <a:rPr lang="ko-KR" altLang="en-US" sz="2000" b="1" dirty="0">
                <a:solidFill>
                  <a:srgbClr val="C00000"/>
                </a:solidFill>
              </a:rPr>
              <a:t>와 </a:t>
            </a:r>
            <a:r>
              <a:rPr lang="en-US" altLang="ko-KR" sz="2000" b="1" dirty="0">
                <a:solidFill>
                  <a:srgbClr val="C00000"/>
                </a:solidFill>
              </a:rPr>
              <a:t>Set </a:t>
            </a:r>
            <a:r>
              <a:rPr lang="ko-KR" altLang="en-US" sz="2000" b="1" dirty="0">
                <a:solidFill>
                  <a:srgbClr val="C00000"/>
                </a:solidFill>
              </a:rPr>
              <a:t>비교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427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컬렉션 프레임워크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6073" y="908720"/>
            <a:ext cx="8469415" cy="17281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2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</a:rPr>
              <a:t>List </a:t>
            </a:r>
            <a:r>
              <a:rPr lang="ko-KR" altLang="en-US" sz="2000" b="1" dirty="0">
                <a:solidFill>
                  <a:srgbClr val="C00000"/>
                </a:solidFill>
              </a:rPr>
              <a:t>인터페이스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altLang="ko-KR" sz="18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Collection </a:t>
            </a:r>
            <a:r>
              <a:rPr lang="ko-KR" altLang="en-US" sz="1600" dirty="0">
                <a:latin typeface="+mn-ea"/>
              </a:rPr>
              <a:t>하위 인터페이스로 배열의 기능을 구현하기 위한 인터페이스이다</a:t>
            </a:r>
            <a:r>
              <a:rPr lang="en-US" altLang="ko-KR" sz="1600" dirty="0">
                <a:latin typeface="+mn-ea"/>
              </a:rPr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객체를 </a:t>
            </a:r>
            <a:r>
              <a:rPr lang="ko-KR" altLang="en-US" sz="1600" b="1" dirty="0">
                <a:solidFill>
                  <a:srgbClr val="C00000"/>
                </a:solidFill>
                <a:latin typeface="+mn-ea"/>
              </a:rPr>
              <a:t>순서</a:t>
            </a:r>
            <a:r>
              <a:rPr lang="ko-KR" altLang="en-US" sz="1600" dirty="0">
                <a:latin typeface="+mn-ea"/>
              </a:rPr>
              <a:t>에 따라 저장하고 관리하는데 필요한 </a:t>
            </a:r>
            <a:r>
              <a:rPr lang="ko-KR" altLang="en-US" sz="1600" dirty="0" err="1">
                <a:latin typeface="+mn-ea"/>
              </a:rPr>
              <a:t>메서드가</a:t>
            </a:r>
            <a:r>
              <a:rPr lang="ko-KR" altLang="en-US" sz="1600" dirty="0">
                <a:latin typeface="+mn-ea"/>
              </a:rPr>
              <a:t> 선언된 인터페이스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00000"/>
              </a:lnSpc>
            </a:pPr>
            <a:r>
              <a:rPr lang="en-US" altLang="ko-KR" sz="1600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구현 클래스로 </a:t>
            </a:r>
            <a:r>
              <a:rPr lang="en-US" altLang="ko-KR" sz="1600" b="1" dirty="0" err="1">
                <a:latin typeface="+mn-ea"/>
              </a:rPr>
              <a:t>ArrayList</a:t>
            </a:r>
            <a:r>
              <a:rPr lang="en-US" altLang="ko-KR" sz="1600" b="1" dirty="0">
                <a:latin typeface="+mn-ea"/>
              </a:rPr>
              <a:t>, Vector, </a:t>
            </a:r>
            <a:r>
              <a:rPr lang="en-US" altLang="ko-KR" sz="1600" b="1" dirty="0" err="1">
                <a:latin typeface="+mn-ea"/>
              </a:rPr>
              <a:t>LinkedList</a:t>
            </a:r>
            <a:r>
              <a:rPr lang="en-US" altLang="ko-KR" sz="1600" b="1" dirty="0">
                <a:latin typeface="+mn-ea"/>
              </a:rPr>
              <a:t> </a:t>
            </a:r>
            <a:r>
              <a:rPr lang="ko-KR" altLang="en-US" sz="1600" dirty="0">
                <a:latin typeface="+mn-ea"/>
              </a:rPr>
              <a:t>등이 많이 사용됨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sp>
        <p:nvSpPr>
          <p:cNvPr id="28" name="사각형: 둥근 모서리 6">
            <a:extLst>
              <a:ext uri="{FF2B5EF4-FFF2-40B4-BE49-F238E27FC236}">
                <a16:creationId xmlns:a16="http://schemas.microsoft.com/office/drawing/2014/main" id="{0AAF410F-2DFD-4D61-AFE9-24F93F790CCF}"/>
              </a:ext>
            </a:extLst>
          </p:cNvPr>
          <p:cNvSpPr/>
          <p:nvPr/>
        </p:nvSpPr>
        <p:spPr>
          <a:xfrm>
            <a:off x="2046613" y="2636912"/>
            <a:ext cx="5259243" cy="216024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/>
              <a:t> </a:t>
            </a:r>
            <a:endParaRPr lang="ko-KR" altLang="en-US" sz="1600" dirty="0"/>
          </a:p>
        </p:txBody>
      </p:sp>
      <p:sp>
        <p:nvSpPr>
          <p:cNvPr id="29" name="사각형: 둥근 모서리 7">
            <a:extLst>
              <a:ext uri="{FF2B5EF4-FFF2-40B4-BE49-F238E27FC236}">
                <a16:creationId xmlns:a16="http://schemas.microsoft.com/office/drawing/2014/main" id="{EEDB739C-A8B8-4C68-A6FC-3A2373E6197A}"/>
              </a:ext>
            </a:extLst>
          </p:cNvPr>
          <p:cNvSpPr/>
          <p:nvPr/>
        </p:nvSpPr>
        <p:spPr>
          <a:xfrm>
            <a:off x="2244003" y="3005996"/>
            <a:ext cx="4903943" cy="14726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dirty="0"/>
              <a:t> </a:t>
            </a:r>
            <a:endParaRPr lang="ko-KR" altLang="en-US" sz="16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6D1E7CB-D4AB-4778-A3EE-E785F78D19A0}"/>
              </a:ext>
            </a:extLst>
          </p:cNvPr>
          <p:cNvSpPr txBox="1"/>
          <p:nvPr/>
        </p:nvSpPr>
        <p:spPr>
          <a:xfrm>
            <a:off x="2361448" y="3071555"/>
            <a:ext cx="12499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/>
              <a:t>ArrayList</a:t>
            </a:r>
            <a:endParaRPr lang="en-US" altLang="ko-KR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FDC5CF-2738-4833-B769-FAEF782BDF4A}"/>
              </a:ext>
            </a:extLst>
          </p:cNvPr>
          <p:cNvSpPr txBox="1"/>
          <p:nvPr/>
        </p:nvSpPr>
        <p:spPr>
          <a:xfrm>
            <a:off x="2755458" y="2636912"/>
            <a:ext cx="4043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List&lt;E&gt; list = new </a:t>
            </a:r>
            <a:r>
              <a:rPr lang="en-US" altLang="ko-KR" b="1" dirty="0" err="1"/>
              <a:t>ArrayList</a:t>
            </a:r>
            <a:r>
              <a:rPr lang="en-US" altLang="ko-KR" b="1" dirty="0"/>
              <a:t>&lt;E&gt;</a:t>
            </a:r>
            <a:r>
              <a:rPr lang="en-US" altLang="ko-KR" sz="1600" dirty="0"/>
              <a:t> </a:t>
            </a: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E5977BDF-19EB-4F8E-9A7E-FA59AE5CAE13}"/>
              </a:ext>
            </a:extLst>
          </p:cNvPr>
          <p:cNvGraphicFramePr>
            <a:graphicFrameLocks noGrp="1"/>
          </p:cNvGraphicFramePr>
          <p:nvPr/>
        </p:nvGraphicFramePr>
        <p:xfrm>
          <a:off x="2784757" y="3407513"/>
          <a:ext cx="409779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9779">
                  <a:extLst>
                    <a:ext uri="{9D8B030D-6E8A-4147-A177-3AD203B41FA5}">
                      <a16:colId xmlns:a16="http://schemas.microsoft.com/office/drawing/2014/main" val="1209056767"/>
                    </a:ext>
                  </a:extLst>
                </a:gridCol>
                <a:gridCol w="409779">
                  <a:extLst>
                    <a:ext uri="{9D8B030D-6E8A-4147-A177-3AD203B41FA5}">
                      <a16:colId xmlns:a16="http://schemas.microsoft.com/office/drawing/2014/main" val="2350345702"/>
                    </a:ext>
                  </a:extLst>
                </a:gridCol>
                <a:gridCol w="409779">
                  <a:extLst>
                    <a:ext uri="{9D8B030D-6E8A-4147-A177-3AD203B41FA5}">
                      <a16:colId xmlns:a16="http://schemas.microsoft.com/office/drawing/2014/main" val="3646864610"/>
                    </a:ext>
                  </a:extLst>
                </a:gridCol>
                <a:gridCol w="409779">
                  <a:extLst>
                    <a:ext uri="{9D8B030D-6E8A-4147-A177-3AD203B41FA5}">
                      <a16:colId xmlns:a16="http://schemas.microsoft.com/office/drawing/2014/main" val="3245029563"/>
                    </a:ext>
                  </a:extLst>
                </a:gridCol>
                <a:gridCol w="409779">
                  <a:extLst>
                    <a:ext uri="{9D8B030D-6E8A-4147-A177-3AD203B41FA5}">
                      <a16:colId xmlns:a16="http://schemas.microsoft.com/office/drawing/2014/main" val="537723526"/>
                    </a:ext>
                  </a:extLst>
                </a:gridCol>
                <a:gridCol w="409779">
                  <a:extLst>
                    <a:ext uri="{9D8B030D-6E8A-4147-A177-3AD203B41FA5}">
                      <a16:colId xmlns:a16="http://schemas.microsoft.com/office/drawing/2014/main" val="4124910376"/>
                    </a:ext>
                  </a:extLst>
                </a:gridCol>
                <a:gridCol w="409779">
                  <a:extLst>
                    <a:ext uri="{9D8B030D-6E8A-4147-A177-3AD203B41FA5}">
                      <a16:colId xmlns:a16="http://schemas.microsoft.com/office/drawing/2014/main" val="1444739775"/>
                    </a:ext>
                  </a:extLst>
                </a:gridCol>
                <a:gridCol w="409779">
                  <a:extLst>
                    <a:ext uri="{9D8B030D-6E8A-4147-A177-3AD203B41FA5}">
                      <a16:colId xmlns:a16="http://schemas.microsoft.com/office/drawing/2014/main" val="684660399"/>
                    </a:ext>
                  </a:extLst>
                </a:gridCol>
                <a:gridCol w="409779">
                  <a:extLst>
                    <a:ext uri="{9D8B030D-6E8A-4147-A177-3AD203B41FA5}">
                      <a16:colId xmlns:a16="http://schemas.microsoft.com/office/drawing/2014/main" val="1563574152"/>
                    </a:ext>
                  </a:extLst>
                </a:gridCol>
                <a:gridCol w="409779">
                  <a:extLst>
                    <a:ext uri="{9D8B030D-6E8A-4147-A177-3AD203B41FA5}">
                      <a16:colId xmlns:a16="http://schemas.microsoft.com/office/drawing/2014/main" val="37220837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8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</a:t>
                      </a:r>
                      <a:endParaRPr lang="ko-KR" altLang="en-US" sz="16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556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759309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7FC33EAB-1005-46EB-AAF7-8223E026FA28}"/>
              </a:ext>
            </a:extLst>
          </p:cNvPr>
          <p:cNvSpPr txBox="1"/>
          <p:nvPr/>
        </p:nvSpPr>
        <p:spPr>
          <a:xfrm>
            <a:off x="2957067" y="4170397"/>
            <a:ext cx="40183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E </a:t>
            </a:r>
            <a:r>
              <a:rPr lang="ko-KR" altLang="en-US" sz="1400" dirty="0"/>
              <a:t>객체 </a:t>
            </a:r>
            <a:r>
              <a:rPr lang="en-US" altLang="ko-KR" sz="1400" dirty="0"/>
              <a:t>10</a:t>
            </a:r>
            <a:r>
              <a:rPr lang="ko-KR" altLang="en-US" sz="1400" dirty="0"/>
              <a:t>개를 저장할 수 있는 초기 용량을 가짐 </a:t>
            </a:r>
            <a:endParaRPr lang="en-US" altLang="ko-KR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1712640" y="5013176"/>
            <a:ext cx="6624736" cy="1191816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 dirty="0"/>
              <a:t>      저장용량</a:t>
            </a:r>
            <a:r>
              <a:rPr lang="en-US" altLang="ko-KR" sz="1600" dirty="0"/>
              <a:t>(capacity)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초기</a:t>
            </a:r>
            <a:r>
              <a:rPr lang="en-US" altLang="ko-KR" sz="1600" dirty="0"/>
              <a:t>:10</a:t>
            </a:r>
            <a:r>
              <a:rPr lang="ko-KR" altLang="en-US" sz="1600" dirty="0"/>
              <a:t>개</a:t>
            </a:r>
            <a:r>
              <a:rPr lang="en-US" altLang="ko-KR" sz="1600" dirty="0"/>
              <a:t>, </a:t>
            </a:r>
            <a:r>
              <a:rPr lang="ko-KR" altLang="en-US" sz="1600" dirty="0"/>
              <a:t>초기 용량 지정 가능</a:t>
            </a:r>
            <a:endParaRPr lang="en-US" altLang="ko-KR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저장 용량을 초과한 객체들이 들어오면 자동적으로 늘어난다</a:t>
            </a:r>
            <a:r>
              <a:rPr lang="en-US" altLang="ko-KR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객체가 제거되면 바로 뒤 인덱스부터 앞으로 </a:t>
            </a:r>
            <a:r>
              <a:rPr lang="en-US" altLang="ko-KR" sz="1600" dirty="0"/>
              <a:t>1</a:t>
            </a:r>
            <a:r>
              <a:rPr lang="ko-KR" altLang="en-US" sz="1600" dirty="0"/>
              <a:t>씩 당겨진다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92052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List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15</a:t>
            </a:fld>
            <a:endParaRPr lang="ko-KR" altLang="en-US"/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AFA0E435-CA95-4633-8532-F0A5B0D2894D}"/>
              </a:ext>
            </a:extLst>
          </p:cNvPr>
          <p:cNvGraphicFramePr>
            <a:graphicFrameLocks noGrp="1"/>
          </p:cNvGraphicFramePr>
          <p:nvPr/>
        </p:nvGraphicFramePr>
        <p:xfrm>
          <a:off x="1280592" y="1628800"/>
          <a:ext cx="7920880" cy="4464495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184431">
                  <a:extLst>
                    <a:ext uri="{9D8B030D-6E8A-4147-A177-3AD203B41FA5}">
                      <a16:colId xmlns:a16="http://schemas.microsoft.com/office/drawing/2014/main" val="2887738532"/>
                    </a:ext>
                  </a:extLst>
                </a:gridCol>
                <a:gridCol w="2146780">
                  <a:extLst>
                    <a:ext uri="{9D8B030D-6E8A-4147-A177-3AD203B41FA5}">
                      <a16:colId xmlns:a16="http://schemas.microsoft.com/office/drawing/2014/main" val="3449779131"/>
                    </a:ext>
                  </a:extLst>
                </a:gridCol>
                <a:gridCol w="4589669">
                  <a:extLst>
                    <a:ext uri="{9D8B030D-6E8A-4147-A177-3AD203B41FA5}">
                      <a16:colId xmlns:a16="http://schemas.microsoft.com/office/drawing/2014/main" val="2999485284"/>
                    </a:ext>
                  </a:extLst>
                </a:gridCol>
              </a:tblGrid>
              <a:tr h="4960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기능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메서드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49605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객체 추가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/>
                        <a:t>add(element)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주어진 객체를 맨 끝에 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496055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/>
                        <a:t>add(index, element)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주어진</a:t>
                      </a:r>
                      <a:r>
                        <a:rPr lang="en-US" altLang="ko-KR" sz="1400" dirty="0"/>
                        <a:t> </a:t>
                      </a:r>
                      <a:r>
                        <a:rPr lang="ko-KR" altLang="en-US" sz="1400" dirty="0"/>
                        <a:t>인덱스에 객체를 추가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496055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객체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/>
                        <a:t>contains(object)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주어진 객체가 저장되어 있는지 여부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2380499"/>
                  </a:ext>
                </a:extLst>
              </a:tr>
              <a:tr h="496055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/>
                        <a:t>get(index)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주어진 인덱스에 저장된 객체를 리턴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246058"/>
                  </a:ext>
                </a:extLst>
              </a:tr>
              <a:tr h="496055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/>
                        <a:t>size()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저장되어 있는 전체 객체 수를 리턴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9605084"/>
                  </a:ext>
                </a:extLst>
              </a:tr>
              <a:tr h="49605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객체 수정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/>
                        <a:t>set(index,</a:t>
                      </a:r>
                      <a:r>
                        <a:rPr lang="ko-KR" altLang="en-US" sz="1600" b="0" dirty="0"/>
                        <a:t> </a:t>
                      </a:r>
                      <a:r>
                        <a:rPr lang="en-US" altLang="ko-KR" sz="1600" b="0" dirty="0"/>
                        <a:t>element)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주어진 인덱스에 저장된 객체를 주어진 객체로 바꿈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6055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객체 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clear()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저장된 모든 객체 삭제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3702031"/>
                  </a:ext>
                </a:extLst>
              </a:tr>
              <a:tr h="496055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/>
                        <a:t>remove(index)</a:t>
                      </a:r>
                      <a:endParaRPr lang="ko-KR" altLang="en-US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주어진 인덱스에 저장된 객체를 삭제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1162340"/>
                  </a:ext>
                </a:extLst>
              </a:tr>
            </a:tbl>
          </a:graphicData>
        </a:graphic>
      </p:graphicFrame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80728"/>
            <a:ext cx="4731795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List(</a:t>
            </a:r>
            <a:r>
              <a:rPr lang="en-US" altLang="ko-KR" sz="2000" b="1" dirty="0" err="1">
                <a:solidFill>
                  <a:srgbClr val="C00000"/>
                </a:solidFill>
              </a:rPr>
              <a:t>ArrayList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r>
              <a:rPr lang="ko-KR" altLang="en-US" sz="2000" b="1" dirty="0">
                <a:solidFill>
                  <a:srgbClr val="C00000"/>
                </a:solidFill>
              </a:rPr>
              <a:t>의 주요 메서드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7267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List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80728"/>
            <a:ext cx="4731795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List(</a:t>
            </a:r>
            <a:r>
              <a:rPr lang="en-US" altLang="ko-KR" sz="2000" b="1" dirty="0" err="1">
                <a:solidFill>
                  <a:srgbClr val="C00000"/>
                </a:solidFill>
              </a:rPr>
              <a:t>ArrayList</a:t>
            </a:r>
            <a:r>
              <a:rPr lang="en-US" altLang="ko-KR" sz="2000" b="1" dirty="0">
                <a:solidFill>
                  <a:srgbClr val="C00000"/>
                </a:solidFill>
              </a:rPr>
              <a:t>) Test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861" y="1507557"/>
            <a:ext cx="6716491" cy="48464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4662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List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80728"/>
            <a:ext cx="4731795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>
                <a:solidFill>
                  <a:srgbClr val="C00000"/>
                </a:solidFill>
              </a:rPr>
              <a:t> List(</a:t>
            </a:r>
            <a:r>
              <a:rPr lang="en-US" altLang="ko-KR" sz="2000" b="1" dirty="0" err="1">
                <a:solidFill>
                  <a:srgbClr val="C00000"/>
                </a:solidFill>
              </a:rPr>
              <a:t>ArrayList</a:t>
            </a:r>
            <a:r>
              <a:rPr lang="en-US" altLang="ko-KR" sz="2000" b="1" dirty="0">
                <a:solidFill>
                  <a:srgbClr val="C00000"/>
                </a:solidFill>
              </a:rPr>
              <a:t>) Test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499889"/>
            <a:ext cx="5363607" cy="493920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953" y="4293096"/>
            <a:ext cx="2399753" cy="13681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10037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1424608" y="1480716"/>
            <a:ext cx="66811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/>
              <a:t>특징</a:t>
            </a:r>
            <a:endParaRPr lang="en-US" altLang="ko-KR" sz="1600" dirty="0"/>
          </a:p>
          <a:p>
            <a:pPr marL="603647" lvl="1" indent="-23217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수학의 집합에 비유될 수 있다</a:t>
            </a:r>
            <a:r>
              <a:rPr lang="en-US" altLang="ko-KR" sz="1600" dirty="0"/>
              <a:t>.</a:t>
            </a:r>
          </a:p>
          <a:p>
            <a:pPr marL="603647" lvl="1" indent="-23217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저장 순서가 유지되지 않는다</a:t>
            </a:r>
            <a:r>
              <a:rPr lang="en-US" altLang="ko-KR" sz="1600" dirty="0"/>
              <a:t>.</a:t>
            </a:r>
          </a:p>
          <a:p>
            <a:pPr marL="603647" lvl="1" indent="-23217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객체를 중복 </a:t>
            </a:r>
            <a:r>
              <a:rPr lang="ko-KR" altLang="en-US" sz="1600" dirty="0" err="1"/>
              <a:t>저장할수</a:t>
            </a:r>
            <a:r>
              <a:rPr lang="ko-KR" altLang="en-US" sz="1600" dirty="0"/>
              <a:t> 없다</a:t>
            </a:r>
            <a:r>
              <a:rPr lang="en-US" altLang="ko-KR" sz="1600" dirty="0"/>
              <a:t>.</a:t>
            </a:r>
          </a:p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/>
              <a:t>구현 클래스</a:t>
            </a:r>
            <a:endParaRPr lang="en-US" altLang="ko-KR" sz="1600" dirty="0"/>
          </a:p>
          <a:p>
            <a:pPr marL="371475" lvl="1">
              <a:lnSpc>
                <a:spcPct val="150000"/>
              </a:lnSpc>
            </a:pPr>
            <a:r>
              <a:rPr lang="en-US" altLang="ko-KR" sz="1600" b="1" dirty="0"/>
              <a:t>HashSet, </a:t>
            </a:r>
            <a:r>
              <a:rPr lang="en-US" altLang="ko-KR" sz="1600" b="1" dirty="0" err="1"/>
              <a:t>LinkedHashSet</a:t>
            </a:r>
            <a:r>
              <a:rPr lang="en-US" altLang="ko-KR" sz="1600" b="1" dirty="0"/>
              <a:t>, </a:t>
            </a:r>
            <a:r>
              <a:rPr lang="en-US" altLang="ko-KR" sz="1600" b="1" dirty="0" err="1"/>
              <a:t>TreeSet</a:t>
            </a:r>
            <a:endParaRPr lang="en-US" altLang="ko-KR" sz="1600" b="1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389145B-1185-4763-821F-638B0BF2C25B}"/>
              </a:ext>
            </a:extLst>
          </p:cNvPr>
          <p:cNvSpPr/>
          <p:nvPr/>
        </p:nvSpPr>
        <p:spPr>
          <a:xfrm>
            <a:off x="1971740" y="3933056"/>
            <a:ext cx="4061380" cy="188289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300" dirty="0"/>
              <a:t> </a:t>
            </a:r>
            <a:endParaRPr lang="ko-KR" altLang="en-US" sz="1300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9E04CDF-83B1-4B80-9106-C2A0A4DA7259}"/>
              </a:ext>
            </a:extLst>
          </p:cNvPr>
          <p:cNvSpPr/>
          <p:nvPr/>
        </p:nvSpPr>
        <p:spPr>
          <a:xfrm>
            <a:off x="2144687" y="4279616"/>
            <a:ext cx="3672409" cy="10089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300" dirty="0"/>
              <a:t> </a:t>
            </a:r>
            <a:endParaRPr lang="ko-KR" altLang="en-US" sz="13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ABB4C0-2070-4126-9587-CD556195C1E9}"/>
              </a:ext>
            </a:extLst>
          </p:cNvPr>
          <p:cNvSpPr txBox="1"/>
          <p:nvPr/>
        </p:nvSpPr>
        <p:spPr>
          <a:xfrm>
            <a:off x="2227542" y="4359647"/>
            <a:ext cx="101559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Set </a:t>
            </a:r>
            <a:r>
              <a:rPr lang="ko-KR" altLang="en-US" sz="1300" dirty="0"/>
              <a:t>컬렉션</a:t>
            </a:r>
            <a:endParaRPr lang="en-US" altLang="ko-KR" sz="130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DAB0690-28FC-4D29-9D02-40FC4FFBCE1A}"/>
              </a:ext>
            </a:extLst>
          </p:cNvPr>
          <p:cNvSpPr/>
          <p:nvPr/>
        </p:nvSpPr>
        <p:spPr>
          <a:xfrm>
            <a:off x="3222688" y="5416718"/>
            <a:ext cx="627077" cy="379995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/>
              <a:t>객체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97DE718-EAE6-4FA9-BD54-D37A062B5D2B}"/>
              </a:ext>
            </a:extLst>
          </p:cNvPr>
          <p:cNvCxnSpPr>
            <a:cxnSpLocks/>
            <a:endCxn id="24" idx="0"/>
          </p:cNvCxnSpPr>
          <p:nvPr/>
        </p:nvCxnSpPr>
        <p:spPr>
          <a:xfrm flipH="1">
            <a:off x="3536226" y="4895915"/>
            <a:ext cx="290951" cy="520803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A6035B3-08E1-48ED-AC0E-783BAE37F17C}"/>
              </a:ext>
            </a:extLst>
          </p:cNvPr>
          <p:cNvSpPr txBox="1"/>
          <p:nvPr/>
        </p:nvSpPr>
        <p:spPr>
          <a:xfrm>
            <a:off x="2227542" y="3991404"/>
            <a:ext cx="12647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dirty="0" err="1"/>
              <a:t>힙</a:t>
            </a:r>
            <a:r>
              <a:rPr lang="en-US" altLang="ko-KR" sz="1300" dirty="0"/>
              <a:t>(heap) </a:t>
            </a:r>
            <a:r>
              <a:rPr lang="ko-KR" altLang="en-US" sz="1300" dirty="0"/>
              <a:t>영역</a:t>
            </a:r>
            <a:r>
              <a:rPr lang="en-US" altLang="ko-KR" sz="1300" dirty="0"/>
              <a:t> 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097E10B-04CF-4F9A-B0AA-FC8254B0787F}"/>
              </a:ext>
            </a:extLst>
          </p:cNvPr>
          <p:cNvSpPr/>
          <p:nvPr/>
        </p:nvSpPr>
        <p:spPr>
          <a:xfrm>
            <a:off x="4144375" y="5389986"/>
            <a:ext cx="627077" cy="379995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/>
              <a:t>객체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E50F1948-E7AC-4A72-84C3-7E0FD2EEE935}"/>
              </a:ext>
            </a:extLst>
          </p:cNvPr>
          <p:cNvCxnSpPr>
            <a:cxnSpLocks/>
          </p:cNvCxnSpPr>
          <p:nvPr/>
        </p:nvCxnSpPr>
        <p:spPr>
          <a:xfrm>
            <a:off x="4154954" y="4975626"/>
            <a:ext cx="187340" cy="579721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12E56239-0977-4CCC-A7DA-8EB6817922D6}"/>
              </a:ext>
            </a:extLst>
          </p:cNvPr>
          <p:cNvCxnSpPr>
            <a:cxnSpLocks/>
          </p:cNvCxnSpPr>
          <p:nvPr/>
        </p:nvCxnSpPr>
        <p:spPr>
          <a:xfrm>
            <a:off x="4334844" y="4784066"/>
            <a:ext cx="198543" cy="735317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타원 29">
            <a:extLst>
              <a:ext uri="{FF2B5EF4-FFF2-40B4-BE49-F238E27FC236}">
                <a16:creationId xmlns:a16="http://schemas.microsoft.com/office/drawing/2014/main" id="{AF336DD4-51B2-4F1D-8CE5-155C6AAE7629}"/>
              </a:ext>
            </a:extLst>
          </p:cNvPr>
          <p:cNvSpPr/>
          <p:nvPr/>
        </p:nvSpPr>
        <p:spPr>
          <a:xfrm>
            <a:off x="4880002" y="5365349"/>
            <a:ext cx="627077" cy="379995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38"/>
              <a:t>객체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B463C946-E295-4D7C-9F00-E3B1EE26F2C8}"/>
              </a:ext>
            </a:extLst>
          </p:cNvPr>
          <p:cNvCxnSpPr>
            <a:cxnSpLocks/>
          </p:cNvCxnSpPr>
          <p:nvPr/>
        </p:nvCxnSpPr>
        <p:spPr>
          <a:xfrm>
            <a:off x="4621151" y="5030153"/>
            <a:ext cx="519966" cy="459007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69AEB5B9-D379-40B7-B6A8-203197DDC125}"/>
              </a:ext>
            </a:extLst>
          </p:cNvPr>
          <p:cNvSpPr/>
          <p:nvPr/>
        </p:nvSpPr>
        <p:spPr>
          <a:xfrm>
            <a:off x="3512868" y="4423525"/>
            <a:ext cx="1349393" cy="852215"/>
          </a:xfrm>
          <a:custGeom>
            <a:avLst/>
            <a:gdLst>
              <a:gd name="connsiteX0" fmla="*/ 112637 w 1660791"/>
              <a:gd name="connsiteY0" fmla="*/ 0 h 1048880"/>
              <a:gd name="connsiteX1" fmla="*/ 305584 w 1660791"/>
              <a:gd name="connsiteY1" fmla="*/ 268448 h 1048880"/>
              <a:gd name="connsiteX2" fmla="*/ 20358 w 1660791"/>
              <a:gd name="connsiteY2" fmla="*/ 478173 h 1048880"/>
              <a:gd name="connsiteX3" fmla="*/ 112637 w 1660791"/>
              <a:gd name="connsiteY3" fmla="*/ 872455 h 1048880"/>
              <a:gd name="connsiteX4" fmla="*/ 825701 w 1660791"/>
              <a:gd name="connsiteY4" fmla="*/ 1048624 h 1048880"/>
              <a:gd name="connsiteX5" fmla="*/ 1547154 w 1660791"/>
              <a:gd name="connsiteY5" fmla="*/ 838899 h 1048880"/>
              <a:gd name="connsiteX6" fmla="*/ 1631044 w 1660791"/>
              <a:gd name="connsiteY6" fmla="*/ 536896 h 1048880"/>
              <a:gd name="connsiteX7" fmla="*/ 1261929 w 1660791"/>
              <a:gd name="connsiteY7" fmla="*/ 327171 h 1048880"/>
              <a:gd name="connsiteX8" fmla="*/ 1161261 w 1660791"/>
              <a:gd name="connsiteY8" fmla="*/ 176169 h 1048880"/>
              <a:gd name="connsiteX9" fmla="*/ 1379374 w 1660791"/>
              <a:gd name="connsiteY9" fmla="*/ 25167 h 104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60791" h="1048880">
                <a:moveTo>
                  <a:pt x="112637" y="0"/>
                </a:moveTo>
                <a:cubicBezTo>
                  <a:pt x="216800" y="94376"/>
                  <a:pt x="320964" y="188753"/>
                  <a:pt x="305584" y="268448"/>
                </a:cubicBezTo>
                <a:cubicBezTo>
                  <a:pt x="290204" y="348143"/>
                  <a:pt x="52516" y="377505"/>
                  <a:pt x="20358" y="478173"/>
                </a:cubicBezTo>
                <a:cubicBezTo>
                  <a:pt x="-11800" y="578841"/>
                  <a:pt x="-21587" y="777380"/>
                  <a:pt x="112637" y="872455"/>
                </a:cubicBezTo>
                <a:cubicBezTo>
                  <a:pt x="246861" y="967530"/>
                  <a:pt x="586615" y="1054217"/>
                  <a:pt x="825701" y="1048624"/>
                </a:cubicBezTo>
                <a:cubicBezTo>
                  <a:pt x="1064787" y="1043031"/>
                  <a:pt x="1412930" y="924187"/>
                  <a:pt x="1547154" y="838899"/>
                </a:cubicBezTo>
                <a:cubicBezTo>
                  <a:pt x="1681378" y="753611"/>
                  <a:pt x="1678581" y="622184"/>
                  <a:pt x="1631044" y="536896"/>
                </a:cubicBezTo>
                <a:cubicBezTo>
                  <a:pt x="1583507" y="451608"/>
                  <a:pt x="1340226" y="387292"/>
                  <a:pt x="1261929" y="327171"/>
                </a:cubicBezTo>
                <a:cubicBezTo>
                  <a:pt x="1183632" y="267050"/>
                  <a:pt x="1141687" y="226503"/>
                  <a:pt x="1161261" y="176169"/>
                </a:cubicBezTo>
                <a:cubicBezTo>
                  <a:pt x="1180835" y="125835"/>
                  <a:pt x="1280104" y="75501"/>
                  <a:pt x="1379374" y="2516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4D40FF72-00E0-498C-A10A-0A9D4277B522}"/>
              </a:ext>
            </a:extLst>
          </p:cNvPr>
          <p:cNvCxnSpPr>
            <a:cxnSpLocks/>
          </p:cNvCxnSpPr>
          <p:nvPr/>
        </p:nvCxnSpPr>
        <p:spPr>
          <a:xfrm flipH="1">
            <a:off x="4434116" y="5204646"/>
            <a:ext cx="129339" cy="16070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01E9B33-0A2D-4B40-8476-CB666E30DA0C}"/>
              </a:ext>
            </a:extLst>
          </p:cNvPr>
          <p:cNvCxnSpPr>
            <a:cxnSpLocks/>
          </p:cNvCxnSpPr>
          <p:nvPr/>
        </p:nvCxnSpPr>
        <p:spPr>
          <a:xfrm flipH="1" flipV="1">
            <a:off x="4372362" y="5204646"/>
            <a:ext cx="228784" cy="14928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제목 5"/>
          <p:cNvSpPr txBox="1">
            <a:spLocks/>
          </p:cNvSpPr>
          <p:nvPr/>
        </p:nvSpPr>
        <p:spPr>
          <a:xfrm>
            <a:off x="0" y="101939"/>
            <a:ext cx="6201139" cy="85496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컬렉션 프레임워크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20552" y="974896"/>
            <a:ext cx="3003603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Set </a:t>
            </a:r>
            <a:r>
              <a:rPr lang="ko-KR" altLang="en-US" sz="2000" b="1" dirty="0">
                <a:solidFill>
                  <a:srgbClr val="C00000"/>
                </a:solidFill>
              </a:rPr>
              <a:t>인터페이스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2758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1208584" y="1597407"/>
            <a:ext cx="40888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172" indent="-232172">
              <a:buFont typeface="Wingdings" panose="05000000000000000000" pitchFamily="2" charset="2"/>
              <a:buChar char="l"/>
            </a:pPr>
            <a:r>
              <a:rPr lang="ko-KR" altLang="en-US" sz="1600" dirty="0"/>
              <a:t>주요 메소드</a:t>
            </a:r>
            <a:endParaRPr lang="en-US" altLang="ko-KR" sz="1600" dirty="0"/>
          </a:p>
          <a:p>
            <a:pPr marL="603647" lvl="1" indent="-232172">
              <a:buFont typeface="Wingdings" panose="05000000000000000000" pitchFamily="2" charset="2"/>
              <a:buChar char="l"/>
            </a:pPr>
            <a:endParaRPr lang="en-US" altLang="ko-KR" sz="1600" dirty="0"/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1D30BC24-FFA8-490B-AE9D-02A0F0A6B7A2}"/>
              </a:ext>
            </a:extLst>
          </p:cNvPr>
          <p:cNvGraphicFramePr>
            <a:graphicFrameLocks noGrp="1"/>
          </p:cNvGraphicFramePr>
          <p:nvPr/>
        </p:nvGraphicFramePr>
        <p:xfrm>
          <a:off x="1496616" y="2139744"/>
          <a:ext cx="7774489" cy="334148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95988">
                  <a:extLst>
                    <a:ext uri="{9D8B030D-6E8A-4147-A177-3AD203B41FA5}">
                      <a16:colId xmlns:a16="http://schemas.microsoft.com/office/drawing/2014/main" val="2887738532"/>
                    </a:ext>
                  </a:extLst>
                </a:gridCol>
                <a:gridCol w="1975381">
                  <a:extLst>
                    <a:ext uri="{9D8B030D-6E8A-4147-A177-3AD203B41FA5}">
                      <a16:colId xmlns:a16="http://schemas.microsoft.com/office/drawing/2014/main" val="3449779131"/>
                    </a:ext>
                  </a:extLst>
                </a:gridCol>
                <a:gridCol w="4503120">
                  <a:extLst>
                    <a:ext uri="{9D8B030D-6E8A-4147-A177-3AD203B41FA5}">
                      <a16:colId xmlns:a16="http://schemas.microsoft.com/office/drawing/2014/main" val="2999485284"/>
                    </a:ext>
                  </a:extLst>
                </a:gridCol>
              </a:tblGrid>
              <a:tr h="4140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기능</a:t>
                      </a:r>
                    </a:p>
                  </a:txBody>
                  <a:tcPr marL="74295" marR="74295" marT="37148" marB="3714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메소드</a:t>
                      </a:r>
                    </a:p>
                  </a:txBody>
                  <a:tcPr marL="74295" marR="74295" marT="37148" marB="3714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marL="74295" marR="74295" marT="37148" marB="3714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44316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객체 추가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add(element)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주어진 객체를 저장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414046">
                <a:tc rowSpan="4"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객체 검색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contains(object)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주어진 객체가 저장되어 있는지 여부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962380499"/>
                  </a:ext>
                </a:extLst>
              </a:tr>
              <a:tr h="414046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isEmpty</a:t>
                      </a:r>
                      <a:r>
                        <a:rPr lang="en-US" altLang="ko-KR" sz="1600" dirty="0"/>
                        <a:t>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컬렉션이 비어 있는지 조사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2061246058"/>
                  </a:ext>
                </a:extLst>
              </a:tr>
              <a:tr h="41404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iterator()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저장된 객체를 한 번씩 가져오는 반복자 리턴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2880443903"/>
                  </a:ext>
                </a:extLst>
              </a:tr>
              <a:tr h="414046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size()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저장되어 있는 전체 객체 수를 리턴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699605084"/>
                  </a:ext>
                </a:extLst>
              </a:tr>
              <a:tr h="414046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객체 삭제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clear()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저장된 모든 객체 삭제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673702031"/>
                  </a:ext>
                </a:extLst>
              </a:tr>
              <a:tr h="414046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remove(object)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주어진 객체를 삭제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31162340"/>
                  </a:ext>
                </a:extLst>
              </a:tr>
            </a:tbl>
          </a:graphicData>
        </a:graphic>
      </p:graphicFrame>
      <p:sp>
        <p:nvSpPr>
          <p:cNvPr id="19" name="제목 5"/>
          <p:cNvSpPr txBox="1">
            <a:spLocks/>
          </p:cNvSpPr>
          <p:nvPr/>
        </p:nvSpPr>
        <p:spPr>
          <a:xfrm>
            <a:off x="0" y="101939"/>
            <a:ext cx="6201139" cy="85496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컬렉션 프레임워크</a:t>
            </a: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69277" y="974896"/>
            <a:ext cx="3003603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Set </a:t>
            </a:r>
            <a:r>
              <a:rPr lang="ko-KR" altLang="en-US" sz="2000" b="1" dirty="0">
                <a:solidFill>
                  <a:srgbClr val="C00000"/>
                </a:solidFill>
              </a:rPr>
              <a:t>인터페이스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622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9D1C71B3-FC1A-48F7-B09D-713D710174F7}"/>
              </a:ext>
            </a:extLst>
          </p:cNvPr>
          <p:cNvGraphicFramePr>
            <a:graphicFrameLocks noGrp="1"/>
          </p:cNvGraphicFramePr>
          <p:nvPr/>
        </p:nvGraphicFramePr>
        <p:xfrm>
          <a:off x="1580628" y="1449907"/>
          <a:ext cx="3156348" cy="1490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6348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1327718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Set&lt;String&gt; set =…;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   </a:t>
                      </a:r>
                      <a:r>
                        <a:rPr lang="en-US" altLang="ko-KR" sz="1600" dirty="0" err="1">
                          <a:solidFill>
                            <a:sysClr val="windowText" lastClr="000000"/>
                          </a:solidFill>
                        </a:rPr>
                        <a:t>set.add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(“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홍길동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”);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   </a:t>
                      </a:r>
                      <a:r>
                        <a:rPr lang="en-US" altLang="ko-KR" sz="1600" dirty="0" err="1">
                          <a:solidFill>
                            <a:sysClr val="windowText" lastClr="000000"/>
                          </a:solidFill>
                        </a:rPr>
                        <a:t>set.add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(“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임꺽정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”);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   </a:t>
                      </a:r>
                      <a:r>
                        <a:rPr lang="en-US" altLang="ko-KR" sz="1600" dirty="0" err="1">
                          <a:solidFill>
                            <a:sysClr val="windowText" lastClr="000000"/>
                          </a:solidFill>
                        </a:rPr>
                        <a:t>set.remove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(“</a:t>
                      </a:r>
                      <a:r>
                        <a:rPr lang="ko-KR" altLang="en-US" sz="1600" dirty="0">
                          <a:solidFill>
                            <a:sysClr val="windowText" lastClr="000000"/>
                          </a:solidFill>
                        </a:rPr>
                        <a:t>홍길동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”)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CE8EED0-65B0-48C9-9E39-C37334B94B8E}"/>
              </a:ext>
            </a:extLst>
          </p:cNvPr>
          <p:cNvGraphicFramePr>
            <a:graphicFrameLocks noGrp="1"/>
          </p:cNvGraphicFramePr>
          <p:nvPr/>
        </p:nvGraphicFramePr>
        <p:xfrm>
          <a:off x="1593705" y="4073638"/>
          <a:ext cx="4439415" cy="14901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9415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1295551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Iterator&lt;String&gt; iterator = </a:t>
                      </a:r>
                      <a:r>
                        <a:rPr lang="en-US" altLang="ko-KR" sz="1600" dirty="0" err="1">
                          <a:solidFill>
                            <a:sysClr val="windowText" lastClr="000000"/>
                          </a:solidFill>
                        </a:rPr>
                        <a:t>set.iterator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();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while(</a:t>
                      </a:r>
                      <a:r>
                        <a:rPr lang="en-US" altLang="ko-KR" sz="1600" dirty="0" err="1">
                          <a:solidFill>
                            <a:sysClr val="windowText" lastClr="000000"/>
                          </a:solidFill>
                        </a:rPr>
                        <a:t>iterator.hasNext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()) {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    String element = </a:t>
                      </a:r>
                      <a:r>
                        <a:rPr lang="en-US" altLang="ko-KR" sz="1600" dirty="0" err="1">
                          <a:solidFill>
                            <a:sysClr val="windowText" lastClr="000000"/>
                          </a:solidFill>
                        </a:rPr>
                        <a:t>iterator.next</a:t>
                      </a: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();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</a:rPr>
                        <a:t>}</a:t>
                      </a:r>
                    </a:p>
                  </a:txBody>
                  <a:tcPr marL="74295" marR="74295" marT="37148" marB="3714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7F4F14B-265B-46DD-A725-91BD64960136}"/>
              </a:ext>
            </a:extLst>
          </p:cNvPr>
          <p:cNvSpPr txBox="1"/>
          <p:nvPr/>
        </p:nvSpPr>
        <p:spPr>
          <a:xfrm>
            <a:off x="1139678" y="3137534"/>
            <a:ext cx="81338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1600" dirty="0"/>
              <a:t>Set</a:t>
            </a:r>
            <a:r>
              <a:rPr lang="ko-KR" altLang="en-US" sz="1600" dirty="0"/>
              <a:t>컬렉션은 인덱스로 객체를 검색해서 가져오는 메소드가 없다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 대신</a:t>
            </a:r>
            <a:r>
              <a:rPr lang="en-US" altLang="ko-KR" sz="1600" dirty="0"/>
              <a:t>, </a:t>
            </a:r>
            <a:r>
              <a:rPr lang="ko-KR" altLang="en-US" sz="1600" dirty="0"/>
              <a:t>전체 객체를 대상으로 한번씩 반복해서 가져오는 </a:t>
            </a:r>
            <a:r>
              <a:rPr lang="ko-KR" altLang="en-US" sz="1600" b="1" dirty="0">
                <a:solidFill>
                  <a:srgbClr val="C00000"/>
                </a:solidFill>
              </a:rPr>
              <a:t>반복자</a:t>
            </a:r>
            <a:r>
              <a:rPr lang="en-US" altLang="ko-KR" sz="1600" b="1" dirty="0">
                <a:solidFill>
                  <a:srgbClr val="C00000"/>
                </a:solidFill>
              </a:rPr>
              <a:t>(iterator)</a:t>
            </a:r>
            <a:r>
              <a:rPr lang="ko-KR" altLang="en-US" sz="1600" dirty="0"/>
              <a:t>를 제공한다</a:t>
            </a:r>
            <a:r>
              <a:rPr lang="en-US" altLang="ko-KR" sz="16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8675D8-1D5D-4734-9CF0-8EEE8CCDC125}"/>
              </a:ext>
            </a:extLst>
          </p:cNvPr>
          <p:cNvSpPr txBox="1"/>
          <p:nvPr/>
        </p:nvSpPr>
        <p:spPr>
          <a:xfrm>
            <a:off x="1139678" y="1124744"/>
            <a:ext cx="25394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172" indent="-232172">
              <a:buFont typeface="Wingdings" panose="05000000000000000000" pitchFamily="2" charset="2"/>
              <a:buChar char="l"/>
            </a:pPr>
            <a:r>
              <a:rPr lang="ko-KR" altLang="en-US" sz="1600" dirty="0"/>
              <a:t>객체 추가</a:t>
            </a:r>
            <a:r>
              <a:rPr lang="en-US" altLang="ko-KR" sz="1600" dirty="0"/>
              <a:t>, </a:t>
            </a:r>
            <a:r>
              <a:rPr lang="ko-KR" altLang="en-US" sz="1600" dirty="0"/>
              <a:t>찾기</a:t>
            </a:r>
            <a:r>
              <a:rPr lang="en-US" altLang="ko-KR" sz="1600" dirty="0"/>
              <a:t>, </a:t>
            </a:r>
            <a:r>
              <a:rPr lang="ko-KR" altLang="en-US" sz="1600" dirty="0"/>
              <a:t>삭제</a:t>
            </a:r>
            <a:endParaRPr lang="en-US" altLang="ko-KR" sz="1600" dirty="0"/>
          </a:p>
        </p:txBody>
      </p:sp>
      <p:sp>
        <p:nvSpPr>
          <p:cNvPr id="10" name="제목 5"/>
          <p:cNvSpPr txBox="1">
            <a:spLocks/>
          </p:cNvSpPr>
          <p:nvPr/>
        </p:nvSpPr>
        <p:spPr>
          <a:xfrm>
            <a:off x="0" y="103462"/>
            <a:ext cx="6201139" cy="85496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Set </a:t>
            </a:r>
            <a:r>
              <a:rPr lang="ko-KR" altLang="en-US" dirty="0"/>
              <a:t>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6563211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5"/>
          <p:cNvSpPr txBox="1">
            <a:spLocks/>
          </p:cNvSpPr>
          <p:nvPr/>
        </p:nvSpPr>
        <p:spPr>
          <a:xfrm>
            <a:off x="0" y="103462"/>
            <a:ext cx="6201139" cy="85496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Set </a:t>
            </a:r>
            <a:r>
              <a:rPr lang="ko-KR" altLang="en-US" dirty="0"/>
              <a:t>인터페이스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820051" y="1052736"/>
            <a:ext cx="9101501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Collection </a:t>
            </a:r>
            <a:r>
              <a:rPr lang="ko-KR" altLang="en-US" sz="2000" b="1" dirty="0">
                <a:solidFill>
                  <a:srgbClr val="C00000"/>
                </a:solidFill>
              </a:rPr>
              <a:t>요소를 순회하는 </a:t>
            </a:r>
            <a:r>
              <a:rPr lang="en-US" altLang="ko-KR" sz="2000" b="1" dirty="0">
                <a:solidFill>
                  <a:srgbClr val="C00000"/>
                </a:solidFill>
              </a:rPr>
              <a:t>Iterator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순서가 없는 </a:t>
            </a:r>
            <a:r>
              <a:rPr lang="en-US" altLang="ko-KR" sz="1600" dirty="0"/>
              <a:t>Set </a:t>
            </a:r>
            <a:r>
              <a:rPr lang="ko-KR" altLang="en-US" sz="1600" dirty="0"/>
              <a:t>인터페이스를 구현한 경우에는 </a:t>
            </a:r>
            <a:r>
              <a:rPr lang="en-US" altLang="ko-KR" sz="1600" b="1" dirty="0">
                <a:solidFill>
                  <a:srgbClr val="C00000"/>
                </a:solidFill>
              </a:rPr>
              <a:t>get(</a:t>
            </a:r>
            <a:r>
              <a:rPr lang="en-US" altLang="ko-KR" sz="1600" b="1" dirty="0" err="1">
                <a:solidFill>
                  <a:srgbClr val="C00000"/>
                </a:solidFill>
              </a:rPr>
              <a:t>i</a:t>
            </a:r>
            <a:r>
              <a:rPr lang="en-US" altLang="ko-KR" sz="1600" b="1" dirty="0">
                <a:solidFill>
                  <a:srgbClr val="C00000"/>
                </a:solidFill>
              </a:rPr>
              <a:t>) </a:t>
            </a:r>
            <a:r>
              <a:rPr lang="ko-KR" altLang="en-US" sz="1600" dirty="0" err="1"/>
              <a:t>메서드를</a:t>
            </a:r>
            <a:r>
              <a:rPr lang="ko-KR" altLang="en-US" sz="1600" dirty="0"/>
              <a:t> 사용할 수 없다</a:t>
            </a:r>
            <a:r>
              <a:rPr lang="en-US" altLang="ko-KR" sz="1600" dirty="0"/>
              <a:t>. </a:t>
            </a:r>
          </a:p>
          <a:p>
            <a:pPr lvl="1">
              <a:lnSpc>
                <a:spcPct val="150000"/>
              </a:lnSpc>
            </a:pPr>
            <a:r>
              <a:rPr lang="en-US" altLang="ko-KR" sz="1600" dirty="0"/>
              <a:t>   </a:t>
            </a:r>
            <a:r>
              <a:rPr lang="ko-KR" altLang="en-US" sz="1600" dirty="0"/>
              <a:t>이때 </a:t>
            </a:r>
            <a:r>
              <a:rPr lang="en-US" altLang="ko-KR" sz="1600" b="1" dirty="0"/>
              <a:t>Iterator </a:t>
            </a:r>
            <a:r>
              <a:rPr lang="ko-KR" altLang="en-US" sz="1600" b="1" dirty="0"/>
              <a:t>클래스</a:t>
            </a:r>
            <a:r>
              <a:rPr lang="ko-KR" altLang="en-US" sz="1600" dirty="0"/>
              <a:t>의 </a:t>
            </a:r>
            <a:r>
              <a:rPr lang="en-US" altLang="ko-KR" sz="1600" b="1" dirty="0"/>
              <a:t>iterator() </a:t>
            </a:r>
            <a:r>
              <a:rPr lang="ko-KR" altLang="en-US" sz="1600" b="1" dirty="0" err="1"/>
              <a:t>메서드</a:t>
            </a:r>
            <a:r>
              <a:rPr lang="ko-KR" altLang="en-US" sz="1600" dirty="0" err="1"/>
              <a:t>를</a:t>
            </a:r>
            <a:r>
              <a:rPr lang="ko-KR" altLang="en-US" sz="1600" dirty="0"/>
              <a:t> 호출하여 참조한다</a:t>
            </a:r>
            <a:r>
              <a:rPr lang="en-US" altLang="ko-KR" dirty="0"/>
              <a:t>.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1241191-1320-448B-958D-8CB79767C029}"/>
              </a:ext>
            </a:extLst>
          </p:cNvPr>
          <p:cNvGraphicFramePr>
            <a:graphicFrameLocks noGrp="1"/>
          </p:cNvGraphicFramePr>
          <p:nvPr/>
        </p:nvGraphicFramePr>
        <p:xfrm>
          <a:off x="1496616" y="2506181"/>
          <a:ext cx="7394978" cy="17766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52396">
                  <a:extLst>
                    <a:ext uri="{9D8B030D-6E8A-4147-A177-3AD203B41FA5}">
                      <a16:colId xmlns:a16="http://schemas.microsoft.com/office/drawing/2014/main" val="2999485284"/>
                    </a:ext>
                  </a:extLst>
                </a:gridCol>
                <a:gridCol w="1550676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4491906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444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리턴 타입</a:t>
                      </a:r>
                    </a:p>
                  </a:txBody>
                  <a:tcPr marL="74295" marR="74295" marT="37148" marB="3714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메소드명</a:t>
                      </a:r>
                      <a:endParaRPr lang="ko-KR" altLang="en-US" sz="1600" dirty="0"/>
                    </a:p>
                  </a:txBody>
                  <a:tcPr marL="74295" marR="74295" marT="37148" marB="3714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marL="74295" marR="74295" marT="37148" marB="37148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444150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/>
                        <a:t>Boolean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hasNext</a:t>
                      </a:r>
                      <a:r>
                        <a:rPr lang="en-US" altLang="ko-KR" sz="1600" dirty="0"/>
                        <a:t>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가져올 객체가 있으면 </a:t>
                      </a:r>
                      <a:r>
                        <a:rPr lang="en-US" altLang="ko-KR" sz="1600" dirty="0"/>
                        <a:t>true, </a:t>
                      </a:r>
                      <a:r>
                        <a:rPr lang="ko-KR" altLang="en-US" sz="1600" dirty="0"/>
                        <a:t>없으면 </a:t>
                      </a:r>
                      <a:r>
                        <a:rPr lang="en-US" altLang="ko-KR" sz="1600" dirty="0"/>
                        <a:t>false </a:t>
                      </a:r>
                      <a:r>
                        <a:rPr lang="ko-KR" altLang="en-US" sz="1600" dirty="0"/>
                        <a:t>리턴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444150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/>
                        <a:t>E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next()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컬렉션에서 하나의 객체를 가져온다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701167864"/>
                  </a:ext>
                </a:extLst>
              </a:tr>
              <a:tr h="444150"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1600" dirty="0"/>
                        <a:t>void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remove()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Set </a:t>
                      </a:r>
                      <a:r>
                        <a:rPr lang="ko-KR" altLang="en-US" sz="1600" dirty="0"/>
                        <a:t>컬렉션에서 객체를 제거한다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6314787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8622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7F4F14B-265B-46DD-A725-91BD64960136}"/>
              </a:ext>
            </a:extLst>
          </p:cNvPr>
          <p:cNvSpPr txBox="1"/>
          <p:nvPr/>
        </p:nvSpPr>
        <p:spPr>
          <a:xfrm>
            <a:off x="1238864" y="1933301"/>
            <a:ext cx="6594455" cy="1608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600" dirty="0"/>
              <a:t>특징</a:t>
            </a:r>
            <a:endParaRPr lang="en-US" altLang="ko-KR" sz="1600" dirty="0"/>
          </a:p>
          <a:p>
            <a:pPr marL="603647" lvl="1" indent="-23217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동일 객체 및 동등 객체는 중복 저장하지 않는다</a:t>
            </a:r>
            <a:r>
              <a:rPr lang="en-US" altLang="ko-KR" sz="1600" dirty="0"/>
              <a:t>.</a:t>
            </a:r>
          </a:p>
          <a:p>
            <a:pPr marL="603647" lvl="1" indent="-23217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순서없이 저장</a:t>
            </a:r>
            <a:endParaRPr lang="en-US" altLang="ko-KR" sz="1600" dirty="0"/>
          </a:p>
          <a:p>
            <a:pPr marL="603647" lvl="1" indent="-23217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동등 객체 판단 방법</a:t>
            </a:r>
            <a:endParaRPr lang="en-US" altLang="ko-KR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BE89A6-533F-4367-A602-9ECEC9076468}"/>
              </a:ext>
            </a:extLst>
          </p:cNvPr>
          <p:cNvSpPr txBox="1"/>
          <p:nvPr/>
        </p:nvSpPr>
        <p:spPr>
          <a:xfrm>
            <a:off x="1238865" y="1574231"/>
            <a:ext cx="659445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172" indent="-232172">
              <a:buFont typeface="Wingdings" panose="05000000000000000000" pitchFamily="2" charset="2"/>
              <a:buChar char="l"/>
            </a:pPr>
            <a:r>
              <a:rPr lang="en-US" altLang="ko-KR" sz="1600" dirty="0"/>
              <a:t>HashSet</a:t>
            </a:r>
            <a:r>
              <a:rPr lang="ko-KR" altLang="en-US" sz="1600" dirty="0"/>
              <a:t>은 </a:t>
            </a:r>
            <a:r>
              <a:rPr lang="en-US" altLang="ko-KR" sz="1600" dirty="0"/>
              <a:t>Set </a:t>
            </a:r>
            <a:r>
              <a:rPr lang="ko-KR" altLang="en-US" sz="1600" dirty="0"/>
              <a:t>인터페이스의 구현 클래스이다</a:t>
            </a:r>
            <a:r>
              <a:rPr lang="en-US" altLang="ko-KR" sz="1600" dirty="0"/>
              <a:t>.</a:t>
            </a:r>
          </a:p>
        </p:txBody>
      </p:sp>
      <p:grpSp>
        <p:nvGrpSpPr>
          <p:cNvPr id="2" name="그룹 1"/>
          <p:cNvGrpSpPr/>
          <p:nvPr/>
        </p:nvGrpSpPr>
        <p:grpSpPr>
          <a:xfrm>
            <a:off x="1805244" y="3645024"/>
            <a:ext cx="6748156" cy="2105539"/>
            <a:chOff x="1589220" y="3645024"/>
            <a:chExt cx="6748156" cy="2105539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DAA95F64-EA57-4B0A-8DAC-8F59AF8587E0}"/>
                </a:ext>
              </a:extLst>
            </p:cNvPr>
            <p:cNvSpPr/>
            <p:nvPr/>
          </p:nvSpPr>
          <p:spPr>
            <a:xfrm>
              <a:off x="1589220" y="3735558"/>
              <a:ext cx="2124682" cy="64262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r>
                <a:rPr lang="en-US" altLang="ko-KR" sz="1600" dirty="0" err="1"/>
                <a:t>hashCode</a:t>
              </a:r>
              <a:r>
                <a:rPr lang="en-US" altLang="ko-KR" sz="1600" dirty="0"/>
                <a:t>() </a:t>
              </a:r>
              <a:r>
                <a:rPr lang="ko-KR" altLang="en-US" sz="1600" dirty="0" err="1"/>
                <a:t>리턴값</a:t>
              </a:r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endParaRPr lang="ko-KR" altLang="en-US" sz="1600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545A2248-DE63-421E-9662-0A63ED8E99D3}"/>
                </a:ext>
              </a:extLst>
            </p:cNvPr>
            <p:cNvSpPr/>
            <p:nvPr/>
          </p:nvSpPr>
          <p:spPr>
            <a:xfrm>
              <a:off x="4606286" y="4982986"/>
              <a:ext cx="1568078" cy="767577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r>
                <a:rPr lang="ko-KR" altLang="en-US" sz="1600" dirty="0"/>
                <a:t>다른 객체</a:t>
              </a:r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endParaRPr lang="ko-KR" altLang="en-US" sz="16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BD008B58-3B07-4599-8A1F-866791D2B574}"/>
                </a:ext>
              </a:extLst>
            </p:cNvPr>
            <p:cNvSpPr/>
            <p:nvPr/>
          </p:nvSpPr>
          <p:spPr>
            <a:xfrm>
              <a:off x="4259187" y="3735558"/>
              <a:ext cx="1881229" cy="64074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r>
                <a:rPr lang="en-US" altLang="ko-KR" sz="1600" dirty="0"/>
                <a:t>equals() </a:t>
              </a:r>
              <a:r>
                <a:rPr lang="ko-KR" altLang="en-US" sz="1600" dirty="0" err="1"/>
                <a:t>리턴값</a:t>
              </a:r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endParaRPr lang="ko-KR" altLang="en-US" sz="1600" dirty="0"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50D67FD-B0D7-4EDC-9631-56D6EC89D5F8}"/>
                </a:ext>
              </a:extLst>
            </p:cNvPr>
            <p:cNvSpPr/>
            <p:nvPr/>
          </p:nvSpPr>
          <p:spPr>
            <a:xfrm>
              <a:off x="6765048" y="3645024"/>
              <a:ext cx="1572328" cy="811895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r>
                <a:rPr lang="ko-KR" altLang="en-US" sz="1600" dirty="0"/>
                <a:t>동등 객체</a:t>
              </a:r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endParaRPr lang="en-US" altLang="ko-KR" sz="1600" dirty="0"/>
            </a:p>
            <a:p>
              <a:pPr algn="ctr"/>
              <a:endParaRPr lang="ko-KR" altLang="en-US" sz="1600" dirty="0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D6DC7B1-86A1-4E35-B826-3243AA759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0416" y="4050972"/>
              <a:ext cx="545286" cy="18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AAEDE0F6-09A4-49A0-84CD-CB2DB539E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22056" y="4050972"/>
              <a:ext cx="545286" cy="18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AD8F86C2-C59F-4F13-B058-ED71FC97C112}"/>
                </a:ext>
              </a:extLst>
            </p:cNvPr>
            <p:cNvSpPr/>
            <p:nvPr/>
          </p:nvSpPr>
          <p:spPr>
            <a:xfrm>
              <a:off x="2732389" y="4368272"/>
              <a:ext cx="1847151" cy="879271"/>
            </a:xfrm>
            <a:custGeom>
              <a:avLst/>
              <a:gdLst>
                <a:gd name="connsiteX0" fmla="*/ 0 w 2273416"/>
                <a:gd name="connsiteY0" fmla="*/ 0 h 1082180"/>
                <a:gd name="connsiteX1" fmla="*/ 0 w 2273416"/>
                <a:gd name="connsiteY1" fmla="*/ 1082180 h 1082180"/>
                <a:gd name="connsiteX2" fmla="*/ 2273416 w 2273416"/>
                <a:gd name="connsiteY2" fmla="*/ 1082180 h 1082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73416" h="1082180">
                  <a:moveTo>
                    <a:pt x="0" y="0"/>
                  </a:moveTo>
                  <a:lnTo>
                    <a:pt x="0" y="1082180"/>
                  </a:lnTo>
                  <a:lnTo>
                    <a:pt x="2273416" y="108218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4" name="직선 화살표 연결선 13">
              <a:extLst>
                <a:ext uri="{FF2B5EF4-FFF2-40B4-BE49-F238E27FC236}">
                  <a16:creationId xmlns:a16="http://schemas.microsoft.com/office/drawing/2014/main" id="{CDBE2CE8-E894-4D74-B4A5-4490C0DA3360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954422" y="4647999"/>
              <a:ext cx="545286" cy="18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BED18BE-0117-4B26-ADEA-40AE3E739552}"/>
                </a:ext>
              </a:extLst>
            </p:cNvPr>
            <p:cNvSpPr txBox="1"/>
            <p:nvPr/>
          </p:nvSpPr>
          <p:spPr>
            <a:xfrm>
              <a:off x="2054162" y="4710374"/>
              <a:ext cx="7576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dirty="0"/>
                <a:t>다름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58CAA0B-4372-41AE-A262-DABDFE272267}"/>
                </a:ext>
              </a:extLst>
            </p:cNvPr>
            <p:cNvSpPr txBox="1"/>
            <p:nvPr/>
          </p:nvSpPr>
          <p:spPr>
            <a:xfrm>
              <a:off x="3621149" y="4243720"/>
              <a:ext cx="7378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srgbClr val="C00000"/>
                  </a:solidFill>
                </a:rPr>
                <a:t>같음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4346DF9-7CDF-4200-ADBA-D5D5D622B1B9}"/>
                </a:ext>
              </a:extLst>
            </p:cNvPr>
            <p:cNvSpPr txBox="1"/>
            <p:nvPr/>
          </p:nvSpPr>
          <p:spPr>
            <a:xfrm>
              <a:off x="6174364" y="4219511"/>
              <a:ext cx="5861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>
                  <a:solidFill>
                    <a:srgbClr val="C00000"/>
                  </a:solidFill>
                </a:rPr>
                <a:t>true</a:t>
              </a:r>
              <a:endParaRPr lang="ko-KR" altLang="en-US" sz="1600" b="1" dirty="0">
                <a:solidFill>
                  <a:srgbClr val="C00000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3491EB5-806A-47CD-A9B8-2391C5637440}"/>
                </a:ext>
              </a:extLst>
            </p:cNvPr>
            <p:cNvSpPr txBox="1"/>
            <p:nvPr/>
          </p:nvSpPr>
          <p:spPr>
            <a:xfrm>
              <a:off x="4464784" y="4449695"/>
              <a:ext cx="82436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/>
                <a:t>false</a:t>
              </a:r>
              <a:endParaRPr lang="ko-KR" altLang="en-US" sz="1600" dirty="0"/>
            </a:p>
          </p:txBody>
        </p:sp>
      </p:grp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97269" y="974896"/>
            <a:ext cx="3003603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HashSet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클래스</a:t>
            </a:r>
            <a:endParaRPr lang="en-US" altLang="ko-KR" sz="2000" b="1" dirty="0"/>
          </a:p>
        </p:txBody>
      </p:sp>
      <p:sp>
        <p:nvSpPr>
          <p:cNvPr id="21" name="제목 5"/>
          <p:cNvSpPr txBox="1">
            <a:spLocks/>
          </p:cNvSpPr>
          <p:nvPr/>
        </p:nvSpPr>
        <p:spPr>
          <a:xfrm>
            <a:off x="0" y="103462"/>
            <a:ext cx="6201139" cy="85496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Set </a:t>
            </a:r>
            <a:r>
              <a:rPr lang="ko-KR" altLang="en-US" dirty="0"/>
              <a:t>인터페이스</a:t>
            </a:r>
          </a:p>
        </p:txBody>
      </p:sp>
    </p:spTree>
    <p:extLst>
      <p:ext uri="{BB962C8B-B14F-4D97-AF65-F5344CB8AC3E}">
        <p14:creationId xmlns:p14="http://schemas.microsoft.com/office/powerpoint/2010/main" val="1850532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5"/>
          <p:cNvSpPr txBox="1">
            <a:spLocks/>
          </p:cNvSpPr>
          <p:nvPr/>
        </p:nvSpPr>
        <p:spPr>
          <a:xfrm>
            <a:off x="0" y="103462"/>
            <a:ext cx="6201139" cy="85496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Set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97269" y="980728"/>
            <a:ext cx="6099947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HashSet</a:t>
            </a:r>
            <a:r>
              <a:rPr lang="ko-KR" altLang="en-US" sz="2000" b="1" dirty="0">
                <a:solidFill>
                  <a:srgbClr val="C00000"/>
                </a:solidFill>
              </a:rPr>
              <a:t>을 이용한 자료 관리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15919"/>
          <a:stretch/>
        </p:blipFill>
        <p:spPr>
          <a:xfrm>
            <a:off x="1338679" y="1556792"/>
            <a:ext cx="5558537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320539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5"/>
          <p:cNvSpPr txBox="1">
            <a:spLocks/>
          </p:cNvSpPr>
          <p:nvPr/>
        </p:nvSpPr>
        <p:spPr>
          <a:xfrm>
            <a:off x="0" y="103462"/>
            <a:ext cx="6201139" cy="85496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Set </a:t>
            </a:r>
            <a:r>
              <a:rPr lang="ko-KR" altLang="en-US" dirty="0"/>
              <a:t>인터페이스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97269" y="980728"/>
            <a:ext cx="5235851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HashSet</a:t>
            </a:r>
            <a:r>
              <a:rPr lang="ko-KR" altLang="en-US" sz="2000" b="1" dirty="0">
                <a:solidFill>
                  <a:srgbClr val="C00000"/>
                </a:solidFill>
              </a:rPr>
              <a:t>을 이용한 자료 관리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075" y="1484784"/>
            <a:ext cx="6368983" cy="49685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232" y="3789040"/>
            <a:ext cx="2415305" cy="230425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53423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b="1" dirty="0" err="1"/>
              <a:t>hashCode</a:t>
            </a:r>
            <a:r>
              <a:rPr lang="en-US" altLang="ko-KR" b="1" dirty="0"/>
              <a:t>() </a:t>
            </a:r>
            <a:r>
              <a:rPr lang="ko-KR" altLang="en-US" b="1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19617" y="980728"/>
            <a:ext cx="8741895" cy="2376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200" b="1" dirty="0">
                <a:solidFill>
                  <a:srgbClr val="C00000"/>
                </a:solidFill>
              </a:rPr>
              <a:t> </a:t>
            </a:r>
            <a:r>
              <a:rPr lang="en-US" altLang="ko-KR" sz="2200" b="1" dirty="0" err="1">
                <a:solidFill>
                  <a:srgbClr val="C00000"/>
                </a:solidFill>
              </a:rPr>
              <a:t>hashCode</a:t>
            </a:r>
            <a:r>
              <a:rPr lang="en-US" altLang="ko-KR" sz="2200" b="1" dirty="0">
                <a:solidFill>
                  <a:srgbClr val="C00000"/>
                </a:solidFill>
              </a:rPr>
              <a:t>() </a:t>
            </a:r>
            <a:r>
              <a:rPr lang="ko-KR" altLang="en-US" sz="2200" b="1" dirty="0" err="1">
                <a:solidFill>
                  <a:srgbClr val="C00000"/>
                </a:solidFill>
              </a:rPr>
              <a:t>메서드</a:t>
            </a:r>
            <a:endParaRPr lang="en-US" altLang="ko-KR" sz="2200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hash : </a:t>
            </a:r>
            <a:r>
              <a:rPr lang="ko-KR" altLang="en-US" sz="1800" dirty="0"/>
              <a:t>정보를 저장</a:t>
            </a:r>
            <a:r>
              <a:rPr lang="en-US" altLang="ko-KR" sz="1800" dirty="0"/>
              <a:t>, </a:t>
            </a:r>
            <a:r>
              <a:rPr lang="ko-KR" altLang="en-US" sz="1800" dirty="0"/>
              <a:t>검색하기 위해 사용하는 자료 구조</a:t>
            </a:r>
            <a:endParaRPr lang="en-US" altLang="ko-KR" sz="1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자료의 특정 값</a:t>
            </a:r>
            <a:r>
              <a:rPr lang="en-US" altLang="ko-KR" sz="1800" dirty="0"/>
              <a:t>(</a:t>
            </a:r>
            <a:r>
              <a:rPr lang="ko-KR" altLang="en-US" sz="1800" dirty="0"/>
              <a:t>키 값</a:t>
            </a:r>
            <a:r>
              <a:rPr lang="en-US" altLang="ko-KR" sz="1800" dirty="0"/>
              <a:t>)</a:t>
            </a:r>
            <a:r>
              <a:rPr lang="ko-KR" altLang="en-US" sz="1800" dirty="0"/>
              <a:t>에 대해 저장 위치를 반환해 주는 해시 함수를 사용함</a:t>
            </a:r>
            <a:r>
              <a:rPr lang="en-US" altLang="ko-KR" sz="1800" dirty="0"/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800" dirty="0"/>
              <a:t>   hash </a:t>
            </a:r>
            <a:r>
              <a:rPr lang="ko-KR" altLang="en-US" sz="1800" dirty="0"/>
              <a:t>알고리즘은 검색</a:t>
            </a:r>
            <a:r>
              <a:rPr lang="en-US" altLang="ko-KR" sz="1800" dirty="0"/>
              <a:t>(search)</a:t>
            </a:r>
            <a:r>
              <a:rPr lang="ko-KR" altLang="en-US" sz="1800" dirty="0"/>
              <a:t>에 효율적임</a:t>
            </a:r>
            <a:endParaRPr lang="en-US" altLang="ko-KR" sz="1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b="1" dirty="0" err="1"/>
              <a:t>hashCode</a:t>
            </a:r>
            <a:r>
              <a:rPr lang="en-US" altLang="ko-KR" sz="1800" b="1" dirty="0"/>
              <a:t>() </a:t>
            </a:r>
            <a:r>
              <a:rPr lang="ko-KR" altLang="en-US" sz="1800" b="1" dirty="0" err="1"/>
              <a:t>메서드는</a:t>
            </a:r>
            <a:r>
              <a:rPr lang="ko-KR" altLang="en-US" sz="1800" b="1" dirty="0"/>
              <a:t> </a:t>
            </a:r>
            <a:r>
              <a:rPr lang="ko-KR" altLang="en-US" sz="1800" b="1" dirty="0" err="1"/>
              <a:t>인스턴스의</a:t>
            </a:r>
            <a:r>
              <a:rPr lang="ko-KR" altLang="en-US" sz="1800" b="1" dirty="0"/>
              <a:t> 저장 주소를 반환함 </a:t>
            </a:r>
            <a:r>
              <a:rPr lang="en-US" altLang="ko-KR" sz="1800" b="1" dirty="0"/>
              <a:t>: </a:t>
            </a:r>
            <a:r>
              <a:rPr lang="en-US" altLang="ko-KR" sz="1800" b="1" dirty="0">
                <a:solidFill>
                  <a:srgbClr val="00B050"/>
                </a:solidFill>
              </a:rPr>
              <a:t>10</a:t>
            </a:r>
            <a:r>
              <a:rPr lang="ko-KR" altLang="en-US" sz="1800" b="1" dirty="0">
                <a:solidFill>
                  <a:srgbClr val="00B050"/>
                </a:solidFill>
              </a:rPr>
              <a:t>진수</a:t>
            </a:r>
            <a:r>
              <a:rPr lang="ko-KR" altLang="en-US" sz="1800" b="1" dirty="0"/>
              <a:t>로 나타냄</a:t>
            </a:r>
            <a:endParaRPr lang="en-US" altLang="ko-KR" sz="1800" b="1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 err="1"/>
              <a:t>힙</a:t>
            </a:r>
            <a:r>
              <a:rPr lang="ko-KR" altLang="en-US" sz="1800" dirty="0"/>
              <a:t> 메모리에 </a:t>
            </a:r>
            <a:r>
              <a:rPr lang="ko-KR" altLang="en-US" sz="1800" dirty="0" err="1"/>
              <a:t>인스턴스가</a:t>
            </a:r>
            <a:r>
              <a:rPr lang="ko-KR" altLang="en-US" sz="1800" dirty="0"/>
              <a:t> 저장되는 방식이 </a:t>
            </a:r>
            <a:r>
              <a:rPr lang="en-US" altLang="ko-KR" sz="1800" dirty="0"/>
              <a:t>hash</a:t>
            </a:r>
            <a:r>
              <a:rPr lang="ko-KR" altLang="en-US" sz="1800" dirty="0"/>
              <a:t>임</a:t>
            </a:r>
            <a:endParaRPr lang="en-US" altLang="ko-KR" sz="1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18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ko-KR" altLang="en-US" sz="1800" dirty="0"/>
              <a:t>   </a:t>
            </a:r>
            <a:endParaRPr lang="en-US" altLang="ko-KR" sz="1400" b="1" dirty="0">
              <a:solidFill>
                <a:srgbClr val="002060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648744" y="4221088"/>
            <a:ext cx="2880320" cy="5040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+mn-ea"/>
              </a:rPr>
              <a:t>  index = </a:t>
            </a: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hash(key)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2763240" y="3627386"/>
            <a:ext cx="1152128" cy="432048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저장위치</a:t>
            </a: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292994" y="3613019"/>
            <a:ext cx="1222128" cy="432048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객체 정보</a:t>
            </a:r>
          </a:p>
        </p:txBody>
      </p:sp>
      <p:cxnSp>
        <p:nvCxnSpPr>
          <p:cNvPr id="7" name="직선 화살표 연결선 6"/>
          <p:cNvCxnSpPr>
            <a:stCxn id="2" idx="2"/>
          </p:cNvCxnSpPr>
          <p:nvPr/>
        </p:nvCxnSpPr>
        <p:spPr>
          <a:xfrm>
            <a:off x="3339304" y="4059434"/>
            <a:ext cx="0" cy="2376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/>
          <p:nvPr/>
        </p:nvCxnSpPr>
        <p:spPr>
          <a:xfrm>
            <a:off x="4894017" y="4059434"/>
            <a:ext cx="0" cy="2376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모서리가 둥근 직사각형 11"/>
          <p:cNvSpPr/>
          <p:nvPr/>
        </p:nvSpPr>
        <p:spPr>
          <a:xfrm>
            <a:off x="3766468" y="5085184"/>
            <a:ext cx="1433168" cy="432048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해시 함수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/>
        </p:nvCxnSpPr>
        <p:spPr>
          <a:xfrm flipV="1">
            <a:off x="4373873" y="4525374"/>
            <a:ext cx="0" cy="5598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130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en-US" altLang="ko-KR" b="1" dirty="0" err="1"/>
              <a:t>hashCode</a:t>
            </a:r>
            <a:r>
              <a:rPr lang="en-US" altLang="ko-KR" b="1" dirty="0"/>
              <a:t>() </a:t>
            </a:r>
            <a:r>
              <a:rPr lang="ko-KR" altLang="en-US" b="1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19617" y="980728"/>
            <a:ext cx="8741895" cy="47525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200" b="1" dirty="0">
                <a:solidFill>
                  <a:srgbClr val="C00000"/>
                </a:solidFill>
              </a:rPr>
              <a:t> </a:t>
            </a:r>
            <a:r>
              <a:rPr lang="en-US" altLang="ko-KR" sz="2200" b="1" dirty="0" err="1">
                <a:solidFill>
                  <a:srgbClr val="C00000"/>
                </a:solidFill>
              </a:rPr>
              <a:t>hashCode</a:t>
            </a:r>
            <a:r>
              <a:rPr lang="en-US" altLang="ko-KR" sz="2200" b="1" dirty="0">
                <a:solidFill>
                  <a:srgbClr val="C00000"/>
                </a:solidFill>
              </a:rPr>
              <a:t>() </a:t>
            </a:r>
            <a:r>
              <a:rPr lang="ko-KR" altLang="en-US" sz="2200" b="1" dirty="0" err="1">
                <a:solidFill>
                  <a:srgbClr val="C00000"/>
                </a:solidFill>
              </a:rPr>
              <a:t>메서드</a:t>
            </a:r>
            <a:endParaRPr lang="en-US" altLang="ko-KR" sz="22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 err="1"/>
              <a:t>hashCode</a:t>
            </a:r>
            <a:r>
              <a:rPr lang="en-US" altLang="ko-KR" sz="1800" dirty="0"/>
              <a:t>()</a:t>
            </a:r>
            <a:r>
              <a:rPr lang="ko-KR" altLang="en-US" sz="1800" dirty="0"/>
              <a:t>의 </a:t>
            </a:r>
            <a:r>
              <a:rPr lang="ko-KR" altLang="en-US" sz="1800" dirty="0" err="1"/>
              <a:t>반환값</a:t>
            </a:r>
            <a:r>
              <a:rPr lang="en-US" altLang="ko-KR" sz="1800" dirty="0"/>
              <a:t>: </a:t>
            </a:r>
            <a:r>
              <a:rPr lang="ko-KR" altLang="en-US" sz="1800" dirty="0"/>
              <a:t>자바 가상 </a:t>
            </a:r>
            <a:r>
              <a:rPr lang="ko-KR" altLang="en-US" sz="1800" dirty="0" err="1"/>
              <a:t>머신이</a:t>
            </a:r>
            <a:r>
              <a:rPr lang="ko-KR" altLang="en-US" sz="1800" dirty="0"/>
              <a:t> 저장한 인스턴스의 </a:t>
            </a:r>
            <a:r>
              <a:rPr lang="ko-KR" altLang="en-US" sz="1800" dirty="0" err="1"/>
              <a:t>주소값을</a:t>
            </a:r>
            <a:r>
              <a:rPr lang="ko-KR" altLang="en-US" sz="1800" dirty="0"/>
              <a:t> </a:t>
            </a:r>
            <a:r>
              <a:rPr lang="en-US" altLang="ko-KR" sz="1800" dirty="0"/>
              <a:t>10</a:t>
            </a:r>
            <a:r>
              <a:rPr lang="ko-KR" altLang="en-US" sz="1800" dirty="0"/>
              <a:t>진수로 나타냄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서로 다른 메모리의 두 인스턴스가 같다면 재정의 된 </a:t>
            </a:r>
            <a:r>
              <a:rPr lang="en-US" altLang="ko-KR" sz="1800" dirty="0"/>
              <a:t>equals() </a:t>
            </a:r>
            <a:r>
              <a:rPr lang="ko-KR" altLang="en-US" sz="1800" dirty="0"/>
              <a:t>메서드의 값은 </a:t>
            </a:r>
            <a:r>
              <a:rPr lang="en-US" altLang="ko-KR" sz="1800" dirty="0"/>
              <a:t>true</a:t>
            </a:r>
            <a:r>
              <a:rPr lang="ko-KR" altLang="en-US" sz="1800" dirty="0"/>
              <a:t>이고</a:t>
            </a:r>
            <a:r>
              <a:rPr lang="en-US" altLang="ko-KR" sz="1800" dirty="0"/>
              <a:t>, </a:t>
            </a:r>
            <a:r>
              <a:rPr lang="ko-KR" altLang="en-US" sz="1800" dirty="0"/>
              <a:t>동일한 </a:t>
            </a:r>
            <a:r>
              <a:rPr lang="en-US" altLang="ko-KR" sz="1800" dirty="0" err="1"/>
              <a:t>hashCode</a:t>
            </a:r>
            <a:r>
              <a:rPr lang="en-US" altLang="ko-KR" sz="1800" dirty="0"/>
              <a:t>() </a:t>
            </a:r>
            <a:r>
              <a:rPr lang="ko-KR" altLang="en-US" sz="1800" dirty="0"/>
              <a:t>값을 가져야 함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논리적으로 동일함을 위해 </a:t>
            </a:r>
            <a:r>
              <a:rPr lang="en-US" altLang="ko-KR" sz="1800" dirty="0"/>
              <a:t>equals() </a:t>
            </a:r>
            <a:r>
              <a:rPr lang="ko-KR" altLang="en-US" sz="1800" dirty="0"/>
              <a:t>메서드를 재정의했다면 </a:t>
            </a:r>
            <a:r>
              <a:rPr lang="en-US" altLang="ko-KR" sz="1800" dirty="0" err="1"/>
              <a:t>hashCode</a:t>
            </a:r>
            <a:r>
              <a:rPr lang="en-US" altLang="ko-KR" sz="1800" dirty="0"/>
              <a:t>(0 </a:t>
            </a:r>
            <a:r>
              <a:rPr lang="ko-KR" altLang="en-US" sz="1800" dirty="0"/>
              <a:t>메서드도 재정의하여 동일한 값이 반환되도록 함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String </a:t>
            </a:r>
            <a:r>
              <a:rPr lang="ko-KR" altLang="en-US" sz="1800" dirty="0"/>
              <a:t>클래스</a:t>
            </a:r>
            <a:r>
              <a:rPr lang="en-US" altLang="ko-KR" sz="1800" dirty="0"/>
              <a:t>: </a:t>
            </a:r>
            <a:r>
              <a:rPr lang="ko-KR" altLang="en-US" sz="1800" dirty="0"/>
              <a:t>동일한 문자열 인스턴스에 대해 동일한 정수가 반환됨</a:t>
            </a:r>
            <a:endParaRPr lang="en-US" altLang="ko-KR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Integer </a:t>
            </a:r>
            <a:r>
              <a:rPr lang="ko-KR" altLang="en-US" sz="1800" dirty="0"/>
              <a:t>클래스</a:t>
            </a:r>
            <a:r>
              <a:rPr lang="en-US" altLang="ko-KR" sz="1800" dirty="0"/>
              <a:t>: </a:t>
            </a:r>
            <a:r>
              <a:rPr lang="ko-KR" altLang="en-US" sz="1800" dirty="0"/>
              <a:t>동일한 </a:t>
            </a:r>
            <a:r>
              <a:rPr lang="ko-KR" altLang="en-US" sz="1800" dirty="0" err="1"/>
              <a:t>정수값의</a:t>
            </a:r>
            <a:r>
              <a:rPr lang="ko-KR" altLang="en-US" sz="1800" dirty="0"/>
              <a:t> 인스턴스에 대해 같은 </a:t>
            </a:r>
            <a:r>
              <a:rPr lang="ko-KR" altLang="en-US" sz="1800" dirty="0" err="1"/>
              <a:t>정수값이</a:t>
            </a:r>
            <a:r>
              <a:rPr lang="ko-KR" altLang="en-US" sz="1800" dirty="0"/>
              <a:t> 반환됨</a:t>
            </a: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/>
              <a:t>   </a:t>
            </a:r>
            <a:endParaRPr lang="en-US" altLang="ko-KR" sz="1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0758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dirty="0" err="1"/>
              <a:t>hashCode</a:t>
            </a:r>
            <a:r>
              <a:rPr lang="en-US" altLang="ko-KR" dirty="0"/>
              <a:t>() </a:t>
            </a:r>
            <a:r>
              <a:rPr lang="ko-KR" altLang="en-US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04065" y="969695"/>
            <a:ext cx="5589095" cy="7038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hashCode</a:t>
            </a:r>
            <a:r>
              <a:rPr lang="en-US" altLang="ko-KR" sz="2000" b="1" dirty="0">
                <a:solidFill>
                  <a:srgbClr val="C00000"/>
                </a:solidFill>
              </a:rPr>
              <a:t>()</a:t>
            </a:r>
            <a:r>
              <a:rPr lang="ko-KR" altLang="en-US" sz="2000" b="1" dirty="0">
                <a:solidFill>
                  <a:srgbClr val="C00000"/>
                </a:solidFill>
              </a:rPr>
              <a:t> 재정의 예제</a:t>
            </a:r>
            <a:endParaRPr lang="en-US" altLang="ko-KR" sz="14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41196"/>
            <a:ext cx="5112568" cy="37503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9738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dirty="0" err="1"/>
              <a:t>hashCode</a:t>
            </a:r>
            <a:r>
              <a:rPr lang="en-US" altLang="ko-KR" dirty="0"/>
              <a:t>() </a:t>
            </a:r>
            <a:r>
              <a:rPr lang="ko-KR" altLang="en-US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04065" y="969695"/>
            <a:ext cx="5589095" cy="7038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hashCode</a:t>
            </a:r>
            <a:r>
              <a:rPr lang="en-US" altLang="ko-KR" sz="2000" b="1" dirty="0">
                <a:solidFill>
                  <a:srgbClr val="C00000"/>
                </a:solidFill>
              </a:rPr>
              <a:t>()</a:t>
            </a:r>
            <a:r>
              <a:rPr lang="ko-KR" altLang="en-US" sz="2000" b="1" dirty="0">
                <a:solidFill>
                  <a:srgbClr val="C00000"/>
                </a:solidFill>
              </a:rPr>
              <a:t> 재정의 예제</a:t>
            </a:r>
            <a:endParaRPr lang="en-US" altLang="ko-KR" sz="1400" b="1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08783"/>
            <a:ext cx="5310180" cy="36004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667026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 err="1"/>
              <a:t>hashCode</a:t>
            </a:r>
            <a:r>
              <a:rPr lang="en-US" altLang="ko-KR" b="1" dirty="0"/>
              <a:t>() </a:t>
            </a:r>
            <a:r>
              <a:rPr lang="ko-KR" altLang="en-US" b="1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8081" y="908720"/>
            <a:ext cx="9045479" cy="7038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HashCodeTest</a:t>
            </a: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l="10934" t="11658" b="6181"/>
          <a:stretch/>
        </p:blipFill>
        <p:spPr>
          <a:xfrm>
            <a:off x="1496616" y="1556792"/>
            <a:ext cx="5916657" cy="45264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7296" y="4115032"/>
            <a:ext cx="1234609" cy="16734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457112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en-US" altLang="ko-KR" b="1" dirty="0" err="1"/>
              <a:t>hashCode</a:t>
            </a:r>
            <a:r>
              <a:rPr lang="en-US" altLang="ko-KR" b="1" dirty="0"/>
              <a:t>() </a:t>
            </a:r>
            <a:r>
              <a:rPr lang="ko-KR" altLang="en-US" b="1" dirty="0" err="1"/>
              <a:t>메서드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8081" y="908720"/>
            <a:ext cx="9045479" cy="7038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HashCodeTest</a:t>
            </a: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646318"/>
            <a:ext cx="6767146" cy="35283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4950" y="1916831"/>
            <a:ext cx="1886521" cy="23764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507355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Map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19809" y="980728"/>
            <a:ext cx="3068815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Map </a:t>
            </a:r>
            <a:r>
              <a:rPr lang="ko-KR" altLang="en-US" sz="2000" b="1" dirty="0">
                <a:solidFill>
                  <a:srgbClr val="C00000"/>
                </a:solidFill>
              </a:rPr>
              <a:t>인터페이스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sp>
        <p:nvSpPr>
          <p:cNvPr id="33" name="사각형: 둥근 모서리 7">
            <a:extLst>
              <a:ext uri="{FF2B5EF4-FFF2-40B4-BE49-F238E27FC236}">
                <a16:creationId xmlns:a16="http://schemas.microsoft.com/office/drawing/2014/main" id="{16A0C1F1-D33A-4B93-8B2D-B2FEAA1FA0D0}"/>
              </a:ext>
            </a:extLst>
          </p:cNvPr>
          <p:cNvSpPr/>
          <p:nvPr/>
        </p:nvSpPr>
        <p:spPr>
          <a:xfrm>
            <a:off x="1396336" y="1772816"/>
            <a:ext cx="1342500" cy="45540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dirty="0">
                <a:solidFill>
                  <a:sysClr val="windowText" lastClr="000000"/>
                </a:solidFill>
              </a:rPr>
              <a:t>Map</a:t>
            </a: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en-US" altLang="ko-KR" dirty="0">
              <a:solidFill>
                <a:sysClr val="windowText" lastClr="000000"/>
              </a:solidFill>
            </a:endParaRPr>
          </a:p>
          <a:p>
            <a:pPr algn="ctr"/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4" name="사각형: 둥근 모서리 29">
            <a:extLst>
              <a:ext uri="{FF2B5EF4-FFF2-40B4-BE49-F238E27FC236}">
                <a16:creationId xmlns:a16="http://schemas.microsoft.com/office/drawing/2014/main" id="{0E8692AE-FFF0-47C4-94F8-AA3823AD50FD}"/>
              </a:ext>
            </a:extLst>
          </p:cNvPr>
          <p:cNvSpPr/>
          <p:nvPr/>
        </p:nvSpPr>
        <p:spPr>
          <a:xfrm>
            <a:off x="2221974" y="2487529"/>
            <a:ext cx="1334602" cy="45540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HashTable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8" name="이등변 삼각형 37">
            <a:extLst>
              <a:ext uri="{FF2B5EF4-FFF2-40B4-BE49-F238E27FC236}">
                <a16:creationId xmlns:a16="http://schemas.microsoft.com/office/drawing/2014/main" id="{1DED755A-66B1-487D-864F-30BC6D6D4018}"/>
              </a:ext>
            </a:extLst>
          </p:cNvPr>
          <p:cNvSpPr/>
          <p:nvPr/>
        </p:nvSpPr>
        <p:spPr>
          <a:xfrm>
            <a:off x="1845746" y="2304194"/>
            <a:ext cx="139902" cy="101691"/>
          </a:xfrm>
          <a:prstGeom prst="triangl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3AF6A65-577F-41C6-B586-5AF131748EBC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1915697" y="2405885"/>
            <a:ext cx="0" cy="1451415"/>
          </a:xfrm>
          <a:prstGeom prst="lin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A1AF82F8-8CB7-457E-9E67-B17335DB50EE}"/>
              </a:ext>
            </a:extLst>
          </p:cNvPr>
          <p:cNvCxnSpPr/>
          <p:nvPr/>
        </p:nvCxnSpPr>
        <p:spPr>
          <a:xfrm>
            <a:off x="1915697" y="2691148"/>
            <a:ext cx="306277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8B5B512E-908F-4494-9A08-8F68C46F1216}"/>
              </a:ext>
            </a:extLst>
          </p:cNvPr>
          <p:cNvCxnSpPr/>
          <p:nvPr/>
        </p:nvCxnSpPr>
        <p:spPr>
          <a:xfrm>
            <a:off x="1915697" y="3253932"/>
            <a:ext cx="306277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FB268566-C15F-4E6E-898E-558170394073}"/>
              </a:ext>
            </a:extLst>
          </p:cNvPr>
          <p:cNvCxnSpPr/>
          <p:nvPr/>
        </p:nvCxnSpPr>
        <p:spPr>
          <a:xfrm>
            <a:off x="1915697" y="3857301"/>
            <a:ext cx="306277" cy="0"/>
          </a:xfrm>
          <a:prstGeom prst="line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</p:cxnSp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0E8692AE-FFF0-47C4-94F8-AA3823AD50FD}"/>
              </a:ext>
            </a:extLst>
          </p:cNvPr>
          <p:cNvSpPr/>
          <p:nvPr/>
        </p:nvSpPr>
        <p:spPr>
          <a:xfrm>
            <a:off x="2221974" y="3066816"/>
            <a:ext cx="1334602" cy="45540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HashMap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45" name="사각형: 둥근 모서리 29">
            <a:extLst>
              <a:ext uri="{FF2B5EF4-FFF2-40B4-BE49-F238E27FC236}">
                <a16:creationId xmlns:a16="http://schemas.microsoft.com/office/drawing/2014/main" id="{0E8692AE-FFF0-47C4-94F8-AA3823AD50FD}"/>
              </a:ext>
            </a:extLst>
          </p:cNvPr>
          <p:cNvSpPr/>
          <p:nvPr/>
        </p:nvSpPr>
        <p:spPr>
          <a:xfrm>
            <a:off x="2221974" y="3629599"/>
            <a:ext cx="1334602" cy="45540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ysClr val="windowText" lastClr="000000"/>
                </a:solidFill>
              </a:rPr>
              <a:t>TreeMap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6656" y="1690368"/>
            <a:ext cx="4564776" cy="320829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167487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Map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8081" y="980728"/>
            <a:ext cx="3068815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Map </a:t>
            </a:r>
            <a:r>
              <a:rPr lang="ko-KR" altLang="en-US" sz="2000" b="1" dirty="0">
                <a:solidFill>
                  <a:srgbClr val="C00000"/>
                </a:solidFill>
              </a:rPr>
              <a:t>인터페이스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87908839-6D83-432F-8CE5-B33149AF3252}"/>
              </a:ext>
            </a:extLst>
          </p:cNvPr>
          <p:cNvGraphicFramePr>
            <a:graphicFrameLocks noGrp="1"/>
          </p:cNvGraphicFramePr>
          <p:nvPr/>
        </p:nvGraphicFramePr>
        <p:xfrm>
          <a:off x="1472408" y="4149080"/>
          <a:ext cx="6864968" cy="184311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64368">
                  <a:extLst>
                    <a:ext uri="{9D8B030D-6E8A-4147-A177-3AD203B41FA5}">
                      <a16:colId xmlns:a16="http://schemas.microsoft.com/office/drawing/2014/main" val="2887738532"/>
                    </a:ext>
                  </a:extLst>
                </a:gridCol>
                <a:gridCol w="5400600">
                  <a:extLst>
                    <a:ext uri="{9D8B030D-6E8A-4147-A177-3AD203B41FA5}">
                      <a16:colId xmlns:a16="http://schemas.microsoft.com/office/drawing/2014/main" val="2999485284"/>
                    </a:ext>
                  </a:extLst>
                </a:gridCol>
              </a:tblGrid>
              <a:tr h="4407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분류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특</a:t>
                      </a:r>
                      <a:r>
                        <a:rPr lang="ko-KR" altLang="en-US" sz="1600" dirty="0"/>
                        <a:t> 징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140236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Map </a:t>
                      </a:r>
                    </a:p>
                    <a:p>
                      <a:pPr latinLnBrk="1"/>
                      <a:r>
                        <a:rPr lang="ko-KR" altLang="en-US" sz="1600" dirty="0"/>
                        <a:t>인터페이스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600" dirty="0"/>
                        <a:t>-</a:t>
                      </a:r>
                      <a:r>
                        <a:rPr lang="en-US" altLang="ko-KR" sz="1600" baseline="0" dirty="0"/>
                        <a:t> </a:t>
                      </a:r>
                      <a:r>
                        <a:rPr lang="ko-KR" altLang="en-US" sz="1600" dirty="0"/>
                        <a:t>키</a:t>
                      </a:r>
                      <a:r>
                        <a:rPr lang="en-US" altLang="ko-KR" sz="1600" dirty="0"/>
                        <a:t>(key)</a:t>
                      </a:r>
                      <a:r>
                        <a:rPr lang="ko-KR" altLang="en-US" sz="1600" dirty="0"/>
                        <a:t>와 값</a:t>
                      </a:r>
                      <a:r>
                        <a:rPr lang="en-US" altLang="ko-KR" sz="1600" dirty="0"/>
                        <a:t>(Value)</a:t>
                      </a:r>
                      <a:r>
                        <a:rPr lang="ko-KR" altLang="en-US" sz="1600" dirty="0"/>
                        <a:t>의 쌍으로 저장</a:t>
                      </a:r>
                      <a:endParaRPr lang="en-US" altLang="ko-KR" sz="1600" dirty="0"/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600" dirty="0"/>
                        <a:t>- </a:t>
                      </a:r>
                      <a:r>
                        <a:rPr lang="ko-KR" altLang="en-US" sz="1600" dirty="0"/>
                        <a:t>키는 중복 저장 안되고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값은 가능</a:t>
                      </a:r>
                      <a:endParaRPr lang="en-US" altLang="ko-KR" sz="1600" dirty="0"/>
                    </a:p>
                    <a:p>
                      <a:pPr marL="0" indent="0" latinLnBrk="1">
                        <a:lnSpc>
                          <a:spcPct val="150000"/>
                        </a:lnSpc>
                        <a:buFontTx/>
                        <a:buNone/>
                      </a:pPr>
                      <a:r>
                        <a:rPr lang="en-US" altLang="ko-KR" sz="1600" baseline="0" dirty="0"/>
                        <a:t>- </a:t>
                      </a:r>
                      <a:r>
                        <a:rPr lang="ko-KR" altLang="en-US" sz="1600" baseline="0" dirty="0"/>
                        <a:t>구현 클래스 </a:t>
                      </a:r>
                      <a:r>
                        <a:rPr lang="en-US" altLang="ko-KR" sz="1600" baseline="0" dirty="0"/>
                        <a:t>: </a:t>
                      </a:r>
                      <a:r>
                        <a:rPr lang="en-US" altLang="ko-KR" sz="1800" b="0" dirty="0" err="1"/>
                        <a:t>HashMap</a:t>
                      </a:r>
                      <a:r>
                        <a:rPr lang="en-US" altLang="ko-KR" sz="1800" b="0" dirty="0"/>
                        <a:t>, </a:t>
                      </a:r>
                      <a:r>
                        <a:rPr lang="en-US" altLang="ko-KR" sz="1800" b="0" dirty="0" err="1"/>
                        <a:t>HashTable</a:t>
                      </a:r>
                      <a:r>
                        <a:rPr lang="en-US" altLang="ko-KR" sz="1800" b="0" dirty="0"/>
                        <a:t>,</a:t>
                      </a:r>
                      <a:r>
                        <a:rPr lang="en-US" altLang="ko-KR" sz="1800" b="0" baseline="0" dirty="0"/>
                        <a:t> </a:t>
                      </a:r>
                      <a:r>
                        <a:rPr lang="en-US" altLang="ko-KR" sz="1800" b="0" dirty="0" err="1"/>
                        <a:t>TreeMap</a:t>
                      </a:r>
                      <a:endParaRPr lang="ko-KR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</a:tbl>
          </a:graphicData>
        </a:graphic>
      </p:graphicFrame>
      <p:sp>
        <p:nvSpPr>
          <p:cNvPr id="15" name="사각형: 둥근 모서리 7">
            <a:extLst>
              <a:ext uri="{FF2B5EF4-FFF2-40B4-BE49-F238E27FC236}">
                <a16:creationId xmlns:a16="http://schemas.microsoft.com/office/drawing/2014/main" id="{2BA22EB7-1106-4D65-89F7-AB1E1341D8A9}"/>
              </a:ext>
            </a:extLst>
          </p:cNvPr>
          <p:cNvSpPr/>
          <p:nvPr/>
        </p:nvSpPr>
        <p:spPr>
          <a:xfrm>
            <a:off x="1496616" y="1657224"/>
            <a:ext cx="4176464" cy="223224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300" dirty="0"/>
              <a:t> </a:t>
            </a:r>
            <a:endParaRPr lang="ko-KR" altLang="en-US" sz="1300" dirty="0"/>
          </a:p>
        </p:txBody>
      </p:sp>
      <p:sp>
        <p:nvSpPr>
          <p:cNvPr id="16" name="사각형: 둥근 모서리 8">
            <a:extLst>
              <a:ext uri="{FF2B5EF4-FFF2-40B4-BE49-F238E27FC236}">
                <a16:creationId xmlns:a16="http://schemas.microsoft.com/office/drawing/2014/main" id="{A452BBF6-3909-4076-9D75-38BC89DAA4E4}"/>
              </a:ext>
            </a:extLst>
          </p:cNvPr>
          <p:cNvSpPr/>
          <p:nvPr/>
        </p:nvSpPr>
        <p:spPr>
          <a:xfrm>
            <a:off x="1656994" y="2284949"/>
            <a:ext cx="3800062" cy="100890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300" dirty="0"/>
              <a:t> </a:t>
            </a:r>
            <a:endParaRPr lang="ko-KR" altLang="en-US" sz="1300" dirty="0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AE3A378-3108-44D3-B4E8-334D6161D0B9}"/>
              </a:ext>
            </a:extLst>
          </p:cNvPr>
          <p:cNvGraphicFramePr>
            <a:graphicFrameLocks noGrp="1"/>
          </p:cNvGraphicFramePr>
          <p:nvPr/>
        </p:nvGraphicFramePr>
        <p:xfrm>
          <a:off x="2408822" y="2448522"/>
          <a:ext cx="549241" cy="602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9241">
                  <a:extLst>
                    <a:ext uri="{9D8B030D-6E8A-4147-A177-3AD203B41FA5}">
                      <a16:colId xmlns:a16="http://schemas.microsoft.com/office/drawing/2014/main" val="1209056767"/>
                    </a:ext>
                  </a:extLst>
                </a:gridCol>
              </a:tblGrid>
              <a:tr h="301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키</a:t>
                      </a:r>
                    </a:p>
                  </a:txBody>
                  <a:tcPr marL="74295" marR="74295" marT="37148" marB="3714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556659"/>
                  </a:ext>
                </a:extLst>
              </a:tr>
              <a:tr h="301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값</a:t>
                      </a:r>
                    </a:p>
                  </a:txBody>
                  <a:tcPr marL="74295" marR="74295" marT="37148" marB="37148"/>
                </a:tc>
                <a:extLst>
                  <a:ext uri="{0D108BD9-81ED-4DB2-BD59-A6C34878D82A}">
                    <a16:rowId xmlns:a16="http://schemas.microsoft.com/office/drawing/2014/main" val="102575930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DE6766B3-D945-4E03-9643-17DF23270C24}"/>
              </a:ext>
            </a:extLst>
          </p:cNvPr>
          <p:cNvSpPr txBox="1"/>
          <p:nvPr/>
        </p:nvSpPr>
        <p:spPr>
          <a:xfrm>
            <a:off x="1752418" y="2358664"/>
            <a:ext cx="729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Map </a:t>
            </a:r>
          </a:p>
          <a:p>
            <a:r>
              <a:rPr lang="ko-KR" altLang="en-US" sz="1400" dirty="0"/>
              <a:t>컬렉션</a:t>
            </a:r>
            <a:endParaRPr lang="en-US" altLang="ko-KR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C32E38-DAD1-4638-B7F2-F189A2D38F6D}"/>
              </a:ext>
            </a:extLst>
          </p:cNvPr>
          <p:cNvSpPr txBox="1"/>
          <p:nvPr/>
        </p:nvSpPr>
        <p:spPr>
          <a:xfrm>
            <a:off x="1649586" y="1708747"/>
            <a:ext cx="832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힙</a:t>
            </a:r>
            <a:r>
              <a:rPr lang="en-US" altLang="ko-KR" sz="1400" dirty="0"/>
              <a:t> </a:t>
            </a:r>
            <a:r>
              <a:rPr lang="ko-KR" altLang="en-US" sz="1400" dirty="0"/>
              <a:t>영역</a:t>
            </a:r>
            <a:r>
              <a:rPr lang="en-US" altLang="ko-KR" sz="1400" dirty="0"/>
              <a:t> 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76D695C6-D1F3-44F0-9440-11106F083BA9}"/>
              </a:ext>
            </a:extLst>
          </p:cNvPr>
          <p:cNvSpPr/>
          <p:nvPr/>
        </p:nvSpPr>
        <p:spPr>
          <a:xfrm>
            <a:off x="2451340" y="3375663"/>
            <a:ext cx="825843" cy="4418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값</a:t>
            </a:r>
            <a:endParaRPr lang="en-US" altLang="ko-K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객체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6A6F253-10A1-4A3C-B89D-1FB9F24AEA53}"/>
              </a:ext>
            </a:extLst>
          </p:cNvPr>
          <p:cNvSpPr/>
          <p:nvPr/>
        </p:nvSpPr>
        <p:spPr>
          <a:xfrm>
            <a:off x="2451340" y="1723541"/>
            <a:ext cx="825843" cy="4418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키</a:t>
            </a:r>
            <a:endParaRPr lang="en-US" altLang="ko-K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객체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F9E20DA-0D48-4925-AD4A-5E4D4A592C9E}"/>
              </a:ext>
            </a:extLst>
          </p:cNvPr>
          <p:cNvCxnSpPr>
            <a:cxnSpLocks/>
          </p:cNvCxnSpPr>
          <p:nvPr/>
        </p:nvCxnSpPr>
        <p:spPr>
          <a:xfrm flipH="1" flipV="1">
            <a:off x="2846504" y="2139391"/>
            <a:ext cx="8878" cy="492704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E9125FE6-53A9-480A-A6EF-FFECA29458D9}"/>
              </a:ext>
            </a:extLst>
          </p:cNvPr>
          <p:cNvSpPr/>
          <p:nvPr/>
        </p:nvSpPr>
        <p:spPr>
          <a:xfrm>
            <a:off x="4041709" y="3332845"/>
            <a:ext cx="825843" cy="4418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값</a:t>
            </a:r>
            <a:endParaRPr lang="en-US" altLang="ko-K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객체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31CA40D-B74E-4A78-88B1-8EF41328FA60}"/>
              </a:ext>
            </a:extLst>
          </p:cNvPr>
          <p:cNvSpPr/>
          <p:nvPr/>
        </p:nvSpPr>
        <p:spPr>
          <a:xfrm>
            <a:off x="3440497" y="1708747"/>
            <a:ext cx="825843" cy="4418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키</a:t>
            </a:r>
            <a:endParaRPr lang="en-US" altLang="ko-K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객체</a:t>
            </a: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313C782B-5681-4878-89A3-FFC16E056827}"/>
              </a:ext>
            </a:extLst>
          </p:cNvPr>
          <p:cNvGraphicFramePr>
            <a:graphicFrameLocks noGrp="1"/>
          </p:cNvGraphicFramePr>
          <p:nvPr/>
        </p:nvGraphicFramePr>
        <p:xfrm>
          <a:off x="3654839" y="2448522"/>
          <a:ext cx="549241" cy="602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9241">
                  <a:extLst>
                    <a:ext uri="{9D8B030D-6E8A-4147-A177-3AD203B41FA5}">
                      <a16:colId xmlns:a16="http://schemas.microsoft.com/office/drawing/2014/main" val="1209056767"/>
                    </a:ext>
                  </a:extLst>
                </a:gridCol>
              </a:tblGrid>
              <a:tr h="301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키</a:t>
                      </a:r>
                    </a:p>
                  </a:txBody>
                  <a:tcPr marL="74295" marR="74295" marT="37148" marB="3714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556659"/>
                  </a:ext>
                </a:extLst>
              </a:tr>
              <a:tr h="301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값</a:t>
                      </a:r>
                    </a:p>
                  </a:txBody>
                  <a:tcPr marL="74295" marR="74295" marT="37148" marB="37148"/>
                </a:tc>
                <a:extLst>
                  <a:ext uri="{0D108BD9-81ED-4DB2-BD59-A6C34878D82A}">
                    <a16:rowId xmlns:a16="http://schemas.microsoft.com/office/drawing/2014/main" val="1025759309"/>
                  </a:ext>
                </a:extLst>
              </a:tr>
            </a:tbl>
          </a:graphicData>
        </a:graphic>
      </p:graphicFrame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94B2B050-C0FC-484F-970C-2CC3AFA211AA}"/>
              </a:ext>
            </a:extLst>
          </p:cNvPr>
          <p:cNvCxnSpPr>
            <a:cxnSpLocks/>
          </p:cNvCxnSpPr>
          <p:nvPr/>
        </p:nvCxnSpPr>
        <p:spPr>
          <a:xfrm flipH="1" flipV="1">
            <a:off x="3753080" y="2041946"/>
            <a:ext cx="8878" cy="492704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AB922325-0130-400F-8005-CC6CA932D444}"/>
              </a:ext>
            </a:extLst>
          </p:cNvPr>
          <p:cNvCxnSpPr>
            <a:cxnSpLocks/>
          </p:cNvCxnSpPr>
          <p:nvPr/>
        </p:nvCxnSpPr>
        <p:spPr>
          <a:xfrm>
            <a:off x="3978989" y="2974024"/>
            <a:ext cx="418531" cy="408570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6FA30BF-61B5-4561-8DD2-7ADD5852787B}"/>
              </a:ext>
            </a:extLst>
          </p:cNvPr>
          <p:cNvCxnSpPr>
            <a:cxnSpLocks/>
          </p:cNvCxnSpPr>
          <p:nvPr/>
        </p:nvCxnSpPr>
        <p:spPr>
          <a:xfrm>
            <a:off x="2846503" y="2995897"/>
            <a:ext cx="25840" cy="461527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타원 28">
            <a:extLst>
              <a:ext uri="{FF2B5EF4-FFF2-40B4-BE49-F238E27FC236}">
                <a16:creationId xmlns:a16="http://schemas.microsoft.com/office/drawing/2014/main" id="{7629D668-7838-4774-85DA-972AAC270186}"/>
              </a:ext>
            </a:extLst>
          </p:cNvPr>
          <p:cNvSpPr/>
          <p:nvPr/>
        </p:nvSpPr>
        <p:spPr>
          <a:xfrm>
            <a:off x="4490148" y="1708747"/>
            <a:ext cx="825843" cy="4418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키</a:t>
            </a:r>
            <a:endParaRPr lang="en-US" altLang="ko-KR" sz="1400" dirty="0">
              <a:solidFill>
                <a:sysClr val="windowText" lastClr="000000"/>
              </a:solidFill>
            </a:endParaRPr>
          </a:p>
          <a:p>
            <a:pPr algn="ctr"/>
            <a:r>
              <a:rPr lang="ko-KR" altLang="en-US" sz="1400" dirty="0">
                <a:solidFill>
                  <a:sysClr val="windowText" lastClr="000000"/>
                </a:solidFill>
              </a:rPr>
              <a:t>객체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BF076B63-74F1-430E-9530-5C756114766D}"/>
              </a:ext>
            </a:extLst>
          </p:cNvPr>
          <p:cNvGraphicFramePr>
            <a:graphicFrameLocks noGrp="1"/>
          </p:cNvGraphicFramePr>
          <p:nvPr/>
        </p:nvGraphicFramePr>
        <p:xfrm>
          <a:off x="4704491" y="2448522"/>
          <a:ext cx="549241" cy="6026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9241">
                  <a:extLst>
                    <a:ext uri="{9D8B030D-6E8A-4147-A177-3AD203B41FA5}">
                      <a16:colId xmlns:a16="http://schemas.microsoft.com/office/drawing/2014/main" val="1209056767"/>
                    </a:ext>
                  </a:extLst>
                </a:gridCol>
              </a:tblGrid>
              <a:tr h="301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키</a:t>
                      </a:r>
                    </a:p>
                  </a:txBody>
                  <a:tcPr marL="74295" marR="74295" marT="37148" marB="37148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556659"/>
                  </a:ext>
                </a:extLst>
              </a:tr>
              <a:tr h="3013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dirty="0"/>
                        <a:t>값</a:t>
                      </a:r>
                    </a:p>
                  </a:txBody>
                  <a:tcPr marL="74295" marR="74295" marT="37148" marB="37148"/>
                </a:tc>
                <a:extLst>
                  <a:ext uri="{0D108BD9-81ED-4DB2-BD59-A6C34878D82A}">
                    <a16:rowId xmlns:a16="http://schemas.microsoft.com/office/drawing/2014/main" val="1025759309"/>
                  </a:ext>
                </a:extLst>
              </a:tr>
            </a:tbl>
          </a:graphicData>
        </a:graphic>
      </p:graphicFrame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3758B27-97E3-4026-BF28-F45E14FE1723}"/>
              </a:ext>
            </a:extLst>
          </p:cNvPr>
          <p:cNvCxnSpPr>
            <a:cxnSpLocks/>
          </p:cNvCxnSpPr>
          <p:nvPr/>
        </p:nvCxnSpPr>
        <p:spPr>
          <a:xfrm flipH="1" flipV="1">
            <a:off x="4802732" y="2041946"/>
            <a:ext cx="8878" cy="492704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F02684A-DA8D-4F69-A63F-DB414D3A1042}"/>
              </a:ext>
            </a:extLst>
          </p:cNvPr>
          <p:cNvCxnSpPr>
            <a:cxnSpLocks/>
          </p:cNvCxnSpPr>
          <p:nvPr/>
        </p:nvCxnSpPr>
        <p:spPr>
          <a:xfrm flipH="1">
            <a:off x="4525320" y="2978539"/>
            <a:ext cx="342232" cy="391964"/>
          </a:xfrm>
          <a:prstGeom prst="straightConnector1">
            <a:avLst/>
          </a:prstGeom>
          <a:ln w="12700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925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8E05A061-FEA4-4B08-9F8F-EBB960B6D986}"/>
              </a:ext>
            </a:extLst>
          </p:cNvPr>
          <p:cNvGraphicFramePr>
            <a:graphicFrameLocks noGrp="1"/>
          </p:cNvGraphicFramePr>
          <p:nvPr/>
        </p:nvGraphicFramePr>
        <p:xfrm>
          <a:off x="2000672" y="2284017"/>
          <a:ext cx="5616624" cy="1173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16624">
                  <a:extLst>
                    <a:ext uri="{9D8B030D-6E8A-4147-A177-3AD203B41FA5}">
                      <a16:colId xmlns:a16="http://schemas.microsoft.com/office/drawing/2014/main" val="3058073475"/>
                    </a:ext>
                  </a:extLst>
                </a:gridCol>
              </a:tblGrid>
              <a:tr h="1173104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 Map&lt;K, V&gt; map = new HashMap&lt;K, V&gt;();</a:t>
                      </a:r>
                    </a:p>
                    <a:p>
                      <a:pPr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 </a:t>
                      </a:r>
                      <a:r>
                        <a:rPr lang="en-US" altLang="ko-KR" sz="1600" dirty="0">
                          <a:solidFill>
                            <a:srgbClr val="C00000"/>
                          </a:solidFill>
                        </a:rPr>
                        <a:t>Map&lt;String, Integer&gt; map = new </a:t>
                      </a:r>
                      <a:r>
                        <a:rPr lang="en-US" altLang="ko-KR" sz="1600" dirty="0" err="1">
                          <a:solidFill>
                            <a:srgbClr val="C00000"/>
                          </a:solidFill>
                        </a:rPr>
                        <a:t>HashMap</a:t>
                      </a:r>
                      <a:r>
                        <a:rPr lang="en-US" altLang="ko-KR" sz="1600" dirty="0">
                          <a:solidFill>
                            <a:srgbClr val="C00000"/>
                          </a:solidFill>
                        </a:rPr>
                        <a:t>&lt;&gt;();</a:t>
                      </a:r>
                    </a:p>
                  </a:txBody>
                  <a:tcPr marL="74295" marR="74295" marT="37148" marB="37148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081826"/>
                  </a:ext>
                </a:extLst>
              </a:tr>
            </a:tbl>
          </a:graphicData>
        </a:graphic>
      </p:graphicFrame>
      <p:sp>
        <p:nvSpPr>
          <p:cNvPr id="29" name="제목 5"/>
          <p:cNvSpPr txBox="1">
            <a:spLocks/>
          </p:cNvSpPr>
          <p:nvPr/>
        </p:nvSpPr>
        <p:spPr>
          <a:xfrm>
            <a:off x="0" y="97516"/>
            <a:ext cx="6201139" cy="85496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Map </a:t>
            </a:r>
            <a:r>
              <a:rPr lang="ko-KR" altLang="en-US" dirty="0"/>
              <a:t>인터페이스</a:t>
            </a:r>
          </a:p>
        </p:txBody>
      </p:sp>
      <p:sp>
        <p:nvSpPr>
          <p:cNvPr id="3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92560" y="901915"/>
            <a:ext cx="7488832" cy="137495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Map </a:t>
            </a:r>
            <a:r>
              <a:rPr lang="ko-KR" altLang="en-US" sz="2000" b="1" dirty="0">
                <a:solidFill>
                  <a:srgbClr val="C00000"/>
                </a:solidFill>
              </a:rPr>
              <a:t>인터페이스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/>
              <a:t>Key-value pair</a:t>
            </a:r>
            <a:r>
              <a:rPr lang="ko-KR" altLang="en-US" sz="1600" dirty="0"/>
              <a:t>의 객체를 관리하는데 필요한 </a:t>
            </a:r>
            <a:r>
              <a:rPr lang="ko-KR" altLang="en-US" sz="1600" dirty="0" err="1"/>
              <a:t>메서드가</a:t>
            </a:r>
            <a:r>
              <a:rPr lang="ko-KR" altLang="en-US" sz="1600" dirty="0"/>
              <a:t> 정의 됨</a:t>
            </a:r>
            <a:endParaRPr lang="en-US" altLang="ko-KR" sz="16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/>
              <a:t>Key</a:t>
            </a:r>
            <a:r>
              <a:rPr lang="ko-KR" altLang="en-US" sz="1600" dirty="0"/>
              <a:t>를 이용하여 값을 저장하거나 검색</a:t>
            </a:r>
            <a:r>
              <a:rPr lang="en-US" altLang="ko-KR" sz="1600" dirty="0"/>
              <a:t>, </a:t>
            </a:r>
            <a:r>
              <a:rPr lang="ko-KR" altLang="en-US" sz="1600" dirty="0"/>
              <a:t>삭제 </a:t>
            </a:r>
            <a:r>
              <a:rPr lang="ko-KR" altLang="en-US" sz="1600" dirty="0" err="1"/>
              <a:t>할때</a:t>
            </a:r>
            <a:r>
              <a:rPr lang="ko-KR" altLang="en-US" sz="1600" dirty="0"/>
              <a:t> 사용하면 편리함</a:t>
            </a:r>
            <a:endParaRPr lang="en-US" altLang="ko-KR" sz="1600" dirty="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8B2F92F-E9BD-43E0-8573-FFD8E376842B}"/>
              </a:ext>
            </a:extLst>
          </p:cNvPr>
          <p:cNvGraphicFramePr>
            <a:graphicFrameLocks noGrp="1"/>
          </p:cNvGraphicFramePr>
          <p:nvPr/>
        </p:nvGraphicFramePr>
        <p:xfrm>
          <a:off x="1353710" y="3573014"/>
          <a:ext cx="8027746" cy="273630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38206">
                  <a:extLst>
                    <a:ext uri="{9D8B030D-6E8A-4147-A177-3AD203B41FA5}">
                      <a16:colId xmlns:a16="http://schemas.microsoft.com/office/drawing/2014/main" val="2887738532"/>
                    </a:ext>
                  </a:extLst>
                </a:gridCol>
                <a:gridCol w="2598478">
                  <a:extLst>
                    <a:ext uri="{9D8B030D-6E8A-4147-A177-3AD203B41FA5}">
                      <a16:colId xmlns:a16="http://schemas.microsoft.com/office/drawing/2014/main" val="3449779131"/>
                    </a:ext>
                  </a:extLst>
                </a:gridCol>
                <a:gridCol w="4091062">
                  <a:extLst>
                    <a:ext uri="{9D8B030D-6E8A-4147-A177-3AD203B41FA5}">
                      <a16:colId xmlns:a16="http://schemas.microsoft.com/office/drawing/2014/main" val="2999485284"/>
                    </a:ext>
                  </a:extLst>
                </a:gridCol>
              </a:tblGrid>
              <a:tr h="3583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기능</a:t>
                      </a:r>
                    </a:p>
                  </a:txBody>
                  <a:tcPr marL="74295" marR="74295" marT="37148" marB="3714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메소드</a:t>
                      </a:r>
                    </a:p>
                  </a:txBody>
                  <a:tcPr marL="74295" marR="74295" marT="37148" marB="3714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 marL="74295" marR="74295" marT="37148" marB="37148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39632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객체 추가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put(key, value)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주어진 키로 값을 저장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396325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객체 검색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contains(object key)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주어진 키가 저장되어 있는지 여부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962380499"/>
                  </a:ext>
                </a:extLst>
              </a:tr>
              <a:tr h="396325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 err="1"/>
                        <a:t>isEmpty</a:t>
                      </a:r>
                      <a:r>
                        <a:rPr lang="en-US" altLang="ko-KR" sz="1600" dirty="0"/>
                        <a:t>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컬렉션이 비어 있는지 조사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2061246058"/>
                  </a:ext>
                </a:extLst>
              </a:tr>
              <a:tr h="396325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size()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저장되어 있는 키의 총 수를 리턴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699605084"/>
                  </a:ext>
                </a:extLst>
              </a:tr>
              <a:tr h="396325">
                <a:tc rowSpan="2">
                  <a:txBody>
                    <a:bodyPr/>
                    <a:lstStyle/>
                    <a:p>
                      <a:pPr latinLnBrk="1"/>
                      <a:r>
                        <a:rPr lang="ko-KR" altLang="en-US" sz="1600" dirty="0"/>
                        <a:t>객체 삭제</a:t>
                      </a:r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clear()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저장된 모든 키와 값을 삭제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3673702031"/>
                  </a:ext>
                </a:extLst>
              </a:tr>
              <a:tr h="396325">
                <a:tc vMerge="1">
                  <a:txBody>
                    <a:bodyPr/>
                    <a:lstStyle/>
                    <a:p>
                      <a:pPr latinLnBrk="1"/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remove(Object key)</a:t>
                      </a:r>
                      <a:endParaRPr lang="ko-KR" altLang="en-US" sz="16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주어진 키와 일치하는 객체를 삭제하고 값을 리턴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311623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012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Map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80728"/>
            <a:ext cx="6597207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Map</a:t>
            </a:r>
            <a:r>
              <a:rPr lang="ko-KR" altLang="en-US" sz="2000" b="1" dirty="0">
                <a:solidFill>
                  <a:srgbClr val="C00000"/>
                </a:solidFill>
              </a:rPr>
              <a:t>을 이용한 자료 관리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800"/>
            <a:ext cx="7157902" cy="46085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26832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Map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20089" y="980728"/>
            <a:ext cx="3500863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Map</a:t>
            </a:r>
            <a:r>
              <a:rPr lang="ko-KR" altLang="en-US" sz="2000" b="1" dirty="0">
                <a:solidFill>
                  <a:srgbClr val="C00000"/>
                </a:solidFill>
              </a:rPr>
              <a:t>을 이용한 자료 관리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628800"/>
            <a:ext cx="7081464" cy="41764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683" y="3501008"/>
            <a:ext cx="1602924" cy="129614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03599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Map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1285" y="980728"/>
            <a:ext cx="4299747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컴퓨터 용어 사전 만들기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636" y="3212976"/>
            <a:ext cx="6048672" cy="21249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1316596" y="1556792"/>
            <a:ext cx="6408712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간단한 컴퓨터 용어 사전 프로그램을 구현함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/>
              <a:t>HashMap</a:t>
            </a:r>
            <a:r>
              <a:rPr lang="ko-KR" altLang="en-US" dirty="0"/>
              <a:t>을 사용하여 용어와 그 정의를 저장함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dirty="0"/>
              <a:t>사용자 입력을 통해 용어를 검색할 수 있는 기능을 제공함  </a:t>
            </a:r>
          </a:p>
        </p:txBody>
      </p:sp>
    </p:spTree>
    <p:extLst>
      <p:ext uri="{BB962C8B-B14F-4D97-AF65-F5344CB8AC3E}">
        <p14:creationId xmlns:p14="http://schemas.microsoft.com/office/powerpoint/2010/main" val="13811037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Map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1285" y="980728"/>
            <a:ext cx="4299747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컴퓨터 용어 사전 만들기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131" y="1628800"/>
            <a:ext cx="8640418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40724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Map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1285" y="980728"/>
            <a:ext cx="4299747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>
                <a:solidFill>
                  <a:srgbClr val="C00000"/>
                </a:solidFill>
              </a:rPr>
              <a:t>컴퓨터 용어 사전 만들기</a:t>
            </a: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98672"/>
            <a:ext cx="6447229" cy="47525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631518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회원 관리 프로그램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74177" y="980728"/>
            <a:ext cx="5379867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ArrayList</a:t>
            </a:r>
            <a:r>
              <a:rPr lang="ko-KR" altLang="en-US" sz="2000" b="1" dirty="0">
                <a:solidFill>
                  <a:srgbClr val="C00000"/>
                </a:solidFill>
              </a:rPr>
              <a:t>를 활용한 회원관리 프로그램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464" y="1722346"/>
            <a:ext cx="6186880" cy="42989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722443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회원 관리 프로그램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69277" y="980728"/>
            <a:ext cx="5379867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ArrayList</a:t>
            </a:r>
            <a:r>
              <a:rPr lang="ko-KR" altLang="en-US" sz="2000" b="1" dirty="0">
                <a:solidFill>
                  <a:srgbClr val="C00000"/>
                </a:solidFill>
              </a:rPr>
              <a:t>를 활용한 회원관리 프로그램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661714"/>
            <a:ext cx="7826110" cy="31253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953735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회원 관리 프로그램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69277" y="980728"/>
            <a:ext cx="7396091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ArrayList</a:t>
            </a:r>
            <a:r>
              <a:rPr lang="ko-KR" altLang="en-US" sz="2000" b="1" dirty="0">
                <a:solidFill>
                  <a:srgbClr val="C00000"/>
                </a:solidFill>
              </a:rPr>
              <a:t>를 활용한 회원관리 프로그램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8624" y="1556792"/>
            <a:ext cx="6501801" cy="4492285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940700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회원 관리 프로그램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1285" y="980728"/>
            <a:ext cx="7396091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ArrayList</a:t>
            </a:r>
            <a:r>
              <a:rPr lang="ko-KR" altLang="en-US" sz="2000" b="1" dirty="0">
                <a:solidFill>
                  <a:srgbClr val="C00000"/>
                </a:solidFill>
              </a:rPr>
              <a:t>를 활용한 회원관리 프로그램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027" y="1628800"/>
            <a:ext cx="7834039" cy="333022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475086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회원 관리 프로그램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1628800"/>
            <a:ext cx="5760640" cy="47587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4" b="1"/>
          <a:stretch/>
        </p:blipFill>
        <p:spPr>
          <a:xfrm>
            <a:off x="6147284" y="2780928"/>
            <a:ext cx="2706149" cy="1668172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41285" y="980728"/>
            <a:ext cx="7396091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ArrayList</a:t>
            </a:r>
            <a:r>
              <a:rPr lang="ko-KR" altLang="en-US" sz="2000" b="1" dirty="0">
                <a:solidFill>
                  <a:srgbClr val="C00000"/>
                </a:solidFill>
              </a:rPr>
              <a:t>를 활용한 회원관리 프로그램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817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Map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04065" y="980728"/>
            <a:ext cx="9045479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HashMap</a:t>
            </a:r>
            <a:r>
              <a:rPr lang="ko-KR" altLang="en-US" sz="2000" b="1" dirty="0">
                <a:solidFill>
                  <a:srgbClr val="C00000"/>
                </a:solidFill>
              </a:rPr>
              <a:t>을 활용한 회원관리 프로그램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986" y="1700808"/>
            <a:ext cx="5700254" cy="38255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79686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Map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04065" y="980728"/>
            <a:ext cx="9045479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HashMap</a:t>
            </a:r>
            <a:r>
              <a:rPr lang="ko-KR" altLang="en-US" sz="2000" b="1" dirty="0">
                <a:solidFill>
                  <a:srgbClr val="C00000"/>
                </a:solidFill>
              </a:rPr>
              <a:t>을 활용한 회원관리 프로그램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5720" y="1628800"/>
            <a:ext cx="6823624" cy="43655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236846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Map </a:t>
            </a:r>
            <a:r>
              <a:rPr lang="ko-KR" altLang="en-US" dirty="0"/>
              <a:t>인터페이스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46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556792"/>
            <a:ext cx="6690283" cy="45642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04065" y="980728"/>
            <a:ext cx="6309175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HashMap</a:t>
            </a:r>
            <a:r>
              <a:rPr lang="ko-KR" altLang="en-US" sz="2000" b="1" dirty="0">
                <a:solidFill>
                  <a:srgbClr val="C00000"/>
                </a:solidFill>
              </a:rPr>
              <a:t>을 활용한 회원관리 프로그램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600" b="1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200" b="1" dirty="0">
              <a:solidFill>
                <a:srgbClr val="00206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120" y="4077072"/>
            <a:ext cx="3191323" cy="16072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056750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0" y="-18256"/>
            <a:ext cx="7473280" cy="854968"/>
          </a:xfrm>
        </p:spPr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실습 </a:t>
            </a:r>
            <a:r>
              <a:rPr lang="ko-KR" altLang="en-US"/>
              <a:t>문제 </a:t>
            </a:r>
            <a:r>
              <a:rPr lang="en-US" altLang="ko-KR"/>
              <a:t>- </a:t>
            </a:r>
            <a:r>
              <a:rPr lang="en-US" altLang="ko-KR" dirty="0" err="1"/>
              <a:t>ArrayList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858168" y="908720"/>
            <a:ext cx="81992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-------------------------------------------------------------------------------------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다음 출력 결과가 나오도록 빈 칸을 채우시오</a:t>
            </a:r>
            <a:endParaRPr lang="en-US" altLang="ko-KR" dirty="0"/>
          </a:p>
          <a:p>
            <a:r>
              <a:rPr lang="en-US" altLang="ko-KR" dirty="0"/>
              <a:t>-------------------------------------------------------------------------------------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46" y="1884623"/>
            <a:ext cx="3672408" cy="354075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670" y="1902270"/>
            <a:ext cx="5372874" cy="26642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5268758" y="2380750"/>
            <a:ext cx="4392488" cy="31360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5628798" y="3918494"/>
            <a:ext cx="1296144" cy="313608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/>
          <p:cNvGrpSpPr/>
          <p:nvPr/>
        </p:nvGrpSpPr>
        <p:grpSpPr>
          <a:xfrm>
            <a:off x="4692694" y="4746630"/>
            <a:ext cx="1728192" cy="1178820"/>
            <a:chOff x="4520952" y="4746630"/>
            <a:chExt cx="1728192" cy="1178820"/>
          </a:xfrm>
        </p:grpSpPr>
        <p:sp>
          <p:nvSpPr>
            <p:cNvPr id="9" name="TextBox 8"/>
            <p:cNvSpPr txBox="1"/>
            <p:nvPr/>
          </p:nvSpPr>
          <p:spPr>
            <a:xfrm>
              <a:off x="4520952" y="4746630"/>
              <a:ext cx="17281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/>
                <a:t>☞ 실행 결과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808984" y="5094453"/>
              <a:ext cx="80021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/>
                <a:t>도형</a:t>
              </a:r>
              <a:endParaRPr lang="en-US" altLang="ko-KR" sz="1600" dirty="0"/>
            </a:p>
            <a:p>
              <a:r>
                <a:rPr lang="ko-KR" altLang="en-US" sz="1600" dirty="0"/>
                <a:t>원</a:t>
              </a:r>
              <a:endParaRPr lang="en-US" altLang="ko-KR" sz="1600" dirty="0"/>
            </a:p>
            <a:p>
              <a:r>
                <a:rPr lang="ko-KR" altLang="en-US" sz="1600" dirty="0"/>
                <a:t>삼각형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59679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776535" y="908720"/>
            <a:ext cx="8064897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rgbClr val="C00000"/>
                </a:solidFill>
              </a:rPr>
              <a:t> Stack</a:t>
            </a:r>
            <a:r>
              <a:rPr lang="ko-KR" altLang="en-US" sz="2000" b="1" dirty="0">
                <a:solidFill>
                  <a:srgbClr val="C00000"/>
                </a:solidFill>
              </a:rPr>
              <a:t> 클래스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65722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후입선출</a:t>
            </a:r>
            <a:r>
              <a:rPr lang="en-US" altLang="ko-KR" sz="1600" dirty="0"/>
              <a:t>(LIFO : Last in First Out) </a:t>
            </a:r>
            <a:r>
              <a:rPr lang="ko-KR" altLang="en-US" sz="1600" dirty="0"/>
              <a:t>구조 </a:t>
            </a:r>
            <a:r>
              <a:rPr lang="en-US" altLang="ko-KR" sz="1600" dirty="0"/>
              <a:t>– (</a:t>
            </a:r>
            <a:r>
              <a:rPr lang="ko-KR" altLang="en-US" sz="1600" dirty="0"/>
              <a:t>응용 예</a:t>
            </a:r>
            <a:r>
              <a:rPr lang="en-US" altLang="ko-KR" sz="1600" dirty="0"/>
              <a:t>: JVM </a:t>
            </a:r>
            <a:r>
              <a:rPr lang="ko-KR" altLang="en-US" sz="1600" dirty="0" err="1"/>
              <a:t>스택</a:t>
            </a:r>
            <a:r>
              <a:rPr lang="ko-KR" altLang="en-US" sz="1600" dirty="0"/>
              <a:t> 메모리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접시닦이</a:t>
            </a:r>
            <a:r>
              <a:rPr lang="en-US" altLang="ko-KR" sz="1600" dirty="0"/>
              <a:t>, </a:t>
            </a:r>
            <a:r>
              <a:rPr lang="ko-KR" altLang="en-US" sz="1600" dirty="0"/>
              <a:t>게임 무르기</a:t>
            </a:r>
            <a:r>
              <a:rPr lang="en-US" altLang="ko-KR" sz="1600" dirty="0"/>
              <a:t>)</a:t>
            </a:r>
          </a:p>
          <a:p>
            <a:pPr marL="65722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주요 메소드</a:t>
            </a:r>
            <a:endParaRPr lang="en-US" altLang="ko-KR" sz="16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B8FE68B-9296-45F2-96AB-033F96DA2F70}"/>
              </a:ext>
            </a:extLst>
          </p:cNvPr>
          <p:cNvGraphicFramePr>
            <a:graphicFrameLocks noGrp="1"/>
          </p:cNvGraphicFramePr>
          <p:nvPr/>
        </p:nvGraphicFramePr>
        <p:xfrm>
          <a:off x="1312143" y="2586871"/>
          <a:ext cx="6210307" cy="1346029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36601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4873706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3001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메소드명</a:t>
                      </a:r>
                      <a:endParaRPr lang="ko-KR" altLang="en-US" sz="1400" dirty="0"/>
                    </a:p>
                  </a:txBody>
                  <a:tcPr marL="74295" marR="74295" marT="37148" marB="3714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 marL="74295" marR="74295" marT="37148" marB="3714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3319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 push</a:t>
                      </a:r>
                      <a:endParaRPr lang="ko-KR" altLang="en-US" sz="18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주어진 객체를 스택에 넣는다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3319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 pop()</a:t>
                      </a:r>
                      <a:endParaRPr lang="ko-KR" altLang="en-US" sz="18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스택의 맨 위 객체를 가져온다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객체를 </a:t>
                      </a:r>
                      <a:r>
                        <a:rPr lang="ko-KR" altLang="en-US" sz="1400" dirty="0" err="1"/>
                        <a:t>스택에서</a:t>
                      </a:r>
                      <a:r>
                        <a:rPr lang="ko-KR" altLang="en-US" sz="1400" dirty="0"/>
                        <a:t> 제거한다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631478700"/>
                  </a:ext>
                </a:extLst>
              </a:tr>
              <a:tr h="33198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 </a:t>
                      </a:r>
                      <a:r>
                        <a:rPr lang="en-US" altLang="ko-KR" sz="1800" dirty="0" err="1"/>
                        <a:t>isEmpty</a:t>
                      </a:r>
                      <a:r>
                        <a:rPr lang="en-US" altLang="ko-KR" sz="1800" dirty="0"/>
                        <a:t>()</a:t>
                      </a:r>
                      <a:endParaRPr lang="ko-KR" altLang="en-US" sz="18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스택의</a:t>
                      </a:r>
                      <a:r>
                        <a:rPr lang="ko-KR" altLang="en-US" sz="1400" dirty="0"/>
                        <a:t> 객체가 비어있는지 여부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그룹 1"/>
          <p:cNvGrpSpPr/>
          <p:nvPr/>
        </p:nvGrpSpPr>
        <p:grpSpPr>
          <a:xfrm>
            <a:off x="2043074" y="4200049"/>
            <a:ext cx="2592287" cy="1965255"/>
            <a:chOff x="7202866" y="2114733"/>
            <a:chExt cx="2286638" cy="1677223"/>
          </a:xfrm>
        </p:grpSpPr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63F1EBDA-F120-41FB-9DB2-AE5C10EB3806}"/>
                </a:ext>
              </a:extLst>
            </p:cNvPr>
            <p:cNvSpPr/>
            <p:nvPr/>
          </p:nvSpPr>
          <p:spPr>
            <a:xfrm>
              <a:off x="8035075" y="2715019"/>
              <a:ext cx="702054" cy="1076937"/>
            </a:xfrm>
            <a:custGeom>
              <a:avLst/>
              <a:gdLst>
                <a:gd name="connsiteX0" fmla="*/ 0 w 864066"/>
                <a:gd name="connsiteY0" fmla="*/ 0 h 1325461"/>
                <a:gd name="connsiteX1" fmla="*/ 0 w 864066"/>
                <a:gd name="connsiteY1" fmla="*/ 1325461 h 1325461"/>
                <a:gd name="connsiteX2" fmla="*/ 864066 w 864066"/>
                <a:gd name="connsiteY2" fmla="*/ 1325461 h 1325461"/>
                <a:gd name="connsiteX3" fmla="*/ 864066 w 864066"/>
                <a:gd name="connsiteY3" fmla="*/ 8389 h 13254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066" h="1325461">
                  <a:moveTo>
                    <a:pt x="0" y="0"/>
                  </a:moveTo>
                  <a:lnTo>
                    <a:pt x="0" y="1325461"/>
                  </a:lnTo>
                  <a:lnTo>
                    <a:pt x="864066" y="1325461"/>
                  </a:lnTo>
                  <a:lnTo>
                    <a:pt x="864066" y="8389"/>
                  </a:ln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63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9A8DA6E3-2CD1-4F7C-995B-E1D34C08FF7C}"/>
                </a:ext>
              </a:extLst>
            </p:cNvPr>
            <p:cNvSpPr/>
            <p:nvPr/>
          </p:nvSpPr>
          <p:spPr>
            <a:xfrm>
              <a:off x="8062342" y="3415368"/>
              <a:ext cx="640707" cy="362955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dirty="0"/>
                <a:t>1</a:t>
              </a:r>
              <a:endParaRPr lang="ko-KR" altLang="en-US" sz="1300" dirty="0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E839F747-40EC-45A3-A944-16B295DB921F}"/>
                </a:ext>
              </a:extLst>
            </p:cNvPr>
            <p:cNvSpPr/>
            <p:nvPr/>
          </p:nvSpPr>
          <p:spPr>
            <a:xfrm>
              <a:off x="8062342" y="3038781"/>
              <a:ext cx="640707" cy="362955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dirty="0"/>
                <a:t>2</a:t>
              </a:r>
              <a:endParaRPr lang="ko-KR" altLang="en-US" sz="1300" dirty="0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2051E527-C174-417E-9E9A-F9D69C0CD051}"/>
                </a:ext>
              </a:extLst>
            </p:cNvPr>
            <p:cNvSpPr/>
            <p:nvPr/>
          </p:nvSpPr>
          <p:spPr>
            <a:xfrm>
              <a:off x="8062342" y="2657618"/>
              <a:ext cx="640707" cy="362955"/>
            </a:xfrm>
            <a:prstGeom prst="ellipse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dirty="0"/>
                <a:t>3</a:t>
              </a:r>
              <a:endParaRPr lang="ko-KR" altLang="en-US" sz="1300" dirty="0"/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A6A486DF-1355-43C6-8578-2CBC52D576A0}"/>
                </a:ext>
              </a:extLst>
            </p:cNvPr>
            <p:cNvSpPr/>
            <p:nvPr/>
          </p:nvSpPr>
          <p:spPr>
            <a:xfrm>
              <a:off x="7864674" y="2346952"/>
              <a:ext cx="381699" cy="347618"/>
            </a:xfrm>
            <a:custGeom>
              <a:avLst/>
              <a:gdLst>
                <a:gd name="connsiteX0" fmla="*/ 0 w 469783"/>
                <a:gd name="connsiteY0" fmla="*/ 0 h 427838"/>
                <a:gd name="connsiteX1" fmla="*/ 369115 w 469783"/>
                <a:gd name="connsiteY1" fmla="*/ 167780 h 427838"/>
                <a:gd name="connsiteX2" fmla="*/ 469783 w 469783"/>
                <a:gd name="connsiteY2" fmla="*/ 427838 h 42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9783" h="427838">
                  <a:moveTo>
                    <a:pt x="0" y="0"/>
                  </a:moveTo>
                  <a:cubicBezTo>
                    <a:pt x="145409" y="48237"/>
                    <a:pt x="290818" y="96474"/>
                    <a:pt x="369115" y="167780"/>
                  </a:cubicBezTo>
                  <a:cubicBezTo>
                    <a:pt x="447412" y="239086"/>
                    <a:pt x="458597" y="333462"/>
                    <a:pt x="469783" y="427838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4" name="자유형: 도형 13">
              <a:extLst>
                <a:ext uri="{FF2B5EF4-FFF2-40B4-BE49-F238E27FC236}">
                  <a16:creationId xmlns:a16="http://schemas.microsoft.com/office/drawing/2014/main" id="{AA367B82-885F-4CD4-9664-F616726BCCB9}"/>
                </a:ext>
              </a:extLst>
            </p:cNvPr>
            <p:cNvSpPr/>
            <p:nvPr/>
          </p:nvSpPr>
          <p:spPr>
            <a:xfrm flipH="1">
              <a:off x="8426999" y="2325909"/>
              <a:ext cx="381699" cy="347618"/>
            </a:xfrm>
            <a:custGeom>
              <a:avLst/>
              <a:gdLst>
                <a:gd name="connsiteX0" fmla="*/ 0 w 469783"/>
                <a:gd name="connsiteY0" fmla="*/ 0 h 427838"/>
                <a:gd name="connsiteX1" fmla="*/ 369115 w 469783"/>
                <a:gd name="connsiteY1" fmla="*/ 167780 h 427838"/>
                <a:gd name="connsiteX2" fmla="*/ 469783 w 469783"/>
                <a:gd name="connsiteY2" fmla="*/ 427838 h 427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69783" h="427838">
                  <a:moveTo>
                    <a:pt x="0" y="0"/>
                  </a:moveTo>
                  <a:cubicBezTo>
                    <a:pt x="145409" y="48237"/>
                    <a:pt x="290818" y="96474"/>
                    <a:pt x="369115" y="167780"/>
                  </a:cubicBezTo>
                  <a:cubicBezTo>
                    <a:pt x="447412" y="239086"/>
                    <a:pt x="458597" y="333462"/>
                    <a:pt x="469783" y="427838"/>
                  </a:cubicBezTo>
                </a:path>
              </a:pathLst>
            </a:custGeom>
            <a:noFill/>
            <a:ln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61CB0B-C674-4350-A6F4-CA68034A3A73}"/>
                </a:ext>
              </a:extLst>
            </p:cNvPr>
            <p:cNvSpPr txBox="1"/>
            <p:nvPr/>
          </p:nvSpPr>
          <p:spPr>
            <a:xfrm>
              <a:off x="8761929" y="2146375"/>
              <a:ext cx="7275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빼기</a:t>
              </a:r>
              <a:endParaRPr lang="en-US" altLang="ko-KR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A0FE518-3E30-4559-BE69-887BC3E958F1}"/>
                </a:ext>
              </a:extLst>
            </p:cNvPr>
            <p:cNvSpPr txBox="1"/>
            <p:nvPr/>
          </p:nvSpPr>
          <p:spPr>
            <a:xfrm>
              <a:off x="8754841" y="2401143"/>
              <a:ext cx="7088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(pop)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081618E-E7EC-4225-9282-DA09AE2754DC}"/>
                </a:ext>
              </a:extLst>
            </p:cNvPr>
            <p:cNvSpPr txBox="1"/>
            <p:nvPr/>
          </p:nvSpPr>
          <p:spPr>
            <a:xfrm>
              <a:off x="7202866" y="2114733"/>
              <a:ext cx="7709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넣기</a:t>
              </a:r>
              <a:endParaRPr lang="en-US" altLang="ko-KR" sz="1400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02AA1F2-15C1-4717-999A-209F9494788E}"/>
                </a:ext>
              </a:extLst>
            </p:cNvPr>
            <p:cNvSpPr txBox="1"/>
            <p:nvPr/>
          </p:nvSpPr>
          <p:spPr>
            <a:xfrm>
              <a:off x="7264898" y="2349841"/>
              <a:ext cx="7088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(push)</a:t>
              </a:r>
            </a:p>
          </p:txBody>
        </p:sp>
      </p:grpSp>
      <p:sp>
        <p:nvSpPr>
          <p:cNvPr id="35" name="제목 5"/>
          <p:cNvSpPr txBox="1">
            <a:spLocks/>
          </p:cNvSpPr>
          <p:nvPr/>
        </p:nvSpPr>
        <p:spPr>
          <a:xfrm>
            <a:off x="0" y="97922"/>
            <a:ext cx="6201139" cy="85496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스택</a:t>
            </a:r>
            <a:r>
              <a:rPr lang="en-US" altLang="ko-KR" dirty="0"/>
              <a:t>(Stack)</a:t>
            </a:r>
            <a:r>
              <a:rPr lang="ko-KR" altLang="en-US" dirty="0"/>
              <a:t>과 큐</a:t>
            </a:r>
            <a:r>
              <a:rPr lang="en-US" altLang="ko-KR" dirty="0"/>
              <a:t>(Queue)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92497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776535" y="930786"/>
            <a:ext cx="55446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rgbClr val="C00000"/>
                </a:solidFill>
              </a:rPr>
              <a:t> Stack</a:t>
            </a:r>
            <a:r>
              <a:rPr lang="ko-KR" altLang="en-US" sz="2000" b="1" dirty="0">
                <a:solidFill>
                  <a:srgbClr val="C00000"/>
                </a:solidFill>
              </a:rPr>
              <a:t> 클래스로 동전 넣고 빼기 구현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35" name="제목 5"/>
          <p:cNvSpPr txBox="1">
            <a:spLocks/>
          </p:cNvSpPr>
          <p:nvPr/>
        </p:nvSpPr>
        <p:spPr>
          <a:xfrm>
            <a:off x="0" y="97922"/>
            <a:ext cx="6201139" cy="85496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스택</a:t>
            </a:r>
            <a:r>
              <a:rPr lang="en-US" altLang="ko-KR" dirty="0"/>
              <a:t>(Stack)</a:t>
            </a:r>
            <a:r>
              <a:rPr lang="ko-KR" altLang="en-US" dirty="0"/>
              <a:t>과 큐</a:t>
            </a:r>
            <a:r>
              <a:rPr lang="en-US" altLang="ko-KR" dirty="0"/>
              <a:t>(Queue)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48" y="1772816"/>
            <a:ext cx="4160563" cy="352839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5168" y="3717032"/>
            <a:ext cx="1800200" cy="9601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8616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oi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제목 5"/>
          <p:cNvSpPr txBox="1">
            <a:spLocks/>
          </p:cNvSpPr>
          <p:nvPr/>
        </p:nvSpPr>
        <p:spPr>
          <a:xfrm>
            <a:off x="0" y="97922"/>
            <a:ext cx="6201139" cy="85496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스택</a:t>
            </a:r>
            <a:r>
              <a:rPr lang="en-US" altLang="ko-KR" dirty="0"/>
              <a:t>(Stack)</a:t>
            </a:r>
            <a:r>
              <a:rPr lang="ko-KR" altLang="en-US" dirty="0"/>
              <a:t>과 큐</a:t>
            </a:r>
            <a:r>
              <a:rPr lang="en-US" altLang="ko-KR" dirty="0"/>
              <a:t>(Queue)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48" y="1628800"/>
            <a:ext cx="6336704" cy="45101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D81B33-3C10-4B58-9ACC-5628B021DE57}"/>
              </a:ext>
            </a:extLst>
          </p:cNvPr>
          <p:cNvSpPr txBox="1"/>
          <p:nvPr/>
        </p:nvSpPr>
        <p:spPr>
          <a:xfrm>
            <a:off x="776535" y="930786"/>
            <a:ext cx="554461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rgbClr val="C00000"/>
                </a:solidFill>
              </a:rPr>
              <a:t> Stack</a:t>
            </a:r>
            <a:r>
              <a:rPr lang="ko-KR" altLang="en-US" sz="2000" b="1" dirty="0">
                <a:solidFill>
                  <a:srgbClr val="C00000"/>
                </a:solidFill>
              </a:rPr>
              <a:t> 클래스로 동전 넣고 빼기 구현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79362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스택</a:t>
            </a:r>
            <a:r>
              <a:rPr lang="en-US" altLang="ko-KR" dirty="0"/>
              <a:t>(Stack)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58771" y="908720"/>
            <a:ext cx="5091834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ArrayList</a:t>
            </a:r>
            <a:r>
              <a:rPr lang="ko-KR" altLang="en-US" sz="2000" b="1" dirty="0">
                <a:solidFill>
                  <a:srgbClr val="C00000"/>
                </a:solidFill>
              </a:rPr>
              <a:t>를 활용하여 </a:t>
            </a:r>
            <a:r>
              <a:rPr lang="en-US" altLang="ko-KR" sz="2000" b="1" dirty="0">
                <a:solidFill>
                  <a:srgbClr val="C00000"/>
                </a:solidFill>
              </a:rPr>
              <a:t>Stack </a:t>
            </a:r>
            <a:r>
              <a:rPr lang="ko-KR" altLang="en-US" sz="2000" b="1" dirty="0">
                <a:solidFill>
                  <a:srgbClr val="C00000"/>
                </a:solidFill>
              </a:rPr>
              <a:t>구현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dirty="0">
              <a:solidFill>
                <a:srgbClr val="C00000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7898" y="1484784"/>
            <a:ext cx="4955342" cy="46948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917470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스택</a:t>
            </a:r>
            <a:r>
              <a:rPr lang="en-US" altLang="ko-KR" dirty="0"/>
              <a:t>(Stack)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65866" y="908720"/>
            <a:ext cx="5091834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</a:rPr>
              <a:t>ArrayList</a:t>
            </a:r>
            <a:r>
              <a:rPr lang="ko-KR" altLang="en-US" sz="2000" b="1" dirty="0">
                <a:solidFill>
                  <a:srgbClr val="C00000"/>
                </a:solidFill>
              </a:rPr>
              <a:t>를 활용하여 </a:t>
            </a:r>
            <a:r>
              <a:rPr lang="en-US" altLang="ko-KR" sz="2000" b="1" dirty="0">
                <a:solidFill>
                  <a:srgbClr val="C00000"/>
                </a:solidFill>
              </a:rPr>
              <a:t>Stack </a:t>
            </a:r>
            <a:r>
              <a:rPr lang="ko-KR" altLang="en-US" sz="2000" b="1" dirty="0">
                <a:solidFill>
                  <a:srgbClr val="C00000"/>
                </a:solidFill>
              </a:rPr>
              <a:t>구현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dirty="0">
              <a:solidFill>
                <a:srgbClr val="C00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236" y="1556792"/>
            <a:ext cx="4814249" cy="37444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820" y="3969080"/>
            <a:ext cx="1615580" cy="11888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071717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24E8FA-4336-401A-8FBD-ED93AA11B426}"/>
              </a:ext>
            </a:extLst>
          </p:cNvPr>
          <p:cNvSpPr txBox="1"/>
          <p:nvPr/>
        </p:nvSpPr>
        <p:spPr>
          <a:xfrm>
            <a:off x="776536" y="901297"/>
            <a:ext cx="90010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2172" indent="-232172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rgbClr val="C00000"/>
                </a:solidFill>
              </a:rPr>
              <a:t> Queue</a:t>
            </a:r>
            <a:r>
              <a:rPr lang="ko-KR" altLang="en-US" sz="2000" b="1" dirty="0">
                <a:solidFill>
                  <a:srgbClr val="C00000"/>
                </a:solidFill>
              </a:rPr>
              <a:t> 인터페이스</a:t>
            </a:r>
            <a:endParaRPr lang="en-US" altLang="ko-KR" sz="2000" b="1" dirty="0"/>
          </a:p>
          <a:p>
            <a:pPr marL="65722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선입선출</a:t>
            </a:r>
            <a:r>
              <a:rPr lang="en-US" altLang="ko-KR" sz="1600" dirty="0"/>
              <a:t>(FIFO : First in First Out) </a:t>
            </a:r>
            <a:r>
              <a:rPr lang="ko-KR" altLang="en-US" sz="1600" dirty="0"/>
              <a:t>구조 </a:t>
            </a:r>
            <a:r>
              <a:rPr lang="en-US" altLang="ko-KR" sz="1600" dirty="0"/>
              <a:t>– (</a:t>
            </a:r>
            <a:r>
              <a:rPr lang="ko-KR" altLang="en-US" sz="1600" dirty="0"/>
              <a:t>응용 예</a:t>
            </a:r>
            <a:r>
              <a:rPr lang="en-US" altLang="ko-KR" sz="1600" dirty="0"/>
              <a:t>: </a:t>
            </a:r>
            <a:r>
              <a:rPr lang="ko-KR" altLang="en-US" sz="1600" dirty="0"/>
              <a:t>버스정류장 줄서기</a:t>
            </a:r>
            <a:r>
              <a:rPr lang="en-US" altLang="ko-KR" sz="1600" dirty="0"/>
              <a:t>, </a:t>
            </a:r>
            <a:r>
              <a:rPr lang="ko-KR" altLang="en-US" sz="1600" dirty="0"/>
              <a:t>운영체제 </a:t>
            </a:r>
            <a:r>
              <a:rPr lang="ko-KR" altLang="en-US" sz="1600" dirty="0" err="1"/>
              <a:t>메시지큐</a:t>
            </a:r>
            <a:r>
              <a:rPr lang="en-US" altLang="ko-KR" sz="1600" dirty="0"/>
              <a:t>)</a:t>
            </a:r>
          </a:p>
          <a:p>
            <a:pPr marL="65722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주요 메소드</a:t>
            </a:r>
            <a:endParaRPr lang="en-US" altLang="ko-KR" sz="160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0493445-9426-4210-96CD-8E97F25912BA}"/>
              </a:ext>
            </a:extLst>
          </p:cNvPr>
          <p:cNvGraphicFramePr>
            <a:graphicFrameLocks noGrp="1"/>
          </p:cNvGraphicFramePr>
          <p:nvPr/>
        </p:nvGraphicFramePr>
        <p:xfrm>
          <a:off x="1704159" y="2193959"/>
          <a:ext cx="5613362" cy="144364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32617">
                  <a:extLst>
                    <a:ext uri="{9D8B030D-6E8A-4147-A177-3AD203B41FA5}">
                      <a16:colId xmlns:a16="http://schemas.microsoft.com/office/drawing/2014/main" val="1302133471"/>
                    </a:ext>
                  </a:extLst>
                </a:gridCol>
                <a:gridCol w="4380745">
                  <a:extLst>
                    <a:ext uri="{9D8B030D-6E8A-4147-A177-3AD203B41FA5}">
                      <a16:colId xmlns:a16="http://schemas.microsoft.com/office/drawing/2014/main" val="3478021724"/>
                    </a:ext>
                  </a:extLst>
                </a:gridCol>
              </a:tblGrid>
              <a:tr h="3464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메소드명</a:t>
                      </a:r>
                      <a:endParaRPr lang="ko-KR" altLang="en-US" sz="1400" dirty="0"/>
                    </a:p>
                  </a:txBody>
                  <a:tcPr marL="74295" marR="74295" marT="37148" marB="3714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설명</a:t>
                      </a:r>
                    </a:p>
                  </a:txBody>
                  <a:tcPr marL="74295" marR="74295" marT="37148" marB="37148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197872"/>
                  </a:ext>
                </a:extLst>
              </a:tr>
              <a:tr h="3657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 offer()</a:t>
                      </a:r>
                      <a:endParaRPr lang="ko-KR" altLang="en-US" sz="18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주어진 객체를</a:t>
                      </a:r>
                      <a:r>
                        <a:rPr lang="ko-KR" altLang="en-US" sz="1400" baseline="0" dirty="0"/>
                        <a:t> 넣는다</a:t>
                      </a:r>
                      <a:r>
                        <a:rPr lang="en-US" altLang="ko-KR" sz="1400" baseline="0" dirty="0"/>
                        <a:t>.</a:t>
                      </a:r>
                      <a:endParaRPr lang="ko-KR" altLang="en-US" sz="14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488436910"/>
                  </a:ext>
                </a:extLst>
              </a:tr>
              <a:tr h="3657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 poll()</a:t>
                      </a:r>
                      <a:endParaRPr lang="ko-KR" altLang="en-US" sz="18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/>
                        <a:t>객체 하나를 가져온다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객체를 큐에서 제거한다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631478700"/>
                  </a:ext>
                </a:extLst>
              </a:tr>
              <a:tr h="36574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dirty="0"/>
                        <a:t> </a:t>
                      </a:r>
                      <a:r>
                        <a:rPr lang="en-US" altLang="ko-KR" sz="1800" dirty="0" err="1"/>
                        <a:t>isEmpty</a:t>
                      </a:r>
                      <a:r>
                        <a:rPr lang="en-US" altLang="ko-KR" sz="1800" dirty="0"/>
                        <a:t>()</a:t>
                      </a:r>
                      <a:endParaRPr lang="ko-KR" altLang="en-US" sz="1800" dirty="0"/>
                    </a:p>
                  </a:txBody>
                  <a:tcPr marL="74295" marR="74295" marT="37148" marB="37148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 err="1"/>
                        <a:t>스택의</a:t>
                      </a:r>
                      <a:r>
                        <a:rPr lang="ko-KR" altLang="en-US" sz="1400" dirty="0"/>
                        <a:t> 객체가 비어있는지 여부</a:t>
                      </a:r>
                    </a:p>
                  </a:txBody>
                  <a:tcPr marL="74295" marR="74295" marT="37148" marB="37148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" name="그룹 1"/>
          <p:cNvGrpSpPr/>
          <p:nvPr/>
        </p:nvGrpSpPr>
        <p:grpSpPr>
          <a:xfrm>
            <a:off x="1955807" y="4161091"/>
            <a:ext cx="3321229" cy="1221145"/>
            <a:chOff x="6537176" y="2572808"/>
            <a:chExt cx="3192377" cy="101988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1610F33-56A9-42DE-ACFD-4AB5FCB19386}"/>
                </a:ext>
              </a:extLst>
            </p:cNvPr>
            <p:cNvSpPr txBox="1"/>
            <p:nvPr/>
          </p:nvSpPr>
          <p:spPr>
            <a:xfrm>
              <a:off x="6664976" y="2572808"/>
              <a:ext cx="7088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빼기</a:t>
              </a:r>
              <a:endParaRPr lang="en-US" altLang="ko-KR" sz="14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22B9D6-D476-438E-A7F5-0DB3E867D1A0}"/>
                </a:ext>
              </a:extLst>
            </p:cNvPr>
            <p:cNvSpPr txBox="1"/>
            <p:nvPr/>
          </p:nvSpPr>
          <p:spPr>
            <a:xfrm>
              <a:off x="6537176" y="2868287"/>
              <a:ext cx="9610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(</a:t>
              </a:r>
              <a:r>
                <a:rPr lang="en-US" altLang="ko-KR" sz="1400" dirty="0" err="1"/>
                <a:t>dequee</a:t>
              </a:r>
              <a:r>
                <a:rPr lang="en-US" altLang="ko-KR" sz="1400" dirty="0"/>
                <a:t>)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B6C9F632-B06E-4CD9-87DA-16BCCA2D6DE9}"/>
                </a:ext>
              </a:extLst>
            </p:cNvPr>
            <p:cNvCxnSpPr>
              <a:cxnSpLocks/>
            </p:cNvCxnSpPr>
            <p:nvPr/>
          </p:nvCxnSpPr>
          <p:spPr>
            <a:xfrm>
              <a:off x="7415598" y="2586541"/>
              <a:ext cx="141859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1945FA2E-D57D-431F-BE55-4B6FB505452B}"/>
                </a:ext>
              </a:extLst>
            </p:cNvPr>
            <p:cNvCxnSpPr>
              <a:cxnSpLocks/>
            </p:cNvCxnSpPr>
            <p:nvPr/>
          </p:nvCxnSpPr>
          <p:spPr>
            <a:xfrm>
              <a:off x="7456067" y="3145458"/>
              <a:ext cx="141859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FCAFF74-E451-4A10-A383-E560BCD0DB34}"/>
                </a:ext>
              </a:extLst>
            </p:cNvPr>
            <p:cNvSpPr/>
            <p:nvPr/>
          </p:nvSpPr>
          <p:spPr>
            <a:xfrm>
              <a:off x="7557878" y="2609680"/>
              <a:ext cx="356142" cy="51277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dirty="0"/>
                <a:t>3</a:t>
              </a:r>
              <a:endParaRPr lang="ko-KR" altLang="en-US" sz="1300" dirty="0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DA620BAF-D88D-4D89-A47E-D61A1126B7AE}"/>
                </a:ext>
              </a:extLst>
            </p:cNvPr>
            <p:cNvSpPr/>
            <p:nvPr/>
          </p:nvSpPr>
          <p:spPr>
            <a:xfrm>
              <a:off x="7954917" y="2616497"/>
              <a:ext cx="356142" cy="505467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dirty="0"/>
                <a:t>2</a:t>
              </a:r>
              <a:endParaRPr lang="ko-KR" altLang="en-US" sz="1300" dirty="0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0536BE4C-35E2-4052-980E-31E7EE48CAF3}"/>
                </a:ext>
              </a:extLst>
            </p:cNvPr>
            <p:cNvSpPr/>
            <p:nvPr/>
          </p:nvSpPr>
          <p:spPr>
            <a:xfrm>
              <a:off x="8363876" y="2616986"/>
              <a:ext cx="356142" cy="505466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1300" dirty="0"/>
                <a:t>1</a:t>
              </a:r>
              <a:endParaRPr lang="ko-KR" altLang="en-US" sz="1300" dirty="0"/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4ED855F3-7620-4BE8-B841-D36796B5A8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49070" y="2863066"/>
              <a:ext cx="545286" cy="18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FFF0C83-B246-4BAC-B847-EA82D76532B7}"/>
                </a:ext>
              </a:extLst>
            </p:cNvPr>
            <p:cNvSpPr txBox="1"/>
            <p:nvPr/>
          </p:nvSpPr>
          <p:spPr>
            <a:xfrm>
              <a:off x="8874623" y="2572808"/>
              <a:ext cx="7463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/>
                <a:t>넣기</a:t>
              </a:r>
              <a:endParaRPr lang="en-US" altLang="ko-KR" sz="1400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C1F575A-D26A-4807-9A30-0631396A4DA8}"/>
                </a:ext>
              </a:extLst>
            </p:cNvPr>
            <p:cNvSpPr txBox="1"/>
            <p:nvPr/>
          </p:nvSpPr>
          <p:spPr>
            <a:xfrm>
              <a:off x="8868266" y="2868287"/>
              <a:ext cx="8612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dirty="0"/>
                <a:t>(</a:t>
              </a:r>
              <a:r>
                <a:rPr lang="en-US" altLang="ko-KR" sz="1400" dirty="0" err="1"/>
                <a:t>enquee</a:t>
              </a:r>
              <a:r>
                <a:rPr lang="en-US" altLang="ko-KR" sz="1400" dirty="0"/>
                <a:t>)</a:t>
              </a: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C5100326-1992-4CBD-932F-DAAFC7C454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93083" y="2864009"/>
              <a:ext cx="545286" cy="188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5F4228E-0294-4E11-A5CA-B9F1EC49D343}"/>
                </a:ext>
              </a:extLst>
            </p:cNvPr>
            <p:cNvSpPr txBox="1"/>
            <p:nvPr/>
          </p:nvSpPr>
          <p:spPr>
            <a:xfrm>
              <a:off x="7688239" y="3284918"/>
              <a:ext cx="9678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dirty="0"/>
                <a:t>큐</a:t>
              </a:r>
              <a:r>
                <a:rPr lang="en-US" altLang="ko-KR" sz="1400" dirty="0"/>
                <a:t>(Queue)</a:t>
              </a:r>
            </a:p>
          </p:txBody>
        </p:sp>
      </p:grpSp>
      <p:sp>
        <p:nvSpPr>
          <p:cNvPr id="35" name="제목 5"/>
          <p:cNvSpPr txBox="1">
            <a:spLocks/>
          </p:cNvSpPr>
          <p:nvPr/>
        </p:nvSpPr>
        <p:spPr>
          <a:xfrm>
            <a:off x="0" y="97922"/>
            <a:ext cx="6201139" cy="854968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 </a:t>
            </a:r>
            <a:r>
              <a:rPr lang="ko-KR" altLang="en-US" dirty="0"/>
              <a:t>스택</a:t>
            </a:r>
            <a:r>
              <a:rPr lang="en-US" altLang="ko-KR" dirty="0"/>
              <a:t>(Stack)</a:t>
            </a:r>
            <a:r>
              <a:rPr lang="ko-KR" altLang="en-US" dirty="0"/>
              <a:t>과 큐</a:t>
            </a:r>
            <a:r>
              <a:rPr lang="en-US" altLang="ko-KR" dirty="0"/>
              <a:t>(Queue)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9064" y="3862144"/>
            <a:ext cx="3148799" cy="23031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429214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큐</a:t>
            </a:r>
            <a:r>
              <a:rPr lang="en-US" altLang="ko-KR" dirty="0"/>
              <a:t>(Queue)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85268" y="908720"/>
            <a:ext cx="8488212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  <a:latin typeface="+mn-ea"/>
              </a:rPr>
              <a:t>ArrayList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활용하여 </a:t>
            </a: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Queue(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큐</a:t>
            </a: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) 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구현</a:t>
            </a:r>
            <a:endParaRPr lang="en-US" altLang="ko-KR" sz="2000" b="1" dirty="0">
              <a:solidFill>
                <a:srgbClr val="C00000"/>
              </a:solidFill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676480"/>
            <a:ext cx="6026334" cy="38164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9333391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큐</a:t>
            </a:r>
            <a:r>
              <a:rPr lang="en-US" altLang="ko-KR" dirty="0"/>
              <a:t>(Queue)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853433" y="7312347"/>
            <a:ext cx="557267" cy="365125"/>
          </a:xfrm>
        </p:spPr>
        <p:txBody>
          <a:bodyPr/>
          <a:lstStyle/>
          <a:p>
            <a:fld id="{1BDE3FE7-3AEA-4B05-AC5A-802D1816ACF0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85268" y="908720"/>
            <a:ext cx="8488212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 </a:t>
            </a:r>
            <a:r>
              <a:rPr lang="en-US" altLang="ko-KR" sz="2000" b="1" dirty="0" err="1">
                <a:solidFill>
                  <a:srgbClr val="C00000"/>
                </a:solidFill>
                <a:latin typeface="+mn-ea"/>
              </a:rPr>
              <a:t>ArrayList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활용하여 </a:t>
            </a: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Queue(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큐</a:t>
            </a: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) 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구현</a:t>
            </a:r>
            <a:endParaRPr lang="en-US" altLang="ko-KR" sz="2000" b="1" dirty="0">
              <a:solidFill>
                <a:srgbClr val="C00000"/>
              </a:solidFill>
              <a:latin typeface="+mn-ea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US" altLang="ko-KR" sz="1800" b="1" dirty="0">
              <a:solidFill>
                <a:srgbClr val="C00000"/>
              </a:solidFill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1672359"/>
            <a:ext cx="4680520" cy="283171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904" y="3429000"/>
            <a:ext cx="1104123" cy="10081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702279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1280592" y="1765473"/>
            <a:ext cx="2735816" cy="3129765"/>
            <a:chOff x="886983" y="1859375"/>
            <a:chExt cx="2735816" cy="3129765"/>
          </a:xfrm>
        </p:grpSpPr>
        <p:sp>
          <p:nvSpPr>
            <p:cNvPr id="5" name="직사각형 4"/>
            <p:cNvSpPr/>
            <p:nvPr/>
          </p:nvSpPr>
          <p:spPr>
            <a:xfrm>
              <a:off x="886983" y="1859375"/>
              <a:ext cx="2735816" cy="504056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BankAccount</a:t>
              </a:r>
              <a:r>
                <a:rPr lang="en-US" altLang="ko-KR" dirty="0"/>
                <a:t>(</a:t>
              </a:r>
              <a:r>
                <a:rPr lang="ko-KR" altLang="en-US" dirty="0"/>
                <a:t>클래스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886983" y="2344457"/>
              <a:ext cx="2735816" cy="1375925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dirty="0"/>
                <a:t> </a:t>
              </a:r>
              <a:r>
                <a:rPr lang="en-US" altLang="ko-KR" dirty="0" err="1"/>
                <a:t>accountNumber</a:t>
              </a:r>
              <a:r>
                <a:rPr lang="en-US" altLang="ko-KR" dirty="0"/>
                <a:t> </a:t>
              </a:r>
            </a:p>
            <a:p>
              <a:r>
                <a:rPr lang="en-US" altLang="ko-KR" dirty="0"/>
                <a:t> owner</a:t>
              </a:r>
            </a:p>
            <a:p>
              <a:r>
                <a:rPr lang="en-US" altLang="ko-KR" dirty="0"/>
                <a:t> balance</a:t>
              </a:r>
            </a:p>
            <a:p>
              <a:r>
                <a:rPr lang="en-US" altLang="ko-KR" dirty="0"/>
                <a:t> transactions</a:t>
              </a: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86983" y="3712609"/>
              <a:ext cx="2735816" cy="127653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dirty="0"/>
                <a:t> deposit(amount)</a:t>
              </a:r>
            </a:p>
            <a:p>
              <a:r>
                <a:rPr lang="en-US" altLang="ko-KR" dirty="0"/>
                <a:t> withdraw(amount)</a:t>
              </a:r>
            </a:p>
            <a:p>
              <a:r>
                <a:rPr lang="en-US" altLang="ko-KR" dirty="0"/>
                <a:t> </a:t>
              </a:r>
              <a:r>
                <a:rPr lang="en-US" altLang="ko-KR" dirty="0" err="1"/>
                <a:t>displayInfo</a:t>
              </a:r>
              <a:r>
                <a:rPr lang="en-US" altLang="ko-KR" dirty="0"/>
                <a:t>()</a:t>
              </a:r>
            </a:p>
            <a:p>
              <a:r>
                <a:rPr lang="en-US" altLang="ko-KR" dirty="0"/>
                <a:t> </a:t>
              </a:r>
              <a:r>
                <a:rPr lang="en-US" altLang="ko-KR" dirty="0" err="1"/>
                <a:t>getTransactionHistory</a:t>
              </a:r>
              <a:r>
                <a:rPr lang="en-US" altLang="ko-KR" dirty="0"/>
                <a:t>()</a:t>
              </a:r>
            </a:p>
          </p:txBody>
        </p:sp>
      </p:grpSp>
      <p:grpSp>
        <p:nvGrpSpPr>
          <p:cNvPr id="22" name="그룹 21"/>
          <p:cNvGrpSpPr/>
          <p:nvPr/>
        </p:nvGrpSpPr>
        <p:grpSpPr>
          <a:xfrm>
            <a:off x="6681192" y="3484537"/>
            <a:ext cx="2592288" cy="1264393"/>
            <a:chOff x="7313712" y="2111403"/>
            <a:chExt cx="2592288" cy="1264393"/>
          </a:xfrm>
        </p:grpSpPr>
        <p:sp>
          <p:nvSpPr>
            <p:cNvPr id="8" name="직사각형 7"/>
            <p:cNvSpPr/>
            <p:nvPr/>
          </p:nvSpPr>
          <p:spPr>
            <a:xfrm>
              <a:off x="7313712" y="2111403"/>
              <a:ext cx="2592288" cy="504056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TransactionType</a:t>
              </a:r>
              <a:r>
                <a:rPr lang="en-US" altLang="ko-KR" dirty="0"/>
                <a:t>(</a:t>
              </a:r>
              <a:r>
                <a:rPr lang="en-US" altLang="ko-KR" dirty="0" err="1"/>
                <a:t>enum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7313712" y="2615459"/>
              <a:ext cx="2592288" cy="760337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dirty="0"/>
                <a:t> </a:t>
              </a:r>
              <a:r>
                <a:rPr lang="ko-KR" altLang="en-US" dirty="0"/>
                <a:t>입금</a:t>
              </a:r>
              <a:endParaRPr lang="en-US" altLang="ko-KR" dirty="0"/>
            </a:p>
            <a:p>
              <a:r>
                <a:rPr lang="en-US" altLang="ko-KR" dirty="0"/>
                <a:t> </a:t>
              </a:r>
              <a:r>
                <a:rPr lang="ko-KR" altLang="en-US" dirty="0"/>
                <a:t>출금</a:t>
              </a:r>
              <a:endParaRPr lang="en-US" altLang="ko-KR" dirty="0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4916996" y="1922366"/>
            <a:ext cx="2520280" cy="1252134"/>
            <a:chOff x="4664968" y="2111403"/>
            <a:chExt cx="2520280" cy="1252134"/>
          </a:xfrm>
        </p:grpSpPr>
        <p:sp>
          <p:nvSpPr>
            <p:cNvPr id="10" name="직사각형 9"/>
            <p:cNvSpPr/>
            <p:nvPr/>
          </p:nvSpPr>
          <p:spPr>
            <a:xfrm>
              <a:off x="4664968" y="2111403"/>
              <a:ext cx="2520280" cy="504056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Transaction(</a:t>
              </a:r>
              <a:r>
                <a:rPr lang="ko-KR" altLang="en-US" dirty="0"/>
                <a:t>클래스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4664968" y="2596486"/>
              <a:ext cx="2520280" cy="76705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ko-KR" dirty="0"/>
                <a:t> </a:t>
              </a:r>
              <a:r>
                <a:rPr lang="en-US" altLang="ko-KR" dirty="0" err="1"/>
                <a:t>TransactionType</a:t>
              </a:r>
              <a:r>
                <a:rPr lang="en-US" altLang="ko-KR" dirty="0"/>
                <a:t> </a:t>
              </a:r>
            </a:p>
            <a:p>
              <a:r>
                <a:rPr lang="en-US" altLang="ko-KR" dirty="0"/>
                <a:t> amount</a:t>
              </a:r>
            </a:p>
          </p:txBody>
        </p:sp>
      </p:grp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BankProject</a:t>
            </a:r>
            <a:r>
              <a:rPr lang="en-US" altLang="ko-KR" sz="2000" b="1" dirty="0">
                <a:solidFill>
                  <a:srgbClr val="C00000"/>
                </a:solidFill>
              </a:rPr>
              <a:t> &gt; </a:t>
            </a:r>
            <a:r>
              <a:rPr lang="ko-KR" altLang="en-US" sz="2000" b="1" dirty="0">
                <a:solidFill>
                  <a:srgbClr val="C00000"/>
                </a:solidFill>
              </a:rPr>
              <a:t>클래스 다이어그램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cxnSp>
        <p:nvCxnSpPr>
          <p:cNvPr id="24" name="직선 화살표 연결선 23"/>
          <p:cNvCxnSpPr/>
          <p:nvPr/>
        </p:nvCxnSpPr>
        <p:spPr>
          <a:xfrm>
            <a:off x="4016408" y="2548433"/>
            <a:ext cx="86409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11" idx="2"/>
            <a:endCxn id="9" idx="1"/>
          </p:cNvCxnSpPr>
          <p:nvPr/>
        </p:nvCxnSpPr>
        <p:spPr>
          <a:xfrm rot="16200000" flipH="1">
            <a:off x="5832033" y="3519603"/>
            <a:ext cx="1194262" cy="50405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40020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은행 거래 내역 테스트 출력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34" y="1663147"/>
            <a:ext cx="4060677" cy="16826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34" y="3645024"/>
            <a:ext cx="4060677" cy="17243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244" y="1628800"/>
            <a:ext cx="3888432" cy="16737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2535" y="3573016"/>
            <a:ext cx="3898937" cy="18781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689497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거래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>
                <a:solidFill>
                  <a:srgbClr val="C00000"/>
                </a:solidFill>
              </a:rPr>
              <a:t>트랜잭션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r>
              <a:rPr lang="ko-KR" altLang="en-US" sz="2000" b="1" dirty="0">
                <a:solidFill>
                  <a:srgbClr val="C00000"/>
                </a:solidFill>
              </a:rPr>
              <a:t> 유형  </a:t>
            </a:r>
            <a:r>
              <a:rPr lang="en-US" altLang="ko-KR" sz="2000" b="1" dirty="0">
                <a:solidFill>
                  <a:srgbClr val="C00000"/>
                </a:solidFill>
              </a:rPr>
              <a:t>- </a:t>
            </a:r>
            <a:r>
              <a:rPr lang="en-US" altLang="ko-KR" sz="2000" b="1" dirty="0" err="1">
                <a:solidFill>
                  <a:srgbClr val="C00000"/>
                </a:solidFill>
              </a:rPr>
              <a:t>enum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663" y="1700808"/>
            <a:ext cx="4110409" cy="15269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278031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거래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ko-KR" altLang="en-US" sz="2000" b="1" dirty="0">
                <a:solidFill>
                  <a:srgbClr val="C00000"/>
                </a:solidFill>
              </a:rPr>
              <a:t>트랜잭션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r>
              <a:rPr lang="ko-KR" altLang="en-US" sz="2000" b="1" dirty="0">
                <a:solidFill>
                  <a:srgbClr val="C00000"/>
                </a:solidFill>
              </a:rPr>
              <a:t>  </a:t>
            </a:r>
            <a:r>
              <a:rPr lang="en-US" altLang="ko-KR" sz="2000" b="1" dirty="0">
                <a:solidFill>
                  <a:srgbClr val="C00000"/>
                </a:solidFill>
              </a:rPr>
              <a:t>- </a:t>
            </a:r>
            <a:r>
              <a:rPr lang="ko-KR" altLang="en-US" sz="2000" b="1" dirty="0">
                <a:solidFill>
                  <a:srgbClr val="C00000"/>
                </a:solidFill>
              </a:rPr>
              <a:t>클래스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8800"/>
            <a:ext cx="7285408" cy="23573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4844847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은행계좌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en-US" altLang="ko-KR" sz="2000" b="1" dirty="0" err="1">
                <a:solidFill>
                  <a:srgbClr val="C00000"/>
                </a:solidFill>
              </a:rPr>
              <a:t>BankAccount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r>
              <a:rPr lang="ko-KR" altLang="en-US" sz="2000" b="1" dirty="0">
                <a:solidFill>
                  <a:srgbClr val="C00000"/>
                </a:solidFill>
              </a:rPr>
              <a:t>  </a:t>
            </a:r>
            <a:r>
              <a:rPr lang="en-US" altLang="ko-KR" sz="2000" b="1" dirty="0">
                <a:solidFill>
                  <a:srgbClr val="C00000"/>
                </a:solidFill>
              </a:rPr>
              <a:t>- </a:t>
            </a:r>
            <a:r>
              <a:rPr lang="ko-KR" altLang="en-US" sz="2000" b="1" dirty="0">
                <a:solidFill>
                  <a:srgbClr val="C00000"/>
                </a:solidFill>
              </a:rPr>
              <a:t>클래스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584" y="1602445"/>
            <a:ext cx="7852908" cy="42748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69932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은행계좌</a:t>
            </a:r>
            <a:r>
              <a:rPr lang="en-US" altLang="ko-KR" sz="2000" b="1" dirty="0">
                <a:solidFill>
                  <a:srgbClr val="C00000"/>
                </a:solidFill>
              </a:rPr>
              <a:t>(</a:t>
            </a:r>
            <a:r>
              <a:rPr lang="en-US" altLang="ko-KR" sz="2000" b="1" dirty="0" err="1">
                <a:solidFill>
                  <a:srgbClr val="C00000"/>
                </a:solidFill>
              </a:rPr>
              <a:t>BankAccount</a:t>
            </a:r>
            <a:r>
              <a:rPr lang="en-US" altLang="ko-KR" sz="2000" b="1" dirty="0">
                <a:solidFill>
                  <a:srgbClr val="C00000"/>
                </a:solidFill>
              </a:rPr>
              <a:t>)</a:t>
            </a:r>
            <a:r>
              <a:rPr lang="ko-KR" altLang="en-US" sz="2000" b="1" dirty="0">
                <a:solidFill>
                  <a:srgbClr val="C00000"/>
                </a:solidFill>
              </a:rPr>
              <a:t>  </a:t>
            </a:r>
            <a:r>
              <a:rPr lang="en-US" altLang="ko-KR" sz="2000" b="1" dirty="0">
                <a:solidFill>
                  <a:srgbClr val="C00000"/>
                </a:solidFill>
              </a:rPr>
              <a:t>- </a:t>
            </a:r>
            <a:r>
              <a:rPr lang="ko-KR" altLang="en-US" sz="2000" b="1" dirty="0">
                <a:solidFill>
                  <a:srgbClr val="C00000"/>
                </a:solidFill>
              </a:rPr>
              <a:t>클래스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2412"/>
            <a:ext cx="6563086" cy="46068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377006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거래</a:t>
            </a:r>
            <a:r>
              <a:rPr lang="en-US" altLang="ko-KR" sz="2000" b="1" dirty="0">
                <a:solidFill>
                  <a:srgbClr val="C00000"/>
                </a:solidFill>
              </a:rPr>
              <a:t>(transaction)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79" y="1609720"/>
            <a:ext cx="8226725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000665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80728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계좌 정보 출력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12586"/>
            <a:ext cx="7200800" cy="16821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616119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08720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Main </a:t>
            </a:r>
            <a:r>
              <a:rPr lang="ko-KR" altLang="en-US" sz="2000" b="1" dirty="0">
                <a:solidFill>
                  <a:srgbClr val="C00000"/>
                </a:solidFill>
              </a:rPr>
              <a:t>테스트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1577617"/>
            <a:ext cx="9018645" cy="345638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35030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08720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Main </a:t>
            </a:r>
            <a:r>
              <a:rPr lang="ko-KR" altLang="en-US" sz="2000" b="1" dirty="0">
                <a:solidFill>
                  <a:srgbClr val="C00000"/>
                </a:solidFill>
              </a:rPr>
              <a:t>테스트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484784"/>
            <a:ext cx="5688632" cy="47162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61519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08720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계좌 생성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rcRect b="18600"/>
          <a:stretch/>
        </p:blipFill>
        <p:spPr>
          <a:xfrm>
            <a:off x="1208584" y="1484784"/>
            <a:ext cx="7767695" cy="43924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7430411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08720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계좌 검색 메서드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9" y="1484784"/>
            <a:ext cx="6912768" cy="43251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797582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08720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예금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484784"/>
            <a:ext cx="8456703" cy="49685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7488378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08720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출금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76" y="1412776"/>
            <a:ext cx="9298452" cy="48245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8906476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5889103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 은행 거래 프로젝트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064568" y="908720"/>
            <a:ext cx="5256584" cy="64807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계좌 정보 검색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7861"/>
            <a:ext cx="6696744" cy="39456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54704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6126</TotalTime>
  <Words>1862</Words>
  <Application>Microsoft Office PowerPoint</Application>
  <PresentationFormat>A4 용지(210x297mm)</PresentationFormat>
  <Paragraphs>525</Paragraphs>
  <Slides>70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70</vt:i4>
      </vt:variant>
    </vt:vector>
  </HeadingPairs>
  <TitlesOfParts>
    <vt:vector size="77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8장. 컬렉션 프레임워크</vt:lpstr>
      <vt:lpstr>  제네릭(Generic)</vt:lpstr>
      <vt:lpstr>  제네릭(Generic)</vt:lpstr>
      <vt:lpstr>  제네릭(Generic)</vt:lpstr>
      <vt:lpstr>  제네릭(Generic)</vt:lpstr>
      <vt:lpstr>  제네릭(Generic)</vt:lpstr>
      <vt:lpstr>  제네릭(Generic)</vt:lpstr>
      <vt:lpstr>  제네릭(Generic)</vt:lpstr>
      <vt:lpstr>  제네릭(Generic)</vt:lpstr>
      <vt:lpstr>  컬렉션 프레임워크</vt:lpstr>
      <vt:lpstr>  컬렉션 프레임워크</vt:lpstr>
      <vt:lpstr>  컬렉션 프레임워크</vt:lpstr>
      <vt:lpstr>  컬렉션 프레임워크</vt:lpstr>
      <vt:lpstr>  컬렉션 프레임워크</vt:lpstr>
      <vt:lpstr>  List 인터페이스</vt:lpstr>
      <vt:lpstr>  List 인터페이스</vt:lpstr>
      <vt:lpstr>  List 인터페이스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hashCode() 메서드</vt:lpstr>
      <vt:lpstr> hashCode() 메서드</vt:lpstr>
      <vt:lpstr> hashCode() 메서드</vt:lpstr>
      <vt:lpstr> hashCode() 메서드</vt:lpstr>
      <vt:lpstr> hashCode() 메서드</vt:lpstr>
      <vt:lpstr> hashCode() 메서드</vt:lpstr>
      <vt:lpstr>  Map 인터페이스</vt:lpstr>
      <vt:lpstr>  Map 인터페이스</vt:lpstr>
      <vt:lpstr>PowerPoint 프레젠테이션</vt:lpstr>
      <vt:lpstr>  Map 인터페이스</vt:lpstr>
      <vt:lpstr>  Map 인터페이스</vt:lpstr>
      <vt:lpstr>  Map 인터페이스</vt:lpstr>
      <vt:lpstr>  Map 인터페이스</vt:lpstr>
      <vt:lpstr>  Map 인터페이스</vt:lpstr>
      <vt:lpstr>  회원 관리 프로그램</vt:lpstr>
      <vt:lpstr>  회원 관리 프로그램</vt:lpstr>
      <vt:lpstr>  회원 관리 프로그램</vt:lpstr>
      <vt:lpstr>  회원 관리 프로그램</vt:lpstr>
      <vt:lpstr>  회원 관리 프로그램</vt:lpstr>
      <vt:lpstr>  Map 인터페이스</vt:lpstr>
      <vt:lpstr>  Map 인터페이스</vt:lpstr>
      <vt:lpstr>  Map 인터페이스</vt:lpstr>
      <vt:lpstr>  실습 문제 - ArrayList</vt:lpstr>
      <vt:lpstr>PowerPoint 프레젠테이션</vt:lpstr>
      <vt:lpstr>PowerPoint 프레젠테이션</vt:lpstr>
      <vt:lpstr>PowerPoint 프레젠테이션</vt:lpstr>
      <vt:lpstr>  스택(Stack)</vt:lpstr>
      <vt:lpstr>  스택(Stack)</vt:lpstr>
      <vt:lpstr>PowerPoint 프레젠테이션</vt:lpstr>
      <vt:lpstr>  큐(Queue)</vt:lpstr>
      <vt:lpstr>  큐(Queue)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481</cp:revision>
  <dcterms:created xsi:type="dcterms:W3CDTF">2019-03-04T02:36:55Z</dcterms:created>
  <dcterms:modified xsi:type="dcterms:W3CDTF">2026-07-29T22:32:03Z</dcterms:modified>
</cp:coreProperties>
</file>