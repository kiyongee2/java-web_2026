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9"/>
  </p:notesMasterIdLst>
  <p:sldIdLst>
    <p:sldId id="256" r:id="rId2"/>
    <p:sldId id="323" r:id="rId3"/>
    <p:sldId id="325" r:id="rId4"/>
    <p:sldId id="347" r:id="rId5"/>
    <p:sldId id="460" r:id="rId6"/>
    <p:sldId id="394" r:id="rId7"/>
    <p:sldId id="389" r:id="rId8"/>
    <p:sldId id="395" r:id="rId9"/>
    <p:sldId id="351" r:id="rId10"/>
    <p:sldId id="326" r:id="rId11"/>
    <p:sldId id="421" r:id="rId12"/>
    <p:sldId id="392" r:id="rId13"/>
    <p:sldId id="396" r:id="rId14"/>
    <p:sldId id="410" r:id="rId15"/>
    <p:sldId id="412" r:id="rId16"/>
    <p:sldId id="466" r:id="rId17"/>
    <p:sldId id="413" r:id="rId18"/>
    <p:sldId id="465" r:id="rId19"/>
    <p:sldId id="473" r:id="rId20"/>
    <p:sldId id="415" r:id="rId21"/>
    <p:sldId id="467" r:id="rId22"/>
    <p:sldId id="469" r:id="rId23"/>
    <p:sldId id="368" r:id="rId24"/>
    <p:sldId id="370" r:id="rId25"/>
    <p:sldId id="397" r:id="rId26"/>
    <p:sldId id="371" r:id="rId27"/>
    <p:sldId id="470" r:id="rId28"/>
    <p:sldId id="423" r:id="rId29"/>
    <p:sldId id="426" r:id="rId30"/>
    <p:sldId id="409" r:id="rId31"/>
    <p:sldId id="471" r:id="rId32"/>
    <p:sldId id="390" r:id="rId33"/>
    <p:sldId id="424" r:id="rId34"/>
    <p:sldId id="429" r:id="rId35"/>
    <p:sldId id="430" r:id="rId36"/>
    <p:sldId id="431" r:id="rId37"/>
    <p:sldId id="432" r:id="rId38"/>
    <p:sldId id="433" r:id="rId39"/>
    <p:sldId id="474" r:id="rId40"/>
    <p:sldId id="434" r:id="rId41"/>
    <p:sldId id="435" r:id="rId42"/>
    <p:sldId id="436" r:id="rId43"/>
    <p:sldId id="437" r:id="rId44"/>
    <p:sldId id="438" r:id="rId45"/>
    <p:sldId id="468" r:id="rId46"/>
    <p:sldId id="439" r:id="rId47"/>
    <p:sldId id="440" r:id="rId48"/>
    <p:sldId id="441" r:id="rId49"/>
    <p:sldId id="442" r:id="rId50"/>
    <p:sldId id="446" r:id="rId51"/>
    <p:sldId id="447" r:id="rId52"/>
    <p:sldId id="448" r:id="rId53"/>
    <p:sldId id="449" r:id="rId54"/>
    <p:sldId id="450" r:id="rId55"/>
    <p:sldId id="472" r:id="rId56"/>
    <p:sldId id="462" r:id="rId57"/>
    <p:sldId id="464" r:id="rId58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>
      <p:cViewPr varScale="1">
        <p:scale>
          <a:sx n="84" d="100"/>
          <a:sy n="84" d="100"/>
        </p:scale>
        <p:origin x="1248" y="91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3</a:t>
            </a:r>
            <a:r>
              <a:rPr lang="ko-KR" altLang="en-US" sz="2800" b="1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배열</a:t>
            </a:r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(Array), </a:t>
            </a:r>
            <a:r>
              <a:rPr lang="ko-KR" altLang="en-US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함수</a:t>
            </a:r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(Method)</a:t>
            </a:r>
            <a:endParaRPr lang="ko-KR" altLang="en-US" sz="28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400" i="1" dirty="0">
                <a:solidFill>
                  <a:schemeClr val="bg1"/>
                </a:solidFill>
              </a:rPr>
              <a:t> Array &amp; Method</a:t>
            </a:r>
            <a:endParaRPr lang="ko-KR" altLang="en-US" sz="18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배열</a:t>
            </a:r>
            <a:r>
              <a:rPr lang="en-US" altLang="ko-KR" dirty="0"/>
              <a:t>(Array]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04066" y="1124744"/>
            <a:ext cx="8469414" cy="46085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배열은 왜 써야 할까</a:t>
            </a:r>
            <a:r>
              <a:rPr lang="en-US" altLang="ko-KR" sz="2000" b="1" dirty="0">
                <a:solidFill>
                  <a:srgbClr val="C00000"/>
                </a:solidFill>
              </a:rPr>
              <a:t>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2060"/>
                </a:solidFill>
              </a:rPr>
              <a:t>정수 </a:t>
            </a:r>
            <a:r>
              <a:rPr lang="en-US" altLang="ko-KR" sz="1800" dirty="0">
                <a:solidFill>
                  <a:srgbClr val="002060"/>
                </a:solidFill>
              </a:rPr>
              <a:t>20</a:t>
            </a:r>
            <a:r>
              <a:rPr lang="ko-KR" altLang="en-US" sz="1800" dirty="0">
                <a:solidFill>
                  <a:srgbClr val="002060"/>
                </a:solidFill>
              </a:rPr>
              <a:t>개를 이용한 프로그램을 할 때 </a:t>
            </a:r>
            <a:r>
              <a:rPr lang="en-US" altLang="ko-KR" sz="1800" dirty="0">
                <a:solidFill>
                  <a:srgbClr val="002060"/>
                </a:solidFill>
              </a:rPr>
              <a:t>20</a:t>
            </a:r>
            <a:r>
              <a:rPr lang="ko-KR" altLang="en-US" sz="1800" dirty="0">
                <a:solidFill>
                  <a:srgbClr val="002060"/>
                </a:solidFill>
              </a:rPr>
              <a:t>개의 정수 타입의 변수를 선언</a:t>
            </a:r>
            <a:endParaRPr lang="en-US" altLang="ko-KR" sz="1800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rgbClr val="002060"/>
                </a:solidFill>
              </a:rPr>
              <a:t>   </a:t>
            </a:r>
            <a:r>
              <a:rPr lang="en-US" altLang="ko-KR" sz="1800" dirty="0" err="1">
                <a:solidFill>
                  <a:srgbClr val="002060"/>
                </a:solidFill>
              </a:rPr>
              <a:t>int</a:t>
            </a:r>
            <a:r>
              <a:rPr lang="en-US" altLang="ko-KR" sz="1800" dirty="0">
                <a:solidFill>
                  <a:srgbClr val="002060"/>
                </a:solidFill>
              </a:rPr>
              <a:t> num1, </a:t>
            </a:r>
            <a:r>
              <a:rPr lang="en-US" altLang="ko-KR" sz="1800" dirty="0" err="1">
                <a:solidFill>
                  <a:srgbClr val="002060"/>
                </a:solidFill>
              </a:rPr>
              <a:t>int</a:t>
            </a:r>
            <a:r>
              <a:rPr lang="en-US" altLang="ko-KR" sz="1800" dirty="0">
                <a:solidFill>
                  <a:srgbClr val="002060"/>
                </a:solidFill>
              </a:rPr>
              <a:t> num2, </a:t>
            </a:r>
            <a:r>
              <a:rPr lang="en-US" altLang="ko-KR" sz="1800" dirty="0" err="1">
                <a:solidFill>
                  <a:srgbClr val="002060"/>
                </a:solidFill>
              </a:rPr>
              <a:t>int</a:t>
            </a:r>
            <a:r>
              <a:rPr lang="en-US" altLang="ko-KR" sz="1800" dirty="0">
                <a:solidFill>
                  <a:srgbClr val="002060"/>
                </a:solidFill>
              </a:rPr>
              <a:t> num3… num20;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rgbClr val="002060"/>
                </a:solidFill>
              </a:rPr>
              <a:t>   </a:t>
            </a:r>
            <a:r>
              <a:rPr lang="ko-KR" altLang="en-US" sz="1800" dirty="0">
                <a:solidFill>
                  <a:srgbClr val="002060"/>
                </a:solidFill>
              </a:rPr>
              <a:t>비효율적이고 관리하기 어렵다</a:t>
            </a:r>
            <a:r>
              <a:rPr lang="en-US" altLang="ko-KR" sz="1800" dirty="0">
                <a:solidFill>
                  <a:srgbClr val="002060"/>
                </a:solidFill>
              </a:rPr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2060"/>
                </a:solidFill>
              </a:rPr>
              <a:t>배열을 선언하면 선언한 </a:t>
            </a:r>
            <a:r>
              <a:rPr lang="ko-KR" altLang="en-US" sz="1800" dirty="0" err="1">
                <a:solidFill>
                  <a:srgbClr val="002060"/>
                </a:solidFill>
              </a:rPr>
              <a:t>자료형과</a:t>
            </a:r>
            <a:r>
              <a:rPr lang="ko-KR" altLang="en-US" sz="1800" dirty="0">
                <a:solidFill>
                  <a:srgbClr val="002060"/>
                </a:solidFill>
              </a:rPr>
              <a:t> 배열 길이에 따라 메모리가 할당된다</a:t>
            </a:r>
            <a:r>
              <a:rPr lang="en-US" altLang="ko-KR" sz="1800" dirty="0">
                <a:solidFill>
                  <a:srgbClr val="002060"/>
                </a:solidFill>
              </a:rPr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sp>
        <p:nvSpPr>
          <p:cNvPr id="2" name="직사각형 1"/>
          <p:cNvSpPr/>
          <p:nvPr/>
        </p:nvSpPr>
        <p:spPr>
          <a:xfrm>
            <a:off x="6537176" y="2276872"/>
            <a:ext cx="504056" cy="28803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7113240" y="2276872"/>
            <a:ext cx="504056" cy="28803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7689304" y="2276872"/>
            <a:ext cx="504056" cy="28803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929238"/>
              </p:ext>
            </p:extLst>
          </p:nvPr>
        </p:nvGraphicFramePr>
        <p:xfrm>
          <a:off x="3446909" y="4149080"/>
          <a:ext cx="5511210" cy="396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6912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410905" y="4586828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num</a:t>
            </a:r>
            <a:r>
              <a:rPr lang="en-US" altLang="ko-KR" sz="1400" dirty="0"/>
              <a:t>[0]</a:t>
            </a:r>
            <a:endParaRPr lang="ko-KR" altLang="en-US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4073154" y="4586828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num</a:t>
            </a:r>
            <a:r>
              <a:rPr lang="en-US" altLang="ko-KR" sz="1400" dirty="0"/>
              <a:t>[1]</a:t>
            </a:r>
            <a:endParaRPr lang="ko-KR" alt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4735136" y="4586828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num</a:t>
            </a:r>
            <a:r>
              <a:rPr lang="en-US" altLang="ko-KR" sz="1400" dirty="0"/>
              <a:t>[2]</a:t>
            </a:r>
            <a:endParaRPr lang="ko-KR" alt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8301372" y="4586828"/>
            <a:ext cx="82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num</a:t>
            </a:r>
            <a:r>
              <a:rPr lang="en-US" altLang="ko-KR" sz="1400" dirty="0"/>
              <a:t>[19]</a:t>
            </a:r>
            <a:endParaRPr lang="ko-KR" alt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7767389" y="4966100"/>
            <a:ext cx="12801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dirty="0"/>
              <a:t>0 ~ n-1 </a:t>
            </a:r>
            <a:r>
              <a:rPr lang="ko-KR" altLang="en-US" sz="1600" dirty="0"/>
              <a:t>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0706" y="4154256"/>
            <a:ext cx="1584176" cy="40862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rgbClr val="002060"/>
                </a:solidFill>
              </a:rPr>
              <a:t>int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en-US" altLang="ko-KR" b="1" dirty="0" err="1">
                <a:solidFill>
                  <a:srgbClr val="002060"/>
                </a:solidFill>
              </a:rPr>
              <a:t>num</a:t>
            </a:r>
            <a:r>
              <a:rPr lang="en-US" altLang="ko-KR" b="1" dirty="0">
                <a:solidFill>
                  <a:srgbClr val="002060"/>
                </a:solidFill>
              </a:rPr>
              <a:t>[20];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466690" y="4988002"/>
            <a:ext cx="2088232" cy="646986"/>
          </a:xfrm>
          <a:prstGeom prst="roundRect">
            <a:avLst/>
          </a:prstGeom>
          <a:ln w="127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dirty="0" err="1"/>
              <a:t>num</a:t>
            </a:r>
            <a:r>
              <a:rPr lang="ko-KR" altLang="en-US" sz="1600" dirty="0"/>
              <a:t> </a:t>
            </a:r>
            <a:r>
              <a:rPr lang="en-US" altLang="ko-KR" sz="1600" dirty="0"/>
              <a:t>-</a:t>
            </a:r>
            <a:r>
              <a:rPr lang="ko-KR" altLang="en-US" sz="1600" dirty="0"/>
              <a:t> 배열 이름</a:t>
            </a:r>
            <a:endParaRPr lang="en-US" altLang="ko-KR" sz="1600" dirty="0"/>
          </a:p>
          <a:p>
            <a:r>
              <a:rPr lang="en-US" altLang="ko-KR" sz="1600" dirty="0"/>
              <a:t>[ ] – </a:t>
            </a:r>
            <a:r>
              <a:rPr lang="ko-KR" altLang="en-US" sz="1600" dirty="0"/>
              <a:t>인덱스 연산자</a:t>
            </a:r>
          </a:p>
        </p:txBody>
      </p:sp>
      <p:cxnSp>
        <p:nvCxnSpPr>
          <p:cNvPr id="19" name="직선 화살표 연결선 18"/>
          <p:cNvCxnSpPr>
            <a:endCxn id="15" idx="2"/>
          </p:cNvCxnSpPr>
          <p:nvPr/>
        </p:nvCxnSpPr>
        <p:spPr>
          <a:xfrm flipV="1">
            <a:off x="2402794" y="4562879"/>
            <a:ext cx="0" cy="403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8366274" y="2276872"/>
            <a:ext cx="504056" cy="28803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135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배열 사용하기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5480" y="1127064"/>
            <a:ext cx="6239768" cy="5737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배열 선언 및 자료 저장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b="1" dirty="0">
                <a:solidFill>
                  <a:srgbClr val="002060"/>
                </a:solidFill>
              </a:rPr>
              <a:t> ① </a:t>
            </a:r>
            <a:r>
              <a:rPr lang="ko-KR" altLang="en-US" sz="1800" b="1" dirty="0" err="1">
                <a:solidFill>
                  <a:srgbClr val="002060"/>
                </a:solidFill>
              </a:rPr>
              <a:t>자료형</a:t>
            </a:r>
            <a:r>
              <a:rPr lang="en-US" altLang="ko-KR" sz="1800" b="1" dirty="0">
                <a:solidFill>
                  <a:srgbClr val="002060"/>
                </a:solidFill>
              </a:rPr>
              <a:t>[ ] </a:t>
            </a:r>
            <a:r>
              <a:rPr lang="ko-KR" altLang="en-US" sz="1800" dirty="0">
                <a:solidFill>
                  <a:srgbClr val="002060"/>
                </a:solidFill>
              </a:rPr>
              <a:t>배열 이름 </a:t>
            </a:r>
            <a:r>
              <a:rPr lang="en-US" altLang="ko-KR" sz="1800" dirty="0">
                <a:solidFill>
                  <a:srgbClr val="002060"/>
                </a:solidFill>
              </a:rPr>
              <a:t>= </a:t>
            </a:r>
            <a:r>
              <a:rPr lang="en-US" altLang="ko-KR" sz="1800" b="1" dirty="0">
                <a:solidFill>
                  <a:srgbClr val="C00000"/>
                </a:solidFill>
              </a:rPr>
              <a:t>new</a:t>
            </a:r>
            <a:r>
              <a:rPr lang="en-US" altLang="ko-KR" sz="1800" dirty="0">
                <a:solidFill>
                  <a:srgbClr val="002060"/>
                </a:solidFill>
              </a:rPr>
              <a:t> </a:t>
            </a:r>
            <a:r>
              <a:rPr lang="ko-KR" altLang="en-US" sz="1800" b="1" dirty="0" err="1">
                <a:solidFill>
                  <a:srgbClr val="002060"/>
                </a:solidFill>
              </a:rPr>
              <a:t>자료형</a:t>
            </a:r>
            <a:r>
              <a:rPr lang="en-US" altLang="ko-KR" sz="1800" b="1" dirty="0">
                <a:solidFill>
                  <a:srgbClr val="002060"/>
                </a:solidFill>
              </a:rPr>
              <a:t>[</a:t>
            </a:r>
            <a:r>
              <a:rPr lang="ko-KR" altLang="en-US" sz="1800" b="1" dirty="0">
                <a:solidFill>
                  <a:srgbClr val="002060"/>
                </a:solidFill>
              </a:rPr>
              <a:t>개수</a:t>
            </a:r>
            <a:r>
              <a:rPr lang="en-US" altLang="ko-KR" sz="1800" b="1" dirty="0">
                <a:solidFill>
                  <a:srgbClr val="002060"/>
                </a:solidFill>
              </a:rPr>
              <a:t>]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rgbClr val="002060"/>
                </a:solidFill>
              </a:rPr>
              <a:t> </a:t>
            </a:r>
            <a:r>
              <a:rPr lang="ko-KR" altLang="en-US" sz="1800" b="1" dirty="0">
                <a:solidFill>
                  <a:srgbClr val="002060"/>
                </a:solidFill>
              </a:rPr>
              <a:t>②</a:t>
            </a:r>
            <a:r>
              <a:rPr lang="ko-KR" altLang="en-US" sz="1800" dirty="0">
                <a:solidFill>
                  <a:srgbClr val="002060"/>
                </a:solidFill>
              </a:rPr>
              <a:t> </a:t>
            </a:r>
            <a:r>
              <a:rPr lang="ko-KR" altLang="en-US" sz="1800" b="1" dirty="0" err="1">
                <a:solidFill>
                  <a:srgbClr val="002060"/>
                </a:solidFill>
              </a:rPr>
              <a:t>자료형</a:t>
            </a:r>
            <a:r>
              <a:rPr lang="en-US" altLang="ko-KR" sz="1800" b="1" dirty="0">
                <a:solidFill>
                  <a:srgbClr val="002060"/>
                </a:solidFill>
              </a:rPr>
              <a:t>  </a:t>
            </a:r>
            <a:r>
              <a:rPr lang="ko-KR" altLang="en-US" sz="1800" dirty="0">
                <a:solidFill>
                  <a:srgbClr val="002060"/>
                </a:solidFill>
              </a:rPr>
              <a:t>배열 이름</a:t>
            </a:r>
            <a:r>
              <a:rPr lang="en-US" altLang="ko-KR" sz="1800" dirty="0">
                <a:solidFill>
                  <a:srgbClr val="002060"/>
                </a:solidFill>
              </a:rPr>
              <a:t>[ ]</a:t>
            </a:r>
            <a:r>
              <a:rPr lang="ko-KR" altLang="en-US" sz="1800" dirty="0">
                <a:solidFill>
                  <a:srgbClr val="002060"/>
                </a:solidFill>
              </a:rPr>
              <a:t> </a:t>
            </a:r>
            <a:r>
              <a:rPr lang="en-US" altLang="ko-KR" sz="1800" dirty="0">
                <a:solidFill>
                  <a:srgbClr val="002060"/>
                </a:solidFill>
              </a:rPr>
              <a:t>= </a:t>
            </a:r>
            <a:r>
              <a:rPr lang="en-US" altLang="ko-KR" sz="1800" b="1" dirty="0">
                <a:solidFill>
                  <a:srgbClr val="C00000"/>
                </a:solidFill>
              </a:rPr>
              <a:t>new</a:t>
            </a:r>
            <a:r>
              <a:rPr lang="en-US" altLang="ko-KR" sz="1800" dirty="0">
                <a:solidFill>
                  <a:srgbClr val="002060"/>
                </a:solidFill>
              </a:rPr>
              <a:t> </a:t>
            </a:r>
            <a:r>
              <a:rPr lang="ko-KR" altLang="en-US" sz="1800" b="1" dirty="0" err="1">
                <a:solidFill>
                  <a:srgbClr val="002060"/>
                </a:solidFill>
              </a:rPr>
              <a:t>자료형</a:t>
            </a:r>
            <a:r>
              <a:rPr lang="en-US" altLang="ko-KR" sz="1800" b="1" dirty="0">
                <a:solidFill>
                  <a:srgbClr val="002060"/>
                </a:solidFill>
              </a:rPr>
              <a:t>[</a:t>
            </a:r>
            <a:r>
              <a:rPr lang="ko-KR" altLang="en-US" sz="1800" b="1" dirty="0">
                <a:solidFill>
                  <a:srgbClr val="002060"/>
                </a:solidFill>
              </a:rPr>
              <a:t>개수</a:t>
            </a:r>
            <a:r>
              <a:rPr lang="en-US" altLang="ko-KR" sz="1800" b="1" dirty="0">
                <a:solidFill>
                  <a:srgbClr val="002060"/>
                </a:solidFill>
              </a:rPr>
              <a:t>]</a:t>
            </a:r>
            <a:r>
              <a:rPr lang="en-US" altLang="ko-KR" sz="1800" dirty="0">
                <a:solidFill>
                  <a:srgbClr val="002060"/>
                </a:solidFill>
              </a:rPr>
              <a:t> 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배열 길이</a:t>
            </a:r>
            <a:r>
              <a:rPr lang="en-US" altLang="ko-KR" sz="1800" dirty="0"/>
              <a:t>(length) - 10</a:t>
            </a:r>
            <a:r>
              <a:rPr lang="ko-KR" altLang="en-US" sz="1800" dirty="0"/>
              <a:t>개</a:t>
            </a:r>
            <a:endParaRPr lang="en-US" altLang="ko-KR" sz="1800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800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800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2060"/>
                </a:solidFill>
              </a:rPr>
              <a:t>배열의 길이 </a:t>
            </a:r>
            <a:r>
              <a:rPr lang="en-US" altLang="ko-KR" sz="1800" dirty="0">
                <a:solidFill>
                  <a:srgbClr val="002060"/>
                </a:solidFill>
              </a:rPr>
              <a:t>- </a:t>
            </a:r>
            <a:r>
              <a:rPr lang="en-US" altLang="ko-KR" sz="1800" b="1" dirty="0" err="1">
                <a:solidFill>
                  <a:srgbClr val="002060"/>
                </a:solidFill>
              </a:rPr>
              <a:t>numbers.length</a:t>
            </a:r>
            <a:endParaRPr lang="en-US" altLang="ko-KR" sz="1800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b="1" dirty="0">
                <a:solidFill>
                  <a:srgbClr val="002060"/>
                </a:solidFill>
              </a:rPr>
              <a:t>   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507317"/>
              </p:ext>
            </p:extLst>
          </p:nvPr>
        </p:nvGraphicFramePr>
        <p:xfrm>
          <a:off x="1934727" y="4149080"/>
          <a:ext cx="5511210" cy="396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1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6912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직선 연결선 7"/>
          <p:cNvCxnSpPr/>
          <p:nvPr/>
        </p:nvCxnSpPr>
        <p:spPr>
          <a:xfrm>
            <a:off x="1934727" y="4581128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7445937" y="4581128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1934727" y="5013176"/>
            <a:ext cx="551121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68178" y="4687900"/>
            <a:ext cx="1006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40 </a:t>
            </a:r>
            <a:r>
              <a:rPr lang="ko-KR" altLang="en-US" sz="1400" dirty="0"/>
              <a:t>바이트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2493373" y="4581128"/>
            <a:ext cx="0" cy="260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90711" y="4659523"/>
            <a:ext cx="883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4</a:t>
            </a:r>
            <a:r>
              <a:rPr lang="ko-KR" altLang="en-US" sz="1400" dirty="0"/>
              <a:t>바이트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1934727" y="2708920"/>
            <a:ext cx="4386425" cy="576064"/>
          </a:xfrm>
          <a:prstGeom prst="round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altLang="ko-KR" b="1" dirty="0" err="1">
                <a:solidFill>
                  <a:srgbClr val="002060"/>
                </a:solidFill>
              </a:rPr>
              <a:t>int</a:t>
            </a:r>
            <a:r>
              <a:rPr lang="en-US" altLang="ko-KR" b="1" dirty="0">
                <a:solidFill>
                  <a:srgbClr val="002060"/>
                </a:solidFill>
              </a:rPr>
              <a:t>[ ] numbers = </a:t>
            </a:r>
            <a:r>
              <a:rPr lang="en-US" altLang="ko-KR" b="1" dirty="0">
                <a:solidFill>
                  <a:srgbClr val="C00000"/>
                </a:solidFill>
              </a:rPr>
              <a:t>new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en-US" altLang="ko-KR" b="1" dirty="0" err="1">
                <a:solidFill>
                  <a:srgbClr val="002060"/>
                </a:solidFill>
              </a:rPr>
              <a:t>int</a:t>
            </a:r>
            <a:r>
              <a:rPr lang="en-US" altLang="ko-KR" b="1" dirty="0">
                <a:solidFill>
                  <a:srgbClr val="002060"/>
                </a:solidFill>
              </a:rPr>
              <a:t>[10]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8019" y="3668449"/>
            <a:ext cx="1205261" cy="408623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060"/>
                </a:solidFill>
              </a:rPr>
              <a:t>numbers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4335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배열</a:t>
            </a:r>
            <a:r>
              <a:rPr lang="en-US" altLang="ko-KR" dirty="0"/>
              <a:t>(Array]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04528" y="1052736"/>
            <a:ext cx="273630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문자열 배열 관리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800" y="980728"/>
            <a:ext cx="5476762" cy="54006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70994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배열</a:t>
            </a:r>
            <a:r>
              <a:rPr lang="en-US" altLang="ko-KR" dirty="0"/>
              <a:t>(Array]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04528" y="1052736"/>
            <a:ext cx="273630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>
                <a:solidFill>
                  <a:srgbClr val="C00000"/>
                </a:solidFill>
              </a:rPr>
              <a:t>문자열 배열 관리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808" y="1052735"/>
            <a:ext cx="4896544" cy="52726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01496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배열</a:t>
            </a:r>
            <a:r>
              <a:rPr lang="en-US" altLang="ko-KR" dirty="0"/>
              <a:t>(Array]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560512" y="1052736"/>
            <a:ext cx="267065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정수형 배열 관리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133" y="1052736"/>
            <a:ext cx="6386576" cy="50307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47843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배열</a:t>
            </a:r>
            <a:r>
              <a:rPr lang="en-US" altLang="ko-KR" dirty="0"/>
              <a:t>(Array]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50198" y="991228"/>
            <a:ext cx="3642762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디버깅</a:t>
            </a:r>
            <a:r>
              <a:rPr lang="en-US" altLang="ko-KR" sz="2000" b="1" dirty="0">
                <a:solidFill>
                  <a:srgbClr val="C00000"/>
                </a:solidFill>
              </a:rPr>
              <a:t>(Debugging)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4531" y="1556792"/>
            <a:ext cx="30386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① 브레이크 포인트 설정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1280515" y="1967881"/>
            <a:ext cx="3600477" cy="1944216"/>
            <a:chOff x="997499" y="2230597"/>
            <a:chExt cx="4451579" cy="2320497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735"/>
            <a:stretch/>
          </p:blipFill>
          <p:spPr>
            <a:xfrm>
              <a:off x="1094214" y="2230597"/>
              <a:ext cx="4354864" cy="2320497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21" name="모서리가 둥근 직사각형 20"/>
            <p:cNvSpPr/>
            <p:nvPr/>
          </p:nvSpPr>
          <p:spPr>
            <a:xfrm>
              <a:off x="997499" y="2918150"/>
              <a:ext cx="445148" cy="434149"/>
            </a:xfrm>
            <a:prstGeom prst="roundRect">
              <a:avLst>
                <a:gd name="adj" fmla="val 13110"/>
              </a:avLst>
            </a:pr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5385048" y="1556792"/>
            <a:ext cx="15600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/>
              <a:t>② 디버그 실행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5385048" y="2005093"/>
            <a:ext cx="3696216" cy="847843"/>
            <a:chOff x="5385048" y="2254631"/>
            <a:chExt cx="3696216" cy="847843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5048" y="2254631"/>
              <a:ext cx="3696216" cy="847843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17" name="모서리가 둥근 직사각형 16"/>
            <p:cNvSpPr/>
            <p:nvPr/>
          </p:nvSpPr>
          <p:spPr>
            <a:xfrm>
              <a:off x="7473280" y="2420888"/>
              <a:ext cx="432048" cy="392336"/>
            </a:xfrm>
            <a:prstGeom prst="roundRect">
              <a:avLst>
                <a:gd name="adj" fmla="val 13110"/>
              </a:avLst>
            </a:pr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직사각형 18"/>
          <p:cNvSpPr/>
          <p:nvPr/>
        </p:nvSpPr>
        <p:spPr>
          <a:xfrm>
            <a:off x="5385048" y="2996952"/>
            <a:ext cx="2088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/>
              <a:t>③ </a:t>
            </a:r>
            <a:r>
              <a:rPr lang="en-US" altLang="ko-KR" sz="1600" dirty="0"/>
              <a:t>Step Over(</a:t>
            </a:r>
            <a:r>
              <a:rPr lang="ko-KR" altLang="en-US" sz="1600" dirty="0"/>
              <a:t>단계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grpSp>
        <p:nvGrpSpPr>
          <p:cNvPr id="16" name="그룹 15"/>
          <p:cNvGrpSpPr/>
          <p:nvPr/>
        </p:nvGrpSpPr>
        <p:grpSpPr>
          <a:xfrm>
            <a:off x="5385048" y="3365346"/>
            <a:ext cx="3754554" cy="1760488"/>
            <a:chOff x="5385048" y="3756744"/>
            <a:chExt cx="3754554" cy="1760488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5048" y="3861048"/>
              <a:ext cx="3754554" cy="1656184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23" name="모서리가 둥근 직사각형 22"/>
            <p:cNvSpPr/>
            <p:nvPr/>
          </p:nvSpPr>
          <p:spPr>
            <a:xfrm>
              <a:off x="7185248" y="3756744"/>
              <a:ext cx="432048" cy="392336"/>
            </a:xfrm>
            <a:prstGeom prst="roundRect">
              <a:avLst>
                <a:gd name="adj" fmla="val 13110"/>
              </a:avLst>
            </a:pr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4457726"/>
            <a:ext cx="2952328" cy="1847715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1568624" y="4077072"/>
            <a:ext cx="2088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/>
              <a:t>④ 결과 확인</a:t>
            </a:r>
          </a:p>
        </p:txBody>
      </p:sp>
      <p:sp>
        <p:nvSpPr>
          <p:cNvPr id="25" name="모서리가 둥근 직사각형 24"/>
          <p:cNvSpPr/>
          <p:nvPr/>
        </p:nvSpPr>
        <p:spPr>
          <a:xfrm>
            <a:off x="6609184" y="3356992"/>
            <a:ext cx="432048" cy="392336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5485661" y="5301208"/>
            <a:ext cx="16921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/>
              <a:t>⑤ 디버깅 종료</a:t>
            </a:r>
            <a:endParaRPr lang="ko-KR" altLang="en-US" sz="1600" dirty="0"/>
          </a:p>
        </p:txBody>
      </p:sp>
      <p:cxnSp>
        <p:nvCxnSpPr>
          <p:cNvPr id="28" name="직선 화살표 연결선 27"/>
          <p:cNvCxnSpPr>
            <a:endCxn id="25" idx="2"/>
          </p:cNvCxnSpPr>
          <p:nvPr/>
        </p:nvCxnSpPr>
        <p:spPr>
          <a:xfrm flipV="1">
            <a:off x="6609184" y="3749328"/>
            <a:ext cx="216024" cy="1551880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889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배열</a:t>
            </a:r>
            <a:r>
              <a:rPr lang="en-US" altLang="ko-KR" dirty="0"/>
              <a:t>(Array]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3246718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C00000"/>
                </a:solidFill>
              </a:rPr>
              <a:t>실수형</a:t>
            </a:r>
            <a:r>
              <a:rPr lang="ko-KR" altLang="en-US" sz="2000" b="1" dirty="0">
                <a:solidFill>
                  <a:srgbClr val="C00000"/>
                </a:solidFill>
              </a:rPr>
              <a:t> 배열의 연산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651" y="1598780"/>
            <a:ext cx="4176464" cy="42868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724542"/>
            <a:ext cx="1333625" cy="21610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9745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배열</a:t>
            </a:r>
            <a:r>
              <a:rPr lang="en-US" altLang="ko-KR" dirty="0"/>
              <a:t>(Array]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5" y="980728"/>
            <a:ext cx="5294379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배열의 유효한 </a:t>
            </a:r>
            <a:r>
              <a:rPr lang="ko-KR" altLang="en-US" sz="2000" b="1" dirty="0" err="1">
                <a:solidFill>
                  <a:srgbClr val="C00000"/>
                </a:solidFill>
              </a:rPr>
              <a:t>요소값</a:t>
            </a:r>
            <a:r>
              <a:rPr lang="ko-KR" altLang="en-US" sz="2000" b="1" dirty="0">
                <a:solidFill>
                  <a:srgbClr val="C00000"/>
                </a:solidFill>
              </a:rPr>
              <a:t> 출력하기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599" y="1628800"/>
            <a:ext cx="4252329" cy="390177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184" y="4437112"/>
            <a:ext cx="693480" cy="7544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72026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배열</a:t>
            </a:r>
            <a:r>
              <a:rPr lang="en-US" altLang="ko-KR" dirty="0"/>
              <a:t>(Array]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6199046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문자형 배열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알파벳 저장하고 출력하기 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84" y="1638320"/>
            <a:ext cx="576064" cy="45393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560" y="1638320"/>
            <a:ext cx="7060520" cy="45989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576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향상된 </a:t>
            </a:r>
            <a:r>
              <a:rPr lang="en-US" altLang="ko-KR" dirty="0"/>
              <a:t>for</a:t>
            </a:r>
            <a:r>
              <a:rPr lang="ko-KR" altLang="en-US" dirty="0"/>
              <a:t>문과 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208584" y="1000403"/>
            <a:ext cx="3318726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향상된 </a:t>
            </a:r>
            <a:r>
              <a:rPr lang="en-US" altLang="ko-KR" sz="2000" b="1" dirty="0">
                <a:solidFill>
                  <a:srgbClr val="C00000"/>
                </a:solidFill>
              </a:rPr>
              <a:t>for</a:t>
            </a:r>
            <a:r>
              <a:rPr lang="ko-KR" altLang="en-US" sz="2000" b="1" dirty="0">
                <a:solidFill>
                  <a:srgbClr val="C00000"/>
                </a:solidFill>
              </a:rPr>
              <a:t>문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2001754" y="1700808"/>
            <a:ext cx="3455302" cy="954237"/>
          </a:xfrm>
          <a:prstGeom prst="roundRect">
            <a:avLst>
              <a:gd name="adj" fmla="val 1311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/>
              <a:t>for(</a:t>
            </a:r>
            <a:r>
              <a:rPr lang="ko-KR" altLang="en-US" dirty="0" err="1"/>
              <a:t>자료형</a:t>
            </a:r>
            <a:r>
              <a:rPr lang="ko-KR" altLang="en-US" dirty="0"/>
              <a:t> 변수 </a:t>
            </a:r>
            <a:r>
              <a:rPr lang="en-US" altLang="ko-KR" dirty="0"/>
              <a:t>: </a:t>
            </a:r>
            <a:r>
              <a:rPr lang="ko-KR" altLang="en-US" dirty="0"/>
              <a:t>배열이름</a:t>
            </a:r>
            <a:r>
              <a:rPr lang="en-US" altLang="ko-KR" dirty="0"/>
              <a:t>){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반복실행</a:t>
            </a:r>
            <a:r>
              <a:rPr lang="en-US" altLang="ko-KR" dirty="0"/>
              <a:t>(</a:t>
            </a:r>
            <a:r>
              <a:rPr lang="ko-KR" altLang="en-US" dirty="0"/>
              <a:t>변수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008" y="2996952"/>
            <a:ext cx="3924104" cy="13284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938" y="4509121"/>
            <a:ext cx="3920174" cy="10213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67986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651" y="2527338"/>
            <a:ext cx="5181007" cy="37819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배열 복사하기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3472" y="980728"/>
            <a:ext cx="2990545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배열 복사하기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36576" y="1484784"/>
            <a:ext cx="8136904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기존 배열과 </a:t>
            </a:r>
            <a:r>
              <a:rPr lang="ko-KR" altLang="en-US" dirty="0" err="1"/>
              <a:t>자료형</a:t>
            </a:r>
            <a:r>
              <a:rPr lang="ko-KR" altLang="en-US" dirty="0"/>
              <a:t> 및 배열 크기가 똑같은 배열을 새로 </a:t>
            </a:r>
            <a:r>
              <a:rPr lang="ko-KR" altLang="en-US" dirty="0" err="1"/>
              <a:t>만들때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배열의 모든 요소에 자료가 꽉 차서 더 큰 배열을 </a:t>
            </a:r>
            <a:r>
              <a:rPr lang="ko-KR" altLang="en-US" dirty="0" err="1"/>
              <a:t>만들때</a:t>
            </a:r>
            <a:endParaRPr lang="ko-KR" altLang="en-US" dirty="0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3071225" y="4581128"/>
            <a:ext cx="2385831" cy="344221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92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배열 복사하기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1052736"/>
            <a:ext cx="2592288" cy="10801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배열 복사하기 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600" dirty="0"/>
              <a:t>거꾸로 복사하기</a:t>
            </a:r>
            <a:endParaRPr lang="en-US" altLang="ko-KR" sz="16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979" y="4365104"/>
            <a:ext cx="468052" cy="5040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648" y="2125865"/>
            <a:ext cx="5444295" cy="34610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87027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최대값 찾기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344488" y="1772816"/>
            <a:ext cx="4248472" cy="41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       </a:t>
            </a:r>
            <a:endParaRPr lang="en-US" altLang="ko-KR" sz="18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488504" y="1412776"/>
            <a:ext cx="2304256" cy="10441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최대값과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최대값 위치 찾기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688" y="1052736"/>
            <a:ext cx="6410877" cy="50405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61388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  </a:t>
            </a:r>
            <a:r>
              <a:rPr lang="ko-KR" altLang="en-US" dirty="0"/>
              <a:t>배열을 이용한 성적 처리 프로그램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344488" y="1772816"/>
            <a:ext cx="4248472" cy="41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       </a:t>
            </a:r>
            <a:endParaRPr lang="en-US" altLang="ko-KR" sz="18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1031986"/>
            <a:ext cx="3168352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성적 처리 프로그램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0077" y="1670301"/>
            <a:ext cx="77048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메뉴 화면 만들기 </a:t>
            </a:r>
            <a:r>
              <a:rPr lang="en-US" altLang="ko-KR" sz="1600" dirty="0"/>
              <a:t>: 1.</a:t>
            </a:r>
            <a:r>
              <a:rPr lang="ko-KR" altLang="en-US" sz="1600" dirty="0"/>
              <a:t>학생수</a:t>
            </a:r>
            <a:r>
              <a:rPr lang="en-US" altLang="ko-KR" sz="1600" dirty="0"/>
              <a:t> | 2.</a:t>
            </a:r>
            <a:r>
              <a:rPr lang="ko-KR" altLang="en-US" sz="1600" dirty="0" err="1"/>
              <a:t>점수입력</a:t>
            </a:r>
            <a:r>
              <a:rPr lang="ko-KR" altLang="en-US" sz="1600" dirty="0"/>
              <a:t> </a:t>
            </a:r>
            <a:r>
              <a:rPr lang="en-US" altLang="ko-KR" sz="1600" dirty="0"/>
              <a:t>| 3.</a:t>
            </a:r>
            <a:r>
              <a:rPr lang="ko-KR" altLang="en-US" sz="1600" dirty="0" err="1"/>
              <a:t>점수리스트</a:t>
            </a:r>
            <a:r>
              <a:rPr lang="ko-KR" altLang="en-US" sz="1600" dirty="0"/>
              <a:t> </a:t>
            </a:r>
            <a:r>
              <a:rPr lang="en-US" altLang="ko-KR" sz="1600" dirty="0"/>
              <a:t>| 4.</a:t>
            </a:r>
            <a:r>
              <a:rPr lang="ko-KR" altLang="en-US" sz="1600" dirty="0"/>
              <a:t>분석 </a:t>
            </a:r>
            <a:r>
              <a:rPr lang="en-US" altLang="ko-KR" sz="1600" dirty="0"/>
              <a:t>| 5.</a:t>
            </a:r>
            <a:r>
              <a:rPr lang="ko-KR" altLang="en-US" sz="1600" dirty="0"/>
              <a:t>종료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학생수</a:t>
            </a:r>
            <a:r>
              <a:rPr lang="en-US" altLang="ko-KR" sz="1600" dirty="0"/>
              <a:t> : </a:t>
            </a:r>
            <a:r>
              <a:rPr lang="ko-KR" altLang="en-US" sz="1600" dirty="0"/>
              <a:t>배열로 생성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점수 입력 </a:t>
            </a:r>
            <a:r>
              <a:rPr lang="en-US" altLang="ko-KR" sz="1600" dirty="0"/>
              <a:t>: </a:t>
            </a:r>
            <a:r>
              <a:rPr lang="ko-KR" altLang="en-US" sz="1600" dirty="0"/>
              <a:t>학생 배열에 점수 입력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점수 리스트</a:t>
            </a:r>
            <a:r>
              <a:rPr lang="en-US" altLang="ko-KR" sz="1600" dirty="0"/>
              <a:t>: </a:t>
            </a:r>
            <a:r>
              <a:rPr lang="ko-KR" altLang="en-US" sz="1600" dirty="0"/>
              <a:t>점수 목록 조회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분석 </a:t>
            </a:r>
            <a:r>
              <a:rPr lang="en-US" altLang="ko-KR" sz="1600" dirty="0"/>
              <a:t>: </a:t>
            </a:r>
            <a:r>
              <a:rPr lang="ko-KR" altLang="en-US" sz="1600" dirty="0"/>
              <a:t>평균 점수와 최고 점수를 계산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종료 </a:t>
            </a:r>
            <a:r>
              <a:rPr lang="en-US" altLang="ko-KR" sz="1600" dirty="0"/>
              <a:t>: </a:t>
            </a:r>
            <a:r>
              <a:rPr lang="ko-KR" altLang="en-US" sz="1600" dirty="0"/>
              <a:t>프로그램 종료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메뉴에 없는 번호 선택 </a:t>
            </a:r>
            <a:r>
              <a:rPr lang="en-US" altLang="ko-KR" sz="1600" dirty="0"/>
              <a:t>: </a:t>
            </a:r>
            <a:r>
              <a:rPr lang="ko-KR" altLang="en-US" sz="1600" dirty="0"/>
              <a:t>메뉴를 잘못 누름</a:t>
            </a:r>
            <a:r>
              <a:rPr lang="en-US" altLang="ko-KR" sz="1600" dirty="0"/>
              <a:t>, </a:t>
            </a:r>
            <a:r>
              <a:rPr lang="ko-KR" altLang="en-US" sz="1600" dirty="0"/>
              <a:t>다시 입력</a:t>
            </a:r>
          </a:p>
        </p:txBody>
      </p:sp>
    </p:spTree>
    <p:extLst>
      <p:ext uri="{BB962C8B-B14F-4D97-AF65-F5344CB8AC3E}">
        <p14:creationId xmlns:p14="http://schemas.microsoft.com/office/powerpoint/2010/main" val="2596311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  </a:t>
            </a:r>
            <a:r>
              <a:rPr lang="ko-KR" altLang="en-US" dirty="0"/>
              <a:t>배열을 이용한 성적 처리 프로그램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1031986"/>
            <a:ext cx="3168352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성적 처리 프로그램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8" y="1772816"/>
            <a:ext cx="4084388" cy="32403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684" y="1772816"/>
            <a:ext cx="4456241" cy="20162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40978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  </a:t>
            </a:r>
            <a:r>
              <a:rPr lang="ko-KR" altLang="en-US" dirty="0"/>
              <a:t>배열을 이용한 성적 처리 프로그램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344488" y="1772816"/>
            <a:ext cx="4248472" cy="41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       </a:t>
            </a:r>
            <a:endParaRPr lang="en-US" altLang="ko-KR" sz="18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908720"/>
            <a:ext cx="3168352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성적 처리 프로그램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728" y="1484783"/>
            <a:ext cx="7488000" cy="49685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33488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  </a:t>
            </a:r>
            <a:r>
              <a:rPr lang="ko-KR" altLang="en-US" dirty="0"/>
              <a:t>배열을 이용한 성적 처리 프로그램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344488" y="1772816"/>
            <a:ext cx="4248472" cy="41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       </a:t>
            </a:r>
            <a:endParaRPr lang="en-US" altLang="ko-KR" sz="18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908720"/>
            <a:ext cx="3168352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성적 처리 프로그램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48245"/>
            <a:ext cx="6607130" cy="49050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87395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  </a:t>
            </a:r>
            <a:r>
              <a:rPr lang="ko-KR" altLang="en-US" dirty="0"/>
              <a:t>배열을 이용한 성적 처리 프로그램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344488" y="1772816"/>
            <a:ext cx="4248472" cy="41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       </a:t>
            </a:r>
            <a:endParaRPr lang="en-US" altLang="ko-KR" sz="18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052736"/>
            <a:ext cx="5112568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성적 처리 프로그램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예외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>
                <a:solidFill>
                  <a:srgbClr val="C00000"/>
                </a:solidFill>
              </a:rPr>
              <a:t>오류</a:t>
            </a:r>
            <a:r>
              <a:rPr lang="en-US" altLang="ko-KR" sz="2000" b="1" dirty="0">
                <a:solidFill>
                  <a:srgbClr val="C00000"/>
                </a:solidFill>
              </a:rPr>
              <a:t>) </a:t>
            </a:r>
            <a:r>
              <a:rPr lang="ko-KR" altLang="en-US" sz="2000" b="1" dirty="0">
                <a:solidFill>
                  <a:srgbClr val="C00000"/>
                </a:solidFill>
              </a:rPr>
              <a:t>처리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5" y="2192090"/>
            <a:ext cx="7128792" cy="33471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158365" y="1613121"/>
            <a:ext cx="7695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번 부터 시작하지 않고 </a:t>
            </a:r>
            <a:r>
              <a:rPr lang="en-US" altLang="ko-KR" dirty="0"/>
              <a:t>2, 3, 4</a:t>
            </a:r>
            <a:r>
              <a:rPr lang="ko-KR" altLang="en-US" dirty="0"/>
              <a:t>를 선택했을 경우 </a:t>
            </a:r>
            <a:r>
              <a:rPr lang="en-US" altLang="ko-KR" dirty="0"/>
              <a:t>NULL </a:t>
            </a:r>
            <a:r>
              <a:rPr lang="ko-KR" altLang="en-US" dirty="0"/>
              <a:t>오류 발생 </a:t>
            </a:r>
            <a:r>
              <a:rPr lang="en-US" altLang="ko-KR" dirty="0"/>
              <a:t>- </a:t>
            </a:r>
            <a:r>
              <a:rPr lang="ko-KR" altLang="en-US" dirty="0"/>
              <a:t>해결</a:t>
            </a:r>
          </a:p>
        </p:txBody>
      </p:sp>
    </p:spTree>
    <p:extLst>
      <p:ext uri="{BB962C8B-B14F-4D97-AF65-F5344CB8AC3E}">
        <p14:creationId xmlns:p14="http://schemas.microsoft.com/office/powerpoint/2010/main" val="1517993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정렬</a:t>
            </a:r>
            <a:r>
              <a:rPr lang="en-US" altLang="ko-KR" dirty="0"/>
              <a:t>(Sort)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344488" y="1772816"/>
            <a:ext cx="4248472" cy="41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       </a:t>
            </a:r>
            <a:endParaRPr lang="en-US" altLang="ko-KR" sz="18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1042719"/>
            <a:ext cx="2448272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배열 요소의 정렬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0552" y="1591925"/>
            <a:ext cx="80648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ko-KR" altLang="en-US" sz="1600" b="1" dirty="0"/>
              <a:t>정렬</a:t>
            </a:r>
            <a:r>
              <a:rPr lang="en-US" altLang="ko-KR" sz="1600" b="1" dirty="0"/>
              <a:t>(sort</a:t>
            </a:r>
            <a:r>
              <a:rPr lang="en-US" altLang="ko-KR" sz="1600" dirty="0"/>
              <a:t>)</a:t>
            </a:r>
            <a:r>
              <a:rPr lang="ko-KR" altLang="en-US" sz="1600" dirty="0"/>
              <a:t>은 자료를 크기 순서로 맞춰 일렬로 나열하는 것이다</a:t>
            </a:r>
            <a:r>
              <a:rPr lang="en-US" altLang="ko-KR" sz="1600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ko-KR" altLang="en-US" sz="1600" dirty="0"/>
              <a:t>오름 차순 또는 내림 </a:t>
            </a:r>
            <a:r>
              <a:rPr lang="ko-KR" altLang="en-US" sz="1600" dirty="0" err="1"/>
              <a:t>차순으로</a:t>
            </a:r>
            <a:r>
              <a:rPr lang="ko-KR" altLang="en-US" sz="1600" dirty="0"/>
              <a:t> 정렬한다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ko-KR" altLang="en-US" sz="1600" dirty="0"/>
              <a:t>버블 정렬</a:t>
            </a:r>
            <a:r>
              <a:rPr lang="en-US" altLang="ko-KR" sz="1600" dirty="0"/>
              <a:t>, </a:t>
            </a:r>
            <a:r>
              <a:rPr lang="ko-KR" altLang="en-US" sz="1600" dirty="0"/>
              <a:t>선택정렬</a:t>
            </a:r>
            <a:r>
              <a:rPr lang="en-US" altLang="ko-KR" sz="1600" dirty="0"/>
              <a:t> </a:t>
            </a:r>
            <a:r>
              <a:rPr lang="ko-KR" altLang="en-US" sz="1600" dirty="0"/>
              <a:t>등의 방법이 있다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1600" dirty="0"/>
              <a:t> </a:t>
            </a:r>
            <a:r>
              <a:rPr lang="ko-KR" altLang="en-US" sz="1600" b="1" dirty="0" err="1"/>
              <a:t>버블정렬</a:t>
            </a:r>
            <a:endParaRPr lang="en-US" altLang="ko-KR" sz="1600" b="1" dirty="0"/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   서로 인접한 두 원소를 검사하여 정렬하는 알고리즘으로</a:t>
            </a:r>
            <a:r>
              <a:rPr lang="en-US" altLang="ko-KR" sz="1600" dirty="0"/>
              <a:t> </a:t>
            </a:r>
            <a:r>
              <a:rPr lang="ko-KR" altLang="en-US" sz="1600" dirty="0"/>
              <a:t>크기를 비교하여 서로  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   </a:t>
            </a:r>
            <a:r>
              <a:rPr lang="ko-KR" altLang="en-US" sz="1600" dirty="0"/>
              <a:t>교환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992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정렬</a:t>
            </a:r>
            <a:r>
              <a:rPr lang="en-US" altLang="ko-KR" dirty="0"/>
              <a:t>(Sort)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344488" y="1772816"/>
            <a:ext cx="4248472" cy="41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       </a:t>
            </a:r>
            <a:endParaRPr lang="en-US" altLang="ko-KR" sz="1800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1042719"/>
            <a:ext cx="2448272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배열 요소의 정렬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90791"/>
            <a:ext cx="6660740" cy="39630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98313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정렬</a:t>
            </a:r>
            <a:r>
              <a:rPr lang="en-US" altLang="ko-KR" dirty="0"/>
              <a:t>(Sort)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344488" y="1772816"/>
            <a:ext cx="4248472" cy="41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       </a:t>
            </a:r>
            <a:endParaRPr lang="en-US" altLang="ko-KR" sz="1800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1042719"/>
            <a:ext cx="2448272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배열 요소의 정렬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90791"/>
            <a:ext cx="5544616" cy="30069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8025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다차원 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5480" y="980728"/>
            <a:ext cx="8616032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2</a:t>
            </a:r>
            <a:r>
              <a:rPr lang="ko-KR" altLang="en-US" sz="2000" b="1" dirty="0">
                <a:solidFill>
                  <a:srgbClr val="C00000"/>
                </a:solidFill>
              </a:rPr>
              <a:t>차원 이상의 배열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1712640" y="2687433"/>
            <a:ext cx="3744416" cy="669559"/>
          </a:xfrm>
          <a:prstGeom prst="roundRect">
            <a:avLst>
              <a:gd name="adj" fmla="val 1311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 err="1"/>
              <a:t>int</a:t>
            </a:r>
            <a:r>
              <a:rPr lang="en-US" altLang="ko-KR" sz="2000" dirty="0"/>
              <a:t>[ ][ ] </a:t>
            </a:r>
            <a:r>
              <a:rPr lang="en-US" altLang="ko-KR" sz="2000" dirty="0" err="1"/>
              <a:t>arr</a:t>
            </a:r>
            <a:r>
              <a:rPr lang="en-US" altLang="ko-KR" sz="2000" dirty="0"/>
              <a:t> = new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 [2][3]</a:t>
            </a:r>
            <a:endParaRPr lang="ko-KR" alt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280592" y="1580307"/>
            <a:ext cx="662473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지도</a:t>
            </a:r>
            <a:r>
              <a:rPr lang="en-US" altLang="ko-KR" dirty="0"/>
              <a:t>, </a:t>
            </a:r>
            <a:r>
              <a:rPr lang="ko-KR" altLang="en-US" dirty="0"/>
              <a:t>게임</a:t>
            </a:r>
            <a:r>
              <a:rPr lang="en-US" altLang="ko-KR" dirty="0"/>
              <a:t> </a:t>
            </a:r>
            <a:r>
              <a:rPr lang="ko-KR" altLang="en-US" dirty="0"/>
              <a:t>등 평면이나 공간을 구현할 때 많이 사용됨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이차원 배열의 선언과 구조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dirty="0"/>
              <a:t>선언과 초기화</a:t>
            </a:r>
            <a:endParaRPr lang="en-US" altLang="ko-KR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1784648" y="4653135"/>
            <a:ext cx="3744416" cy="648073"/>
          </a:xfrm>
          <a:prstGeom prst="roundRect">
            <a:avLst>
              <a:gd name="adj" fmla="val 1311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 err="1"/>
              <a:t>int</a:t>
            </a:r>
            <a:r>
              <a:rPr lang="en-US" altLang="ko-KR" sz="2000" dirty="0"/>
              <a:t>[ ][ ] </a:t>
            </a:r>
            <a:r>
              <a:rPr lang="en-US" altLang="ko-KR" sz="2000" dirty="0" err="1"/>
              <a:t>arr</a:t>
            </a:r>
            <a:r>
              <a:rPr lang="en-US" altLang="ko-KR" sz="2000" dirty="0"/>
              <a:t> = {{1, 2, 3},{4, 5, 6}}</a:t>
            </a:r>
            <a:endParaRPr lang="ko-KR" altLang="en-US" sz="2000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96794"/>
              </p:ext>
            </p:extLst>
          </p:nvPr>
        </p:nvGraphicFramePr>
        <p:xfrm>
          <a:off x="5788688" y="2580710"/>
          <a:ext cx="2880321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0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577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77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74679" y="2204864"/>
            <a:ext cx="90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arr</a:t>
            </a:r>
            <a:r>
              <a:rPr lang="en-US" altLang="ko-KR" sz="1600" dirty="0"/>
              <a:t>[0][0]</a:t>
            </a:r>
            <a:endParaRPr lang="ko-KR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6725239" y="2204864"/>
            <a:ext cx="90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arr</a:t>
            </a:r>
            <a:r>
              <a:rPr lang="en-US" altLang="ko-KR" sz="1600" dirty="0"/>
              <a:t>[0][1]</a:t>
            </a:r>
            <a:endParaRPr lang="ko-KR" alt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7762496" y="2204864"/>
            <a:ext cx="90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arr</a:t>
            </a:r>
            <a:r>
              <a:rPr lang="en-US" altLang="ko-KR" sz="1600" dirty="0"/>
              <a:t>[0][2]</a:t>
            </a:r>
            <a:endParaRPr lang="ko-KR" alt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5774679" y="3408040"/>
            <a:ext cx="90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arr</a:t>
            </a:r>
            <a:r>
              <a:rPr lang="en-US" altLang="ko-KR" sz="1600" dirty="0"/>
              <a:t>[1][0]</a:t>
            </a:r>
            <a:endParaRPr lang="ko-KR" alt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6777793" y="3408040"/>
            <a:ext cx="90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arr</a:t>
            </a:r>
            <a:r>
              <a:rPr lang="en-US" altLang="ko-KR" sz="1600" dirty="0"/>
              <a:t>[1][1]</a:t>
            </a:r>
            <a:endParaRPr lang="ko-KR" alt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7780907" y="3408040"/>
            <a:ext cx="90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arr</a:t>
            </a:r>
            <a:r>
              <a:rPr lang="en-US" altLang="ko-KR" sz="1600" dirty="0"/>
              <a:t>[1][2]</a:t>
            </a:r>
            <a:endParaRPr lang="ko-KR" altLang="en-US" sz="1600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554607"/>
              </p:ext>
            </p:extLst>
          </p:nvPr>
        </p:nvGraphicFramePr>
        <p:xfrm>
          <a:off x="5788688" y="4567372"/>
          <a:ext cx="2880321" cy="7311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0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ko-KR" alt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ko-KR" alt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74679" y="4191526"/>
            <a:ext cx="90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arr</a:t>
            </a:r>
            <a:r>
              <a:rPr lang="en-US" altLang="ko-KR" sz="1600" dirty="0"/>
              <a:t>[0][0]</a:t>
            </a:r>
            <a:endParaRPr lang="ko-KR" alt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6725239" y="4191526"/>
            <a:ext cx="90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arr</a:t>
            </a:r>
            <a:r>
              <a:rPr lang="en-US" altLang="ko-KR" sz="1600" dirty="0"/>
              <a:t>[0][1]</a:t>
            </a:r>
            <a:endParaRPr lang="ko-KR" altLang="en-US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7762496" y="4191526"/>
            <a:ext cx="90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arr</a:t>
            </a:r>
            <a:r>
              <a:rPr lang="en-US" altLang="ko-KR" sz="1600" dirty="0"/>
              <a:t>[0][2]</a:t>
            </a:r>
            <a:endParaRPr lang="ko-KR" altLang="en-US" sz="1600" dirty="0"/>
          </a:p>
        </p:txBody>
      </p:sp>
      <p:sp>
        <p:nvSpPr>
          <p:cNvPr id="22" name="TextBox 21"/>
          <p:cNvSpPr txBox="1"/>
          <p:nvPr/>
        </p:nvSpPr>
        <p:spPr>
          <a:xfrm>
            <a:off x="5774679" y="5394702"/>
            <a:ext cx="90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arr</a:t>
            </a:r>
            <a:r>
              <a:rPr lang="en-US" altLang="ko-KR" sz="1600" dirty="0"/>
              <a:t>[1][0]</a:t>
            </a:r>
            <a:endParaRPr lang="ko-KR" altLang="en-US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6777793" y="5394702"/>
            <a:ext cx="90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arr</a:t>
            </a:r>
            <a:r>
              <a:rPr lang="en-US" altLang="ko-KR" sz="1600" dirty="0"/>
              <a:t>[1][1]</a:t>
            </a:r>
            <a:endParaRPr lang="ko-KR" alt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7780907" y="5394702"/>
            <a:ext cx="90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arr</a:t>
            </a:r>
            <a:r>
              <a:rPr lang="en-US" altLang="ko-KR" sz="1600" dirty="0"/>
              <a:t>[1][2]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2398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다차원 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2</a:t>
            </a:r>
            <a:r>
              <a:rPr lang="ko-KR" altLang="en-US" sz="2000" b="1" dirty="0">
                <a:solidFill>
                  <a:srgbClr val="C00000"/>
                </a:solidFill>
              </a:rPr>
              <a:t>차원 배열 생성 및 초기화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628800"/>
            <a:ext cx="6230116" cy="4464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23977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다차원 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499" y="1589855"/>
            <a:ext cx="4556506" cy="43594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2</a:t>
            </a:r>
            <a:r>
              <a:rPr lang="ko-KR" altLang="en-US" sz="2000" b="1" dirty="0">
                <a:solidFill>
                  <a:srgbClr val="C00000"/>
                </a:solidFill>
              </a:rPr>
              <a:t>차원 배열 생성 및 초기화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993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다차원 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1052736"/>
            <a:ext cx="4536504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 실습 예제 </a:t>
            </a:r>
            <a:r>
              <a:rPr lang="en-US" altLang="ko-KR" sz="2000" b="1" dirty="0">
                <a:solidFill>
                  <a:srgbClr val="C00000"/>
                </a:solidFill>
              </a:rPr>
              <a:t>- </a:t>
            </a:r>
            <a:r>
              <a:rPr lang="ko-KR" altLang="en-US" sz="2000" b="1" dirty="0">
                <a:solidFill>
                  <a:srgbClr val="C00000"/>
                </a:solidFill>
              </a:rPr>
              <a:t>아파트 세대 구현하기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858099"/>
              </p:ext>
            </p:extLst>
          </p:nvPr>
        </p:nvGraphicFramePr>
        <p:xfrm>
          <a:off x="1568624" y="1916832"/>
          <a:ext cx="3816423" cy="2520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2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002060"/>
                          </a:solidFill>
                        </a:rPr>
                        <a:t>5, 1</a:t>
                      </a:r>
                      <a:endParaRPr lang="ko-KR" alt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5, 2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5, 3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002060"/>
                          </a:solidFill>
                        </a:rPr>
                        <a:t>4, 1</a:t>
                      </a:r>
                      <a:endParaRPr lang="ko-KR" alt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4, 2</a:t>
                      </a:r>
                      <a:endParaRPr lang="ko-KR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4, 3</a:t>
                      </a:r>
                      <a:endParaRPr lang="ko-KR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002060"/>
                          </a:solidFill>
                        </a:rPr>
                        <a:t>3, 1</a:t>
                      </a:r>
                      <a:endParaRPr lang="ko-KR" alt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002060"/>
                          </a:solidFill>
                        </a:rPr>
                        <a:t>2, 1</a:t>
                      </a:r>
                      <a:endParaRPr lang="ko-KR" alt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2, 2</a:t>
                      </a:r>
                      <a:endParaRPr lang="ko-KR" alt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2, 3</a:t>
                      </a:r>
                      <a:endParaRPr lang="ko-KR" alt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002060"/>
                          </a:solidFill>
                        </a:rPr>
                        <a:t>1, 1</a:t>
                      </a:r>
                      <a:endParaRPr lang="ko-KR" alt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1, 2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1, 3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059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다차원 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0728"/>
            <a:ext cx="4536504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 실습 예제 </a:t>
            </a:r>
            <a:r>
              <a:rPr lang="en-US" altLang="ko-KR" sz="2000" b="1" dirty="0">
                <a:solidFill>
                  <a:srgbClr val="C00000"/>
                </a:solidFill>
              </a:rPr>
              <a:t>- </a:t>
            </a:r>
            <a:r>
              <a:rPr lang="ko-KR" altLang="en-US" sz="2000" b="1" dirty="0">
                <a:solidFill>
                  <a:srgbClr val="C00000"/>
                </a:solidFill>
              </a:rPr>
              <a:t>아파트 세대 구현하기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800"/>
            <a:ext cx="7086727" cy="43204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36111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다차원 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59" y="980728"/>
            <a:ext cx="5208579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 알파벳 대문자 저장하기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41"/>
          <a:stretch/>
        </p:blipFill>
        <p:spPr>
          <a:xfrm>
            <a:off x="8205361" y="2060848"/>
            <a:ext cx="648072" cy="32921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16" y="1628800"/>
            <a:ext cx="6074722" cy="33258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65539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다차원 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59" y="980728"/>
            <a:ext cx="5208579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 알파벳 대문자 저장하기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800"/>
            <a:ext cx="6311759" cy="38140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055054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다차원 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980728"/>
            <a:ext cx="2740902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2</a:t>
            </a:r>
            <a:r>
              <a:rPr lang="ko-KR" altLang="en-US" sz="2000" b="1" dirty="0">
                <a:solidFill>
                  <a:srgbClr val="C00000"/>
                </a:solidFill>
              </a:rPr>
              <a:t>차원 배열의 연산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868"/>
          <a:stretch/>
        </p:blipFill>
        <p:spPr>
          <a:xfrm>
            <a:off x="1568624" y="1610760"/>
            <a:ext cx="5688632" cy="39650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11245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다차원 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980728"/>
            <a:ext cx="2740902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2</a:t>
            </a:r>
            <a:r>
              <a:rPr lang="ko-KR" altLang="en-US" sz="2000" b="1" dirty="0">
                <a:solidFill>
                  <a:srgbClr val="C00000"/>
                </a:solidFill>
              </a:rPr>
              <a:t>차원 배열의 연산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45" r="6946"/>
          <a:stretch/>
        </p:blipFill>
        <p:spPr>
          <a:xfrm>
            <a:off x="1568624" y="1656386"/>
            <a:ext cx="5469915" cy="29247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256" y="3501008"/>
            <a:ext cx="1728192" cy="9593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51068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다차원 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344488" y="1772816"/>
            <a:ext cx="4248472" cy="41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/>
              <a:t>       </a:t>
            </a:r>
            <a:endParaRPr lang="en-US" altLang="ko-KR" sz="18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484784"/>
            <a:ext cx="5532600" cy="48086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1978" y="980728"/>
            <a:ext cx="2740902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성적 관리 프로그램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567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다차원 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1742174"/>
            <a:ext cx="6323709" cy="34563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1978" y="980728"/>
            <a:ext cx="2740902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성적 관리 프로그램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143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메서드</a:t>
            </a:r>
            <a:r>
              <a:rPr lang="en-US" altLang="ko-KR" dirty="0"/>
              <a:t>(</a:t>
            </a:r>
            <a:r>
              <a:rPr lang="ko-KR" altLang="en-US" dirty="0"/>
              <a:t>멤버 함수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5480" y="1052736"/>
            <a:ext cx="8616032" cy="51125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C00000"/>
                </a:solidFill>
              </a:rPr>
              <a:t>메서드란</a:t>
            </a:r>
            <a:r>
              <a:rPr lang="en-US" altLang="ko-KR" sz="2000" b="1" dirty="0">
                <a:solidFill>
                  <a:srgbClr val="C00000"/>
                </a:solidFill>
              </a:rPr>
              <a:t>?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객체의 기능을 제공하기 위해 클래스 내부에 구현되는 함수</a:t>
            </a:r>
            <a:endParaRPr lang="en-US" altLang="ko-KR" sz="1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함수란</a:t>
            </a:r>
            <a:r>
              <a:rPr lang="en-US" altLang="ko-KR" sz="2000" b="1" dirty="0">
                <a:solidFill>
                  <a:srgbClr val="C00000"/>
                </a:solidFill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하나의 기능을 수행하는 일련의 코드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중복되는 기능은 함수로 구현하여 </a:t>
            </a:r>
            <a:endParaRPr lang="en-US" altLang="ko-KR" sz="16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dirty="0"/>
              <a:t>   </a:t>
            </a:r>
            <a:r>
              <a:rPr lang="ko-KR" altLang="en-US" sz="1600" dirty="0"/>
              <a:t>함수를 호출하여 사용함</a:t>
            </a:r>
            <a:endParaRPr lang="en-US" altLang="ko-KR" sz="1600" dirty="0"/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함수의 장점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기능을 나누어 코드를 효율적으로 구현</a:t>
            </a:r>
            <a:endParaRPr lang="en-US" altLang="ko-KR" sz="16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dirty="0"/>
              <a:t>   </a:t>
            </a:r>
            <a:r>
              <a:rPr lang="ko-KR" altLang="en-US" sz="1600" dirty="0"/>
              <a:t>예</a:t>
            </a:r>
            <a:r>
              <a:rPr lang="en-US" altLang="ko-KR" sz="1600" dirty="0"/>
              <a:t>) </a:t>
            </a:r>
            <a:r>
              <a:rPr lang="ko-KR" altLang="en-US" sz="1600" dirty="0"/>
              <a:t>사칙연산 계산기 </a:t>
            </a:r>
            <a:r>
              <a:rPr lang="en-US" altLang="ko-KR" sz="1600" dirty="0"/>
              <a:t>– </a:t>
            </a:r>
            <a:r>
              <a:rPr lang="ko-KR" altLang="en-US" sz="1600" dirty="0"/>
              <a:t>덧셈</a:t>
            </a:r>
            <a:r>
              <a:rPr lang="en-US" altLang="ko-KR" sz="1600" dirty="0"/>
              <a:t>, </a:t>
            </a:r>
            <a:r>
              <a:rPr lang="ko-KR" altLang="en-US" sz="1600" dirty="0"/>
              <a:t>뺄셈</a:t>
            </a:r>
            <a:r>
              <a:rPr lang="en-US" altLang="ko-KR" sz="1600" dirty="0"/>
              <a:t>, </a:t>
            </a:r>
            <a:r>
              <a:rPr lang="ko-KR" altLang="en-US" sz="1600" dirty="0"/>
              <a:t>곱셈</a:t>
            </a:r>
            <a:r>
              <a:rPr lang="en-US" altLang="ko-KR" sz="1600" dirty="0"/>
              <a:t>, </a:t>
            </a:r>
            <a:r>
              <a:rPr lang="ko-KR" altLang="en-US" sz="1600" dirty="0"/>
              <a:t>나눗셈</a:t>
            </a:r>
            <a:endParaRPr lang="en-US" altLang="ko-KR" sz="16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dirty="0"/>
              <a:t>  </a:t>
            </a:r>
            <a:r>
              <a:rPr lang="en-US" altLang="ko-KR" sz="1600" dirty="0">
                <a:solidFill>
                  <a:srgbClr val="C00000"/>
                </a:solidFill>
              </a:rPr>
              <a:t>※ main()</a:t>
            </a:r>
            <a:r>
              <a:rPr lang="ko-KR" altLang="en-US" sz="1600" dirty="0">
                <a:solidFill>
                  <a:srgbClr val="C00000"/>
                </a:solidFill>
              </a:rPr>
              <a:t>함수 안에서 한꺼번에 구현하면 복잡함</a:t>
            </a:r>
            <a:endParaRPr lang="en-US" altLang="ko-KR" sz="1600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rgbClr val="C00000"/>
                </a:solidFill>
              </a:rPr>
              <a:t>     add(),  subtract(), times(), divide()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5887144" y="2065755"/>
            <a:ext cx="3672408" cy="2160240"/>
            <a:chOff x="5981323" y="2636912"/>
            <a:chExt cx="3672408" cy="2160240"/>
          </a:xfrm>
        </p:grpSpPr>
        <p:sp>
          <p:nvSpPr>
            <p:cNvPr id="19" name="직사각형 18"/>
            <p:cNvSpPr/>
            <p:nvPr/>
          </p:nvSpPr>
          <p:spPr>
            <a:xfrm>
              <a:off x="5981323" y="2636912"/>
              <a:ext cx="3672408" cy="2160240"/>
            </a:xfrm>
            <a:prstGeom prst="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ko-KR" altLang="en-US" dirty="0">
                <a:latin typeface="+mn-ea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105128" y="2691421"/>
              <a:ext cx="1788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/>
                <a:t>숫자 두 개를 </a:t>
              </a:r>
              <a:endParaRPr lang="en-US" altLang="ko-KR" sz="1600" dirty="0"/>
            </a:p>
            <a:p>
              <a:pPr>
                <a:lnSpc>
                  <a:spcPct val="150000"/>
                </a:lnSpc>
              </a:pPr>
              <a:r>
                <a:rPr lang="ko-KR" altLang="en-US" sz="1600" dirty="0"/>
                <a:t>입력 받아 더한다</a:t>
              </a:r>
              <a:r>
                <a:rPr lang="en-US" altLang="ko-KR" sz="1600" dirty="0"/>
                <a:t>.</a:t>
              </a:r>
              <a:endParaRPr lang="ko-KR" altLang="en-US" sz="16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213246" y="3874191"/>
              <a:ext cx="1728192" cy="7833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/>
                <a:t>두 점의 </a:t>
              </a:r>
              <a:endParaRPr lang="en-US" altLang="ko-KR" sz="1600" dirty="0"/>
            </a:p>
            <a:p>
              <a:pPr>
                <a:lnSpc>
                  <a:spcPct val="150000"/>
                </a:lnSpc>
              </a:pPr>
              <a:r>
                <a:rPr lang="ko-KR" altLang="en-US" sz="1600" dirty="0"/>
                <a:t>거리를 더한다</a:t>
              </a:r>
              <a:r>
                <a:rPr lang="en-US" altLang="ko-KR" sz="1600" dirty="0"/>
                <a:t>.</a:t>
              </a:r>
              <a:endParaRPr lang="ko-KR" altLang="en-US" sz="1600" dirty="0"/>
            </a:p>
          </p:txBody>
        </p:sp>
        <p:sp>
          <p:nvSpPr>
            <p:cNvPr id="10" name="타원 9"/>
            <p:cNvSpPr/>
            <p:nvPr/>
          </p:nvSpPr>
          <p:spPr>
            <a:xfrm>
              <a:off x="8325376" y="3123469"/>
              <a:ext cx="1236137" cy="104311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</a:rPr>
                <a:t>더하기 함수</a:t>
              </a:r>
            </a:p>
          </p:txBody>
        </p:sp>
        <p:cxnSp>
          <p:nvCxnSpPr>
            <p:cNvPr id="22" name="구부러진 연결선 21"/>
            <p:cNvCxnSpPr>
              <a:stCxn id="3" idx="3"/>
              <a:endCxn id="10" idx="1"/>
            </p:cNvCxnSpPr>
            <p:nvPr/>
          </p:nvCxnSpPr>
          <p:spPr>
            <a:xfrm>
              <a:off x="7893328" y="3106920"/>
              <a:ext cx="613076" cy="169309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구부러진 연결선 26"/>
            <p:cNvCxnSpPr/>
            <p:nvPr/>
          </p:nvCxnSpPr>
          <p:spPr>
            <a:xfrm flipV="1">
              <a:off x="7817527" y="3924268"/>
              <a:ext cx="613076" cy="292420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모서리가 둥근 직사각형 23"/>
            <p:cNvSpPr/>
            <p:nvPr/>
          </p:nvSpPr>
          <p:spPr>
            <a:xfrm>
              <a:off x="7077342" y="3106919"/>
              <a:ext cx="740185" cy="376590"/>
            </a:xfrm>
            <a:prstGeom prst="roundRect">
              <a:avLst/>
            </a:prstGeom>
            <a:solidFill>
              <a:schemeClr val="accent1">
                <a:alpha val="2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모서리가 둥근 직사각형 29"/>
            <p:cNvSpPr/>
            <p:nvPr/>
          </p:nvSpPr>
          <p:spPr>
            <a:xfrm>
              <a:off x="6964292" y="4280957"/>
              <a:ext cx="740185" cy="376590"/>
            </a:xfrm>
            <a:prstGeom prst="roundRect">
              <a:avLst/>
            </a:prstGeom>
            <a:solidFill>
              <a:schemeClr val="accent1">
                <a:alpha val="2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4536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메서드</a:t>
            </a:r>
            <a:r>
              <a:rPr lang="en-US" altLang="ko-KR" dirty="0"/>
              <a:t>(</a:t>
            </a:r>
            <a:r>
              <a:rPr lang="ko-KR" altLang="en-US" dirty="0"/>
              <a:t>멤버 함수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1196752"/>
            <a:ext cx="8352928" cy="4693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C00000"/>
                </a:solidFill>
              </a:rPr>
              <a:t>메서드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>
                <a:solidFill>
                  <a:srgbClr val="C00000"/>
                </a:solidFill>
              </a:rPr>
              <a:t>함수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r>
              <a:rPr lang="ko-KR" altLang="en-US" sz="2000" b="1" dirty="0">
                <a:solidFill>
                  <a:srgbClr val="C00000"/>
                </a:solidFill>
              </a:rPr>
              <a:t> 정의하기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함수의 이름</a:t>
            </a:r>
            <a:r>
              <a:rPr lang="en-US" altLang="ko-KR" sz="1600" dirty="0"/>
              <a:t>, </a:t>
            </a:r>
            <a:r>
              <a:rPr lang="ko-KR" altLang="en-US" sz="1600" dirty="0"/>
              <a:t>매개변수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반환값을</a:t>
            </a:r>
            <a:r>
              <a:rPr lang="en-US" altLang="ko-KR" sz="1600" dirty="0"/>
              <a:t> </a:t>
            </a:r>
            <a:r>
              <a:rPr lang="ko-KR" altLang="en-US" sz="1600" dirty="0"/>
              <a:t>선언하고 코드를 구현함</a:t>
            </a:r>
            <a:endParaRPr lang="en-US" altLang="ko-KR" sz="16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dirty="0"/>
              <a:t>   - </a:t>
            </a:r>
            <a:r>
              <a:rPr lang="ko-KR" altLang="en-US" sz="1600" dirty="0"/>
              <a:t>반환형이 없는 경우 </a:t>
            </a:r>
            <a:r>
              <a:rPr lang="en-US" altLang="ko-KR" sz="1600" dirty="0"/>
              <a:t>void</a:t>
            </a:r>
            <a:r>
              <a:rPr lang="ko-KR" altLang="en-US" sz="1600" dirty="0"/>
              <a:t>로 쓴다</a:t>
            </a:r>
            <a:r>
              <a:rPr lang="en-US" altLang="ko-KR" sz="1600" dirty="0"/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dirty="0"/>
              <a:t>   - </a:t>
            </a:r>
            <a:r>
              <a:rPr lang="ko-KR" altLang="en-US" sz="1600" dirty="0"/>
              <a:t>매개변수가 없을 수도 있다</a:t>
            </a:r>
            <a:r>
              <a:rPr lang="en-US" altLang="ko-KR" sz="1600" dirty="0"/>
              <a:t>.</a:t>
            </a:r>
            <a:endParaRPr lang="en-US" altLang="ko-KR" sz="2200" b="1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함수의 유형 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800100" lvl="1" indent="-342900">
              <a:lnSpc>
                <a:spcPct val="100000"/>
              </a:lnSpc>
              <a:buAutoNum type="arabicPeriod"/>
            </a:pPr>
            <a:r>
              <a:rPr lang="ko-KR" altLang="en-US" sz="1600" dirty="0" err="1"/>
              <a:t>반환값이</a:t>
            </a:r>
            <a:r>
              <a:rPr lang="ko-KR" altLang="en-US" sz="1600" dirty="0"/>
              <a:t> 없는 경우</a:t>
            </a:r>
            <a:endParaRPr lang="en-US" altLang="ko-KR" sz="1600" dirty="0"/>
          </a:p>
          <a:p>
            <a:pPr marL="800100" lvl="1" indent="-342900">
              <a:lnSpc>
                <a:spcPct val="100000"/>
              </a:lnSpc>
              <a:buAutoNum type="arabicPeriod"/>
            </a:pPr>
            <a:endParaRPr lang="en-US" altLang="ko-KR" sz="1600" dirty="0"/>
          </a:p>
          <a:p>
            <a:pPr marL="800100" lvl="1" indent="-342900">
              <a:lnSpc>
                <a:spcPct val="100000"/>
              </a:lnSpc>
              <a:buAutoNum type="arabicPeriod"/>
            </a:pPr>
            <a:endParaRPr lang="en-US" altLang="ko-KR" sz="1600" dirty="0"/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dirty="0"/>
              <a:t>2. </a:t>
            </a:r>
            <a:r>
              <a:rPr lang="ko-KR" altLang="en-US" sz="1600" dirty="0"/>
              <a:t>매개변수가 있는 경우</a:t>
            </a:r>
            <a:endParaRPr lang="en-US" altLang="ko-KR" sz="12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/>
              <a:t>    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/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</p:txBody>
      </p:sp>
      <p:grpSp>
        <p:nvGrpSpPr>
          <p:cNvPr id="8" name="그룹 7"/>
          <p:cNvGrpSpPr/>
          <p:nvPr/>
        </p:nvGrpSpPr>
        <p:grpSpPr>
          <a:xfrm>
            <a:off x="5983071" y="2890591"/>
            <a:ext cx="2264228" cy="1306285"/>
            <a:chOff x="1506583" y="1959429"/>
            <a:chExt cx="2264228" cy="1306285"/>
          </a:xfrm>
        </p:grpSpPr>
        <p:sp>
          <p:nvSpPr>
            <p:cNvPr id="9" name="자유형 8"/>
            <p:cNvSpPr/>
            <p:nvPr/>
          </p:nvSpPr>
          <p:spPr>
            <a:xfrm>
              <a:off x="1506583" y="1976846"/>
              <a:ext cx="1288868" cy="1288868"/>
            </a:xfrm>
            <a:custGeom>
              <a:avLst/>
              <a:gdLst>
                <a:gd name="connsiteX0" fmla="*/ 191588 w 1288868"/>
                <a:gd name="connsiteY0" fmla="*/ 0 h 1288868"/>
                <a:gd name="connsiteX1" fmla="*/ 348343 w 1288868"/>
                <a:gd name="connsiteY1" fmla="*/ 209005 h 1288868"/>
                <a:gd name="connsiteX2" fmla="*/ 0 w 1288868"/>
                <a:gd name="connsiteY2" fmla="*/ 217714 h 1288868"/>
                <a:gd name="connsiteX3" fmla="*/ 17417 w 1288868"/>
                <a:gd name="connsiteY3" fmla="*/ 992777 h 1288868"/>
                <a:gd name="connsiteX4" fmla="*/ 1288868 w 1288868"/>
                <a:gd name="connsiteY4" fmla="*/ 984068 h 1288868"/>
                <a:gd name="connsiteX5" fmla="*/ 1132114 w 1288868"/>
                <a:gd name="connsiteY5" fmla="*/ 1288868 h 1288868"/>
                <a:gd name="connsiteX6" fmla="*/ 1132114 w 1288868"/>
                <a:gd name="connsiteY6" fmla="*/ 1288868 h 128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8868" h="1288868">
                  <a:moveTo>
                    <a:pt x="191588" y="0"/>
                  </a:moveTo>
                  <a:lnTo>
                    <a:pt x="348343" y="209005"/>
                  </a:lnTo>
                  <a:lnTo>
                    <a:pt x="0" y="217714"/>
                  </a:lnTo>
                  <a:lnTo>
                    <a:pt x="17417" y="992777"/>
                  </a:lnTo>
                  <a:lnTo>
                    <a:pt x="1288868" y="984068"/>
                  </a:lnTo>
                  <a:lnTo>
                    <a:pt x="1132114" y="1288868"/>
                  </a:lnTo>
                  <a:lnTo>
                    <a:pt x="1132114" y="1288868"/>
                  </a:lnTo>
                </a:path>
              </a:pathLst>
            </a:cu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자유형 9"/>
            <p:cNvSpPr/>
            <p:nvPr/>
          </p:nvSpPr>
          <p:spPr>
            <a:xfrm>
              <a:off x="2211977" y="1959429"/>
              <a:ext cx="1558834" cy="1288868"/>
            </a:xfrm>
            <a:custGeom>
              <a:avLst/>
              <a:gdLst>
                <a:gd name="connsiteX0" fmla="*/ 156754 w 1558834"/>
                <a:gd name="connsiteY0" fmla="*/ 0 h 1288868"/>
                <a:gd name="connsiteX1" fmla="*/ 0 w 1558834"/>
                <a:gd name="connsiteY1" fmla="*/ 226422 h 1288868"/>
                <a:gd name="connsiteX2" fmla="*/ 1532709 w 1558834"/>
                <a:gd name="connsiteY2" fmla="*/ 191588 h 1288868"/>
                <a:gd name="connsiteX3" fmla="*/ 1558834 w 1558834"/>
                <a:gd name="connsiteY3" fmla="*/ 1010194 h 1288868"/>
                <a:gd name="connsiteX4" fmla="*/ 1071154 w 1558834"/>
                <a:gd name="connsiteY4" fmla="*/ 1018902 h 1288868"/>
                <a:gd name="connsiteX5" fmla="*/ 1227909 w 1558834"/>
                <a:gd name="connsiteY5" fmla="*/ 1288868 h 128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8834" h="1288868">
                  <a:moveTo>
                    <a:pt x="156754" y="0"/>
                  </a:moveTo>
                  <a:lnTo>
                    <a:pt x="0" y="226422"/>
                  </a:lnTo>
                  <a:lnTo>
                    <a:pt x="1532709" y="191588"/>
                  </a:lnTo>
                  <a:lnTo>
                    <a:pt x="1558834" y="1010194"/>
                  </a:lnTo>
                  <a:lnTo>
                    <a:pt x="1071154" y="1018902"/>
                  </a:lnTo>
                  <a:lnTo>
                    <a:pt x="1227909" y="1288868"/>
                  </a:lnTo>
                </a:path>
              </a:pathLst>
            </a:cu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6403461" y="3339621"/>
            <a:ext cx="13561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더하기 함수</a:t>
            </a:r>
          </a:p>
        </p:txBody>
      </p:sp>
      <p:sp>
        <p:nvSpPr>
          <p:cNvPr id="12" name="아래쪽 화살표 11"/>
          <p:cNvSpPr/>
          <p:nvPr/>
        </p:nvSpPr>
        <p:spPr>
          <a:xfrm>
            <a:off x="6455651" y="2786909"/>
            <a:ext cx="100471" cy="216025"/>
          </a:xfrm>
          <a:prstGeom prst="downArrow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아래쪽 화살표 12"/>
          <p:cNvSpPr/>
          <p:nvPr/>
        </p:nvSpPr>
        <p:spPr>
          <a:xfrm>
            <a:off x="7410964" y="3963127"/>
            <a:ext cx="100471" cy="216025"/>
          </a:xfrm>
          <a:prstGeom prst="downArrow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196344" y="2522925"/>
            <a:ext cx="678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입력</a:t>
            </a:r>
            <a:endParaRPr lang="ko-KR" alt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8094219" y="4195009"/>
            <a:ext cx="678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출력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4688" y="3331808"/>
            <a:ext cx="2100499" cy="10215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void</a:t>
            </a:r>
            <a:r>
              <a:rPr lang="en-US" altLang="ko-KR" dirty="0"/>
              <a:t> </a:t>
            </a:r>
            <a:r>
              <a:rPr lang="ko-KR" altLang="en-US" b="1" dirty="0"/>
              <a:t>함수이름</a:t>
            </a:r>
            <a:r>
              <a:rPr lang="en-US" altLang="ko-KR" b="1" dirty="0"/>
              <a:t>()</a:t>
            </a:r>
            <a:r>
              <a:rPr lang="en-US" altLang="ko-KR" dirty="0"/>
              <a:t>{</a:t>
            </a:r>
          </a:p>
          <a:p>
            <a:r>
              <a:rPr lang="en-US" altLang="ko-KR" dirty="0"/>
              <a:t>     . . . 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144688" y="4869160"/>
            <a:ext cx="3024336" cy="10215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void</a:t>
            </a:r>
            <a:r>
              <a:rPr lang="en-US" altLang="ko-KR" dirty="0"/>
              <a:t> </a:t>
            </a:r>
            <a:r>
              <a:rPr lang="ko-KR" altLang="en-US" b="1" dirty="0"/>
              <a:t>함수이름</a:t>
            </a:r>
            <a:r>
              <a:rPr lang="en-US" altLang="ko-KR" b="1" dirty="0"/>
              <a:t>(</a:t>
            </a:r>
            <a:r>
              <a:rPr lang="ko-KR" altLang="en-US" b="1" dirty="0"/>
              <a:t>매개변수</a:t>
            </a:r>
            <a:r>
              <a:rPr lang="en-US" altLang="ko-KR" b="1" dirty="0"/>
              <a:t>)</a:t>
            </a:r>
            <a:r>
              <a:rPr lang="en-US" altLang="ko-KR" dirty="0"/>
              <a:t>{</a:t>
            </a:r>
          </a:p>
          <a:p>
            <a:r>
              <a:rPr lang="en-US" altLang="ko-KR" dirty="0"/>
              <a:t>     . . . 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8046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메서드</a:t>
            </a:r>
            <a:r>
              <a:rPr lang="en-US" altLang="ko-KR" dirty="0"/>
              <a:t>(</a:t>
            </a:r>
            <a:r>
              <a:rPr lang="ko-KR" altLang="en-US" dirty="0"/>
              <a:t>멤버 함수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124744"/>
            <a:ext cx="5538646" cy="3600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800" b="1" dirty="0" err="1">
                <a:solidFill>
                  <a:srgbClr val="C00000"/>
                </a:solidFill>
              </a:rPr>
              <a:t>반환값이</a:t>
            </a:r>
            <a:r>
              <a:rPr lang="ko-KR" altLang="en-US" sz="1800" b="1" dirty="0">
                <a:solidFill>
                  <a:srgbClr val="C00000"/>
                </a:solidFill>
              </a:rPr>
              <a:t> 없는 </a:t>
            </a:r>
            <a:r>
              <a:rPr lang="ko-KR" altLang="en-US" sz="1800" b="1" dirty="0" err="1">
                <a:solidFill>
                  <a:srgbClr val="C00000"/>
                </a:solidFill>
              </a:rPr>
              <a:t>메서드</a:t>
            </a:r>
            <a:r>
              <a:rPr lang="en-US" altLang="ko-KR" sz="1800" b="1" dirty="0">
                <a:solidFill>
                  <a:srgbClr val="C00000"/>
                </a:solidFill>
              </a:rPr>
              <a:t>(</a:t>
            </a:r>
            <a:r>
              <a:rPr lang="ko-KR" altLang="en-US" sz="1800" b="1" dirty="0">
                <a:solidFill>
                  <a:srgbClr val="C00000"/>
                </a:solidFill>
              </a:rPr>
              <a:t>함수</a:t>
            </a:r>
            <a:r>
              <a:rPr lang="en-US" altLang="ko-KR" sz="1800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568624" y="1556792"/>
            <a:ext cx="70567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ts val="1000"/>
              </a:spcBef>
            </a:pPr>
            <a:r>
              <a:rPr lang="ko-KR" altLang="en-US" sz="1600" dirty="0" err="1"/>
              <a:t>메서드</a:t>
            </a:r>
            <a:r>
              <a:rPr lang="en-US" altLang="ko-KR" sz="1600" dirty="0"/>
              <a:t>(</a:t>
            </a:r>
            <a:r>
              <a:rPr lang="ko-KR" altLang="en-US" sz="1600" dirty="0"/>
              <a:t>함수</a:t>
            </a:r>
            <a:r>
              <a:rPr lang="en-US" altLang="ko-KR" sz="1600" dirty="0"/>
              <a:t>)</a:t>
            </a:r>
            <a:r>
              <a:rPr lang="ko-KR" altLang="en-US" sz="1600" dirty="0"/>
              <a:t>를 사용하는 것을 </a:t>
            </a:r>
            <a:r>
              <a:rPr lang="en-US" altLang="ko-KR" sz="1600" dirty="0"/>
              <a:t>‘</a:t>
            </a:r>
            <a:r>
              <a:rPr lang="ko-KR" altLang="en-US" sz="1600" dirty="0"/>
              <a:t>함수를 호출한다</a:t>
            </a:r>
            <a:r>
              <a:rPr lang="en-US" altLang="ko-KR" sz="1600" dirty="0"/>
              <a:t>’</a:t>
            </a:r>
            <a:r>
              <a:rPr lang="ko-KR" altLang="en-US" sz="1600" dirty="0"/>
              <a:t>라고 한다</a:t>
            </a:r>
            <a:r>
              <a:rPr lang="en-US" altLang="ko-KR" sz="1600" dirty="0"/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686" y="1988840"/>
            <a:ext cx="4824536" cy="43005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018174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메서드</a:t>
            </a:r>
            <a:r>
              <a:rPr lang="en-US" altLang="ko-KR" dirty="0"/>
              <a:t>(</a:t>
            </a:r>
            <a:r>
              <a:rPr lang="ko-KR" altLang="en-US" dirty="0"/>
              <a:t>함수</a:t>
            </a:r>
            <a:r>
              <a:rPr lang="en-US" altLang="ko-KR" dirty="0"/>
              <a:t>)</a:t>
            </a:r>
            <a:r>
              <a:rPr lang="ko-KR" altLang="en-US" dirty="0"/>
              <a:t>의  유형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2720752" y="2345430"/>
            <a:ext cx="3287440" cy="2220469"/>
          </a:xfrm>
          <a:prstGeom prst="round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0070C0"/>
                </a:solidFill>
                <a:latin typeface="+mn-ea"/>
              </a:rPr>
              <a:t>   </a:t>
            </a:r>
            <a:r>
              <a:rPr lang="en-US" altLang="ko-KR" b="1" dirty="0" err="1">
                <a:solidFill>
                  <a:srgbClr val="0070C0"/>
                </a:solidFill>
                <a:latin typeface="+mn-ea"/>
              </a:rPr>
              <a:t>int</a:t>
            </a:r>
            <a:r>
              <a:rPr lang="en-US" altLang="ko-KR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add(</a:t>
            </a:r>
            <a:r>
              <a:rPr lang="en-US" altLang="ko-KR" dirty="0" err="1">
                <a:solidFill>
                  <a:srgbClr val="0070C0"/>
                </a:solidFill>
                <a:latin typeface="+mn-ea"/>
              </a:rPr>
              <a:t>int</a:t>
            </a:r>
            <a:r>
              <a:rPr lang="en-US" altLang="ko-KR" dirty="0">
                <a:solidFill>
                  <a:srgbClr val="0070C0"/>
                </a:solidFill>
                <a:latin typeface="+mn-ea"/>
              </a:rPr>
              <a:t> n1, </a:t>
            </a:r>
            <a:r>
              <a:rPr lang="en-US" altLang="ko-KR" dirty="0" err="1">
                <a:solidFill>
                  <a:srgbClr val="0070C0"/>
                </a:solidFill>
                <a:latin typeface="+mn-ea"/>
              </a:rPr>
              <a:t>int</a:t>
            </a:r>
            <a:r>
              <a:rPr lang="en-US" altLang="ko-KR" dirty="0">
                <a:solidFill>
                  <a:srgbClr val="0070C0"/>
                </a:solidFill>
                <a:latin typeface="+mn-ea"/>
              </a:rPr>
              <a:t> n2</a:t>
            </a:r>
            <a:r>
              <a:rPr lang="en-US" altLang="ko-KR" dirty="0">
                <a:latin typeface="+mn-ea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     </a:t>
            </a:r>
            <a:r>
              <a:rPr lang="en-US" altLang="ko-KR" dirty="0" err="1">
                <a:latin typeface="+mn-ea"/>
              </a:rPr>
              <a:t>int</a:t>
            </a:r>
            <a:r>
              <a:rPr lang="en-US" altLang="ko-KR" dirty="0">
                <a:latin typeface="+mn-ea"/>
              </a:rPr>
              <a:t> result;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     result = n1 + n2;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     </a:t>
            </a:r>
            <a:r>
              <a:rPr lang="en-US" altLang="ko-KR" b="1" dirty="0">
                <a:solidFill>
                  <a:srgbClr val="C00000"/>
                </a:solidFill>
                <a:latin typeface="+mn-ea"/>
              </a:rPr>
              <a:t>return</a:t>
            </a:r>
            <a:r>
              <a:rPr lang="en-US" altLang="ko-KR" dirty="0">
                <a:latin typeface="+mn-ea"/>
              </a:rPr>
              <a:t> result;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  }</a:t>
            </a:r>
            <a:endParaRPr lang="ko-KR" altLang="en-US" dirty="0">
              <a:latin typeface="+mn-ea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6577204" y="2726534"/>
            <a:ext cx="2480252" cy="1494554"/>
            <a:chOff x="1506583" y="1959429"/>
            <a:chExt cx="2264228" cy="1306285"/>
          </a:xfrm>
        </p:grpSpPr>
        <p:sp>
          <p:nvSpPr>
            <p:cNvPr id="21" name="자유형 20"/>
            <p:cNvSpPr/>
            <p:nvPr/>
          </p:nvSpPr>
          <p:spPr>
            <a:xfrm>
              <a:off x="1506583" y="1976846"/>
              <a:ext cx="1288868" cy="1288868"/>
            </a:xfrm>
            <a:custGeom>
              <a:avLst/>
              <a:gdLst>
                <a:gd name="connsiteX0" fmla="*/ 191588 w 1288868"/>
                <a:gd name="connsiteY0" fmla="*/ 0 h 1288868"/>
                <a:gd name="connsiteX1" fmla="*/ 348343 w 1288868"/>
                <a:gd name="connsiteY1" fmla="*/ 209005 h 1288868"/>
                <a:gd name="connsiteX2" fmla="*/ 0 w 1288868"/>
                <a:gd name="connsiteY2" fmla="*/ 217714 h 1288868"/>
                <a:gd name="connsiteX3" fmla="*/ 17417 w 1288868"/>
                <a:gd name="connsiteY3" fmla="*/ 992777 h 1288868"/>
                <a:gd name="connsiteX4" fmla="*/ 1288868 w 1288868"/>
                <a:gd name="connsiteY4" fmla="*/ 984068 h 1288868"/>
                <a:gd name="connsiteX5" fmla="*/ 1132114 w 1288868"/>
                <a:gd name="connsiteY5" fmla="*/ 1288868 h 1288868"/>
                <a:gd name="connsiteX6" fmla="*/ 1132114 w 1288868"/>
                <a:gd name="connsiteY6" fmla="*/ 1288868 h 128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8868" h="1288868">
                  <a:moveTo>
                    <a:pt x="191588" y="0"/>
                  </a:moveTo>
                  <a:lnTo>
                    <a:pt x="348343" y="209005"/>
                  </a:lnTo>
                  <a:lnTo>
                    <a:pt x="0" y="217714"/>
                  </a:lnTo>
                  <a:lnTo>
                    <a:pt x="17417" y="992777"/>
                  </a:lnTo>
                  <a:lnTo>
                    <a:pt x="1288868" y="984068"/>
                  </a:lnTo>
                  <a:lnTo>
                    <a:pt x="1132114" y="1288868"/>
                  </a:lnTo>
                  <a:lnTo>
                    <a:pt x="1132114" y="1288868"/>
                  </a:lnTo>
                </a:path>
              </a:pathLst>
            </a:cu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3" name="자유형 22"/>
            <p:cNvSpPr/>
            <p:nvPr/>
          </p:nvSpPr>
          <p:spPr>
            <a:xfrm>
              <a:off x="2211977" y="1959429"/>
              <a:ext cx="1558834" cy="1288868"/>
            </a:xfrm>
            <a:custGeom>
              <a:avLst/>
              <a:gdLst>
                <a:gd name="connsiteX0" fmla="*/ 156754 w 1558834"/>
                <a:gd name="connsiteY0" fmla="*/ 0 h 1288868"/>
                <a:gd name="connsiteX1" fmla="*/ 0 w 1558834"/>
                <a:gd name="connsiteY1" fmla="*/ 226422 h 1288868"/>
                <a:gd name="connsiteX2" fmla="*/ 1532709 w 1558834"/>
                <a:gd name="connsiteY2" fmla="*/ 191588 h 1288868"/>
                <a:gd name="connsiteX3" fmla="*/ 1558834 w 1558834"/>
                <a:gd name="connsiteY3" fmla="*/ 1010194 h 1288868"/>
                <a:gd name="connsiteX4" fmla="*/ 1071154 w 1558834"/>
                <a:gd name="connsiteY4" fmla="*/ 1018902 h 1288868"/>
                <a:gd name="connsiteX5" fmla="*/ 1227909 w 1558834"/>
                <a:gd name="connsiteY5" fmla="*/ 1288868 h 128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8834" h="1288868">
                  <a:moveTo>
                    <a:pt x="156754" y="0"/>
                  </a:moveTo>
                  <a:lnTo>
                    <a:pt x="0" y="226422"/>
                  </a:lnTo>
                  <a:lnTo>
                    <a:pt x="1532709" y="191588"/>
                  </a:lnTo>
                  <a:lnTo>
                    <a:pt x="1558834" y="1010194"/>
                  </a:lnTo>
                  <a:lnTo>
                    <a:pt x="1071154" y="1018902"/>
                  </a:lnTo>
                  <a:lnTo>
                    <a:pt x="1227909" y="1288868"/>
                  </a:lnTo>
                </a:path>
              </a:pathLst>
            </a:cu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717778" y="3073576"/>
            <a:ext cx="2088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add</a:t>
            </a:r>
            <a:r>
              <a:rPr lang="ko-KR" altLang="en-US" dirty="0"/>
              <a:t> 함수</a:t>
            </a:r>
            <a:endParaRPr lang="en-US" altLang="ko-KR" dirty="0"/>
          </a:p>
          <a:p>
            <a:pPr algn="ctr"/>
            <a:r>
              <a:rPr lang="en-US" altLang="ko-KR" dirty="0"/>
              <a:t>result = n1 + n2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745855" y="2334624"/>
            <a:ext cx="94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n1, n2</a:t>
            </a:r>
            <a:endParaRPr lang="ko-KR" altLang="en-US" dirty="0"/>
          </a:p>
        </p:txBody>
      </p:sp>
      <p:sp>
        <p:nvSpPr>
          <p:cNvPr id="12" name="아래쪽 화살표 11"/>
          <p:cNvSpPr/>
          <p:nvPr/>
        </p:nvSpPr>
        <p:spPr>
          <a:xfrm>
            <a:off x="7043102" y="2709116"/>
            <a:ext cx="100471" cy="216025"/>
          </a:xfrm>
          <a:prstGeom prst="downArrow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6" name="TextBox 25"/>
          <p:cNvSpPr txBox="1"/>
          <p:nvPr/>
        </p:nvSpPr>
        <p:spPr>
          <a:xfrm>
            <a:off x="7886936" y="4252024"/>
            <a:ext cx="83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28" name="아래쪽 화살표 27"/>
          <p:cNvSpPr/>
          <p:nvPr/>
        </p:nvSpPr>
        <p:spPr>
          <a:xfrm>
            <a:off x="8203153" y="4025838"/>
            <a:ext cx="100471" cy="216025"/>
          </a:xfrm>
          <a:prstGeom prst="downArrow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6" name="TextBox 35"/>
          <p:cNvSpPr txBox="1"/>
          <p:nvPr/>
        </p:nvSpPr>
        <p:spPr>
          <a:xfrm>
            <a:off x="992560" y="3795297"/>
            <a:ext cx="1503963" cy="338554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return</a:t>
            </a:r>
            <a:r>
              <a:rPr lang="ko-KR" altLang="en-US" sz="1600" dirty="0"/>
              <a:t>이 있다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cxnSp>
        <p:nvCxnSpPr>
          <p:cNvPr id="37" name="직선 연결선 36"/>
          <p:cNvCxnSpPr/>
          <p:nvPr/>
        </p:nvCxnSpPr>
        <p:spPr>
          <a:xfrm>
            <a:off x="2496523" y="3917827"/>
            <a:ext cx="82033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20552" y="2503901"/>
            <a:ext cx="1560766" cy="5847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정수형 </a:t>
            </a:r>
            <a:endParaRPr lang="en-US" altLang="ko-KR" sz="1600" dirty="0"/>
          </a:p>
          <a:p>
            <a:pPr algn="ctr"/>
            <a:r>
              <a:rPr lang="ko-KR" altLang="en-US" sz="1600" dirty="0"/>
              <a:t>반환 </a:t>
            </a:r>
            <a:r>
              <a:rPr lang="ko-KR" altLang="en-US" sz="1600" dirty="0" err="1"/>
              <a:t>자료형</a:t>
            </a:r>
            <a:endParaRPr lang="ko-KR" altLang="en-US" sz="1600" dirty="0"/>
          </a:p>
        </p:txBody>
      </p:sp>
      <p:sp>
        <p:nvSpPr>
          <p:cNvPr id="52" name="모서리가 둥근 직사각형 51"/>
          <p:cNvSpPr/>
          <p:nvPr/>
        </p:nvSpPr>
        <p:spPr>
          <a:xfrm>
            <a:off x="2976768" y="2477667"/>
            <a:ext cx="601563" cy="323135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연결선 53"/>
          <p:cNvCxnSpPr/>
          <p:nvPr/>
        </p:nvCxnSpPr>
        <p:spPr>
          <a:xfrm>
            <a:off x="2496523" y="2657789"/>
            <a:ext cx="476916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196752"/>
            <a:ext cx="4392488" cy="3600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800" b="1" dirty="0" err="1">
                <a:solidFill>
                  <a:srgbClr val="C00000"/>
                </a:solidFill>
              </a:rPr>
              <a:t>반환값이</a:t>
            </a:r>
            <a:r>
              <a:rPr lang="ko-KR" altLang="en-US" sz="1800" b="1" dirty="0">
                <a:solidFill>
                  <a:srgbClr val="C00000"/>
                </a:solidFill>
              </a:rPr>
              <a:t>  있는 </a:t>
            </a:r>
            <a:r>
              <a:rPr lang="ko-KR" altLang="en-US" sz="1800" b="1" dirty="0" err="1">
                <a:solidFill>
                  <a:srgbClr val="C00000"/>
                </a:solidFill>
              </a:rPr>
              <a:t>메서드</a:t>
            </a:r>
            <a:r>
              <a:rPr lang="en-US" altLang="ko-KR" sz="1800" b="1" dirty="0">
                <a:solidFill>
                  <a:srgbClr val="C00000"/>
                </a:solidFill>
              </a:rPr>
              <a:t>(</a:t>
            </a:r>
            <a:r>
              <a:rPr lang="ko-KR" altLang="en-US" sz="1800" b="1" dirty="0">
                <a:solidFill>
                  <a:srgbClr val="C00000"/>
                </a:solidFill>
              </a:rPr>
              <a:t>함수</a:t>
            </a:r>
            <a:r>
              <a:rPr lang="en-US" altLang="ko-KR" sz="1800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35" name="모서리가 둥근 직사각형 34"/>
          <p:cNvSpPr/>
          <p:nvPr/>
        </p:nvSpPr>
        <p:spPr>
          <a:xfrm>
            <a:off x="3374233" y="3702703"/>
            <a:ext cx="858687" cy="431147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1496616" y="1627368"/>
            <a:ext cx="55769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ts val="1000"/>
              </a:spcBef>
            </a:pPr>
            <a:r>
              <a:rPr lang="ko-KR" altLang="en-US" sz="1600" dirty="0" err="1"/>
              <a:t>반환값이</a:t>
            </a:r>
            <a:r>
              <a:rPr lang="ko-KR" altLang="en-US" sz="1600" dirty="0"/>
              <a:t> 있는 경우 </a:t>
            </a:r>
            <a:r>
              <a:rPr lang="en-US" altLang="ko-KR" sz="1600" dirty="0"/>
              <a:t>‘return’ </a:t>
            </a:r>
            <a:r>
              <a:rPr lang="ko-KR" altLang="en-US" sz="1600" dirty="0" err="1"/>
              <a:t>예약어를</a:t>
            </a:r>
            <a:r>
              <a:rPr lang="ko-KR" altLang="en-US" sz="1600" dirty="0"/>
              <a:t> 사용해야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423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메소드</a:t>
            </a:r>
            <a:r>
              <a:rPr lang="en-US" altLang="ko-KR" dirty="0"/>
              <a:t>(</a:t>
            </a:r>
            <a:r>
              <a:rPr lang="ko-KR" altLang="en-US" dirty="0"/>
              <a:t>함수</a:t>
            </a:r>
            <a:r>
              <a:rPr lang="en-US" altLang="ko-KR" dirty="0"/>
              <a:t>)</a:t>
            </a:r>
            <a:r>
              <a:rPr lang="ko-KR" altLang="en-US" dirty="0"/>
              <a:t>의 사용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208584" y="1124744"/>
            <a:ext cx="5301004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 err="1">
                <a:solidFill>
                  <a:srgbClr val="C00000"/>
                </a:solidFill>
              </a:rPr>
              <a:t>반환값이</a:t>
            </a:r>
            <a:r>
              <a:rPr lang="ko-KR" altLang="en-US" sz="1800" b="1" dirty="0">
                <a:solidFill>
                  <a:srgbClr val="C00000"/>
                </a:solidFill>
              </a:rPr>
              <a:t> 있는 메서드</a:t>
            </a:r>
            <a:r>
              <a:rPr lang="en-US" altLang="ko-KR" sz="1800" b="1" dirty="0">
                <a:solidFill>
                  <a:srgbClr val="C00000"/>
                </a:solidFill>
              </a:rPr>
              <a:t>(</a:t>
            </a:r>
            <a:r>
              <a:rPr lang="ko-KR" altLang="en-US" sz="1800" b="1" dirty="0">
                <a:solidFill>
                  <a:srgbClr val="C00000"/>
                </a:solidFill>
              </a:rPr>
              <a:t>함수</a:t>
            </a:r>
            <a:r>
              <a:rPr lang="en-US" altLang="ko-KR" sz="1800" b="1" dirty="0">
                <a:solidFill>
                  <a:srgbClr val="C00000"/>
                </a:solidFill>
              </a:rPr>
              <a:t>)</a:t>
            </a:r>
            <a:r>
              <a:rPr lang="ko-KR" altLang="en-US" sz="1800" b="1" dirty="0">
                <a:solidFill>
                  <a:srgbClr val="C00000"/>
                </a:solidFill>
              </a:rPr>
              <a:t> </a:t>
            </a: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844824"/>
            <a:ext cx="5697136" cy="34563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775089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메소드</a:t>
            </a:r>
            <a:r>
              <a:rPr lang="en-US" altLang="ko-KR" dirty="0"/>
              <a:t>(</a:t>
            </a:r>
            <a:r>
              <a:rPr lang="ko-KR" altLang="en-US" dirty="0"/>
              <a:t>함수</a:t>
            </a:r>
            <a:r>
              <a:rPr lang="en-US" altLang="ko-KR" dirty="0"/>
              <a:t>)</a:t>
            </a:r>
            <a:r>
              <a:rPr lang="ko-KR" altLang="en-US" dirty="0"/>
              <a:t>의 사용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124744"/>
            <a:ext cx="6192688" cy="4022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 err="1">
                <a:solidFill>
                  <a:srgbClr val="C00000"/>
                </a:solidFill>
              </a:rPr>
              <a:t>반환값이</a:t>
            </a:r>
            <a:r>
              <a:rPr lang="ko-KR" altLang="en-US" sz="1800" b="1" dirty="0">
                <a:solidFill>
                  <a:srgbClr val="C00000"/>
                </a:solidFill>
              </a:rPr>
              <a:t> 있는 메서드</a:t>
            </a:r>
            <a:r>
              <a:rPr lang="en-US" altLang="ko-KR" sz="1800" b="1" dirty="0">
                <a:solidFill>
                  <a:srgbClr val="C00000"/>
                </a:solidFill>
              </a:rPr>
              <a:t>(</a:t>
            </a:r>
            <a:r>
              <a:rPr lang="ko-KR" altLang="en-US" sz="1800" b="1" dirty="0">
                <a:solidFill>
                  <a:srgbClr val="C00000"/>
                </a:solidFill>
              </a:rPr>
              <a:t>함수</a:t>
            </a:r>
            <a:r>
              <a:rPr lang="en-US" altLang="ko-KR" sz="1800" b="1" dirty="0">
                <a:solidFill>
                  <a:srgbClr val="C00000"/>
                </a:solidFill>
              </a:rPr>
              <a:t>)</a:t>
            </a:r>
            <a:r>
              <a:rPr lang="ko-KR" altLang="en-US" sz="1800" b="1" dirty="0">
                <a:solidFill>
                  <a:srgbClr val="C00000"/>
                </a:solidFill>
              </a:rPr>
              <a:t> </a:t>
            </a: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700808"/>
            <a:ext cx="5525450" cy="4464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305258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함수 호출과 </a:t>
            </a:r>
            <a:r>
              <a:rPr lang="ko-KR" altLang="en-US" dirty="0" err="1"/>
              <a:t>스택</a:t>
            </a:r>
            <a:r>
              <a:rPr lang="ko-KR" altLang="en-US" dirty="0"/>
              <a:t> 메모리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57448" y="1052736"/>
            <a:ext cx="8616032" cy="12961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2060"/>
                </a:solidFill>
              </a:rPr>
              <a:t>함수 호출과 </a:t>
            </a:r>
            <a:r>
              <a:rPr lang="ko-KR" altLang="en-US" sz="2000" b="1" dirty="0" err="1">
                <a:solidFill>
                  <a:srgbClr val="002060"/>
                </a:solidFill>
              </a:rPr>
              <a:t>스택</a:t>
            </a:r>
            <a:r>
              <a:rPr lang="ko-KR" altLang="en-US" sz="2000" b="1" dirty="0">
                <a:solidFill>
                  <a:srgbClr val="002060"/>
                </a:solidFill>
              </a:rPr>
              <a:t> 메모리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함수가 호출될 때 사용하는 메모리 </a:t>
            </a:r>
            <a:r>
              <a:rPr lang="en-US" altLang="ko-KR" sz="1800" dirty="0"/>
              <a:t>– </a:t>
            </a:r>
            <a:r>
              <a:rPr lang="ko-KR" altLang="en-US" sz="1800" b="1" dirty="0" err="1"/>
              <a:t>스택</a:t>
            </a:r>
            <a:r>
              <a:rPr lang="en-US" altLang="ko-KR" sz="1800" b="1" dirty="0"/>
              <a:t>(stack), </a:t>
            </a:r>
            <a:r>
              <a:rPr lang="ko-KR" altLang="en-US" sz="1800" dirty="0"/>
              <a:t>지역변수가 위치함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함수의 수행이 끝나면 함수에 할당했던 메모리 공간이 해제됨</a:t>
            </a:r>
            <a:r>
              <a:rPr lang="en-US" altLang="ko-KR" sz="1800" dirty="0"/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</p:txBody>
      </p:sp>
      <p:sp>
        <p:nvSpPr>
          <p:cNvPr id="11" name="직사각형 10"/>
          <p:cNvSpPr/>
          <p:nvPr/>
        </p:nvSpPr>
        <p:spPr>
          <a:xfrm>
            <a:off x="1436913" y="3501008"/>
            <a:ext cx="1994263" cy="6334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sum</a:t>
            </a:r>
            <a:endParaRPr lang="ko-KR" altLang="en-US" dirty="0"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436912" y="2867595"/>
            <a:ext cx="1994263" cy="6268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n1, n2, </a:t>
            </a:r>
          </a:p>
          <a:p>
            <a:pPr algn="ctr"/>
            <a:r>
              <a:rPr lang="en-US" altLang="ko-KR" dirty="0">
                <a:latin typeface="+mn-ea"/>
              </a:rPr>
              <a:t>result</a:t>
            </a:r>
            <a:endParaRPr lang="ko-KR" altLang="en-US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31175" y="3549647"/>
            <a:ext cx="3106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① </a:t>
            </a:r>
            <a:r>
              <a:rPr lang="en-US" altLang="ko-KR" sz="1600" dirty="0"/>
              <a:t>main()</a:t>
            </a:r>
            <a:r>
              <a:rPr lang="ko-KR" altLang="en-US" sz="1600" dirty="0"/>
              <a:t>함수가 사용할 메모리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공간이 </a:t>
            </a:r>
            <a:r>
              <a:rPr lang="ko-KR" altLang="en-US" sz="1600" dirty="0" err="1"/>
              <a:t>스택에</a:t>
            </a:r>
            <a:r>
              <a:rPr lang="ko-KR" altLang="en-US" sz="1600" dirty="0"/>
              <a:t> 생성됨</a:t>
            </a:r>
          </a:p>
        </p:txBody>
      </p:sp>
      <p:sp>
        <p:nvSpPr>
          <p:cNvPr id="25" name="자유형 24"/>
          <p:cNvSpPr/>
          <p:nvPr/>
        </p:nvSpPr>
        <p:spPr>
          <a:xfrm>
            <a:off x="1436914" y="2534194"/>
            <a:ext cx="1994263" cy="1593669"/>
          </a:xfrm>
          <a:custGeom>
            <a:avLst/>
            <a:gdLst>
              <a:gd name="connsiteX0" fmla="*/ 0 w 1994263"/>
              <a:gd name="connsiteY0" fmla="*/ 17417 h 1593669"/>
              <a:gd name="connsiteX1" fmla="*/ 0 w 1994263"/>
              <a:gd name="connsiteY1" fmla="*/ 1593669 h 1593669"/>
              <a:gd name="connsiteX2" fmla="*/ 1994263 w 1994263"/>
              <a:gd name="connsiteY2" fmla="*/ 1593669 h 1593669"/>
              <a:gd name="connsiteX3" fmla="*/ 1994263 w 1994263"/>
              <a:gd name="connsiteY3" fmla="*/ 0 h 1593669"/>
              <a:gd name="connsiteX4" fmla="*/ 1994263 w 1994263"/>
              <a:gd name="connsiteY4" fmla="*/ 0 h 1593669"/>
              <a:gd name="connsiteX5" fmla="*/ 1994263 w 1994263"/>
              <a:gd name="connsiteY5" fmla="*/ 17417 h 159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4263" h="1593669">
                <a:moveTo>
                  <a:pt x="0" y="17417"/>
                </a:moveTo>
                <a:lnTo>
                  <a:pt x="0" y="1593669"/>
                </a:lnTo>
                <a:lnTo>
                  <a:pt x="1994263" y="1593669"/>
                </a:lnTo>
                <a:lnTo>
                  <a:pt x="1994263" y="0"/>
                </a:lnTo>
                <a:lnTo>
                  <a:pt x="1994263" y="0"/>
                </a:lnTo>
                <a:lnTo>
                  <a:pt x="1994263" y="17417"/>
                </a:lnTo>
              </a:path>
            </a:pathLst>
          </a:cu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3450999" y="2869917"/>
            <a:ext cx="2942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③ </a:t>
            </a:r>
            <a:r>
              <a:rPr lang="en-US" altLang="ko-KR" sz="1600" dirty="0"/>
              <a:t>add()</a:t>
            </a:r>
            <a:r>
              <a:rPr lang="ko-KR" altLang="en-US" sz="1600" dirty="0"/>
              <a:t>함수가 사용할 메모리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공간이 </a:t>
            </a:r>
            <a:r>
              <a:rPr lang="ko-KR" altLang="en-US" sz="1600" dirty="0" err="1"/>
              <a:t>스택에</a:t>
            </a:r>
            <a:r>
              <a:rPr lang="ko-KR" altLang="en-US" sz="1600" dirty="0"/>
              <a:t> 생성됨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436913" y="5375029"/>
            <a:ext cx="1994263" cy="6334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sum</a:t>
            </a:r>
            <a:endParaRPr lang="ko-KR" altLang="en-US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436912" y="4741616"/>
            <a:ext cx="1994263" cy="6268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n1, n2, </a:t>
            </a:r>
          </a:p>
          <a:p>
            <a:pPr algn="ctr"/>
            <a:r>
              <a:rPr lang="en-US" altLang="ko-KR" dirty="0">
                <a:latin typeface="+mn-ea"/>
              </a:rPr>
              <a:t>result</a:t>
            </a:r>
            <a:endParaRPr lang="ko-KR" altLang="en-US" dirty="0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31175" y="5423668"/>
            <a:ext cx="32486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 </a:t>
            </a:r>
            <a:r>
              <a:rPr lang="en-US" altLang="ko-KR" sz="1600" dirty="0"/>
              <a:t>main()</a:t>
            </a:r>
            <a:r>
              <a:rPr lang="ko-KR" altLang="en-US" sz="1600" dirty="0"/>
              <a:t>함수 해제됨</a:t>
            </a:r>
            <a:endParaRPr lang="en-US" altLang="ko-KR" sz="1600" dirty="0"/>
          </a:p>
        </p:txBody>
      </p:sp>
      <p:sp>
        <p:nvSpPr>
          <p:cNvPr id="31" name="자유형 30"/>
          <p:cNvSpPr/>
          <p:nvPr/>
        </p:nvSpPr>
        <p:spPr>
          <a:xfrm>
            <a:off x="1436914" y="4408215"/>
            <a:ext cx="1994263" cy="1593669"/>
          </a:xfrm>
          <a:custGeom>
            <a:avLst/>
            <a:gdLst>
              <a:gd name="connsiteX0" fmla="*/ 0 w 1994263"/>
              <a:gd name="connsiteY0" fmla="*/ 17417 h 1593669"/>
              <a:gd name="connsiteX1" fmla="*/ 0 w 1994263"/>
              <a:gd name="connsiteY1" fmla="*/ 1593669 h 1593669"/>
              <a:gd name="connsiteX2" fmla="*/ 1994263 w 1994263"/>
              <a:gd name="connsiteY2" fmla="*/ 1593669 h 1593669"/>
              <a:gd name="connsiteX3" fmla="*/ 1994263 w 1994263"/>
              <a:gd name="connsiteY3" fmla="*/ 0 h 1593669"/>
              <a:gd name="connsiteX4" fmla="*/ 1994263 w 1994263"/>
              <a:gd name="connsiteY4" fmla="*/ 0 h 1593669"/>
              <a:gd name="connsiteX5" fmla="*/ 1994263 w 1994263"/>
              <a:gd name="connsiteY5" fmla="*/ 17417 h 159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4263" h="1593669">
                <a:moveTo>
                  <a:pt x="0" y="17417"/>
                </a:moveTo>
                <a:lnTo>
                  <a:pt x="0" y="1593669"/>
                </a:lnTo>
                <a:lnTo>
                  <a:pt x="1994263" y="1593669"/>
                </a:lnTo>
                <a:lnTo>
                  <a:pt x="1994263" y="0"/>
                </a:lnTo>
                <a:lnTo>
                  <a:pt x="1994263" y="0"/>
                </a:lnTo>
                <a:lnTo>
                  <a:pt x="1994263" y="17417"/>
                </a:lnTo>
              </a:path>
            </a:pathLst>
          </a:cu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3450999" y="4743938"/>
            <a:ext cx="2942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 </a:t>
            </a:r>
            <a:r>
              <a:rPr lang="en-US" altLang="ko-KR" sz="1600" dirty="0"/>
              <a:t>add()</a:t>
            </a:r>
            <a:r>
              <a:rPr lang="ko-KR" altLang="en-US" sz="1600" dirty="0"/>
              <a:t>함수가 사용한 메모리 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공간은 자동으로 사라짐</a:t>
            </a:r>
            <a:endParaRPr lang="en-US" altLang="ko-KR" sz="1600" dirty="0"/>
          </a:p>
        </p:txBody>
      </p:sp>
      <p:cxnSp>
        <p:nvCxnSpPr>
          <p:cNvPr id="34" name="꺾인 연결선 33"/>
          <p:cNvCxnSpPr>
            <a:stCxn id="15" idx="3"/>
            <a:endCxn id="27" idx="3"/>
          </p:cNvCxnSpPr>
          <p:nvPr/>
        </p:nvCxnSpPr>
        <p:spPr>
          <a:xfrm flipH="1" flipV="1">
            <a:off x="6393160" y="3162305"/>
            <a:ext cx="144016" cy="679730"/>
          </a:xfrm>
          <a:prstGeom prst="bentConnector3">
            <a:avLst>
              <a:gd name="adj1" fmla="val -1587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679803" y="3331731"/>
            <a:ext cx="2799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 ② </a:t>
            </a:r>
            <a:r>
              <a:rPr lang="en-US" altLang="ko-KR" sz="1600" dirty="0"/>
              <a:t>main()</a:t>
            </a:r>
            <a:r>
              <a:rPr lang="ko-KR" altLang="en-US" sz="1600" dirty="0"/>
              <a:t>에서 </a:t>
            </a:r>
            <a:r>
              <a:rPr lang="en-US" altLang="ko-KR" sz="1600" dirty="0"/>
              <a:t>add() </a:t>
            </a:r>
            <a:r>
              <a:rPr lang="ko-KR" altLang="en-US" sz="1600" dirty="0"/>
              <a:t>호출</a:t>
            </a:r>
            <a:endParaRPr lang="en-US" altLang="ko-KR" sz="1600" dirty="0"/>
          </a:p>
        </p:txBody>
      </p:sp>
      <p:cxnSp>
        <p:nvCxnSpPr>
          <p:cNvPr id="17" name="꺾인 연결선 16"/>
          <p:cNvCxnSpPr/>
          <p:nvPr/>
        </p:nvCxnSpPr>
        <p:spPr>
          <a:xfrm flipH="1">
            <a:off x="6393837" y="4911171"/>
            <a:ext cx="144016" cy="679730"/>
          </a:xfrm>
          <a:prstGeom prst="bentConnector3">
            <a:avLst>
              <a:gd name="adj1" fmla="val -1587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80480" y="5080597"/>
            <a:ext cx="2799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 </a:t>
            </a:r>
            <a:r>
              <a:rPr lang="en-US" altLang="ko-KR" sz="1600" dirty="0"/>
              <a:t>add() </a:t>
            </a:r>
            <a:r>
              <a:rPr lang="ko-KR" altLang="en-US" sz="1600" dirty="0"/>
              <a:t>수행 후 메모리 해제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90037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/>
      <p:bldP spid="25" grpId="0" animBg="1"/>
      <p:bldP spid="27" grpId="0"/>
      <p:bldP spid="28" grpId="0" animBg="1"/>
      <p:bldP spid="28" grpId="1" animBg="1"/>
      <p:bldP spid="29" grpId="0" animBg="1"/>
      <p:bldP spid="29" grpId="1" animBg="1"/>
      <p:bldP spid="30" grpId="0"/>
      <p:bldP spid="31" grpId="0" animBg="1"/>
      <p:bldP spid="33" grpId="0"/>
      <p:bldP spid="43" grpId="0"/>
      <p:bldP spid="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변수의 유효 범위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60050" y="1052736"/>
            <a:ext cx="8613430" cy="4643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변수의 유효 범위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rgbClr val="002060"/>
                </a:solidFill>
              </a:rPr>
              <a:t>지역 변수의 유효 범위</a:t>
            </a:r>
            <a:endParaRPr lang="en-US" altLang="ko-KR" sz="18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800" b="1" dirty="0">
                <a:solidFill>
                  <a:srgbClr val="002060"/>
                </a:solidFill>
              </a:rPr>
              <a:t>   </a:t>
            </a:r>
            <a:r>
              <a:rPr lang="ko-KR" altLang="en-US" sz="1800" dirty="0"/>
              <a:t>지역 변수는 함수나 </a:t>
            </a:r>
            <a:r>
              <a:rPr lang="ko-KR" altLang="en-US" sz="1800" dirty="0" err="1"/>
              <a:t>메서드</a:t>
            </a:r>
            <a:r>
              <a:rPr lang="ko-KR" altLang="en-US" sz="1800" dirty="0"/>
              <a:t> 내부에 선언하기 때문에 함수 밖에서는 사용할 </a:t>
            </a:r>
            <a:endParaRPr lang="en-US" altLang="ko-KR" sz="18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수 없다</a:t>
            </a:r>
            <a:r>
              <a:rPr lang="en-US" altLang="ko-KR" sz="1800" dirty="0"/>
              <a:t>. </a:t>
            </a:r>
            <a:r>
              <a:rPr lang="ko-KR" altLang="en-US" sz="1800" dirty="0"/>
              <a:t>지역변수가 생성되는 메모리를 </a:t>
            </a:r>
            <a:r>
              <a:rPr lang="ko-KR" altLang="en-US" sz="1800" b="1" dirty="0" err="1">
                <a:solidFill>
                  <a:srgbClr val="C00000"/>
                </a:solidFill>
              </a:rPr>
              <a:t>스택</a:t>
            </a:r>
            <a:r>
              <a:rPr lang="en-US" altLang="ko-KR" sz="1800" b="1" dirty="0">
                <a:solidFill>
                  <a:srgbClr val="C00000"/>
                </a:solidFill>
              </a:rPr>
              <a:t>(stack)</a:t>
            </a:r>
            <a:r>
              <a:rPr lang="ko-KR" altLang="en-US" sz="1800" dirty="0"/>
              <a:t>이라 한다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rgbClr val="002060"/>
                </a:solidFill>
              </a:rPr>
              <a:t>멤버 변수의 유효 범위</a:t>
            </a:r>
            <a:endParaRPr lang="en-US" altLang="ko-KR" sz="18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r>
              <a:rPr lang="ko-KR" altLang="en-US" sz="1800" dirty="0"/>
              <a:t>멤버 변수는 </a:t>
            </a:r>
            <a:r>
              <a:rPr lang="ko-KR" altLang="en-US" sz="1800" dirty="0" err="1"/>
              <a:t>인스턴스</a:t>
            </a:r>
            <a:r>
              <a:rPr lang="ko-KR" altLang="en-US" sz="1800" dirty="0"/>
              <a:t> 변수라고도 한다</a:t>
            </a:r>
            <a:r>
              <a:rPr lang="en-US" altLang="ko-KR" sz="1800" dirty="0"/>
              <a:t>. </a:t>
            </a:r>
            <a:r>
              <a:rPr lang="ko-KR" altLang="en-US" sz="1800" dirty="0"/>
              <a:t>클래스의 어느 </a:t>
            </a:r>
            <a:r>
              <a:rPr lang="ko-KR" altLang="en-US" sz="1800" dirty="0" err="1"/>
              <a:t>메서드에서나</a:t>
            </a:r>
            <a:r>
              <a:rPr lang="ko-KR" altLang="en-US" sz="1800" dirty="0"/>
              <a:t> 사  </a:t>
            </a: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용할 수 있다</a:t>
            </a:r>
            <a:r>
              <a:rPr lang="en-US" altLang="ko-KR" sz="1800" dirty="0"/>
              <a:t>. </a:t>
            </a:r>
            <a:r>
              <a:rPr lang="ko-KR" altLang="en-US" sz="1800" dirty="0"/>
              <a:t>클래스가 </a:t>
            </a:r>
            <a:r>
              <a:rPr lang="ko-KR" altLang="en-US" sz="1800" dirty="0" err="1"/>
              <a:t>생성될때</a:t>
            </a:r>
            <a:r>
              <a:rPr lang="ko-KR" altLang="en-US" sz="1800" dirty="0"/>
              <a:t> </a:t>
            </a:r>
            <a:r>
              <a:rPr lang="ko-KR" altLang="en-US" sz="1800" b="1" dirty="0" err="1">
                <a:solidFill>
                  <a:srgbClr val="C00000"/>
                </a:solidFill>
              </a:rPr>
              <a:t>힙</a:t>
            </a:r>
            <a:r>
              <a:rPr lang="en-US" altLang="ko-KR" sz="1800" b="1" dirty="0">
                <a:solidFill>
                  <a:srgbClr val="C00000"/>
                </a:solidFill>
              </a:rPr>
              <a:t>(heap) </a:t>
            </a:r>
            <a:r>
              <a:rPr lang="ko-KR" altLang="en-US" sz="1800" b="1" dirty="0">
                <a:solidFill>
                  <a:srgbClr val="C00000"/>
                </a:solidFill>
              </a:rPr>
              <a:t>메모리</a:t>
            </a:r>
            <a:r>
              <a:rPr lang="ko-KR" altLang="en-US" sz="1800" dirty="0"/>
              <a:t>에 생성된다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b="1" dirty="0">
                <a:solidFill>
                  <a:srgbClr val="C00000"/>
                </a:solidFill>
              </a:rPr>
              <a:t>static </a:t>
            </a:r>
            <a:r>
              <a:rPr lang="ko-KR" altLang="en-US" sz="1800" b="1" dirty="0">
                <a:solidFill>
                  <a:srgbClr val="002060"/>
                </a:solidFill>
              </a:rPr>
              <a:t>변수의 유효 범위</a:t>
            </a:r>
            <a:endParaRPr lang="en-US" altLang="ko-KR" sz="18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r>
              <a:rPr lang="ko-KR" altLang="en-US" sz="1800" dirty="0"/>
              <a:t>사용자가 프로그램을 실행하면 메모리에 프로그램이 상주한다</a:t>
            </a:r>
            <a:r>
              <a:rPr lang="en-US" altLang="ko-KR" sz="1800" dirty="0"/>
              <a:t>.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800" dirty="0"/>
              <a:t>   new</a:t>
            </a:r>
            <a:r>
              <a:rPr lang="ko-KR" altLang="en-US" sz="1800" dirty="0"/>
              <a:t>로 생성되지 않고 처음부터 </a:t>
            </a:r>
            <a:r>
              <a:rPr lang="ko-KR" altLang="en-US" sz="1800" b="1" dirty="0">
                <a:solidFill>
                  <a:srgbClr val="C00000"/>
                </a:solidFill>
              </a:rPr>
              <a:t>데이터 영역 메모리</a:t>
            </a:r>
            <a:r>
              <a:rPr lang="ko-KR" altLang="en-US" sz="1800" dirty="0"/>
              <a:t>에 생성된다</a:t>
            </a:r>
            <a:r>
              <a:rPr lang="en-US" altLang="ko-KR" sz="2000" dirty="0"/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2000" dirty="0"/>
              <a:t>   </a:t>
            </a:r>
            <a:r>
              <a:rPr lang="ko-KR" altLang="en-US" sz="1800" dirty="0"/>
              <a:t>이 영역에는 상수</a:t>
            </a:r>
            <a:r>
              <a:rPr lang="en-US" altLang="ko-KR" sz="1800" dirty="0"/>
              <a:t>, </a:t>
            </a:r>
            <a:r>
              <a:rPr lang="ko-KR" altLang="en-US" sz="1800" dirty="0"/>
              <a:t>문자열</a:t>
            </a:r>
            <a:r>
              <a:rPr lang="en-US" altLang="ko-KR" sz="1800" dirty="0"/>
              <a:t>, static </a:t>
            </a:r>
            <a:r>
              <a:rPr lang="ko-KR" altLang="en-US" sz="1800" dirty="0"/>
              <a:t>변수가 생성된다</a:t>
            </a:r>
            <a:r>
              <a:rPr lang="en-US" altLang="ko-KR" sz="18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b="1" dirty="0">
                <a:solidFill>
                  <a:srgbClr val="002060"/>
                </a:solidFill>
              </a:rPr>
              <a:t> </a:t>
            </a:r>
            <a:r>
              <a:rPr lang="en-US" altLang="ko-KR" sz="1800" b="1" dirty="0">
                <a:solidFill>
                  <a:srgbClr val="00206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9855925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변수의 범위</a:t>
            </a:r>
            <a:r>
              <a:rPr lang="en-US" altLang="ko-KR" dirty="0"/>
              <a:t>(</a:t>
            </a:r>
            <a:r>
              <a:rPr lang="ko-KR" altLang="en-US" dirty="0" err="1"/>
              <a:t>스코프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5480" y="1124744"/>
            <a:ext cx="8616032" cy="10801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002060"/>
                </a:solidFill>
              </a:rPr>
              <a:t>지역변수의 범위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r>
              <a:rPr lang="ko-KR" altLang="en-US" sz="1600" dirty="0"/>
              <a:t>함수나 </a:t>
            </a:r>
            <a:r>
              <a:rPr lang="ko-KR" altLang="en-US" sz="1600" dirty="0" err="1"/>
              <a:t>제어문에서</a:t>
            </a:r>
            <a:r>
              <a:rPr lang="ko-KR" altLang="en-US" sz="1600" dirty="0"/>
              <a:t> 사용되며 호출 후에 메모리 공간에서 소멸</a:t>
            </a:r>
            <a:r>
              <a:rPr lang="en-US" altLang="ko-KR" sz="1600" dirty="0"/>
              <a:t>(</a:t>
            </a:r>
            <a:r>
              <a:rPr lang="ko-KR" altLang="en-US" sz="1600" dirty="0"/>
              <a:t>해제</a:t>
            </a:r>
            <a:r>
              <a:rPr lang="en-US" altLang="ko-KR" sz="1600" dirty="0"/>
              <a:t>)</a:t>
            </a:r>
            <a:r>
              <a:rPr lang="ko-KR" altLang="en-US" sz="1600" dirty="0"/>
              <a:t>한다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8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2060848"/>
            <a:ext cx="5539806" cy="39604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588800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변수의 범위</a:t>
            </a:r>
            <a:r>
              <a:rPr lang="en-US" altLang="ko-KR" dirty="0"/>
              <a:t>(</a:t>
            </a:r>
            <a:r>
              <a:rPr lang="ko-KR" altLang="en-US" dirty="0" err="1"/>
              <a:t>스코프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1052736"/>
            <a:ext cx="8064896" cy="15841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002060"/>
                </a:solidFill>
              </a:rPr>
              <a:t>정적변수의</a:t>
            </a:r>
            <a:r>
              <a:rPr lang="ko-KR" altLang="en-US" sz="2000" b="1" dirty="0">
                <a:solidFill>
                  <a:srgbClr val="002060"/>
                </a:solidFill>
              </a:rPr>
              <a:t> 범위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정적 변수는 </a:t>
            </a:r>
            <a:r>
              <a:rPr lang="en-US" altLang="ko-KR" sz="1600" b="1" dirty="0">
                <a:solidFill>
                  <a:srgbClr val="C00000"/>
                </a:solidFill>
              </a:rPr>
              <a:t>static</a:t>
            </a:r>
            <a:r>
              <a:rPr lang="en-US" altLang="ko-KR" sz="1600" dirty="0"/>
              <a:t> </a:t>
            </a:r>
            <a:r>
              <a:rPr lang="ko-KR" altLang="en-US" sz="1600" dirty="0"/>
              <a:t>키워드가 붙은 변수이며</a:t>
            </a:r>
            <a:r>
              <a:rPr lang="en-US" altLang="ko-KR" sz="1600" dirty="0"/>
              <a:t>,</a:t>
            </a:r>
            <a:r>
              <a:rPr lang="ko-KR" altLang="en-US" sz="1600" dirty="0"/>
              <a:t> 값이 공유된다</a:t>
            </a:r>
            <a:r>
              <a:rPr lang="en-US" altLang="ko-KR" sz="1600" dirty="0"/>
              <a:t>. 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프로그램이 실행되면 메모리에 적재되고</a:t>
            </a:r>
            <a:r>
              <a:rPr lang="en-US" altLang="ko-KR" sz="1600" dirty="0"/>
              <a:t>,</a:t>
            </a:r>
            <a:r>
              <a:rPr lang="ko-KR" altLang="en-US" sz="1600" dirty="0"/>
              <a:t> 프로그램이 종료되면 메모리 공간에서 소멸한다</a:t>
            </a:r>
            <a:r>
              <a:rPr lang="en-US" altLang="ko-KR" sz="1600" dirty="0"/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783" y="2276872"/>
            <a:ext cx="4798103" cy="40324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407096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Math </a:t>
            </a:r>
            <a:r>
              <a:rPr lang="ko-KR" altLang="en-US" dirty="0"/>
              <a:t>클래스의 내장 </a:t>
            </a:r>
            <a:r>
              <a:rPr lang="ko-KR" altLang="en-US" dirty="0" err="1"/>
              <a:t>매서드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76535" y="1052736"/>
            <a:ext cx="6066607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static(</a:t>
            </a:r>
            <a:r>
              <a:rPr lang="ko-KR" altLang="en-US" sz="2000" b="1" dirty="0">
                <a:solidFill>
                  <a:srgbClr val="C00000"/>
                </a:solidFill>
              </a:rPr>
              <a:t>정적</a:t>
            </a:r>
            <a:r>
              <a:rPr lang="en-US" altLang="ko-KR" sz="2000" b="1" dirty="0">
                <a:solidFill>
                  <a:srgbClr val="C00000"/>
                </a:solidFill>
              </a:rPr>
              <a:t>) </a:t>
            </a:r>
            <a:r>
              <a:rPr lang="ko-KR" altLang="en-US" sz="2000" b="1" dirty="0" err="1">
                <a:solidFill>
                  <a:srgbClr val="C00000"/>
                </a:solidFill>
              </a:rPr>
              <a:t>매서드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662404"/>
            <a:ext cx="3448532" cy="22291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289" y="1658212"/>
            <a:ext cx="3967708" cy="4272283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4664968" y="4082587"/>
            <a:ext cx="2016223" cy="2051361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84708" y="4581128"/>
            <a:ext cx="3600400" cy="91940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C00000"/>
                </a:solidFill>
              </a:rPr>
              <a:t>static</a:t>
            </a:r>
            <a:r>
              <a:rPr lang="en-US" altLang="ko-KR" sz="1600" dirty="0"/>
              <a:t> </a:t>
            </a:r>
            <a:r>
              <a:rPr lang="ko-KR" altLang="en-US" sz="1600" b="1" dirty="0" err="1">
                <a:solidFill>
                  <a:srgbClr val="C00000"/>
                </a:solidFill>
              </a:rPr>
              <a:t>메서드</a:t>
            </a:r>
            <a:r>
              <a:rPr lang="ko-KR" altLang="en-US" sz="1600" dirty="0" err="1"/>
              <a:t>이므로</a:t>
            </a:r>
            <a:r>
              <a:rPr lang="ko-KR" altLang="en-US" sz="1600" dirty="0"/>
              <a:t> 클래스이름으로 직접 접근</a:t>
            </a:r>
            <a:r>
              <a:rPr lang="en-US" altLang="ko-KR" sz="1600" dirty="0"/>
              <a:t>(new </a:t>
            </a:r>
            <a:r>
              <a:rPr lang="ko-KR" altLang="en-US" sz="1600" dirty="0"/>
              <a:t>객체 생성하지 않음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사용 예</a:t>
            </a:r>
            <a:r>
              <a:rPr lang="en-US" altLang="ko-KR" sz="1600" dirty="0"/>
              <a:t>) </a:t>
            </a:r>
            <a:r>
              <a:rPr lang="en-US" altLang="ko-KR" sz="1600" dirty="0" err="1"/>
              <a:t>Math.abs</a:t>
            </a:r>
            <a:r>
              <a:rPr lang="en-US" altLang="ko-KR" sz="1600" dirty="0"/>
              <a:t>(-4)</a:t>
            </a:r>
          </a:p>
        </p:txBody>
      </p:sp>
    </p:spTree>
    <p:extLst>
      <p:ext uri="{BB962C8B-B14F-4D97-AF65-F5344CB8AC3E}">
        <p14:creationId xmlns:p14="http://schemas.microsoft.com/office/powerpoint/2010/main" val="301535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ko-KR" altLang="en-US" dirty="0" err="1"/>
              <a:t>메서드로</a:t>
            </a:r>
            <a:r>
              <a:rPr lang="ko-KR" altLang="en-US" dirty="0"/>
              <a:t> 배열 전달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45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700808"/>
            <a:ext cx="5655842" cy="43872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554154" y="980728"/>
            <a:ext cx="8616032" cy="46085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altLang="ko-KR" sz="2200" b="1" dirty="0">
              <a:solidFill>
                <a:srgbClr val="C00000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58310" y="1052736"/>
            <a:ext cx="4542762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C00000"/>
                </a:solidFill>
              </a:rPr>
              <a:t>메서드의</a:t>
            </a:r>
            <a:r>
              <a:rPr lang="ko-KR" altLang="en-US" sz="2000" b="1" dirty="0">
                <a:solidFill>
                  <a:srgbClr val="C00000"/>
                </a:solidFill>
              </a:rPr>
              <a:t> 매개변수로 배열을 전달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25208" y="3846517"/>
            <a:ext cx="2145216" cy="374571"/>
          </a:xfrm>
          <a:prstGeom prst="roundRect">
            <a:avLst/>
          </a:prstGeom>
          <a:ln w="127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배열이 매개변수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5241032" y="3879209"/>
            <a:ext cx="1440161" cy="344221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19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Math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32520" y="1052736"/>
            <a:ext cx="4752528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Math </a:t>
            </a:r>
            <a:r>
              <a:rPr lang="ko-KR" altLang="en-US" sz="2000" b="1" dirty="0">
                <a:solidFill>
                  <a:srgbClr val="C00000"/>
                </a:solidFill>
              </a:rPr>
              <a:t>클래스의 주요 </a:t>
            </a:r>
            <a:r>
              <a:rPr lang="ko-KR" altLang="en-US" sz="2000" b="1" dirty="0" err="1">
                <a:solidFill>
                  <a:srgbClr val="C00000"/>
                </a:solidFill>
              </a:rPr>
              <a:t>메서드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</a:rPr>
              <a:t>- </a:t>
            </a:r>
            <a:r>
              <a:rPr lang="ko-KR" altLang="en-US" sz="2000" b="1" dirty="0">
                <a:solidFill>
                  <a:srgbClr val="C00000"/>
                </a:solidFill>
              </a:rPr>
              <a:t>실습 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0" y="1700808"/>
            <a:ext cx="6994329" cy="41044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168" y="3140968"/>
            <a:ext cx="2962756" cy="14601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3317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Math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32520" y="1052736"/>
            <a:ext cx="4536503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Math.random</a:t>
            </a:r>
            <a:r>
              <a:rPr lang="en-US" altLang="ko-KR" sz="2000" b="1" dirty="0">
                <a:solidFill>
                  <a:srgbClr val="C00000"/>
                </a:solidFill>
              </a:rPr>
              <a:t>() </a:t>
            </a:r>
            <a:r>
              <a:rPr lang="ko-KR" altLang="en-US" sz="2000" b="1" dirty="0">
                <a:solidFill>
                  <a:srgbClr val="C00000"/>
                </a:solidFill>
              </a:rPr>
              <a:t>사용하기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772816"/>
            <a:ext cx="5514401" cy="34696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119" y="4437112"/>
            <a:ext cx="3312369" cy="9420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421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Math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32520" y="1052736"/>
            <a:ext cx="4536503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Lotto </a:t>
            </a:r>
            <a:r>
              <a:rPr lang="ko-KR" altLang="en-US" sz="2000" b="1" dirty="0">
                <a:solidFill>
                  <a:srgbClr val="C00000"/>
                </a:solidFill>
              </a:rPr>
              <a:t>복권 프로그램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660240"/>
            <a:ext cx="6081287" cy="41608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224689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Math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32520" y="1052736"/>
            <a:ext cx="4536503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Lotto </a:t>
            </a:r>
            <a:r>
              <a:rPr lang="ko-KR" altLang="en-US" sz="2000" b="1" dirty="0">
                <a:solidFill>
                  <a:srgbClr val="C00000"/>
                </a:solidFill>
              </a:rPr>
              <a:t>복권 프로그램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ea"/>
              <a:buAutoNum type="circleNumDbPlain"/>
            </a:pP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700808"/>
            <a:ext cx="5723116" cy="36198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309211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날짜와 시간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32058" y="1089981"/>
            <a:ext cx="5373070" cy="5388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rgbClr val="002060"/>
                </a:solidFill>
              </a:rPr>
              <a:t>  </a:t>
            </a:r>
            <a:r>
              <a:rPr lang="ko-KR" altLang="en-US" sz="2000" b="1" dirty="0">
                <a:solidFill>
                  <a:srgbClr val="002060"/>
                </a:solidFill>
              </a:rPr>
              <a:t>날짜와 시간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endParaRPr lang="en-US" altLang="ko-KR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1136576" y="1844824"/>
            <a:ext cx="77048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 err="1"/>
              <a:t>java.util.Date</a:t>
            </a:r>
            <a:r>
              <a:rPr lang="en-US" altLang="ko-KR" dirty="0"/>
              <a:t> - JDK 1.0(1995</a:t>
            </a:r>
            <a:r>
              <a:rPr lang="ko-KR" altLang="en-US" dirty="0"/>
              <a:t>년</a:t>
            </a:r>
            <a:r>
              <a:rPr lang="en-US" altLang="ko-KR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날짜와 시간을 다룰 목적으로 만들어진 클래스</a:t>
            </a:r>
            <a:r>
              <a:rPr lang="en-US" altLang="ko-KR" dirty="0"/>
              <a:t>(JDK 1.0)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 err="1"/>
              <a:t>java.util.Calendar</a:t>
            </a:r>
            <a:r>
              <a:rPr lang="en-US" altLang="ko-KR" dirty="0"/>
              <a:t>  - JDK  1.1(1997</a:t>
            </a:r>
            <a:r>
              <a:rPr lang="ko-KR" altLang="en-US" dirty="0"/>
              <a:t>년</a:t>
            </a:r>
            <a:r>
              <a:rPr lang="en-US" altLang="ko-KR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Date </a:t>
            </a:r>
            <a:r>
              <a:rPr lang="ko-KR" altLang="en-US" dirty="0"/>
              <a:t>클래스를 개선한 새로운 클래스</a:t>
            </a:r>
            <a:r>
              <a:rPr lang="en-US" altLang="ko-KR" dirty="0"/>
              <a:t>– </a:t>
            </a:r>
            <a:r>
              <a:rPr lang="ko-KR" altLang="en-US" dirty="0"/>
              <a:t>여전히 단점이 존재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지금도 많이 사용함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 err="1"/>
              <a:t>java.time</a:t>
            </a:r>
            <a:r>
              <a:rPr lang="en-US" altLang="ko-KR" dirty="0"/>
              <a:t> </a:t>
            </a:r>
            <a:r>
              <a:rPr lang="ko-KR" altLang="en-US" dirty="0"/>
              <a:t>패키지 </a:t>
            </a:r>
            <a:r>
              <a:rPr lang="en-US" altLang="ko-KR" dirty="0"/>
              <a:t>– </a:t>
            </a:r>
            <a:r>
              <a:rPr lang="en-US" altLang="ko-KR" dirty="0" err="1"/>
              <a:t>LocalDate</a:t>
            </a:r>
            <a:r>
              <a:rPr lang="en-US" altLang="ko-KR" dirty="0"/>
              <a:t>, </a:t>
            </a:r>
            <a:r>
              <a:rPr lang="en-US" altLang="ko-KR" dirty="0" err="1"/>
              <a:t>LocalTime</a:t>
            </a:r>
            <a:r>
              <a:rPr lang="en-US" altLang="ko-KR" dirty="0"/>
              <a:t>, - JDK 1.8(2014</a:t>
            </a:r>
            <a:r>
              <a:rPr lang="ko-KR" altLang="en-US" dirty="0"/>
              <a:t>년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79456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날짜</a:t>
            </a:r>
            <a:r>
              <a:rPr lang="en-US" altLang="ko-KR" dirty="0"/>
              <a:t>/ </a:t>
            </a:r>
            <a:r>
              <a:rPr lang="ko-KR" altLang="en-US" dirty="0"/>
              <a:t>시간 객체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920552" y="1124744"/>
            <a:ext cx="259228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Date </a:t>
            </a:r>
            <a:r>
              <a:rPr lang="ko-KR" altLang="en-US" sz="2000" b="1" dirty="0"/>
              <a:t>클래스 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0" y="1772816"/>
            <a:ext cx="7640428" cy="30243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664556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Calendar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90" y="980728"/>
            <a:ext cx="5373070" cy="5388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 Calendar </a:t>
            </a:r>
            <a:r>
              <a:rPr lang="ko-KR" altLang="en-US" sz="2000" b="1" dirty="0"/>
              <a:t>클래스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200" b="1" dirty="0"/>
              <a:t>   </a:t>
            </a:r>
            <a:endParaRPr lang="en-US" altLang="ko-KR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412776"/>
            <a:ext cx="82089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추상클래스이며 </a:t>
            </a:r>
            <a:r>
              <a:rPr lang="en-US" altLang="ko-KR" dirty="0" err="1"/>
              <a:t>getInstance</a:t>
            </a:r>
            <a:r>
              <a:rPr lang="en-US" altLang="ko-KR" dirty="0"/>
              <a:t>()</a:t>
            </a:r>
            <a:r>
              <a:rPr lang="ko-KR" altLang="en-US" dirty="0"/>
              <a:t>를 통해 구현된 객체를 얻어야 함</a:t>
            </a:r>
            <a:r>
              <a:rPr lang="en-US" altLang="ko-KR" dirty="0"/>
              <a:t>.</a:t>
            </a:r>
          </a:p>
          <a:p>
            <a:pPr marL="7429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get()</a:t>
            </a:r>
            <a:r>
              <a:rPr lang="ko-KR" altLang="en-US" dirty="0"/>
              <a:t>으로 날짜와 시간 필드 가져오기</a:t>
            </a:r>
            <a:endParaRPr lang="en-US" altLang="ko-KR" dirty="0"/>
          </a:p>
          <a:p>
            <a:pPr marL="7429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set()</a:t>
            </a:r>
            <a:r>
              <a:rPr lang="ko-KR" altLang="en-US" dirty="0"/>
              <a:t>으로 날짜 설정</a:t>
            </a:r>
            <a:endParaRPr lang="en-US" altLang="ko-KR" dirty="0"/>
          </a:p>
          <a:p>
            <a:pPr marL="914400" lvl="3">
              <a:lnSpc>
                <a:spcPct val="150000"/>
              </a:lnSpc>
            </a:pPr>
            <a:r>
              <a:rPr lang="en-US" altLang="ko-KR" b="1" dirty="0"/>
              <a:t>Calendar </a:t>
            </a:r>
            <a:r>
              <a:rPr lang="en-US" altLang="ko-KR" b="1" dirty="0" err="1"/>
              <a:t>cal</a:t>
            </a:r>
            <a:r>
              <a:rPr lang="en-US" altLang="ko-KR" b="1" dirty="0"/>
              <a:t> = </a:t>
            </a:r>
            <a:r>
              <a:rPr lang="en-US" altLang="ko-KR" b="1" dirty="0" err="1"/>
              <a:t>Calendar.getInstance</a:t>
            </a:r>
            <a:r>
              <a:rPr lang="en-US" altLang="ko-KR" b="1" dirty="0"/>
              <a:t>()</a:t>
            </a:r>
          </a:p>
          <a:p>
            <a:pPr marL="914400" lvl="3">
              <a:lnSpc>
                <a:spcPct val="150000"/>
              </a:lnSpc>
            </a:pPr>
            <a:r>
              <a:rPr lang="en-US" altLang="ko-KR" b="1" dirty="0" err="1"/>
              <a:t>int</a:t>
            </a:r>
            <a:r>
              <a:rPr lang="en-US" altLang="ko-KR" b="1" dirty="0"/>
              <a:t> year = </a:t>
            </a:r>
            <a:r>
              <a:rPr lang="en-US" altLang="ko-KR" b="1" dirty="0" err="1"/>
              <a:t>cal.get</a:t>
            </a:r>
            <a:r>
              <a:rPr lang="en-US" altLang="ko-KR" b="1" dirty="0"/>
              <a:t>(</a:t>
            </a:r>
            <a:r>
              <a:rPr lang="en-US" altLang="ko-KR" b="1" dirty="0" err="1"/>
              <a:t>Calendar.YEAR</a:t>
            </a:r>
            <a:r>
              <a:rPr lang="en-US" altLang="ko-KR" b="1" dirty="0"/>
              <a:t>) 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2025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년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914400" lvl="3">
              <a:lnSpc>
                <a:spcPct val="150000"/>
              </a:lnSpc>
            </a:pPr>
            <a:r>
              <a:rPr lang="en-US" altLang="ko-KR" b="1" dirty="0" err="1"/>
              <a:t>theDay.set</a:t>
            </a:r>
            <a:r>
              <a:rPr lang="en-US" altLang="ko-KR" b="1" dirty="0"/>
              <a:t>(2025, 6, 1)    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//2025. 7. 1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687774"/>
              </p:ext>
            </p:extLst>
          </p:nvPr>
        </p:nvGraphicFramePr>
        <p:xfrm>
          <a:off x="1352600" y="4077074"/>
          <a:ext cx="7488833" cy="17281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6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6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6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필드명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상수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필드명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YEAR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 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HOUR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MONTH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 월</a:t>
                      </a:r>
                      <a:r>
                        <a:rPr lang="en-US" altLang="ko-KR" sz="1600" dirty="0"/>
                        <a:t>(0</a:t>
                      </a:r>
                      <a:r>
                        <a:rPr lang="ko-KR" altLang="en-US" sz="1600" dirty="0"/>
                        <a:t>부터 시작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MINUTE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DATE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SECOND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/>
                        <a:t> DAY_OF_WEEK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요일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MILLISECOND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1/1000 </a:t>
                      </a:r>
                      <a:r>
                        <a:rPr lang="ko-KR" altLang="en-US" sz="1600" dirty="0"/>
                        <a:t>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4904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Calendar </a:t>
            </a:r>
            <a:r>
              <a:rPr lang="ko-KR" altLang="en-US" dirty="0"/>
              <a:t>클래스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1064567" y="980728"/>
            <a:ext cx="27363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Calendar </a:t>
            </a:r>
            <a:r>
              <a:rPr lang="ko-KR" altLang="en-US" sz="2000" b="1" dirty="0"/>
              <a:t>클래스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7" y="1598238"/>
            <a:ext cx="6624736" cy="45272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207617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Calendar </a:t>
            </a:r>
            <a:r>
              <a:rPr lang="ko-KR" altLang="en-US" dirty="0"/>
              <a:t>클래스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1064567" y="980728"/>
            <a:ext cx="27363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Calendar </a:t>
            </a:r>
            <a:r>
              <a:rPr lang="ko-KR" altLang="en-US" sz="2000" b="1" dirty="0"/>
              <a:t>클래스 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357" y="1628366"/>
            <a:ext cx="7971123" cy="41048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r="37213"/>
          <a:stretch/>
        </p:blipFill>
        <p:spPr>
          <a:xfrm>
            <a:off x="7041232" y="2924944"/>
            <a:ext cx="2469410" cy="17500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70726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Calendar </a:t>
            </a:r>
            <a:r>
              <a:rPr lang="ko-KR" altLang="en-US" dirty="0"/>
              <a:t>클래스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1064567" y="980728"/>
            <a:ext cx="27363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Calendar </a:t>
            </a:r>
            <a:r>
              <a:rPr lang="ko-KR" altLang="en-US" sz="2000" b="1" dirty="0"/>
              <a:t>클래스 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7" y="1577344"/>
            <a:ext cx="7598568" cy="463569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192" y="5156479"/>
            <a:ext cx="2595165" cy="11275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658729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실습 문제 </a:t>
            </a:r>
            <a:r>
              <a:rPr lang="en-US" altLang="ko-KR" dirty="0"/>
              <a:t>1 - </a:t>
            </a:r>
            <a:r>
              <a:rPr lang="ko-KR" altLang="en-US" dirty="0"/>
              <a:t>배열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137518"/>
            <a:ext cx="8136904" cy="7200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/>
              <a:t>실습 예제 </a:t>
            </a:r>
            <a:endParaRPr lang="en-US" altLang="ko-KR" sz="2000" dirty="0"/>
          </a:p>
        </p:txBody>
      </p:sp>
      <p:sp>
        <p:nvSpPr>
          <p:cNvPr id="10" name="직사각형 9"/>
          <p:cNvSpPr/>
          <p:nvPr/>
        </p:nvSpPr>
        <p:spPr>
          <a:xfrm>
            <a:off x="858168" y="1425550"/>
            <a:ext cx="84153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-------------------------------------------------------------------------------------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</a:t>
            </a:r>
            <a:r>
              <a:rPr lang="ko-KR" altLang="en-US" dirty="0"/>
              <a:t>배열 길이가 </a:t>
            </a:r>
            <a:r>
              <a:rPr lang="en-US" altLang="ko-KR" dirty="0"/>
              <a:t>5</a:t>
            </a:r>
            <a:r>
              <a:rPr lang="ko-KR" altLang="en-US" dirty="0"/>
              <a:t>인 정수 배열을 선언하고</a:t>
            </a:r>
            <a:r>
              <a:rPr lang="en-US" altLang="ko-KR" dirty="0"/>
              <a:t>, 1~10</a:t>
            </a:r>
            <a:r>
              <a:rPr lang="ko-KR" altLang="en-US" dirty="0"/>
              <a:t>중 짝수만을 배열에 저장한 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</a:t>
            </a:r>
            <a:r>
              <a:rPr lang="ko-KR" altLang="en-US" dirty="0"/>
              <a:t>그 합과 평균을 계산하세요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-------------------------------------------------------------------------------------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68624" y="3234462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☞ 실행 결과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3772198"/>
            <a:ext cx="1371791" cy="6192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214801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실습 문제 </a:t>
            </a:r>
            <a:r>
              <a:rPr lang="en-US" altLang="ko-KR" dirty="0"/>
              <a:t>2 - </a:t>
            </a:r>
            <a:r>
              <a:rPr lang="ko-KR" altLang="en-US" dirty="0"/>
              <a:t>함수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137518"/>
            <a:ext cx="8136904" cy="7200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/>
              <a:t>실습 예제 </a:t>
            </a:r>
            <a:endParaRPr lang="en-US" altLang="ko-KR" sz="2000" dirty="0"/>
          </a:p>
        </p:txBody>
      </p:sp>
      <p:sp>
        <p:nvSpPr>
          <p:cNvPr id="10" name="직사각형 9"/>
          <p:cNvSpPr/>
          <p:nvPr/>
        </p:nvSpPr>
        <p:spPr>
          <a:xfrm>
            <a:off x="858168" y="1425550"/>
            <a:ext cx="84153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-------------------------------------------------------------------------------------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</a:t>
            </a:r>
            <a:r>
              <a:rPr lang="ko-KR" altLang="en-US" dirty="0"/>
              <a:t>절대값을 계산하는 함수 </a:t>
            </a:r>
            <a:r>
              <a:rPr lang="en-US" altLang="ko-KR" dirty="0" err="1"/>
              <a:t>myAbs</a:t>
            </a:r>
            <a:r>
              <a:rPr lang="en-US" altLang="ko-KR" dirty="0"/>
              <a:t>()</a:t>
            </a:r>
            <a:r>
              <a:rPr lang="ko-KR" altLang="en-US" dirty="0"/>
              <a:t>를 정의하고 아래와 같이 실행하세요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[ </a:t>
            </a:r>
            <a:r>
              <a:rPr lang="ko-KR" altLang="en-US" dirty="0"/>
              <a:t>파일 이름</a:t>
            </a:r>
            <a:r>
              <a:rPr lang="en-US" altLang="ko-KR" dirty="0"/>
              <a:t>: MyAbs.java]</a:t>
            </a:r>
          </a:p>
          <a:p>
            <a:r>
              <a:rPr lang="en-US" altLang="ko-KR" dirty="0"/>
              <a:t>-------------------------------------------------------------------------------------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68624" y="3234462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☞ 실행 결과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3789040"/>
            <a:ext cx="2086266" cy="5144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65300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7423</TotalTime>
  <Words>1684</Words>
  <Application>Microsoft Office PowerPoint</Application>
  <PresentationFormat>A4 용지(210x297mm)</PresentationFormat>
  <Paragraphs>402</Paragraphs>
  <Slides>57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4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3장. 배열(Array), 함수(Method)</vt:lpstr>
      <vt:lpstr> 배열(Array]</vt:lpstr>
      <vt:lpstr> 배열 사용하기</vt:lpstr>
      <vt:lpstr> 배열(Array]</vt:lpstr>
      <vt:lpstr> 배열(Array]</vt:lpstr>
      <vt:lpstr> 배열(Array]</vt:lpstr>
      <vt:lpstr> 배열(Array]</vt:lpstr>
      <vt:lpstr> 배열(Array]</vt:lpstr>
      <vt:lpstr> 배열(Array]</vt:lpstr>
      <vt:lpstr> 배열(Array]</vt:lpstr>
      <vt:lpstr> 향상된 for문과 배열</vt:lpstr>
      <vt:lpstr> 배열 복사하기</vt:lpstr>
      <vt:lpstr> 배열 복사하기</vt:lpstr>
      <vt:lpstr>  최대값 찾기</vt:lpstr>
      <vt:lpstr>  배열을 이용한 성적 처리 프로그램</vt:lpstr>
      <vt:lpstr>  배열을 이용한 성적 처리 프로그램</vt:lpstr>
      <vt:lpstr>  배열을 이용한 성적 처리 프로그램</vt:lpstr>
      <vt:lpstr>  배열을 이용한 성적 처리 프로그램</vt:lpstr>
      <vt:lpstr>  배열을 이용한 성적 처리 프로그램</vt:lpstr>
      <vt:lpstr>  정렬(Sort)</vt:lpstr>
      <vt:lpstr>  정렬(Sort)</vt:lpstr>
      <vt:lpstr>  정렬(Sort)</vt:lpstr>
      <vt:lpstr> 다차원 배열</vt:lpstr>
      <vt:lpstr> 다차원 배열</vt:lpstr>
      <vt:lpstr> 다차원 배열</vt:lpstr>
      <vt:lpstr> 다차원 배열</vt:lpstr>
      <vt:lpstr> 다차원 배열</vt:lpstr>
      <vt:lpstr> 다차원 배열</vt:lpstr>
      <vt:lpstr> 다차원 배열</vt:lpstr>
      <vt:lpstr> 다차원 배열</vt:lpstr>
      <vt:lpstr> 다차원 배열</vt:lpstr>
      <vt:lpstr> 다차원 배열</vt:lpstr>
      <vt:lpstr> 다차원 배열</vt:lpstr>
      <vt:lpstr> 메서드(멤버 함수)</vt:lpstr>
      <vt:lpstr> 메서드(멤버 함수)</vt:lpstr>
      <vt:lpstr> 메서드(멤버 함수)</vt:lpstr>
      <vt:lpstr> 메서드(함수)의  유형</vt:lpstr>
      <vt:lpstr> 메소드(함수)의 사용</vt:lpstr>
      <vt:lpstr> 메소드(함수)의 사용</vt:lpstr>
      <vt:lpstr> 함수 호출과 스택 메모리</vt:lpstr>
      <vt:lpstr> 변수의 유효 범위</vt:lpstr>
      <vt:lpstr> 변수의 범위(스코프)</vt:lpstr>
      <vt:lpstr> 변수의 범위(스코프)</vt:lpstr>
      <vt:lpstr> Math 클래스의 내장 매서드</vt:lpstr>
      <vt:lpstr>  메서드로 배열 전달</vt:lpstr>
      <vt:lpstr> Math 클래스</vt:lpstr>
      <vt:lpstr> Math 클래스</vt:lpstr>
      <vt:lpstr> Math 클래스</vt:lpstr>
      <vt:lpstr> Math 클래스</vt:lpstr>
      <vt:lpstr>  날짜와 시간 클래스</vt:lpstr>
      <vt:lpstr>PowerPoint 프레젠테이션</vt:lpstr>
      <vt:lpstr>  Calendar 클래스</vt:lpstr>
      <vt:lpstr>PowerPoint 프레젠테이션</vt:lpstr>
      <vt:lpstr>PowerPoint 프레젠테이션</vt:lpstr>
      <vt:lpstr>PowerPoint 프레젠테이션</vt:lpstr>
      <vt:lpstr>  실습 문제 1 - 배열</vt:lpstr>
      <vt:lpstr>  실습 문제 2 - 함수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476</cp:revision>
  <dcterms:created xsi:type="dcterms:W3CDTF">2019-03-04T02:36:55Z</dcterms:created>
  <dcterms:modified xsi:type="dcterms:W3CDTF">2026-07-28T06:12:09Z</dcterms:modified>
</cp:coreProperties>
</file>