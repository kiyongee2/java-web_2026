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327" r:id="rId3"/>
    <p:sldId id="334" r:id="rId4"/>
    <p:sldId id="328" r:id="rId5"/>
    <p:sldId id="335" r:id="rId6"/>
    <p:sldId id="362" r:id="rId7"/>
    <p:sldId id="329" r:id="rId8"/>
    <p:sldId id="336" r:id="rId9"/>
    <p:sldId id="330" r:id="rId10"/>
    <p:sldId id="347" r:id="rId11"/>
    <p:sldId id="331" r:id="rId12"/>
    <p:sldId id="337" r:id="rId13"/>
    <p:sldId id="344" r:id="rId14"/>
    <p:sldId id="345" r:id="rId15"/>
    <p:sldId id="346" r:id="rId16"/>
    <p:sldId id="338" r:id="rId17"/>
    <p:sldId id="333" r:id="rId18"/>
    <p:sldId id="339" r:id="rId19"/>
    <p:sldId id="348" r:id="rId20"/>
    <p:sldId id="340" r:id="rId21"/>
    <p:sldId id="349" r:id="rId22"/>
    <p:sldId id="341" r:id="rId23"/>
    <p:sldId id="350" r:id="rId2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80" autoAdjust="0"/>
    <p:restoredTop sz="94660"/>
  </p:normalViewPr>
  <p:slideViewPr>
    <p:cSldViewPr>
      <p:cViewPr varScale="1">
        <p:scale>
          <a:sx n="84" d="100"/>
          <a:sy n="84" d="100"/>
        </p:scale>
        <p:origin x="898" y="9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5898655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12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- 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네트워크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프로그래밍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ko-KR" altLang="en-US" sz="2000" i="1" dirty="0">
                <a:solidFill>
                  <a:schemeClr val="bg1"/>
                </a:solidFill>
              </a:rPr>
              <a:t> </a:t>
            </a:r>
            <a:r>
              <a:rPr lang="en-US" altLang="ko-KR" sz="2000" i="1" dirty="0">
                <a:solidFill>
                  <a:schemeClr val="bg1"/>
                </a:solidFill>
              </a:rPr>
              <a:t>Socket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985964" y="1412776"/>
            <a:ext cx="8719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홈 네트워크 </a:t>
            </a:r>
            <a:r>
              <a:rPr lang="en-US" altLang="ko-KR" sz="1600" dirty="0"/>
              <a:t>: </a:t>
            </a:r>
            <a:r>
              <a:rPr lang="ko-KR" altLang="en-US" sz="1600" dirty="0"/>
              <a:t>컴퓨터가 방마다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이들 컴퓨터를 유</a:t>
            </a:r>
            <a:r>
              <a:rPr lang="en-US" altLang="ko-KR" sz="1600" dirty="0"/>
              <a:t>.</a:t>
            </a:r>
            <a:r>
              <a:rPr lang="ko-KR" altLang="en-US" sz="1600" dirty="0"/>
              <a:t>무선 등의 통신회선으로 연결</a:t>
            </a:r>
            <a:r>
              <a:rPr lang="en-US" altLang="ko-KR" sz="1600" dirty="0"/>
              <a:t>(LAN)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 네트워크 </a:t>
            </a:r>
            <a:r>
              <a:rPr lang="en-US" altLang="ko-KR" sz="1600" dirty="0"/>
              <a:t>: </a:t>
            </a:r>
            <a:r>
              <a:rPr lang="ko-KR" altLang="en-US" sz="1600" dirty="0"/>
              <a:t>회사</a:t>
            </a:r>
            <a:r>
              <a:rPr lang="en-US" altLang="ko-KR" sz="1600" dirty="0"/>
              <a:t>, </a:t>
            </a:r>
            <a:r>
              <a:rPr lang="ko-KR" altLang="en-US" sz="1600" dirty="0"/>
              <a:t>건물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영역에 존재하는 컴퓨터를 통신회선으로 연결한 것</a:t>
            </a:r>
            <a:r>
              <a:rPr lang="en-US" altLang="ko-KR" sz="1600" dirty="0"/>
              <a:t>(MAN)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인터넷 </a:t>
            </a:r>
            <a:r>
              <a:rPr lang="en-US" altLang="ko-KR" sz="1600" dirty="0"/>
              <a:t>: </a:t>
            </a:r>
            <a:r>
              <a:rPr lang="ko-KR" altLang="en-US" sz="1600" dirty="0"/>
              <a:t>지역 네트워크를 통신 회선으로 연결한 것</a:t>
            </a:r>
            <a:r>
              <a:rPr lang="en-US" altLang="ko-KR" sz="1600" dirty="0"/>
              <a:t>(WAN)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C1A821-18CD-43BC-9CCF-74501509A0F1}"/>
              </a:ext>
            </a:extLst>
          </p:cNvPr>
          <p:cNvSpPr/>
          <p:nvPr/>
        </p:nvSpPr>
        <p:spPr>
          <a:xfrm>
            <a:off x="847559" y="3208908"/>
            <a:ext cx="79938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b="1" dirty="0"/>
              <a:t>서버</a:t>
            </a:r>
            <a:r>
              <a:rPr lang="en-US" altLang="ko-KR" sz="1600" b="1" dirty="0"/>
              <a:t>(Server)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서비스를 제공하는 프로그램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웹서버</a:t>
            </a:r>
            <a:r>
              <a:rPr lang="en-US" altLang="ko-KR" sz="1600" dirty="0"/>
              <a:t>, FTP</a:t>
            </a:r>
            <a:r>
              <a:rPr lang="ko-KR" altLang="en-US" sz="1600" dirty="0"/>
              <a:t>서버</a:t>
            </a:r>
            <a:r>
              <a:rPr lang="en-US" altLang="ko-KR" sz="1600" dirty="0"/>
              <a:t>, DBMS </a:t>
            </a:r>
            <a:r>
              <a:rPr lang="ko-KR" altLang="en-US" sz="1600" dirty="0"/>
              <a:t>서버</a:t>
            </a:r>
            <a:r>
              <a:rPr lang="en-US" altLang="ko-KR" sz="1600" dirty="0"/>
              <a:t>, </a:t>
            </a:r>
            <a:r>
              <a:rPr lang="ko-KR" altLang="en-US" sz="1600" dirty="0"/>
              <a:t>메신저 서버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클라이언트의 연결을 수락하고</a:t>
            </a:r>
            <a:r>
              <a:rPr lang="en-US" altLang="ko-KR" sz="1600" dirty="0"/>
              <a:t>, </a:t>
            </a:r>
            <a:r>
              <a:rPr lang="ko-KR" altLang="en-US" sz="1600" dirty="0"/>
              <a:t>요청 내용을 처리한 후 응답을 보내는 역할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b="1" dirty="0"/>
              <a:t>클라이언트</a:t>
            </a:r>
            <a:r>
              <a:rPr lang="en-US" altLang="ko-KR" sz="1600" b="1" dirty="0"/>
              <a:t>(Client)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서비스를 받는 프로그램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웹브라우저</a:t>
            </a:r>
            <a:r>
              <a:rPr lang="en-US" altLang="ko-KR" sz="1600" dirty="0"/>
              <a:t>, FTP</a:t>
            </a:r>
            <a:r>
              <a:rPr lang="ko-KR" altLang="en-US" sz="1600" dirty="0"/>
              <a:t>클라이언트</a:t>
            </a:r>
            <a:r>
              <a:rPr lang="en-US" altLang="ko-KR" sz="1600" dirty="0"/>
              <a:t>, </a:t>
            </a:r>
            <a:r>
              <a:rPr lang="ko-KR" altLang="en-US" sz="1600" dirty="0"/>
              <a:t>메신저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네트워크 데이터를 필요로 하는 모든 애플리케이션이 해당</a:t>
            </a:r>
            <a:r>
              <a:rPr lang="en-US" altLang="ko-KR" sz="1600" dirty="0"/>
              <a:t>(</a:t>
            </a:r>
            <a:r>
              <a:rPr lang="ko-KR" altLang="en-US" sz="1600" dirty="0"/>
              <a:t>모바일 </a:t>
            </a:r>
            <a:r>
              <a:rPr lang="en-US" altLang="ko-KR" sz="1600" dirty="0"/>
              <a:t>App</a:t>
            </a:r>
            <a:r>
              <a:rPr lang="ko-KR" altLang="en-US" sz="1600" dirty="0"/>
              <a:t>포함</a:t>
            </a:r>
            <a:r>
              <a:rPr lang="en-US" altLang="ko-KR" sz="1600" dirty="0"/>
              <a:t>)</a:t>
            </a:r>
          </a:p>
        </p:txBody>
      </p:sp>
      <p:sp>
        <p:nvSpPr>
          <p:cNvPr id="17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네트워크 기초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536" y="2808798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서버와 클라이언트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536" y="1073167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네트워크</a:t>
            </a:r>
          </a:p>
        </p:txBody>
      </p:sp>
    </p:spTree>
    <p:extLst>
      <p:ext uri="{BB962C8B-B14F-4D97-AF65-F5344CB8AC3E}">
        <p14:creationId xmlns:p14="http://schemas.microsoft.com/office/powerpoint/2010/main" val="216659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43F0A5-8E41-4BAA-B231-7F2196BC12F8}"/>
              </a:ext>
            </a:extLst>
          </p:cNvPr>
          <p:cNvSpPr/>
          <p:nvPr/>
        </p:nvSpPr>
        <p:spPr>
          <a:xfrm>
            <a:off x="2361688" y="1988840"/>
            <a:ext cx="1511338" cy="20415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B8865-C4EA-4B67-953D-BB058C375791}"/>
              </a:ext>
            </a:extLst>
          </p:cNvPr>
          <p:cNvSpPr txBox="1"/>
          <p:nvPr/>
        </p:nvSpPr>
        <p:spPr>
          <a:xfrm>
            <a:off x="2539735" y="2162401"/>
            <a:ext cx="1262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클라이언트</a:t>
            </a:r>
            <a:endParaRPr lang="en-US" altLang="ko-KR" sz="16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4263128-3C33-4B07-BBD2-882FA0379CAC}"/>
              </a:ext>
            </a:extLst>
          </p:cNvPr>
          <p:cNvSpPr/>
          <p:nvPr/>
        </p:nvSpPr>
        <p:spPr>
          <a:xfrm>
            <a:off x="5889104" y="1988840"/>
            <a:ext cx="1585152" cy="20415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9191A-A228-4BEE-A745-5E598F8C00C5}"/>
              </a:ext>
            </a:extLst>
          </p:cNvPr>
          <p:cNvSpPr txBox="1"/>
          <p:nvPr/>
        </p:nvSpPr>
        <p:spPr>
          <a:xfrm>
            <a:off x="6084943" y="2162401"/>
            <a:ext cx="1138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서버</a:t>
            </a:r>
            <a:endParaRPr lang="en-US" altLang="ko-KR" sz="16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E738D41-CD5C-4741-9EE0-CF7C2E2F3A6A}"/>
              </a:ext>
            </a:extLst>
          </p:cNvPr>
          <p:cNvCxnSpPr>
            <a:cxnSpLocks/>
          </p:cNvCxnSpPr>
          <p:nvPr/>
        </p:nvCxnSpPr>
        <p:spPr>
          <a:xfrm flipH="1">
            <a:off x="3873029" y="2577070"/>
            <a:ext cx="1873035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2E552F2-4F75-4D98-91D1-CD0139D3B187}"/>
              </a:ext>
            </a:extLst>
          </p:cNvPr>
          <p:cNvCxnSpPr>
            <a:cxnSpLocks/>
          </p:cNvCxnSpPr>
          <p:nvPr/>
        </p:nvCxnSpPr>
        <p:spPr>
          <a:xfrm flipH="1">
            <a:off x="3873029" y="3088614"/>
            <a:ext cx="1873035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DD28403-5817-4ECA-91F5-889D125859B3}"/>
              </a:ext>
            </a:extLst>
          </p:cNvPr>
          <p:cNvCxnSpPr>
            <a:cxnSpLocks/>
          </p:cNvCxnSpPr>
          <p:nvPr/>
        </p:nvCxnSpPr>
        <p:spPr>
          <a:xfrm>
            <a:off x="3873026" y="3598299"/>
            <a:ext cx="1873038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C3833C-A975-4198-A5B9-AA76B1268BFA}"/>
              </a:ext>
            </a:extLst>
          </p:cNvPr>
          <p:cNvSpPr txBox="1"/>
          <p:nvPr/>
        </p:nvSpPr>
        <p:spPr>
          <a:xfrm>
            <a:off x="3945864" y="2230147"/>
            <a:ext cx="1372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① 연결 요청</a:t>
            </a:r>
            <a:endParaRPr lang="en-US" altLang="ko-KR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DE39BE-F42B-43CF-88C4-AB1F1308C487}"/>
              </a:ext>
            </a:extLst>
          </p:cNvPr>
          <p:cNvSpPr txBox="1"/>
          <p:nvPr/>
        </p:nvSpPr>
        <p:spPr>
          <a:xfrm>
            <a:off x="3873856" y="2757341"/>
            <a:ext cx="1563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③ 처리 요청</a:t>
            </a:r>
            <a:endParaRPr lang="en-US" altLang="ko-KR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887530-9991-474B-A823-804604536C2C}"/>
              </a:ext>
            </a:extLst>
          </p:cNvPr>
          <p:cNvSpPr txBox="1"/>
          <p:nvPr/>
        </p:nvSpPr>
        <p:spPr>
          <a:xfrm>
            <a:off x="3945864" y="3259745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⑤ 응답</a:t>
            </a:r>
            <a:r>
              <a:rPr lang="en-US" altLang="ko-KR" sz="1600" dirty="0"/>
              <a:t>(</a:t>
            </a:r>
            <a:r>
              <a:rPr lang="ko-KR" altLang="en-US" sz="1600" dirty="0"/>
              <a:t>처리결과</a:t>
            </a:r>
            <a:r>
              <a:rPr lang="en-US" altLang="ko-KR" sz="1600" dirty="0"/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60A1B3-71F3-46BF-8626-A219952630EE}"/>
              </a:ext>
            </a:extLst>
          </p:cNvPr>
          <p:cNvSpPr txBox="1"/>
          <p:nvPr/>
        </p:nvSpPr>
        <p:spPr>
          <a:xfrm>
            <a:off x="5940927" y="2638858"/>
            <a:ext cx="1461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② 연결 수락</a:t>
            </a:r>
            <a:endParaRPr lang="en-US" altLang="ko-KR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FD8BD9-9E8C-4BCE-BECF-7B09EED37AD9}"/>
              </a:ext>
            </a:extLst>
          </p:cNvPr>
          <p:cNvSpPr txBox="1"/>
          <p:nvPr/>
        </p:nvSpPr>
        <p:spPr>
          <a:xfrm>
            <a:off x="6084943" y="3074498"/>
            <a:ext cx="1138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 ④ 처리</a:t>
            </a:r>
            <a:endParaRPr lang="en-US" altLang="ko-KR" sz="1600" dirty="0"/>
          </a:p>
        </p:txBody>
      </p:sp>
      <p:sp>
        <p:nvSpPr>
          <p:cNvPr id="17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서버 </a:t>
            </a:r>
            <a:r>
              <a:rPr lang="en-US" altLang="ko-KR" dirty="0"/>
              <a:t>/ </a:t>
            </a:r>
            <a:r>
              <a:rPr lang="ko-KR" altLang="en-US" dirty="0"/>
              <a:t>클라이언트</a:t>
            </a:r>
          </a:p>
        </p:txBody>
      </p:sp>
      <p:sp>
        <p:nvSpPr>
          <p:cNvPr id="12" name="자유형 11"/>
          <p:cNvSpPr/>
          <p:nvPr/>
        </p:nvSpPr>
        <p:spPr>
          <a:xfrm>
            <a:off x="6724696" y="2934000"/>
            <a:ext cx="513898" cy="580150"/>
          </a:xfrm>
          <a:custGeom>
            <a:avLst/>
            <a:gdLst>
              <a:gd name="connsiteX0" fmla="*/ 111968 w 513898"/>
              <a:gd name="connsiteY0" fmla="*/ 0 h 580150"/>
              <a:gd name="connsiteX1" fmla="*/ 503854 w 513898"/>
              <a:gd name="connsiteY1" fmla="*/ 139959 h 580150"/>
              <a:gd name="connsiteX2" fmla="*/ 363894 w 513898"/>
              <a:gd name="connsiteY2" fmla="*/ 569167 h 580150"/>
              <a:gd name="connsiteX3" fmla="*/ 0 w 513898"/>
              <a:gd name="connsiteY3" fmla="*/ 410547 h 58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898" h="580150">
                <a:moveTo>
                  <a:pt x="111968" y="0"/>
                </a:moveTo>
                <a:cubicBezTo>
                  <a:pt x="286917" y="22549"/>
                  <a:pt x="461866" y="45098"/>
                  <a:pt x="503854" y="139959"/>
                </a:cubicBezTo>
                <a:cubicBezTo>
                  <a:pt x="545842" y="234820"/>
                  <a:pt x="447870" y="524069"/>
                  <a:pt x="363894" y="569167"/>
                </a:cubicBezTo>
                <a:cubicBezTo>
                  <a:pt x="279918" y="614265"/>
                  <a:pt x="139959" y="512406"/>
                  <a:pt x="0" y="410547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4" name="TextBox 13"/>
          <p:cNvSpPr txBox="1"/>
          <p:nvPr/>
        </p:nvSpPr>
        <p:spPr>
          <a:xfrm>
            <a:off x="1209560" y="4246371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▶ 클라이언트</a:t>
            </a:r>
            <a:r>
              <a:rPr lang="en-US" altLang="ko-KR" sz="1600" dirty="0"/>
              <a:t>/</a:t>
            </a:r>
            <a:r>
              <a:rPr lang="ko-KR" altLang="en-US" sz="1600" dirty="0"/>
              <a:t>서버</a:t>
            </a:r>
            <a:r>
              <a:rPr lang="en-US" altLang="ko-KR" sz="1600" dirty="0"/>
              <a:t>(C/S: client/server) 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한 개의 서버와 다수의 클라이언트로 구성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▶ </a:t>
            </a:r>
            <a:r>
              <a:rPr lang="en-US" altLang="ko-KR" sz="1600" dirty="0"/>
              <a:t>P2P(Peer to Peer) : </a:t>
            </a:r>
            <a:r>
              <a:rPr lang="ko-KR" altLang="en-US" sz="1600" dirty="0"/>
              <a:t>두 개의 프로그램이 서버인 동시에 클라이언트 역할을 함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먼저 접속을 시동한 컴퓨터가 클라이언트가 된다</a:t>
            </a:r>
            <a:r>
              <a:rPr lang="en-US" altLang="ko-KR" sz="1600" dirty="0"/>
              <a:t>. (1:1 </a:t>
            </a:r>
            <a:r>
              <a:rPr lang="ko-KR" altLang="en-US" sz="1600" dirty="0"/>
              <a:t>채팅과</a:t>
            </a:r>
            <a:r>
              <a:rPr lang="en-US" altLang="ko-KR" sz="1600" dirty="0"/>
              <a:t>, </a:t>
            </a:r>
            <a:r>
              <a:rPr lang="ko-KR" altLang="en-US" sz="1600" dirty="0"/>
              <a:t>파일 공유 프로그램</a:t>
            </a:r>
            <a:r>
              <a:rPr lang="en-US" altLang="ko-KR" sz="1600"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28" y="1127696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서버와 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204964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956701" y="1442100"/>
            <a:ext cx="745268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IP(Internet Protocol) </a:t>
            </a:r>
            <a:r>
              <a:rPr lang="ko-KR" altLang="en-US" dirty="0"/>
              <a:t>주소 </a:t>
            </a:r>
            <a:r>
              <a:rPr lang="en-US" altLang="ko-KR" dirty="0"/>
              <a:t>: </a:t>
            </a:r>
            <a:r>
              <a:rPr lang="ko-KR" altLang="en-US" dirty="0"/>
              <a:t>컴퓨터의 고유한 주소 </a:t>
            </a:r>
            <a:r>
              <a:rPr lang="en-US" altLang="ko-KR" dirty="0"/>
              <a:t>- IPv4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xxx.xxx.xxx.xxx</a:t>
            </a:r>
            <a:r>
              <a:rPr lang="en-US" altLang="ko-KR" dirty="0"/>
              <a:t>(xxx</a:t>
            </a:r>
            <a:r>
              <a:rPr lang="ko-KR" altLang="en-US" dirty="0"/>
              <a:t>는 </a:t>
            </a:r>
            <a:r>
              <a:rPr lang="en-US" altLang="ko-KR" dirty="0"/>
              <a:t>0~255 </a:t>
            </a:r>
            <a:r>
              <a:rPr lang="ko-KR" altLang="en-US" dirty="0"/>
              <a:t>사이의 정수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네트워크 어댑터</a:t>
            </a:r>
            <a:r>
              <a:rPr lang="en-US" altLang="ko-KR" dirty="0"/>
              <a:t>(Lan </a:t>
            </a:r>
            <a:r>
              <a:rPr lang="ko-KR" altLang="en-US" dirty="0"/>
              <a:t>카드</a:t>
            </a:r>
            <a:r>
              <a:rPr lang="en-US" altLang="ko-KR" dirty="0"/>
              <a:t>) </a:t>
            </a:r>
            <a:r>
              <a:rPr lang="ko-KR" altLang="en-US" dirty="0"/>
              <a:t>마다</a:t>
            </a:r>
            <a:r>
              <a:rPr lang="en-US" altLang="ko-KR" dirty="0"/>
              <a:t> </a:t>
            </a:r>
            <a:r>
              <a:rPr lang="ko-KR" altLang="en-US" dirty="0"/>
              <a:t>할당 </a:t>
            </a:r>
            <a:r>
              <a:rPr lang="en-US" altLang="ko-KR" dirty="0"/>
              <a:t>– </a:t>
            </a:r>
            <a:r>
              <a:rPr lang="ko-KR" altLang="en-US" dirty="0"/>
              <a:t>유선</a:t>
            </a:r>
            <a:r>
              <a:rPr lang="en-US" altLang="ko-KR" dirty="0"/>
              <a:t>/</a:t>
            </a:r>
            <a:r>
              <a:rPr lang="ko-KR" altLang="en-US" dirty="0"/>
              <a:t>무선 </a:t>
            </a:r>
            <a:r>
              <a:rPr lang="ko-KR" altLang="en-US" dirty="0" err="1"/>
              <a:t>랜카드</a:t>
            </a:r>
            <a:endParaRPr lang="en-US" altLang="ko-KR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4E27301-CE75-41C3-84CB-F36E08F67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663814"/>
              </p:ext>
            </p:extLst>
          </p:nvPr>
        </p:nvGraphicFramePr>
        <p:xfrm>
          <a:off x="1064568" y="3279264"/>
          <a:ext cx="28803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302686"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명령 프롬프트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cmd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C:\&gt;ipconfig 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입력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26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IP </a:t>
            </a:r>
            <a:r>
              <a:rPr lang="ko-KR" altLang="en-US" dirty="0"/>
              <a:t>주소와 포트</a:t>
            </a:r>
            <a:r>
              <a:rPr lang="en-US" altLang="ko-KR" dirty="0"/>
              <a:t>(Port)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4376936" y="3208632"/>
            <a:ext cx="4747673" cy="2740648"/>
            <a:chOff x="4953000" y="2200520"/>
            <a:chExt cx="4747673" cy="274064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000" y="3683759"/>
              <a:ext cx="4747672" cy="125740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06"/>
            <a:stretch/>
          </p:blipFill>
          <p:spPr>
            <a:xfrm>
              <a:off x="4953001" y="2200520"/>
              <a:ext cx="4747672" cy="1516512"/>
            </a:xfrm>
            <a:prstGeom prst="rect">
              <a:avLst/>
            </a:prstGeom>
          </p:spPr>
        </p:pic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CFA2B1E-51B4-4CF5-8AEB-41789E5DC707}"/>
              </a:ext>
            </a:extLst>
          </p:cNvPr>
          <p:cNvSpPr/>
          <p:nvPr/>
        </p:nvSpPr>
        <p:spPr>
          <a:xfrm>
            <a:off x="4160912" y="4941168"/>
            <a:ext cx="5169024" cy="1080120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32017" y="980728"/>
            <a:ext cx="1024639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IP </a:t>
            </a:r>
            <a:r>
              <a:rPr lang="ko-KR" altLang="en-US" sz="2000" b="1" dirty="0">
                <a:solidFill>
                  <a:srgbClr val="C00000"/>
                </a:solidFill>
              </a:rPr>
              <a:t>주소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34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9ABC36-31BE-4497-9B60-667A71552B32}"/>
              </a:ext>
            </a:extLst>
          </p:cNvPr>
          <p:cNvSpPr/>
          <p:nvPr/>
        </p:nvSpPr>
        <p:spPr>
          <a:xfrm>
            <a:off x="1134138" y="1514108"/>
            <a:ext cx="734725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같은 컴퓨터 내에서 프로그램을 식별하는 번호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클라이언트는 서버 연결 </a:t>
            </a:r>
            <a:r>
              <a:rPr lang="ko-KR" altLang="en-US" dirty="0" err="1"/>
              <a:t>요청시</a:t>
            </a:r>
            <a:r>
              <a:rPr lang="ko-KR" altLang="en-US" dirty="0"/>
              <a:t> </a:t>
            </a:r>
            <a:r>
              <a:rPr lang="en-US" altLang="ko-KR" dirty="0"/>
              <a:t>IP </a:t>
            </a:r>
            <a:r>
              <a:rPr lang="ko-KR" altLang="en-US" dirty="0"/>
              <a:t>주소와 </a:t>
            </a:r>
            <a:r>
              <a:rPr lang="en-US" altLang="ko-KR" dirty="0"/>
              <a:t>Port</a:t>
            </a:r>
            <a:r>
              <a:rPr lang="ko-KR" altLang="en-US" dirty="0"/>
              <a:t>를 같이 제공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포트번호의 전체 범위 </a:t>
            </a:r>
            <a:r>
              <a:rPr lang="en-US" altLang="ko-KR" dirty="0"/>
              <a:t>: 0 ~ 65535 </a:t>
            </a:r>
            <a:r>
              <a:rPr lang="ko-KR" altLang="en-US" dirty="0"/>
              <a:t>범위의 값을 가짐</a:t>
            </a:r>
            <a:endParaRPr lang="en-US" altLang="ko-KR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A15D0E0-2681-42E4-AB6F-0CB212DCA104}"/>
              </a:ext>
            </a:extLst>
          </p:cNvPr>
          <p:cNvSpPr/>
          <p:nvPr/>
        </p:nvSpPr>
        <p:spPr>
          <a:xfrm>
            <a:off x="1352600" y="3284984"/>
            <a:ext cx="2285963" cy="64051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클라이언트</a:t>
            </a:r>
            <a:endParaRPr lang="en-US" altLang="ko-KR" sz="1600" dirty="0"/>
          </a:p>
          <a:p>
            <a:pPr algn="ctr"/>
            <a:r>
              <a:rPr lang="ko-KR" altLang="en-US" sz="1400" dirty="0"/>
              <a:t>웹 브라우저 프로그램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F295422-A917-4260-82BE-DED03D5B1EB2}"/>
              </a:ext>
            </a:extLst>
          </p:cNvPr>
          <p:cNvSpPr/>
          <p:nvPr/>
        </p:nvSpPr>
        <p:spPr>
          <a:xfrm>
            <a:off x="1352600" y="4156639"/>
            <a:ext cx="2285963" cy="64051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클라이언트</a:t>
            </a:r>
            <a:endParaRPr lang="en-US" altLang="ko-KR" sz="1600" dirty="0"/>
          </a:p>
          <a:p>
            <a:pPr algn="ctr"/>
            <a:r>
              <a:rPr lang="en-US" altLang="ko-KR" sz="1400" dirty="0"/>
              <a:t>FTP </a:t>
            </a:r>
            <a:r>
              <a:rPr lang="ko-KR" altLang="en-US" sz="1400" dirty="0"/>
              <a:t>클라이언트 프로그램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F404127-FBEA-4C0D-9DCA-882095573D7E}"/>
              </a:ext>
            </a:extLst>
          </p:cNvPr>
          <p:cNvSpPr/>
          <p:nvPr/>
        </p:nvSpPr>
        <p:spPr>
          <a:xfrm>
            <a:off x="1352600" y="5092743"/>
            <a:ext cx="2285963" cy="64051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클라이언트</a:t>
            </a:r>
            <a:endParaRPr lang="en-US" altLang="ko-KR" sz="1600" dirty="0"/>
          </a:p>
          <a:p>
            <a:pPr algn="ctr"/>
            <a:r>
              <a:rPr lang="en-US" altLang="ko-KR" sz="1400" dirty="0"/>
              <a:t>DB </a:t>
            </a:r>
            <a:r>
              <a:rPr lang="ko-KR" altLang="en-US" sz="1400" dirty="0"/>
              <a:t>클라이언트 프로그램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B692E9-9456-4D2F-B6F7-1762DC41591B}"/>
              </a:ext>
            </a:extLst>
          </p:cNvPr>
          <p:cNvSpPr txBox="1"/>
          <p:nvPr/>
        </p:nvSpPr>
        <p:spPr>
          <a:xfrm>
            <a:off x="3782579" y="3234462"/>
            <a:ext cx="810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데이터</a:t>
            </a:r>
          </a:p>
        </p:txBody>
      </p:sp>
      <p:sp>
        <p:nvSpPr>
          <p:cNvPr id="26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IP </a:t>
            </a:r>
            <a:r>
              <a:rPr lang="ko-KR" altLang="en-US" dirty="0"/>
              <a:t>주소와 포트</a:t>
            </a:r>
            <a:r>
              <a:rPr lang="en-US" altLang="ko-KR" dirty="0"/>
              <a:t>(Port)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848544" y="980728"/>
            <a:ext cx="1394292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C00000"/>
                </a:solidFill>
              </a:rPr>
              <a:t>포트</a:t>
            </a:r>
            <a:r>
              <a:rPr lang="en-US" altLang="ko-KR" sz="2000" b="1" dirty="0">
                <a:solidFill>
                  <a:srgbClr val="C00000"/>
                </a:solidFill>
              </a:rPr>
              <a:t>(Port)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923903" y="2852936"/>
            <a:ext cx="2549377" cy="3096345"/>
            <a:chOff x="4923903" y="2852936"/>
            <a:chExt cx="2549377" cy="309634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EE2E02F-5B21-40EA-A1B6-E333F3FFCEA5}"/>
                </a:ext>
              </a:extLst>
            </p:cNvPr>
            <p:cNvSpPr/>
            <p:nvPr/>
          </p:nvSpPr>
          <p:spPr>
            <a:xfrm>
              <a:off x="4923903" y="2852936"/>
              <a:ext cx="2549377" cy="309634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F2BA6DB6-5547-4BE9-B4C7-FDC593DE2444}"/>
                </a:ext>
              </a:extLst>
            </p:cNvPr>
            <p:cNvSpPr/>
            <p:nvPr/>
          </p:nvSpPr>
          <p:spPr>
            <a:xfrm>
              <a:off x="5369840" y="3284984"/>
              <a:ext cx="1599384" cy="671119"/>
            </a:xfrm>
            <a:custGeom>
              <a:avLst/>
              <a:gdLst>
                <a:gd name="connsiteX0" fmla="*/ 8389 w 1350628"/>
                <a:gd name="connsiteY0" fmla="*/ 0 h 671119"/>
                <a:gd name="connsiteX1" fmla="*/ 1350628 w 1350628"/>
                <a:gd name="connsiteY1" fmla="*/ 0 h 671119"/>
                <a:gd name="connsiteX2" fmla="*/ 1350628 w 1350628"/>
                <a:gd name="connsiteY2" fmla="*/ 671119 h 671119"/>
                <a:gd name="connsiteX3" fmla="*/ 33556 w 1350628"/>
                <a:gd name="connsiteY3" fmla="*/ 671119 h 671119"/>
                <a:gd name="connsiteX4" fmla="*/ 33556 w 1350628"/>
                <a:gd name="connsiteY4" fmla="*/ 486562 h 671119"/>
                <a:gd name="connsiteX5" fmla="*/ 469784 w 1350628"/>
                <a:gd name="connsiteY5" fmla="*/ 486562 h 671119"/>
                <a:gd name="connsiteX6" fmla="*/ 469784 w 1350628"/>
                <a:gd name="connsiteY6" fmla="*/ 218114 h 671119"/>
                <a:gd name="connsiteX7" fmla="*/ 0 w 1350628"/>
                <a:gd name="connsiteY7" fmla="*/ 218114 h 671119"/>
                <a:gd name="connsiteX8" fmla="*/ 8389 w 1350628"/>
                <a:gd name="connsiteY8" fmla="*/ 0 h 67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628" h="671119">
                  <a:moveTo>
                    <a:pt x="8389" y="0"/>
                  </a:moveTo>
                  <a:lnTo>
                    <a:pt x="1350628" y="0"/>
                  </a:lnTo>
                  <a:lnTo>
                    <a:pt x="1350628" y="671119"/>
                  </a:lnTo>
                  <a:lnTo>
                    <a:pt x="33556" y="671119"/>
                  </a:lnTo>
                  <a:lnTo>
                    <a:pt x="33556" y="486562"/>
                  </a:lnTo>
                  <a:lnTo>
                    <a:pt x="469784" y="486562"/>
                  </a:lnTo>
                  <a:lnTo>
                    <a:pt x="469784" y="218114"/>
                  </a:lnTo>
                  <a:lnTo>
                    <a:pt x="0" y="218114"/>
                  </a:lnTo>
                  <a:lnTo>
                    <a:pt x="8389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    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E5AED0-5B7D-4D38-9EFC-4256066FC8CF}"/>
                </a:ext>
              </a:extLst>
            </p:cNvPr>
            <p:cNvSpPr txBox="1"/>
            <p:nvPr/>
          </p:nvSpPr>
          <p:spPr>
            <a:xfrm>
              <a:off x="6015277" y="3593189"/>
              <a:ext cx="8099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웹 서버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6B47079-8079-43E2-9C3B-0025972DFD3F}"/>
                </a:ext>
              </a:extLst>
            </p:cNvPr>
            <p:cNvSpPr txBox="1"/>
            <p:nvPr/>
          </p:nvSpPr>
          <p:spPr>
            <a:xfrm>
              <a:off x="5405131" y="3501008"/>
              <a:ext cx="51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(80)</a:t>
              </a:r>
              <a:endParaRPr lang="ko-KR" altLang="en-US" sz="1400" dirty="0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C2637FA2-4DDB-419A-8224-7DB9B4D3A114}"/>
                </a:ext>
              </a:extLst>
            </p:cNvPr>
            <p:cNvSpPr/>
            <p:nvPr/>
          </p:nvSpPr>
          <p:spPr>
            <a:xfrm>
              <a:off x="5369840" y="4150304"/>
              <a:ext cx="1599384" cy="671119"/>
            </a:xfrm>
            <a:custGeom>
              <a:avLst/>
              <a:gdLst>
                <a:gd name="connsiteX0" fmla="*/ 8389 w 1350628"/>
                <a:gd name="connsiteY0" fmla="*/ 0 h 671119"/>
                <a:gd name="connsiteX1" fmla="*/ 1350628 w 1350628"/>
                <a:gd name="connsiteY1" fmla="*/ 0 h 671119"/>
                <a:gd name="connsiteX2" fmla="*/ 1350628 w 1350628"/>
                <a:gd name="connsiteY2" fmla="*/ 671119 h 671119"/>
                <a:gd name="connsiteX3" fmla="*/ 33556 w 1350628"/>
                <a:gd name="connsiteY3" fmla="*/ 671119 h 671119"/>
                <a:gd name="connsiteX4" fmla="*/ 33556 w 1350628"/>
                <a:gd name="connsiteY4" fmla="*/ 486562 h 671119"/>
                <a:gd name="connsiteX5" fmla="*/ 469784 w 1350628"/>
                <a:gd name="connsiteY5" fmla="*/ 486562 h 671119"/>
                <a:gd name="connsiteX6" fmla="*/ 469784 w 1350628"/>
                <a:gd name="connsiteY6" fmla="*/ 218114 h 671119"/>
                <a:gd name="connsiteX7" fmla="*/ 0 w 1350628"/>
                <a:gd name="connsiteY7" fmla="*/ 218114 h 671119"/>
                <a:gd name="connsiteX8" fmla="*/ 8389 w 1350628"/>
                <a:gd name="connsiteY8" fmla="*/ 0 h 67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628" h="671119">
                  <a:moveTo>
                    <a:pt x="8389" y="0"/>
                  </a:moveTo>
                  <a:lnTo>
                    <a:pt x="1350628" y="0"/>
                  </a:lnTo>
                  <a:lnTo>
                    <a:pt x="1350628" y="671119"/>
                  </a:lnTo>
                  <a:lnTo>
                    <a:pt x="33556" y="671119"/>
                  </a:lnTo>
                  <a:lnTo>
                    <a:pt x="33556" y="486562"/>
                  </a:lnTo>
                  <a:lnTo>
                    <a:pt x="469784" y="486562"/>
                  </a:lnTo>
                  <a:lnTo>
                    <a:pt x="469784" y="218114"/>
                  </a:lnTo>
                  <a:lnTo>
                    <a:pt x="0" y="218114"/>
                  </a:lnTo>
                  <a:lnTo>
                    <a:pt x="8389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     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7F292F-2BDF-4D25-BEDB-267D2D77D212}"/>
                </a:ext>
              </a:extLst>
            </p:cNvPr>
            <p:cNvSpPr txBox="1"/>
            <p:nvPr/>
          </p:nvSpPr>
          <p:spPr>
            <a:xfrm>
              <a:off x="6036247" y="4334862"/>
              <a:ext cx="10049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FTP</a:t>
              </a:r>
              <a:r>
                <a:rPr lang="ko-KR" altLang="en-US" sz="1400" dirty="0"/>
                <a:t> 서버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D039EE-7704-40C8-BEC4-A5644417F29F}"/>
                </a:ext>
              </a:extLst>
            </p:cNvPr>
            <p:cNvSpPr txBox="1"/>
            <p:nvPr/>
          </p:nvSpPr>
          <p:spPr>
            <a:xfrm>
              <a:off x="5405132" y="4340012"/>
              <a:ext cx="610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(21)</a:t>
              </a:r>
              <a:endParaRPr lang="ko-KR" altLang="en-US" sz="1400" dirty="0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DC8C1602-DD5D-4F4C-B0DF-85CB2EF3FF08}"/>
                </a:ext>
              </a:extLst>
            </p:cNvPr>
            <p:cNvSpPr/>
            <p:nvPr/>
          </p:nvSpPr>
          <p:spPr>
            <a:xfrm>
              <a:off x="5369840" y="4990129"/>
              <a:ext cx="1599384" cy="671119"/>
            </a:xfrm>
            <a:custGeom>
              <a:avLst/>
              <a:gdLst>
                <a:gd name="connsiteX0" fmla="*/ 8389 w 1350628"/>
                <a:gd name="connsiteY0" fmla="*/ 0 h 671119"/>
                <a:gd name="connsiteX1" fmla="*/ 1350628 w 1350628"/>
                <a:gd name="connsiteY1" fmla="*/ 0 h 671119"/>
                <a:gd name="connsiteX2" fmla="*/ 1350628 w 1350628"/>
                <a:gd name="connsiteY2" fmla="*/ 671119 h 671119"/>
                <a:gd name="connsiteX3" fmla="*/ 33556 w 1350628"/>
                <a:gd name="connsiteY3" fmla="*/ 671119 h 671119"/>
                <a:gd name="connsiteX4" fmla="*/ 33556 w 1350628"/>
                <a:gd name="connsiteY4" fmla="*/ 486562 h 671119"/>
                <a:gd name="connsiteX5" fmla="*/ 469784 w 1350628"/>
                <a:gd name="connsiteY5" fmla="*/ 486562 h 671119"/>
                <a:gd name="connsiteX6" fmla="*/ 469784 w 1350628"/>
                <a:gd name="connsiteY6" fmla="*/ 218114 h 671119"/>
                <a:gd name="connsiteX7" fmla="*/ 0 w 1350628"/>
                <a:gd name="connsiteY7" fmla="*/ 218114 h 671119"/>
                <a:gd name="connsiteX8" fmla="*/ 8389 w 1350628"/>
                <a:gd name="connsiteY8" fmla="*/ 0 h 67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628" h="671119">
                  <a:moveTo>
                    <a:pt x="8389" y="0"/>
                  </a:moveTo>
                  <a:lnTo>
                    <a:pt x="1350628" y="0"/>
                  </a:lnTo>
                  <a:lnTo>
                    <a:pt x="1350628" y="671119"/>
                  </a:lnTo>
                  <a:lnTo>
                    <a:pt x="33556" y="671119"/>
                  </a:lnTo>
                  <a:lnTo>
                    <a:pt x="33556" y="486562"/>
                  </a:lnTo>
                  <a:lnTo>
                    <a:pt x="469784" y="486562"/>
                  </a:lnTo>
                  <a:lnTo>
                    <a:pt x="469784" y="218114"/>
                  </a:lnTo>
                  <a:lnTo>
                    <a:pt x="0" y="218114"/>
                  </a:lnTo>
                  <a:lnTo>
                    <a:pt x="8389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     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3237DB-DC0D-4E68-B440-2A3758D94A80}"/>
                </a:ext>
              </a:extLst>
            </p:cNvPr>
            <p:cNvSpPr txBox="1"/>
            <p:nvPr/>
          </p:nvSpPr>
          <p:spPr>
            <a:xfrm>
              <a:off x="6097946" y="5069361"/>
              <a:ext cx="7272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DBMS</a:t>
              </a:r>
              <a:endParaRPr lang="ko-KR" alt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CECCA40-9F23-42AE-97AC-A2BA03E6BD96}"/>
                </a:ext>
              </a:extLst>
            </p:cNvPr>
            <p:cNvSpPr txBox="1"/>
            <p:nvPr/>
          </p:nvSpPr>
          <p:spPr>
            <a:xfrm>
              <a:off x="5346092" y="5209455"/>
              <a:ext cx="759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(1521)</a:t>
              </a:r>
              <a:endParaRPr lang="ko-KR" altLang="en-US" sz="1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18006" y="2874422"/>
              <a:ext cx="8207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컴퓨터</a:t>
              </a:r>
            </a:p>
          </p:txBody>
        </p: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58A00DA-35BD-4135-923D-577AAEAB456D}"/>
              </a:ext>
            </a:extLst>
          </p:cNvPr>
          <p:cNvCxnSpPr>
            <a:cxnSpLocks/>
          </p:cNvCxnSpPr>
          <p:nvPr/>
        </p:nvCxnSpPr>
        <p:spPr>
          <a:xfrm flipH="1">
            <a:off x="3638563" y="3645024"/>
            <a:ext cx="173127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1F0AF8F-BF1A-4841-853E-BFF1D3B3CF5F}"/>
              </a:ext>
            </a:extLst>
          </p:cNvPr>
          <p:cNvCxnSpPr>
            <a:cxnSpLocks/>
          </p:cNvCxnSpPr>
          <p:nvPr/>
        </p:nvCxnSpPr>
        <p:spPr>
          <a:xfrm flipH="1">
            <a:off x="3638563" y="4512413"/>
            <a:ext cx="173127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F3F88F4-6994-40BC-9BFC-C5573B8E20CA}"/>
              </a:ext>
            </a:extLst>
          </p:cNvPr>
          <p:cNvCxnSpPr>
            <a:cxnSpLocks/>
          </p:cNvCxnSpPr>
          <p:nvPr/>
        </p:nvCxnSpPr>
        <p:spPr>
          <a:xfrm flipH="1">
            <a:off x="3638563" y="5373216"/>
            <a:ext cx="173127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13A55FD-1DA8-4925-B6EC-4DC3640927C3}"/>
              </a:ext>
            </a:extLst>
          </p:cNvPr>
          <p:cNvSpPr/>
          <p:nvPr/>
        </p:nvSpPr>
        <p:spPr>
          <a:xfrm>
            <a:off x="4736976" y="3439238"/>
            <a:ext cx="373855" cy="206464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네트워크</a:t>
            </a:r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r>
              <a:rPr lang="ko-KR" altLang="en-US" sz="1400" dirty="0"/>
              <a:t>어댑터</a:t>
            </a:r>
          </a:p>
        </p:txBody>
      </p:sp>
    </p:spTree>
    <p:extLst>
      <p:ext uri="{BB962C8B-B14F-4D97-AF65-F5344CB8AC3E}">
        <p14:creationId xmlns:p14="http://schemas.microsoft.com/office/powerpoint/2010/main" val="335080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9ABC36-31BE-4497-9B60-667A71552B32}"/>
              </a:ext>
            </a:extLst>
          </p:cNvPr>
          <p:cNvSpPr/>
          <p:nvPr/>
        </p:nvSpPr>
        <p:spPr>
          <a:xfrm>
            <a:off x="704528" y="1484784"/>
            <a:ext cx="89289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Port</a:t>
            </a:r>
            <a:r>
              <a:rPr lang="ko-KR" altLang="en-US" sz="1600" dirty="0"/>
              <a:t>는 운영체제가 관리하는 서버 프로그램의 연결 번호이다</a:t>
            </a:r>
            <a:r>
              <a:rPr lang="en-US" altLang="ko-KR" sz="1600" dirty="0"/>
              <a:t>. </a:t>
            </a:r>
            <a:r>
              <a:rPr lang="ko-KR" altLang="en-US" sz="1600" dirty="0"/>
              <a:t>서버는 시작할 때 </a:t>
            </a:r>
            <a:r>
              <a:rPr lang="en-US" altLang="ko-KR" sz="1600" dirty="0"/>
              <a:t>Port </a:t>
            </a:r>
            <a:r>
              <a:rPr lang="ko-KR" altLang="en-US" sz="1600" dirty="0"/>
              <a:t>번호에 바인딩한다</a:t>
            </a:r>
            <a:r>
              <a:rPr lang="en-US" altLang="ko-KR" sz="1600" dirty="0"/>
              <a:t>. </a:t>
            </a:r>
            <a:r>
              <a:rPr lang="ko-KR" altLang="en-US" sz="1600" dirty="0"/>
              <a:t>예를 들어 서버는 </a:t>
            </a:r>
            <a:r>
              <a:rPr lang="en-US" altLang="ko-KR" sz="1600" dirty="0"/>
              <a:t>80</a:t>
            </a:r>
            <a:r>
              <a:rPr lang="ko-KR" altLang="en-US" sz="1600" dirty="0"/>
              <a:t>번</a:t>
            </a:r>
            <a:r>
              <a:rPr lang="en-US" altLang="ko-KR" sz="1600" dirty="0"/>
              <a:t>, DBMS(MySQL)</a:t>
            </a:r>
            <a:r>
              <a:rPr lang="ko-KR" altLang="en-US" sz="1600" dirty="0"/>
              <a:t>는 </a:t>
            </a:r>
            <a:r>
              <a:rPr lang="en-US" altLang="ko-KR" sz="1600" dirty="0"/>
              <a:t>3306</a:t>
            </a:r>
            <a:r>
              <a:rPr lang="ko-KR" altLang="en-US" sz="1600" dirty="0"/>
              <a:t>번으로 바인딩 할 수 있음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클라이언트도 서버에서 보낸 정보를 받기 위해서는 </a:t>
            </a:r>
            <a:r>
              <a:rPr lang="en-US" altLang="ko-KR" sz="1600" dirty="0"/>
              <a:t>Port </a:t>
            </a:r>
            <a:r>
              <a:rPr lang="ko-KR" altLang="en-US" sz="1600" dirty="0"/>
              <a:t>번호가 필요한데</a:t>
            </a:r>
            <a:r>
              <a:rPr lang="en-US" altLang="ko-KR" sz="1600" dirty="0"/>
              <a:t>, </a:t>
            </a:r>
            <a:r>
              <a:rPr lang="ko-KR" altLang="en-US" sz="1600" dirty="0"/>
              <a:t>서버와 같이 고정적인 </a:t>
            </a:r>
            <a:r>
              <a:rPr lang="en-US" altLang="ko-KR" sz="1600" dirty="0"/>
              <a:t>Port </a:t>
            </a:r>
            <a:r>
              <a:rPr lang="ko-KR" altLang="en-US" sz="1600" dirty="0"/>
              <a:t>번호에 바인딩하는 것이 아니라 운영체제가 자동으로 부여하는 번호를 사용한다</a:t>
            </a:r>
            <a:r>
              <a:rPr lang="en-US" altLang="ko-KR" sz="1600" dirty="0"/>
              <a:t>. </a:t>
            </a:r>
          </a:p>
        </p:txBody>
      </p:sp>
      <p:sp>
        <p:nvSpPr>
          <p:cNvPr id="26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IP </a:t>
            </a:r>
            <a:r>
              <a:rPr lang="ko-KR" altLang="en-US" dirty="0"/>
              <a:t>주소와 포트</a:t>
            </a:r>
            <a:r>
              <a:rPr lang="en-US" altLang="ko-KR" dirty="0"/>
              <a:t>(Port)</a:t>
            </a:r>
            <a:endParaRPr lang="ko-KR" altLang="en-US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022029"/>
              </p:ext>
            </p:extLst>
          </p:nvPr>
        </p:nvGraphicFramePr>
        <p:xfrm>
          <a:off x="724055" y="3212977"/>
          <a:ext cx="8928992" cy="26687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304430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1546755">
                  <a:extLst>
                    <a:ext uri="{9D8B030D-6E8A-4147-A177-3AD203B41FA5}">
                      <a16:colId xmlns:a16="http://schemas.microsoft.com/office/drawing/2014/main" val="1867258205"/>
                    </a:ext>
                  </a:extLst>
                </a:gridCol>
                <a:gridCol w="4077807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3267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클래스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범위</a:t>
                      </a:r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용 도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58716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baseline="0" dirty="0">
                          <a:solidFill>
                            <a:schemeClr val="tx1"/>
                          </a:solidFill>
                        </a:rPr>
                        <a:t>잘 알려진 포트번호</a:t>
                      </a:r>
                      <a:endParaRPr lang="en-US" altLang="ko-KR" sz="16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(Well Know Port Numbers)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0~1023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국제인터넷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주소관리기구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(CANN)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가 특정 애플리케이션용으로 미리 예약한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Port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58716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예약된 포트번호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(Registered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Port Numbers)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1024~49151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회사에서 등록해서 사용할 수 있는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Port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1435050"/>
                  </a:ext>
                </a:extLst>
              </a:tr>
              <a:tr h="58716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동적인 또는 개인 포트번호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(Dynamic Or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Private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PortNumbers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49152~65535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운영체제가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부여하는 동적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Port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또는 개인목적으로 사용할 수 있는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Port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558907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48544" y="980728"/>
            <a:ext cx="1394292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C00000"/>
                </a:solidFill>
              </a:rPr>
              <a:t>포트</a:t>
            </a:r>
            <a:r>
              <a:rPr lang="en-US" altLang="ko-KR" sz="2000" b="1" dirty="0">
                <a:solidFill>
                  <a:srgbClr val="C00000"/>
                </a:solidFill>
              </a:rPr>
              <a:t>(Port)</a:t>
            </a:r>
          </a:p>
        </p:txBody>
      </p:sp>
    </p:spTree>
    <p:extLst>
      <p:ext uri="{BB962C8B-B14F-4D97-AF65-F5344CB8AC3E}">
        <p14:creationId xmlns:p14="http://schemas.microsoft.com/office/powerpoint/2010/main" val="301979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1136576" y="1520205"/>
            <a:ext cx="799288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/>
              <a:t>Java.net.InetAddress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IP </a:t>
            </a:r>
            <a:r>
              <a:rPr lang="ko-KR" altLang="en-US" sz="1600" dirty="0"/>
              <a:t>주소를 표현한 클래스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로컬 컴퓨터의 </a:t>
            </a:r>
            <a:r>
              <a:rPr lang="en-US" altLang="ko-KR" sz="1600" dirty="0"/>
              <a:t>IP </a:t>
            </a:r>
            <a:r>
              <a:rPr lang="ko-KR" altLang="en-US" sz="1600" dirty="0"/>
              <a:t>주소 </a:t>
            </a:r>
            <a:r>
              <a:rPr lang="ko-KR" altLang="en-US" sz="1600" dirty="0" err="1"/>
              <a:t>뿐아니라</a:t>
            </a:r>
            <a:r>
              <a:rPr lang="ko-KR" altLang="en-US" sz="1600" dirty="0"/>
              <a:t> 도메인 이름을 </a:t>
            </a:r>
            <a:r>
              <a:rPr lang="en-US" altLang="ko-KR" sz="1600" dirty="0"/>
              <a:t>DNS</a:t>
            </a:r>
            <a:r>
              <a:rPr lang="ko-KR" altLang="en-US" sz="1600" dirty="0"/>
              <a:t>에서 검색한 후 </a:t>
            </a:r>
            <a:r>
              <a:rPr lang="en-US" altLang="ko-KR" sz="1600" dirty="0"/>
              <a:t>IP </a:t>
            </a:r>
            <a:r>
              <a:rPr lang="ko-KR" altLang="en-US" sz="1600" dirty="0"/>
              <a:t>주소를 가져오는 기능 제공</a:t>
            </a:r>
            <a:r>
              <a:rPr lang="en-US" altLang="ko-KR" sz="1600" dirty="0"/>
              <a:t> (</a:t>
            </a:r>
            <a:r>
              <a:rPr lang="ko-KR" altLang="en-US" sz="1600" dirty="0"/>
              <a:t>예</a:t>
            </a:r>
            <a:r>
              <a:rPr lang="en-US" altLang="ko-KR" sz="1600" dirty="0"/>
              <a:t>. www.naver.com  -&gt; IP </a:t>
            </a:r>
            <a:r>
              <a:rPr lang="ko-KR" altLang="en-US" sz="1600" dirty="0"/>
              <a:t>주소</a:t>
            </a:r>
            <a:r>
              <a:rPr lang="en-US" altLang="ko-KR" sz="1600" dirty="0"/>
              <a:t>)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21D6C67-C25D-43E0-8D1D-D8C9EACF7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113629"/>
              </p:ext>
            </p:extLst>
          </p:nvPr>
        </p:nvGraphicFramePr>
        <p:xfrm>
          <a:off x="1376085" y="3284984"/>
          <a:ext cx="736985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854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1979802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로컬 컴퓨터에서 얻기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InetAddress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ia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InetAddress.getLocalHost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도메인 이름으로 얻기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InetAddress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ia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InetAddress.getByName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(String host)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InetAddress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[ ]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iaArr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InetAddress.getAllByName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(String host)</a:t>
                      </a:r>
                    </a:p>
                  </a:txBody>
                  <a:tcPr marL="74295" marR="7429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5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IP </a:t>
            </a:r>
            <a:r>
              <a:rPr lang="ko-KR" altLang="en-US" dirty="0"/>
              <a:t>주소와 포트</a:t>
            </a:r>
            <a:r>
              <a:rPr lang="en-US" altLang="ko-KR" dirty="0"/>
              <a:t>(Port)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32017" y="980728"/>
            <a:ext cx="577716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IP </a:t>
            </a:r>
            <a:r>
              <a:rPr lang="ko-KR" altLang="en-US" sz="2000" b="1" dirty="0">
                <a:solidFill>
                  <a:srgbClr val="C00000"/>
                </a:solidFill>
              </a:rPr>
              <a:t>주소 얻어 오기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3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IP </a:t>
            </a:r>
            <a:r>
              <a:rPr lang="ko-KR" altLang="en-US" dirty="0"/>
              <a:t>주소와 포트</a:t>
            </a:r>
            <a:r>
              <a:rPr lang="en-US" altLang="ko-KR" dirty="0"/>
              <a:t>(Port)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32017" y="930786"/>
            <a:ext cx="577716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IP </a:t>
            </a:r>
            <a:r>
              <a:rPr lang="ko-KR" altLang="en-US" sz="2000" b="1" dirty="0">
                <a:solidFill>
                  <a:srgbClr val="C00000"/>
                </a:solidFill>
              </a:rPr>
              <a:t>주소 얻어 오기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484784"/>
            <a:ext cx="7848872" cy="48799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968" y="5800811"/>
            <a:ext cx="4536504" cy="6211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3037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991574" y="1432382"/>
            <a:ext cx="81378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연결 지향적 프로토콜 </a:t>
            </a:r>
            <a:r>
              <a:rPr lang="en-US" altLang="ko-KR" sz="1600" dirty="0"/>
              <a:t>: </a:t>
            </a:r>
            <a:r>
              <a:rPr lang="ko-KR" altLang="en-US" sz="1600" dirty="0"/>
              <a:t>클라이언트와 서버가 연결된 상태에서 데이터를 주고 받는 프로토콜이다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데이터를 정확하고 안정적으로 전달</a:t>
            </a:r>
            <a:r>
              <a:rPr lang="en-US" altLang="ko-KR" sz="1600" dirty="0"/>
              <a:t> - </a:t>
            </a:r>
            <a:r>
              <a:rPr lang="ko-KR" altLang="en-US" sz="1600" dirty="0"/>
              <a:t>데이터를 순차적으로 보내고 받을 때도 순차적으로 받음</a:t>
            </a:r>
            <a:endParaRPr lang="en-US" altLang="ko-KR" sz="16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C1A821-18CD-43BC-9CCF-74501509A0F1}"/>
              </a:ext>
            </a:extLst>
          </p:cNvPr>
          <p:cNvSpPr/>
          <p:nvPr/>
        </p:nvSpPr>
        <p:spPr>
          <a:xfrm>
            <a:off x="991575" y="2987660"/>
            <a:ext cx="648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</a:rPr>
              <a:t>Java.net API – </a:t>
            </a:r>
            <a:r>
              <a:rPr lang="en-US" altLang="ko-KR" b="1" dirty="0" err="1">
                <a:solidFill>
                  <a:srgbClr val="C00000"/>
                </a:solidFill>
              </a:rPr>
              <a:t>ServerSocket</a:t>
            </a:r>
            <a:r>
              <a:rPr lang="en-US" altLang="ko-KR" b="1" dirty="0">
                <a:solidFill>
                  <a:srgbClr val="C00000"/>
                </a:solidFill>
              </a:rPr>
              <a:t> </a:t>
            </a:r>
            <a:r>
              <a:rPr lang="ko-KR" altLang="en-US" b="1" dirty="0">
                <a:solidFill>
                  <a:srgbClr val="C00000"/>
                </a:solidFill>
              </a:rPr>
              <a:t>클래스</a:t>
            </a:r>
            <a:r>
              <a:rPr lang="en-US" altLang="ko-KR" b="1" dirty="0">
                <a:solidFill>
                  <a:srgbClr val="C00000"/>
                </a:solidFill>
              </a:rPr>
              <a:t>,  Socket </a:t>
            </a:r>
            <a:r>
              <a:rPr lang="ko-KR" altLang="en-US" b="1" dirty="0">
                <a:solidFill>
                  <a:srgbClr val="C00000"/>
                </a:solidFill>
              </a:rPr>
              <a:t>클래스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43F0A5-8E41-4BAA-B231-7F2196BC12F8}"/>
              </a:ext>
            </a:extLst>
          </p:cNvPr>
          <p:cNvSpPr/>
          <p:nvPr/>
        </p:nvSpPr>
        <p:spPr>
          <a:xfrm>
            <a:off x="1638999" y="3482854"/>
            <a:ext cx="1511338" cy="26824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B8865-C4EA-4B67-953D-BB058C375791}"/>
              </a:ext>
            </a:extLst>
          </p:cNvPr>
          <p:cNvSpPr txBox="1"/>
          <p:nvPr/>
        </p:nvSpPr>
        <p:spPr>
          <a:xfrm>
            <a:off x="1657185" y="3603561"/>
            <a:ext cx="1279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클라이언트</a:t>
            </a:r>
            <a:endParaRPr lang="en-US" altLang="ko-KR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4263128-3C33-4B07-BBD2-882FA0379CAC}"/>
              </a:ext>
            </a:extLst>
          </p:cNvPr>
          <p:cNvSpPr/>
          <p:nvPr/>
        </p:nvSpPr>
        <p:spPr>
          <a:xfrm>
            <a:off x="4530674" y="3465070"/>
            <a:ext cx="2905831" cy="268244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9191A-A228-4BEE-A745-5E598F8C00C5}"/>
              </a:ext>
            </a:extLst>
          </p:cNvPr>
          <p:cNvSpPr txBox="1"/>
          <p:nvPr/>
        </p:nvSpPr>
        <p:spPr>
          <a:xfrm>
            <a:off x="4609860" y="3653894"/>
            <a:ext cx="63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서버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3833C-A975-4198-A5B9-AA76B1268BFA}"/>
              </a:ext>
            </a:extLst>
          </p:cNvPr>
          <p:cNvSpPr txBox="1"/>
          <p:nvPr/>
        </p:nvSpPr>
        <p:spPr>
          <a:xfrm>
            <a:off x="5924337" y="5430772"/>
            <a:ext cx="1548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② 연결 수락</a:t>
            </a:r>
            <a:endParaRPr lang="en-US" altLang="ko-KR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DE39BE-F42B-43CF-88C4-AB1F1308C487}"/>
              </a:ext>
            </a:extLst>
          </p:cNvPr>
          <p:cNvSpPr txBox="1"/>
          <p:nvPr/>
        </p:nvSpPr>
        <p:spPr>
          <a:xfrm>
            <a:off x="3153293" y="4093397"/>
            <a:ext cx="1367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① 연결 요청</a:t>
            </a:r>
            <a:endParaRPr lang="en-US" altLang="ko-KR" sz="14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03A4297-C2EC-4083-A229-9DA7688C45CB}"/>
              </a:ext>
            </a:extLst>
          </p:cNvPr>
          <p:cNvSpPr/>
          <p:nvPr/>
        </p:nvSpPr>
        <p:spPr>
          <a:xfrm>
            <a:off x="2012039" y="4023139"/>
            <a:ext cx="1068753" cy="8418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Socket</a:t>
            </a:r>
            <a:endParaRPr lang="ko-KR" altLang="en-US" sz="1400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94AA635-E693-46B5-81EB-8ABE6184977E}"/>
              </a:ext>
            </a:extLst>
          </p:cNvPr>
          <p:cNvSpPr/>
          <p:nvPr/>
        </p:nvSpPr>
        <p:spPr>
          <a:xfrm>
            <a:off x="4654411" y="5145217"/>
            <a:ext cx="1125910" cy="91214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Socket</a:t>
            </a:r>
            <a:endParaRPr lang="ko-KR" altLang="en-US" sz="1600" dirty="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96D07316-3962-4DE3-A9ED-DEF6DF377CAF}"/>
              </a:ext>
            </a:extLst>
          </p:cNvPr>
          <p:cNvSpPr/>
          <p:nvPr/>
        </p:nvSpPr>
        <p:spPr>
          <a:xfrm>
            <a:off x="5220119" y="3715517"/>
            <a:ext cx="1928353" cy="1213503"/>
          </a:xfrm>
          <a:custGeom>
            <a:avLst/>
            <a:gdLst>
              <a:gd name="connsiteX0" fmla="*/ 8389 w 1350628"/>
              <a:gd name="connsiteY0" fmla="*/ 0 h 671119"/>
              <a:gd name="connsiteX1" fmla="*/ 1350628 w 1350628"/>
              <a:gd name="connsiteY1" fmla="*/ 0 h 671119"/>
              <a:gd name="connsiteX2" fmla="*/ 1350628 w 1350628"/>
              <a:gd name="connsiteY2" fmla="*/ 671119 h 671119"/>
              <a:gd name="connsiteX3" fmla="*/ 33556 w 1350628"/>
              <a:gd name="connsiteY3" fmla="*/ 671119 h 671119"/>
              <a:gd name="connsiteX4" fmla="*/ 33556 w 1350628"/>
              <a:gd name="connsiteY4" fmla="*/ 486562 h 671119"/>
              <a:gd name="connsiteX5" fmla="*/ 469784 w 1350628"/>
              <a:gd name="connsiteY5" fmla="*/ 486562 h 671119"/>
              <a:gd name="connsiteX6" fmla="*/ 469784 w 1350628"/>
              <a:gd name="connsiteY6" fmla="*/ 218114 h 671119"/>
              <a:gd name="connsiteX7" fmla="*/ 0 w 1350628"/>
              <a:gd name="connsiteY7" fmla="*/ 218114 h 671119"/>
              <a:gd name="connsiteX8" fmla="*/ 8389 w 1350628"/>
              <a:gd name="connsiteY8" fmla="*/ 0 h 67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628" h="671119">
                <a:moveTo>
                  <a:pt x="8389" y="0"/>
                </a:moveTo>
                <a:lnTo>
                  <a:pt x="1350628" y="0"/>
                </a:lnTo>
                <a:lnTo>
                  <a:pt x="1350628" y="671119"/>
                </a:lnTo>
                <a:lnTo>
                  <a:pt x="33556" y="671119"/>
                </a:lnTo>
                <a:lnTo>
                  <a:pt x="33556" y="486562"/>
                </a:lnTo>
                <a:lnTo>
                  <a:pt x="469784" y="486562"/>
                </a:lnTo>
                <a:lnTo>
                  <a:pt x="469784" y="218114"/>
                </a:lnTo>
                <a:lnTo>
                  <a:pt x="0" y="218114"/>
                </a:lnTo>
                <a:lnTo>
                  <a:pt x="8389" y="0"/>
                </a:lnTo>
                <a:close/>
              </a:path>
            </a:pathLst>
          </a:cu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   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60A1B3-71F3-46BF-8626-A219952630EE}"/>
              </a:ext>
            </a:extLst>
          </p:cNvPr>
          <p:cNvSpPr txBox="1"/>
          <p:nvPr/>
        </p:nvSpPr>
        <p:spPr>
          <a:xfrm>
            <a:off x="5179000" y="3737727"/>
            <a:ext cx="1609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ServerSocket</a:t>
            </a:r>
            <a:endParaRPr lang="en-US" altLang="ko-KR" sz="16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E738D41-CD5C-4741-9EE0-CF7C2E2F3A6A}"/>
              </a:ext>
            </a:extLst>
          </p:cNvPr>
          <p:cNvCxnSpPr>
            <a:cxnSpLocks/>
          </p:cNvCxnSpPr>
          <p:nvPr/>
        </p:nvCxnSpPr>
        <p:spPr>
          <a:xfrm flipH="1">
            <a:off x="2918590" y="4392382"/>
            <a:ext cx="2802424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C931832-511A-4FED-9019-D82BE88C6762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2936776" y="4689206"/>
            <a:ext cx="1882521" cy="58959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73A01EF-08FB-46B6-AF07-B3C730EB4CE9}"/>
              </a:ext>
            </a:extLst>
          </p:cNvPr>
          <p:cNvSpPr txBox="1"/>
          <p:nvPr/>
        </p:nvSpPr>
        <p:spPr>
          <a:xfrm>
            <a:off x="3117616" y="5012540"/>
            <a:ext cx="1138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③ 통신</a:t>
            </a:r>
            <a:endParaRPr lang="en-US" altLang="ko-KR" sz="1400" dirty="0"/>
          </a:p>
        </p:txBody>
      </p:sp>
      <p:sp>
        <p:nvSpPr>
          <p:cNvPr id="25" name="제목 5"/>
          <p:cNvSpPr txBox="1">
            <a:spLocks/>
          </p:cNvSpPr>
          <p:nvPr/>
        </p:nvSpPr>
        <p:spPr>
          <a:xfrm>
            <a:off x="0" y="-27384"/>
            <a:ext cx="53130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TCP </a:t>
            </a:r>
            <a:r>
              <a:rPr lang="ko-KR" altLang="en-US" dirty="0"/>
              <a:t>네트워킹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832017" y="930786"/>
            <a:ext cx="5777167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TCP(Transmission Control Protocol)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996345" y="4126780"/>
            <a:ext cx="1008112" cy="39279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accept()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화살표: 아래로 구부러짐 2">
            <a:extLst>
              <a:ext uri="{FF2B5EF4-FFF2-40B4-BE49-F238E27FC236}">
                <a16:creationId xmlns:a16="http://schemas.microsoft.com/office/drawing/2014/main" id="{6FA2B8DA-222F-49FD-8975-1ED8B159AEE1}"/>
              </a:ext>
            </a:extLst>
          </p:cNvPr>
          <p:cNvSpPr/>
          <p:nvPr/>
        </p:nvSpPr>
        <p:spPr>
          <a:xfrm rot="7462106">
            <a:off x="5422660" y="4856862"/>
            <a:ext cx="1320446" cy="632010"/>
          </a:xfrm>
          <a:prstGeom prst="curvedDownArrow">
            <a:avLst>
              <a:gd name="adj1" fmla="val 25000"/>
              <a:gd name="adj2" fmla="val 55667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A74739-7361-4DDD-AF4D-E8330AA12647}"/>
              </a:ext>
            </a:extLst>
          </p:cNvPr>
          <p:cNvSpPr txBox="1"/>
          <p:nvPr/>
        </p:nvSpPr>
        <p:spPr>
          <a:xfrm>
            <a:off x="4921774" y="4206636"/>
            <a:ext cx="930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(50001)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47982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5"/>
          <p:cNvSpPr txBox="1">
            <a:spLocks/>
          </p:cNvSpPr>
          <p:nvPr/>
        </p:nvSpPr>
        <p:spPr>
          <a:xfrm>
            <a:off x="0" y="-27384"/>
            <a:ext cx="502500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TCP </a:t>
            </a:r>
            <a:r>
              <a:rPr lang="ko-KR" altLang="en-US" dirty="0"/>
              <a:t>네트워킹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1412776"/>
            <a:ext cx="9083827" cy="27205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0762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930786"/>
            <a:ext cx="709264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rgbClr val="C00000"/>
                </a:solidFill>
              </a:rPr>
              <a:t>ServerSocket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생성과 연결 수락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서버 프로그램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BEE36F3-F79F-4AF3-86D3-213473082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704913"/>
              </p:ext>
            </p:extLst>
          </p:nvPr>
        </p:nvGraphicFramePr>
        <p:xfrm>
          <a:off x="1000862" y="1412776"/>
          <a:ext cx="7552538" cy="4964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2538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4964049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</a:rPr>
                        <a:t>ServerSocket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생성과 포트 바인딩</a:t>
                      </a: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ServerSocket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serverSocket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= new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ServerSocket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(50001);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serverSocket.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</a:rPr>
                        <a:t>bind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(new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InetSocketAddress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(“localhost”, 50001);</a:t>
                      </a:r>
                    </a:p>
                    <a:p>
                      <a:pPr marL="0" indent="0">
                        <a:buNone/>
                      </a:pP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연결 수락</a:t>
                      </a: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try{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     Socket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socket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serverSocket.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}catch(Exception e){ }</a:t>
                      </a:r>
                    </a:p>
                    <a:p>
                      <a:pPr marL="0" indent="0">
                        <a:buNone/>
                      </a:pP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3.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연결된 클라이언트 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IP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주소 얻기</a:t>
                      </a: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InetSocketAddress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socketAddress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= 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en-US" altLang="ko-KR" sz="1800" b="0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en-US" altLang="ko-KR" sz="1800" b="0" dirty="0" err="1">
                          <a:solidFill>
                            <a:srgbClr val="002060"/>
                          </a:solidFill>
                        </a:rPr>
                        <a:t>InetSocketAddress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socket.getRemoteSocketAddress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pPr marL="0" indent="0">
                        <a:buNone/>
                      </a:pP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연결 끊기</a:t>
                      </a: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try{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   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serverSocket.close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}catch(Exception e){ }</a:t>
                      </a:r>
                    </a:p>
                  </a:txBody>
                  <a:tcPr marL="74295" marR="742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5" name="제목 5"/>
          <p:cNvSpPr txBox="1">
            <a:spLocks/>
          </p:cNvSpPr>
          <p:nvPr/>
        </p:nvSpPr>
        <p:spPr>
          <a:xfrm>
            <a:off x="0" y="-27384"/>
            <a:ext cx="86974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생성과 연결 수락</a:t>
            </a:r>
          </a:p>
        </p:txBody>
      </p:sp>
    </p:spTree>
    <p:extLst>
      <p:ext uri="{BB962C8B-B14F-4D97-AF65-F5344CB8AC3E}">
        <p14:creationId xmlns:p14="http://schemas.microsoft.com/office/powerpoint/2010/main" val="275022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7" y="930786"/>
            <a:ext cx="39242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C00000"/>
                </a:solidFill>
              </a:rPr>
              <a:t>연결 수락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서버 프로그램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8" name="제목 5"/>
          <p:cNvSpPr txBox="1">
            <a:spLocks/>
          </p:cNvSpPr>
          <p:nvPr/>
        </p:nvSpPr>
        <p:spPr>
          <a:xfrm>
            <a:off x="0" y="-27384"/>
            <a:ext cx="86974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연결 수락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150" y="1484784"/>
            <a:ext cx="7390974" cy="48176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3794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5"/>
          <p:cNvSpPr txBox="1">
            <a:spLocks/>
          </p:cNvSpPr>
          <p:nvPr/>
        </p:nvSpPr>
        <p:spPr>
          <a:xfrm>
            <a:off x="0" y="-27384"/>
            <a:ext cx="86974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연결 수락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052736"/>
            <a:ext cx="8817255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136" y="1340768"/>
            <a:ext cx="3346878" cy="12085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026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5"/>
          <p:cNvSpPr txBox="1">
            <a:spLocks/>
          </p:cNvSpPr>
          <p:nvPr/>
        </p:nvSpPr>
        <p:spPr>
          <a:xfrm>
            <a:off x="0" y="-27384"/>
            <a:ext cx="86974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연결 수락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196752"/>
            <a:ext cx="8424936" cy="46507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282" y="4643906"/>
            <a:ext cx="4996780" cy="15725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97016" y="4305352"/>
            <a:ext cx="4320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* q</a:t>
            </a:r>
            <a:r>
              <a:rPr lang="ko-KR" altLang="en-US" sz="1600" b="1" dirty="0">
                <a:solidFill>
                  <a:srgbClr val="FF0000"/>
                </a:solidFill>
              </a:rPr>
              <a:t>를 입력하면 </a:t>
            </a:r>
            <a:r>
              <a:rPr lang="en-US" altLang="ko-KR" sz="1600" b="1" dirty="0" err="1">
                <a:solidFill>
                  <a:srgbClr val="FF0000"/>
                </a:solidFill>
              </a:rPr>
              <a:t>SocketException</a:t>
            </a:r>
            <a:r>
              <a:rPr lang="en-US" altLang="ko-KR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</a:rPr>
              <a:t>발생함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 flipH="1" flipV="1">
            <a:off x="4520952" y="2852936"/>
            <a:ext cx="1296144" cy="13681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791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218818"/>
            <a:ext cx="709264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 Socket </a:t>
            </a:r>
            <a:r>
              <a:rPr lang="ko-KR" altLang="en-US" sz="2000" b="1" dirty="0">
                <a:solidFill>
                  <a:srgbClr val="C00000"/>
                </a:solidFill>
              </a:rPr>
              <a:t>생성과 연결 요청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소켓 클라이언트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BEE36F3-F79F-4AF3-86D3-213473082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73850"/>
              </p:ext>
            </p:extLst>
          </p:nvPr>
        </p:nvGraphicFramePr>
        <p:xfrm>
          <a:off x="920552" y="2136058"/>
          <a:ext cx="7552538" cy="2589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2538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2589086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1. Socket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생성과 포트 바인딩 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서버에 연결 요청</a:t>
                      </a: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     Socket socket = new Socket(“localhost”, 50001);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연결 끊기</a:t>
                      </a:r>
                      <a:endParaRPr lang="en-US" altLang="ko-KR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1" baseline="0" dirty="0" err="1">
                          <a:solidFill>
                            <a:schemeClr val="tx1"/>
                          </a:solidFill>
                        </a:rPr>
                        <a:t>socket.close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</a:rPr>
                        <a:t>();</a:t>
                      </a:r>
                      <a:endParaRPr lang="en-US" altLang="ko-K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5" name="제목 5"/>
          <p:cNvSpPr txBox="1">
            <a:spLocks/>
          </p:cNvSpPr>
          <p:nvPr/>
        </p:nvSpPr>
        <p:spPr>
          <a:xfrm>
            <a:off x="0" y="-27384"/>
            <a:ext cx="86974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TCP </a:t>
            </a:r>
            <a:r>
              <a:rPr lang="ko-KR" altLang="en-US" dirty="0"/>
              <a:t>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3070484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5"/>
          <p:cNvSpPr txBox="1">
            <a:spLocks/>
          </p:cNvSpPr>
          <p:nvPr/>
        </p:nvSpPr>
        <p:spPr>
          <a:xfrm>
            <a:off x="0" y="-27384"/>
            <a:ext cx="502500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Socket </a:t>
            </a:r>
            <a:r>
              <a:rPr lang="ko-KR" altLang="en-US" dirty="0"/>
              <a:t>연결 요청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124744"/>
            <a:ext cx="7787564" cy="46292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847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BEE36F3-F79F-4AF3-86D3-213473082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619076"/>
              </p:ext>
            </p:extLst>
          </p:nvPr>
        </p:nvGraphicFramePr>
        <p:xfrm>
          <a:off x="1234413" y="3933056"/>
          <a:ext cx="6192688" cy="2016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2688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2016224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//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</a:rPr>
                        <a:t>입력스트림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</a:rPr>
                        <a:t> 얻기</a:t>
                      </a:r>
                      <a:endParaRPr lang="en-US" altLang="ko-KR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is =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socket.getInputStream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//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</a:rPr>
                        <a:t>출력스트림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</a:rPr>
                        <a:t> 얻기</a:t>
                      </a:r>
                      <a:endParaRPr lang="en-US" altLang="ko-KR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OutputStream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os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</a:rPr>
                        <a:t>socket.getOutputStream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marL="74295" marR="742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A5BB2E4-146F-4558-B8C5-87FABB07E8E7}"/>
              </a:ext>
            </a:extLst>
          </p:cNvPr>
          <p:cNvSpPr/>
          <p:nvPr/>
        </p:nvSpPr>
        <p:spPr>
          <a:xfrm>
            <a:off x="1208584" y="1719063"/>
            <a:ext cx="2087402" cy="200755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188CA-6F43-41B3-831A-22B81AFC279F}"/>
              </a:ext>
            </a:extLst>
          </p:cNvPr>
          <p:cNvSpPr txBox="1"/>
          <p:nvPr/>
        </p:nvSpPr>
        <p:spPr>
          <a:xfrm>
            <a:off x="1712640" y="1825079"/>
            <a:ext cx="10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클라이언트</a:t>
            </a:r>
            <a:endParaRPr lang="en-US" altLang="ko-KR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5585B6E-8D26-4CDD-8AF6-4582B4EECB3E}"/>
              </a:ext>
            </a:extLst>
          </p:cNvPr>
          <p:cNvSpPr/>
          <p:nvPr/>
        </p:nvSpPr>
        <p:spPr>
          <a:xfrm>
            <a:off x="1657216" y="2206229"/>
            <a:ext cx="1135544" cy="107875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Socket</a:t>
            </a:r>
            <a:endParaRPr lang="ko-KR" altLang="en-US" sz="16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372A72B-E9BB-4F2A-8EDA-41A1FCF1BA36}"/>
              </a:ext>
            </a:extLst>
          </p:cNvPr>
          <p:cNvSpPr/>
          <p:nvPr/>
        </p:nvSpPr>
        <p:spPr>
          <a:xfrm>
            <a:off x="4728260" y="1719063"/>
            <a:ext cx="2096948" cy="200755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C6C28-DD7E-4EE2-A50D-ADD926305085}"/>
              </a:ext>
            </a:extLst>
          </p:cNvPr>
          <p:cNvSpPr txBox="1"/>
          <p:nvPr/>
        </p:nvSpPr>
        <p:spPr>
          <a:xfrm>
            <a:off x="5304803" y="1825079"/>
            <a:ext cx="872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서버</a:t>
            </a:r>
            <a:endParaRPr lang="en-US" altLang="ko-KR" sz="14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886D6AA-7026-4465-86F3-612008B979A8}"/>
              </a:ext>
            </a:extLst>
          </p:cNvPr>
          <p:cNvSpPr/>
          <p:nvPr/>
        </p:nvSpPr>
        <p:spPr>
          <a:xfrm>
            <a:off x="5166158" y="2262693"/>
            <a:ext cx="1154994" cy="107875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Socket</a:t>
            </a:r>
            <a:endParaRPr lang="ko-KR" altLang="en-US" sz="1600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AB34E92-C72A-4A73-A218-36CB30539E6B}"/>
              </a:ext>
            </a:extLst>
          </p:cNvPr>
          <p:cNvCxnSpPr>
            <a:cxnSpLocks/>
          </p:cNvCxnSpPr>
          <p:nvPr/>
        </p:nvCxnSpPr>
        <p:spPr>
          <a:xfrm>
            <a:off x="3145243" y="3165979"/>
            <a:ext cx="1799783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5D0BD37-CCB0-4E49-88F2-931FC5463D6A}"/>
              </a:ext>
            </a:extLst>
          </p:cNvPr>
          <p:cNvCxnSpPr>
            <a:cxnSpLocks/>
          </p:cNvCxnSpPr>
          <p:nvPr/>
        </p:nvCxnSpPr>
        <p:spPr>
          <a:xfrm>
            <a:off x="3145243" y="2419359"/>
            <a:ext cx="1799783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7BEF23FC-1117-4F19-A080-B57BD18612D8}"/>
              </a:ext>
            </a:extLst>
          </p:cNvPr>
          <p:cNvCxnSpPr>
            <a:cxnSpLocks/>
          </p:cNvCxnSpPr>
          <p:nvPr/>
        </p:nvCxnSpPr>
        <p:spPr>
          <a:xfrm rot="5400000">
            <a:off x="2964809" y="2441729"/>
            <a:ext cx="1985432" cy="490755"/>
          </a:xfrm>
          <a:prstGeom prst="curvedConnector3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19A6B65-2A2D-4F85-AD83-2093DF84B939}"/>
              </a:ext>
            </a:extLst>
          </p:cNvPr>
          <p:cNvSpPr txBox="1"/>
          <p:nvPr/>
        </p:nvSpPr>
        <p:spPr>
          <a:xfrm>
            <a:off x="2675331" y="1991040"/>
            <a:ext cx="1341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InputStream</a:t>
            </a:r>
            <a:endParaRPr lang="en-US" altLang="ko-K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919E4-171A-481D-B881-6B572B021F80}"/>
              </a:ext>
            </a:extLst>
          </p:cNvPr>
          <p:cNvSpPr txBox="1"/>
          <p:nvPr/>
        </p:nvSpPr>
        <p:spPr>
          <a:xfrm>
            <a:off x="4075742" y="1991040"/>
            <a:ext cx="1453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OutputStream</a:t>
            </a:r>
            <a:endParaRPr lang="en-US" altLang="ko-KR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7D17F5-5CFD-40A2-B729-B1ABDC60C953}"/>
              </a:ext>
            </a:extLst>
          </p:cNvPr>
          <p:cNvSpPr txBox="1"/>
          <p:nvPr/>
        </p:nvSpPr>
        <p:spPr>
          <a:xfrm>
            <a:off x="2640960" y="2738730"/>
            <a:ext cx="1519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OurputStream</a:t>
            </a:r>
            <a:endParaRPr lang="en-US" altLang="ko-KR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2878F8-0F16-4F00-9C34-41B4F7D3A304}"/>
              </a:ext>
            </a:extLst>
          </p:cNvPr>
          <p:cNvSpPr txBox="1"/>
          <p:nvPr/>
        </p:nvSpPr>
        <p:spPr>
          <a:xfrm>
            <a:off x="3940358" y="2738729"/>
            <a:ext cx="1372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InputStream</a:t>
            </a:r>
            <a:endParaRPr lang="en-US" altLang="ko-KR" sz="1400" dirty="0"/>
          </a:p>
        </p:txBody>
      </p:sp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588910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Socket </a:t>
            </a:r>
            <a:r>
              <a:rPr lang="ko-KR" altLang="en-US" dirty="0"/>
              <a:t>데이터 보내고 받기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002794"/>
            <a:ext cx="41403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Socket </a:t>
            </a:r>
            <a:r>
              <a:rPr lang="ko-KR" altLang="en-US" sz="2000" b="1" dirty="0">
                <a:solidFill>
                  <a:srgbClr val="C00000"/>
                </a:solidFill>
              </a:rPr>
              <a:t>데이터 통신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44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2CF2A5-3E14-4636-9FAA-47122D3D3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967232"/>
              </p:ext>
            </p:extLst>
          </p:nvPr>
        </p:nvGraphicFramePr>
        <p:xfrm>
          <a:off x="1064568" y="1484784"/>
          <a:ext cx="6840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760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2016224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데이터 보내기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쓰기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String data = “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보낼 데이터“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byte[ ] bytes =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data.getBytes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(“UTF-8”);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OutputStream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os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socket.getOutputStream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os.write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(bytes);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os.flush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marL="74295" marR="74295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3187F24-0548-479A-8E5B-48FDB16B8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918330"/>
              </p:ext>
            </p:extLst>
          </p:nvPr>
        </p:nvGraphicFramePr>
        <p:xfrm>
          <a:off x="1064568" y="3995896"/>
          <a:ext cx="6912768" cy="231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2768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2313424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데이터 받기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읽기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byte[ ] bytes = new byte[100];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socket.getInputStream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int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readByteCount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inputStream.read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(bytes);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   String data = new String(bytes, 0,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readByteCount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“UTF-8”)</a:t>
                      </a:r>
                    </a:p>
                  </a:txBody>
                  <a:tcPr marL="74295" marR="74295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588910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Socket </a:t>
            </a:r>
            <a:r>
              <a:rPr lang="ko-KR" altLang="en-US" dirty="0"/>
              <a:t>데이터 보내고 받기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002794"/>
            <a:ext cx="4140315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Socket </a:t>
            </a:r>
            <a:r>
              <a:rPr lang="ko-KR" altLang="en-US" sz="2000" b="1" dirty="0">
                <a:solidFill>
                  <a:srgbClr val="C00000"/>
                </a:solidFill>
              </a:rPr>
              <a:t>데이터 통신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64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588910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Socket </a:t>
            </a:r>
            <a:r>
              <a:rPr lang="ko-KR" altLang="en-US" dirty="0"/>
              <a:t>데이터 보내고 받기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1484784"/>
            <a:ext cx="9273480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2088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869741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데이터 보내고 받기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002794"/>
            <a:ext cx="65885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Socket </a:t>
            </a:r>
            <a:r>
              <a:rPr lang="ko-KR" altLang="en-US" sz="2000" b="1" dirty="0">
                <a:solidFill>
                  <a:srgbClr val="C00000"/>
                </a:solidFill>
              </a:rPr>
              <a:t>데이터 통신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서버 프로그램 </a:t>
            </a:r>
            <a:r>
              <a:rPr lang="en-US" altLang="ko-KR" sz="2000" b="1" dirty="0">
                <a:solidFill>
                  <a:srgbClr val="C00000"/>
                </a:solidFill>
              </a:rPr>
              <a:t>(EcoServer.java)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556792"/>
            <a:ext cx="7984221" cy="46173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5892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840938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데이터 보내고 받기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146810"/>
            <a:ext cx="78127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C00000"/>
                </a:solidFill>
              </a:rPr>
              <a:t>보조 스트림 사용하기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en-US" altLang="ko-KR" sz="2000" b="1" dirty="0" err="1">
                <a:solidFill>
                  <a:srgbClr val="C00000"/>
                </a:solidFill>
              </a:rPr>
              <a:t>DataInputStream</a:t>
            </a:r>
            <a:r>
              <a:rPr lang="en-US" altLang="ko-KR" sz="2000" b="1" dirty="0">
                <a:solidFill>
                  <a:srgbClr val="C00000"/>
                </a:solidFill>
              </a:rPr>
              <a:t>, </a:t>
            </a:r>
            <a:r>
              <a:rPr lang="en-US" altLang="ko-KR" sz="2000" b="1" dirty="0" err="1">
                <a:solidFill>
                  <a:srgbClr val="C00000"/>
                </a:solidFill>
              </a:rPr>
              <a:t>DataOutputStream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76" y="1902854"/>
            <a:ext cx="8382726" cy="2606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6949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588910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Socket </a:t>
            </a:r>
            <a:r>
              <a:rPr lang="ko-KR" altLang="en-US" dirty="0"/>
              <a:t>데이터 보내고 받기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002794"/>
            <a:ext cx="74526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Socket </a:t>
            </a:r>
            <a:r>
              <a:rPr lang="ko-KR" altLang="en-US" sz="2000" b="1" dirty="0">
                <a:solidFill>
                  <a:srgbClr val="C00000"/>
                </a:solidFill>
              </a:rPr>
              <a:t>데이터 통신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클라이언트 프로그램</a:t>
            </a:r>
            <a:r>
              <a:rPr lang="en-US" altLang="ko-KR" sz="2000" b="1" dirty="0">
                <a:solidFill>
                  <a:srgbClr val="C00000"/>
                </a:solidFill>
              </a:rPr>
              <a:t>(EcoClient.java)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567137"/>
            <a:ext cx="7792540" cy="45741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4587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0" y="-27384"/>
            <a:ext cx="588910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Socket </a:t>
            </a:r>
            <a:r>
              <a:rPr lang="ko-KR" altLang="en-US" dirty="0"/>
              <a:t>데이터 보내고 받기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060848"/>
            <a:ext cx="8268417" cy="29568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26E4A1-E293-4487-AFAD-36EFDD53D5D0}"/>
              </a:ext>
            </a:extLst>
          </p:cNvPr>
          <p:cNvSpPr/>
          <p:nvPr/>
        </p:nvSpPr>
        <p:spPr>
          <a:xfrm>
            <a:off x="740676" y="1146810"/>
            <a:ext cx="78127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C00000"/>
                </a:solidFill>
              </a:rPr>
              <a:t>보조 스트림 사용하기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en-US" altLang="ko-KR" sz="2000" b="1" dirty="0" err="1">
                <a:solidFill>
                  <a:srgbClr val="C00000"/>
                </a:solidFill>
              </a:rPr>
              <a:t>DataInputStream</a:t>
            </a:r>
            <a:r>
              <a:rPr lang="en-US" altLang="ko-KR" sz="2000" b="1" dirty="0">
                <a:solidFill>
                  <a:srgbClr val="C00000"/>
                </a:solidFill>
              </a:rPr>
              <a:t>, </a:t>
            </a:r>
            <a:r>
              <a:rPr lang="en-US" altLang="ko-KR" sz="2000" b="1" dirty="0" err="1">
                <a:solidFill>
                  <a:srgbClr val="C00000"/>
                </a:solidFill>
              </a:rPr>
              <a:t>DataOutputStream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77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12081</TotalTime>
  <Words>1005</Words>
  <Application>Microsoft Office PowerPoint</Application>
  <PresentationFormat>A4 용지(210x297mm)</PresentationFormat>
  <Paragraphs>179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12장- 네트워크 프로그래밍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722</cp:revision>
  <dcterms:created xsi:type="dcterms:W3CDTF">2019-03-04T02:36:55Z</dcterms:created>
  <dcterms:modified xsi:type="dcterms:W3CDTF">2026-07-28T06:34:18Z</dcterms:modified>
</cp:coreProperties>
</file>