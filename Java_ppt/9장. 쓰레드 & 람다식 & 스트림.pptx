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3"/>
  </p:notesMasterIdLst>
  <p:sldIdLst>
    <p:sldId id="256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305" r:id="rId37"/>
    <p:sldId id="306" r:id="rId38"/>
    <p:sldId id="307" r:id="rId39"/>
    <p:sldId id="308" r:id="rId40"/>
    <p:sldId id="309" r:id="rId41"/>
    <p:sldId id="310" r:id="rId42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4660"/>
  </p:normalViewPr>
  <p:slideViewPr>
    <p:cSldViewPr>
      <p:cViewPr varScale="1">
        <p:scale>
          <a:sx n="84" d="100"/>
          <a:sy n="84" d="100"/>
        </p:scale>
        <p:origin x="1238" y="91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5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/>
              <a:t> 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-39555" y="6381328"/>
            <a:ext cx="9945555" cy="476672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9906000" cy="836712"/>
          </a:xfrm>
          <a:prstGeom prst="rect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  마스터 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53433" y="6453337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2050" name="Picture 2" descr="javaì ëí ì´ë¯¸ì§ ê²ìê²°ê³¼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52" y="5933989"/>
            <a:ext cx="685900" cy="6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7050783" cy="1226567"/>
          </a:xfrm>
        </p:spPr>
        <p:txBody>
          <a:bodyPr>
            <a:normAutofit/>
          </a:bodyPr>
          <a:lstStyle/>
          <a:p>
            <a:r>
              <a:rPr lang="en-US" altLang="ko-KR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9</a:t>
            </a:r>
            <a:r>
              <a:rPr lang="ko-KR" altLang="en-US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</a:t>
            </a:r>
            <a:r>
              <a:rPr lang="ko-KR" altLang="en-US" b="1" dirty="0" err="1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람다식</a:t>
            </a:r>
            <a:r>
              <a:rPr lang="ko-KR" altLang="en-US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en-US" altLang="ko-KR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&amp; </a:t>
            </a:r>
            <a:r>
              <a:rPr lang="ko-KR" altLang="en-US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스트림 </a:t>
            </a:r>
            <a:r>
              <a:rPr lang="en-US" altLang="ko-KR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&amp;</a:t>
            </a:r>
            <a:r>
              <a:rPr lang="ko-KR" altLang="en-US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ko-KR" altLang="en-US" b="1" dirty="0" err="1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쓰레드</a:t>
            </a:r>
            <a:endParaRPr lang="ko-KR" altLang="en-US" b="1" dirty="0">
              <a:solidFill>
                <a:schemeClr val="tx1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75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2000" i="1" dirty="0">
                <a:solidFill>
                  <a:schemeClr val="bg1"/>
                </a:solidFill>
              </a:rPr>
              <a:t> Lambda &amp; Stream &amp; </a:t>
            </a:r>
            <a:r>
              <a:rPr lang="en-US" altLang="ko-KR" sz="1600" i="1" dirty="0">
                <a:solidFill>
                  <a:schemeClr val="bg1"/>
                </a:solidFill>
              </a:rPr>
              <a:t>Thread</a:t>
            </a:r>
            <a:r>
              <a:rPr lang="en-US" altLang="ko-KR" sz="1600" dirty="0">
                <a:solidFill>
                  <a:schemeClr val="bg1"/>
                </a:solidFill>
              </a:rPr>
              <a:t> </a:t>
            </a:r>
            <a:endParaRPr lang="ko-KR" altLang="en-US" sz="1600" i="1" dirty="0">
              <a:solidFill>
                <a:schemeClr val="bg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5" name="Picture 2" descr="javaì ëí ì´ë¯¸ì§ ê²ìê²°ê³¼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056" y="3645024"/>
            <a:ext cx="4078760" cy="2447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람다식</a:t>
            </a:r>
            <a:r>
              <a:rPr lang="en-US" altLang="ko-KR" dirty="0"/>
              <a:t>(lambda expression)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648047" y="944668"/>
            <a:ext cx="8337401" cy="356445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1800" b="1" dirty="0">
                <a:solidFill>
                  <a:srgbClr val="C00000"/>
                </a:solidFill>
              </a:rPr>
              <a:t>   </a:t>
            </a:r>
            <a:r>
              <a:rPr lang="ko-KR" altLang="en-US" sz="2000" b="1" dirty="0">
                <a:solidFill>
                  <a:srgbClr val="C00000"/>
                </a:solidFill>
              </a:rPr>
              <a:t>함수형 프로그래밍과 </a:t>
            </a:r>
            <a:r>
              <a:rPr lang="ko-KR" altLang="en-US" sz="2000" b="1" dirty="0" err="1">
                <a:solidFill>
                  <a:srgbClr val="C00000"/>
                </a:solidFill>
              </a:rPr>
              <a:t>람다식</a:t>
            </a:r>
            <a:endParaRPr lang="en-US" altLang="ko-KR" sz="18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+mn-ea"/>
              </a:rPr>
              <a:t>자바는 객체를 기반으로 프로그램을 구현하며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어떤 기능이 필요하다면 클래스를 만들고 그 안에 기능을 구현한 </a:t>
            </a:r>
            <a:r>
              <a:rPr lang="ko-KR" altLang="en-US" sz="1600" dirty="0" err="1">
                <a:latin typeface="+mn-ea"/>
              </a:rPr>
              <a:t>메서드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함수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를 만든 후 사용한다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+mn-ea"/>
              </a:rPr>
              <a:t>그러므로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클래스가 없다면 </a:t>
            </a:r>
            <a:r>
              <a:rPr lang="ko-KR" altLang="en-US" sz="1600" dirty="0" err="1">
                <a:latin typeface="+mn-ea"/>
              </a:rPr>
              <a:t>메서드를</a:t>
            </a:r>
            <a:r>
              <a:rPr lang="ko-KR" altLang="en-US" sz="1600" dirty="0">
                <a:latin typeface="+mn-ea"/>
              </a:rPr>
              <a:t> 사용할 수 없다</a:t>
            </a:r>
            <a:r>
              <a:rPr lang="en-US" altLang="ko-KR" sz="1600" dirty="0">
                <a:latin typeface="+mn-ea"/>
              </a:rPr>
              <a:t>.</a:t>
            </a:r>
            <a:r>
              <a:rPr lang="ko-KR" altLang="en-US" sz="1600" dirty="0">
                <a:latin typeface="+mn-ea"/>
              </a:rPr>
              <a:t> </a:t>
            </a:r>
            <a:endParaRPr lang="en-US" altLang="ko-KR" sz="16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b="1" dirty="0"/>
              <a:t>자바 </a:t>
            </a:r>
            <a:r>
              <a:rPr lang="en-US" altLang="ko-KR" sz="1600" b="1" dirty="0"/>
              <a:t>8</a:t>
            </a:r>
            <a:r>
              <a:rPr lang="ko-KR" altLang="en-US" sz="1600" b="1" dirty="0"/>
              <a:t>이후부터 사용할 수 있는 </a:t>
            </a:r>
            <a:r>
              <a:rPr lang="ko-KR" altLang="en-US" sz="1600" b="1" dirty="0" err="1"/>
              <a:t>람다식은</a:t>
            </a:r>
            <a:r>
              <a:rPr lang="ko-KR" altLang="en-US" sz="1600" b="1" dirty="0"/>
              <a:t> 객체 없이 인터페이스의 구현만으로 </a:t>
            </a:r>
            <a:r>
              <a:rPr lang="ko-KR" altLang="en-US" sz="1600" b="1" dirty="0" err="1"/>
              <a:t>메서드를</a:t>
            </a:r>
            <a:r>
              <a:rPr lang="ko-KR" altLang="en-US" sz="1600" b="1" dirty="0"/>
              <a:t> 호출할 </a:t>
            </a:r>
            <a:r>
              <a:rPr lang="ko-KR" altLang="en-US" sz="1600" b="1" dirty="0" err="1"/>
              <a:t>수있다</a:t>
            </a:r>
            <a:r>
              <a:rPr lang="en-US" altLang="ko-KR" sz="1600" b="1" dirty="0"/>
              <a:t>.</a:t>
            </a:r>
            <a:endParaRPr lang="en-US" altLang="ko-KR" sz="1800" b="1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800" b="1" dirty="0">
                <a:solidFill>
                  <a:srgbClr val="C00000"/>
                </a:solidFill>
                <a:latin typeface="+mn-ea"/>
              </a:rPr>
              <a:t>   </a:t>
            </a:r>
            <a:r>
              <a:rPr lang="ko-KR" altLang="en-US" sz="2000" b="1" dirty="0" err="1">
                <a:solidFill>
                  <a:srgbClr val="C00000"/>
                </a:solidFill>
                <a:latin typeface="+mn-ea"/>
              </a:rPr>
              <a:t>람다식</a:t>
            </a:r>
            <a:r>
              <a:rPr lang="ko-KR" altLang="en-US" sz="2000" b="1" dirty="0">
                <a:solidFill>
                  <a:srgbClr val="C00000"/>
                </a:solidFill>
                <a:latin typeface="+mn-ea"/>
              </a:rPr>
              <a:t> 구현하기</a:t>
            </a:r>
            <a:endParaRPr lang="en-US" altLang="ko-KR" sz="1800" b="1" dirty="0">
              <a:solidFill>
                <a:srgbClr val="C00000"/>
              </a:solidFill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dirty="0"/>
              <a:t>함수</a:t>
            </a:r>
            <a:r>
              <a:rPr lang="en-US" altLang="ko-KR" sz="1600" dirty="0"/>
              <a:t> </a:t>
            </a:r>
            <a:r>
              <a:rPr lang="ko-KR" altLang="en-US" sz="1600" dirty="0"/>
              <a:t>이름이 없는 </a:t>
            </a:r>
            <a:r>
              <a:rPr lang="ko-KR" altLang="en-US" sz="1600" b="1" dirty="0"/>
              <a:t>익명 함수</a:t>
            </a:r>
            <a:r>
              <a:rPr lang="ko-KR" altLang="en-US" sz="1600" dirty="0"/>
              <a:t>를 만드는 것으로 익명 객체 구현</a:t>
            </a:r>
            <a:r>
              <a:rPr lang="en-US" altLang="ko-KR" sz="16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 err="1"/>
              <a:t>표현식</a:t>
            </a:r>
            <a:r>
              <a:rPr lang="ko-KR" altLang="en-US" sz="1600" b="1" dirty="0"/>
              <a:t> </a:t>
            </a:r>
            <a:r>
              <a:rPr lang="en-US" altLang="ko-KR" sz="1600" dirty="0"/>
              <a:t>:</a:t>
            </a:r>
            <a:r>
              <a:rPr lang="en-US" altLang="ko-KR" sz="1600" b="1" dirty="0"/>
              <a:t> (</a:t>
            </a:r>
            <a:r>
              <a:rPr lang="ko-KR" altLang="en-US" sz="1600" b="1" dirty="0"/>
              <a:t>매개변수</a:t>
            </a:r>
            <a:r>
              <a:rPr lang="en-US" altLang="ko-KR" sz="1600" b="1" dirty="0"/>
              <a:t>) -&gt; { </a:t>
            </a:r>
            <a:r>
              <a:rPr lang="ko-KR" altLang="en-US" sz="1600" b="1" dirty="0" err="1"/>
              <a:t>실행문</a:t>
            </a:r>
            <a:r>
              <a:rPr lang="en-US" altLang="ko-KR" sz="1600" b="1" dirty="0"/>
              <a:t>; }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916663" y="4941168"/>
            <a:ext cx="3280591" cy="96503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>
                <a:latin typeface="+mn-ea"/>
              </a:rPr>
              <a:t>  </a:t>
            </a:r>
            <a:r>
              <a:rPr lang="en-US" altLang="ko-KR" dirty="0" err="1">
                <a:latin typeface="+mn-ea"/>
              </a:rPr>
              <a:t>int</a:t>
            </a:r>
            <a:r>
              <a:rPr lang="en-US" altLang="ko-KR" dirty="0">
                <a:latin typeface="+mn-ea"/>
              </a:rPr>
              <a:t> add(</a:t>
            </a:r>
            <a:r>
              <a:rPr lang="en-US" altLang="ko-KR" dirty="0" err="1">
                <a:latin typeface="+mn-ea"/>
              </a:rPr>
              <a:t>int</a:t>
            </a:r>
            <a:r>
              <a:rPr lang="en-US" altLang="ko-KR" dirty="0">
                <a:latin typeface="+mn-ea"/>
              </a:rPr>
              <a:t> x, </a:t>
            </a:r>
            <a:r>
              <a:rPr lang="en-US" altLang="ko-KR" dirty="0" err="1">
                <a:latin typeface="+mn-ea"/>
              </a:rPr>
              <a:t>int</a:t>
            </a:r>
            <a:r>
              <a:rPr lang="en-US" altLang="ko-KR" dirty="0">
                <a:latin typeface="+mn-ea"/>
              </a:rPr>
              <a:t> y){</a:t>
            </a:r>
          </a:p>
          <a:p>
            <a:r>
              <a:rPr lang="en-US" altLang="ko-KR" dirty="0">
                <a:latin typeface="+mn-ea"/>
              </a:rPr>
              <a:t>    return x + y;</a:t>
            </a:r>
          </a:p>
          <a:p>
            <a:r>
              <a:rPr lang="en-US" altLang="ko-KR" dirty="0">
                <a:latin typeface="+mn-ea"/>
              </a:rPr>
              <a:t>  }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6052896" y="5171658"/>
            <a:ext cx="1912439" cy="47512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>
                <a:latin typeface="+mn-ea"/>
              </a:rPr>
              <a:t>(x, y) -&gt;  x + y</a:t>
            </a:r>
          </a:p>
        </p:txBody>
      </p:sp>
      <p:sp>
        <p:nvSpPr>
          <p:cNvPr id="2" name="오른쪽 화살표 1"/>
          <p:cNvSpPr/>
          <p:nvPr/>
        </p:nvSpPr>
        <p:spPr>
          <a:xfrm>
            <a:off x="5373047" y="5301208"/>
            <a:ext cx="504056" cy="216024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462743" y="6006825"/>
            <a:ext cx="1944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일반 </a:t>
            </a:r>
            <a:r>
              <a:rPr lang="ko-KR" altLang="en-US" sz="1600" dirty="0" err="1"/>
              <a:t>메서드</a:t>
            </a:r>
            <a:r>
              <a:rPr lang="en-US" altLang="ko-KR" sz="1600" dirty="0"/>
              <a:t>(</a:t>
            </a:r>
            <a:r>
              <a:rPr lang="ko-KR" altLang="en-US" sz="1600" dirty="0"/>
              <a:t>함수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631073" y="5721538"/>
            <a:ext cx="9022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/>
              <a:t>람다식</a:t>
            </a:r>
            <a:r>
              <a:rPr lang="ko-KR" alt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23078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람다식</a:t>
            </a:r>
            <a:r>
              <a:rPr lang="en-US" altLang="ko-KR" dirty="0"/>
              <a:t>(lambda expression)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660049" y="980728"/>
            <a:ext cx="9045479" cy="4320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1800" b="1" dirty="0">
                <a:solidFill>
                  <a:srgbClr val="C00000"/>
                </a:solidFill>
              </a:rPr>
              <a:t>    </a:t>
            </a:r>
            <a:r>
              <a:rPr lang="ko-KR" altLang="en-US" sz="2000" b="1" dirty="0" err="1">
                <a:solidFill>
                  <a:srgbClr val="C00000"/>
                </a:solidFill>
              </a:rPr>
              <a:t>람다식</a:t>
            </a:r>
            <a:r>
              <a:rPr lang="ko-KR" altLang="en-US" sz="2000" b="1" dirty="0">
                <a:solidFill>
                  <a:srgbClr val="C00000"/>
                </a:solidFill>
              </a:rPr>
              <a:t> 문법 살펴보기</a:t>
            </a:r>
            <a:endParaRPr lang="en-US" altLang="ko-KR" sz="1800" b="1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ko-KR" altLang="en-US" sz="1600" b="1" dirty="0">
                <a:latin typeface="+mn-ea"/>
              </a:rPr>
              <a:t>매개변수 </a:t>
            </a:r>
            <a:r>
              <a:rPr lang="ko-KR" altLang="en-US" sz="1600" b="1" dirty="0" err="1">
                <a:latin typeface="+mn-ea"/>
              </a:rPr>
              <a:t>자료형과</a:t>
            </a:r>
            <a:r>
              <a:rPr lang="ko-KR" altLang="en-US" sz="1600" b="1" dirty="0">
                <a:latin typeface="+mn-ea"/>
              </a:rPr>
              <a:t> 괄호 생략하기 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매개변수가 하나인 경우 괄호 생략</a:t>
            </a:r>
            <a:endParaRPr lang="en-US" altLang="ko-KR" sz="1600" dirty="0">
              <a:latin typeface="+mn-ea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800" dirty="0">
              <a:latin typeface="+mn-ea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800" dirty="0">
              <a:latin typeface="+mn-ea"/>
            </a:endParaRPr>
          </a:p>
          <a:p>
            <a:pPr lvl="1">
              <a:lnSpc>
                <a:spcPct val="100000"/>
              </a:lnSpc>
            </a:pPr>
            <a:r>
              <a:rPr lang="ko-KR" altLang="en-US" sz="1600" b="1" dirty="0">
                <a:latin typeface="+mn-ea"/>
              </a:rPr>
              <a:t>중괄호 생략하기 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중괄호 안의 구현 부분이 한 문장인 경우 중괄호 생략</a:t>
            </a:r>
            <a:endParaRPr lang="en-US" altLang="ko-KR" sz="1600" dirty="0">
              <a:latin typeface="+mn-ea"/>
            </a:endParaRPr>
          </a:p>
          <a:p>
            <a:pPr lvl="1">
              <a:lnSpc>
                <a:spcPct val="100000"/>
              </a:lnSpc>
            </a:pPr>
            <a:endParaRPr lang="en-US" altLang="ko-KR" sz="1800" dirty="0">
              <a:latin typeface="+mn-ea"/>
            </a:endParaRPr>
          </a:p>
          <a:p>
            <a:pPr lvl="1">
              <a:lnSpc>
                <a:spcPct val="100000"/>
              </a:lnSpc>
            </a:pPr>
            <a:endParaRPr lang="en-US" altLang="ko-KR" sz="1800" dirty="0">
              <a:latin typeface="+mn-ea"/>
            </a:endParaRPr>
          </a:p>
          <a:p>
            <a:pPr lvl="1">
              <a:lnSpc>
                <a:spcPct val="100000"/>
              </a:lnSpc>
            </a:pPr>
            <a:r>
              <a:rPr lang="ko-KR" altLang="en-US" sz="1600" b="1" dirty="0">
                <a:latin typeface="+mn-ea"/>
              </a:rPr>
              <a:t>매개변수가 없다면 괄호 생략할 수 없음</a:t>
            </a:r>
            <a:endParaRPr lang="en-US" altLang="ko-KR" sz="1600" b="1" dirty="0">
              <a:latin typeface="+mn-ea"/>
            </a:endParaRPr>
          </a:p>
          <a:p>
            <a:pPr lvl="1">
              <a:lnSpc>
                <a:spcPct val="100000"/>
              </a:lnSpc>
            </a:pPr>
            <a:endParaRPr lang="en-US" altLang="ko-KR" sz="1800" dirty="0">
              <a:latin typeface="+mn-ea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800" dirty="0"/>
          </a:p>
          <a:p>
            <a:pPr lvl="1">
              <a:lnSpc>
                <a:spcPct val="100000"/>
              </a:lnSpc>
            </a:pPr>
            <a:r>
              <a:rPr lang="en-US" altLang="ko-KR" sz="1600" b="1" dirty="0"/>
              <a:t>return </a:t>
            </a:r>
            <a:r>
              <a:rPr lang="ko-KR" altLang="en-US" sz="1600" b="1" dirty="0"/>
              <a:t>생략</a:t>
            </a:r>
            <a:endParaRPr lang="en-US" altLang="ko-KR" sz="16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400" b="1" dirty="0">
              <a:solidFill>
                <a:srgbClr val="002060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424608" y="1988841"/>
            <a:ext cx="6120680" cy="43204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>
                <a:latin typeface="+mn-ea"/>
              </a:rPr>
              <a:t> (</a:t>
            </a:r>
            <a:r>
              <a:rPr lang="en-US" altLang="ko-KR" dirty="0" err="1">
                <a:latin typeface="+mn-ea"/>
              </a:rPr>
              <a:t>str</a:t>
            </a:r>
            <a:r>
              <a:rPr lang="en-US" altLang="ko-KR" dirty="0">
                <a:latin typeface="+mn-ea"/>
              </a:rPr>
              <a:t>) -&gt; { </a:t>
            </a:r>
            <a:r>
              <a:rPr lang="en-US" altLang="ko-KR" dirty="0" err="1">
                <a:latin typeface="+mn-ea"/>
              </a:rPr>
              <a:t>System.out.println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str</a:t>
            </a:r>
            <a:r>
              <a:rPr lang="en-US" altLang="ko-KR" dirty="0">
                <a:latin typeface="+mn-ea"/>
              </a:rPr>
              <a:t>); }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424608" y="2924945"/>
            <a:ext cx="6120680" cy="43204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str</a:t>
            </a:r>
            <a:r>
              <a:rPr lang="en-US" altLang="ko-KR" dirty="0">
                <a:latin typeface="+mn-ea"/>
              </a:rPr>
              <a:t> -&gt; </a:t>
            </a:r>
            <a:r>
              <a:rPr lang="en-US" altLang="ko-KR" dirty="0" err="1">
                <a:latin typeface="+mn-ea"/>
              </a:rPr>
              <a:t>System.out.println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str</a:t>
            </a:r>
            <a:r>
              <a:rPr lang="en-US" altLang="ko-KR" dirty="0">
                <a:latin typeface="+mn-ea"/>
              </a:rPr>
              <a:t>); 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1424608" y="3861049"/>
            <a:ext cx="6120680" cy="43204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>
                <a:latin typeface="+mn-ea"/>
              </a:rPr>
              <a:t> ( ) -&gt; { </a:t>
            </a:r>
            <a:r>
              <a:rPr lang="ko-KR" altLang="en-US" dirty="0" err="1">
                <a:latin typeface="+mn-ea"/>
              </a:rPr>
              <a:t>실행문</a:t>
            </a:r>
            <a:r>
              <a:rPr lang="en-US" altLang="ko-KR" dirty="0">
                <a:latin typeface="+mn-ea"/>
              </a:rPr>
              <a:t>; } 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424608" y="4797153"/>
            <a:ext cx="6120680" cy="93610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>
                <a:latin typeface="+mn-ea"/>
              </a:rPr>
              <a:t> (x, y) -&gt; {return x + y};</a:t>
            </a:r>
          </a:p>
          <a:p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 (x, y) -&gt; x + y; </a:t>
            </a:r>
          </a:p>
        </p:txBody>
      </p:sp>
    </p:spTree>
    <p:extLst>
      <p:ext uri="{BB962C8B-B14F-4D97-AF65-F5344CB8AC3E}">
        <p14:creationId xmlns:p14="http://schemas.microsoft.com/office/powerpoint/2010/main" val="3815060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람다식</a:t>
            </a:r>
            <a:r>
              <a:rPr lang="en-US" altLang="ko-KR" dirty="0"/>
              <a:t>(lambda expression)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6073" y="1052735"/>
            <a:ext cx="8181383" cy="18002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1800" b="1" dirty="0">
                <a:solidFill>
                  <a:srgbClr val="C00000"/>
                </a:solidFill>
              </a:rPr>
              <a:t>  </a:t>
            </a:r>
            <a:r>
              <a:rPr lang="ko-KR" altLang="en-US" sz="2000" b="1" dirty="0">
                <a:solidFill>
                  <a:srgbClr val="C00000"/>
                </a:solidFill>
              </a:rPr>
              <a:t>함수형 인터페이스</a:t>
            </a:r>
            <a:endParaRPr lang="en-US" altLang="ko-KR" sz="1800" b="1" dirty="0">
              <a:solidFill>
                <a:srgbClr val="C0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800" dirty="0">
                <a:latin typeface="+mn-ea"/>
              </a:rPr>
              <a:t>   </a:t>
            </a:r>
            <a:r>
              <a:rPr lang="ko-KR" altLang="en-US" sz="1600" dirty="0" err="1">
                <a:latin typeface="+mn-ea"/>
              </a:rPr>
              <a:t>람다식을</a:t>
            </a:r>
            <a:r>
              <a:rPr lang="ko-KR" altLang="en-US" sz="1600" dirty="0">
                <a:latin typeface="+mn-ea"/>
              </a:rPr>
              <a:t> 구현하기 위해 </a:t>
            </a:r>
            <a:r>
              <a:rPr lang="ko-KR" altLang="en-US" sz="1600" b="1" dirty="0">
                <a:latin typeface="+mn-ea"/>
              </a:rPr>
              <a:t>함수형 인터페이스</a:t>
            </a:r>
            <a:r>
              <a:rPr lang="ko-KR" altLang="en-US" sz="1600" dirty="0">
                <a:latin typeface="+mn-ea"/>
              </a:rPr>
              <a:t>를 만들고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인터페이스에 </a:t>
            </a:r>
            <a:r>
              <a:rPr lang="ko-KR" altLang="en-US" sz="1600" dirty="0" err="1">
                <a:latin typeface="+mn-ea"/>
              </a:rPr>
              <a:t>람다식으로</a:t>
            </a:r>
            <a:r>
              <a:rPr lang="ko-KR" altLang="en-US" sz="1600" dirty="0">
                <a:latin typeface="+mn-ea"/>
              </a:rPr>
              <a:t> 구현</a:t>
            </a:r>
            <a:endParaRPr lang="en-US" altLang="ko-KR" sz="1600" dirty="0">
              <a:latin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dirty="0">
                <a:latin typeface="+mn-ea"/>
              </a:rPr>
              <a:t>   </a:t>
            </a:r>
            <a:r>
              <a:rPr lang="ko-KR" altLang="en-US" sz="1600" dirty="0">
                <a:latin typeface="+mn-ea"/>
              </a:rPr>
              <a:t>할 메서드를 선언한다</a:t>
            </a:r>
            <a:r>
              <a:rPr lang="en-US" altLang="ko-KR" sz="1600" dirty="0">
                <a:latin typeface="+mn-ea"/>
              </a:rPr>
              <a:t>.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dirty="0">
                <a:latin typeface="+mn-ea"/>
              </a:rPr>
              <a:t>   </a:t>
            </a:r>
            <a:r>
              <a:rPr lang="ko-KR" altLang="en-US" sz="1600" dirty="0" err="1">
                <a:latin typeface="+mn-ea"/>
              </a:rPr>
              <a:t>람다식은</a:t>
            </a:r>
            <a:r>
              <a:rPr lang="ko-KR" altLang="en-US" sz="1600" dirty="0">
                <a:latin typeface="+mn-ea"/>
              </a:rPr>
              <a:t> 이름이 없는 익명 함수로 구현하기 때문에 메서드에 </a:t>
            </a:r>
            <a:r>
              <a:rPr lang="ko-KR" altLang="en-US" sz="1600" b="1" dirty="0">
                <a:latin typeface="+mn-ea"/>
              </a:rPr>
              <a:t>오직 하나의 추상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메서 </a:t>
            </a:r>
            <a:endParaRPr lang="en-US" altLang="ko-KR" sz="1600" b="1" dirty="0">
              <a:latin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+mn-ea"/>
              </a:rPr>
              <a:t>   </a:t>
            </a:r>
            <a:r>
              <a:rPr lang="ko-KR" altLang="en-US" sz="1600" b="1" dirty="0" err="1">
                <a:latin typeface="+mn-ea"/>
              </a:rPr>
              <a:t>드</a:t>
            </a:r>
            <a:r>
              <a:rPr lang="ko-KR" altLang="en-US" sz="1600" dirty="0" err="1">
                <a:latin typeface="+mn-ea"/>
              </a:rPr>
              <a:t>만</a:t>
            </a:r>
            <a:r>
              <a:rPr lang="ko-KR" altLang="en-US" sz="1600" dirty="0">
                <a:latin typeface="+mn-ea"/>
              </a:rPr>
              <a:t> 선언할 수 있다</a:t>
            </a:r>
            <a:r>
              <a:rPr lang="en-US" altLang="ko-KR" sz="1600" dirty="0">
                <a:latin typeface="+mn-ea"/>
              </a:rPr>
              <a:t>. (</a:t>
            </a:r>
            <a:r>
              <a:rPr lang="ko-KR" altLang="en-US" sz="1600" dirty="0">
                <a:latin typeface="+mn-ea"/>
              </a:rPr>
              <a:t>여러 개는 구현이 모호해지므로</a:t>
            </a:r>
            <a:r>
              <a:rPr lang="en-US" altLang="ko-KR" sz="1600" dirty="0">
                <a:latin typeface="+mn-ea"/>
              </a:rPr>
              <a:t>)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1136576" y="3068959"/>
            <a:ext cx="81369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b="1" dirty="0">
                <a:solidFill>
                  <a:sysClr val="windowText" lastClr="000000"/>
                </a:solidFill>
              </a:rPr>
              <a:t>- </a:t>
            </a:r>
            <a:r>
              <a:rPr lang="ko-KR" altLang="en-US" b="1" dirty="0">
                <a:solidFill>
                  <a:sysClr val="windowText" lastClr="000000"/>
                </a:solidFill>
              </a:rPr>
              <a:t>객체지향언어</a:t>
            </a:r>
            <a:r>
              <a:rPr lang="ko-KR" altLang="en-US" dirty="0">
                <a:solidFill>
                  <a:sysClr val="windowText" lastClr="000000"/>
                </a:solidFill>
              </a:rPr>
              <a:t>는 객체를 기반으로 구현하는 방식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ysClr val="windowText" lastClr="000000"/>
                </a:solidFill>
              </a:rPr>
              <a:t>- </a:t>
            </a:r>
            <a:r>
              <a:rPr lang="ko-KR" altLang="en-US" b="1" dirty="0">
                <a:solidFill>
                  <a:sysClr val="windowText" lastClr="000000"/>
                </a:solidFill>
              </a:rPr>
              <a:t>함수형 프로그램</a:t>
            </a:r>
            <a:r>
              <a:rPr lang="ko-KR" altLang="en-US" dirty="0">
                <a:solidFill>
                  <a:sysClr val="windowText" lastClr="000000"/>
                </a:solidFill>
              </a:rPr>
              <a:t>은 함수를 기반으로 하고 자료를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입력받아</a:t>
            </a:r>
            <a:r>
              <a:rPr lang="ko-KR" altLang="en-US" dirty="0">
                <a:solidFill>
                  <a:sysClr val="windowText" lastClr="000000"/>
                </a:solidFill>
              </a:rPr>
              <a:t> 구현하는 방식</a:t>
            </a:r>
            <a:endParaRPr lang="en-US" altLang="ko-KR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721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람다식</a:t>
            </a:r>
            <a:r>
              <a:rPr lang="en-US" altLang="ko-KR" dirty="0"/>
              <a:t>(lambda expression)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1052736"/>
            <a:ext cx="4104456" cy="4320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b="1" dirty="0">
                <a:solidFill>
                  <a:srgbClr val="C00000"/>
                </a:solidFill>
              </a:rPr>
              <a:t>함수형 인터페이스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2000" dirty="0"/>
          </a:p>
          <a:p>
            <a:pPr lvl="1">
              <a:lnSpc>
                <a:spcPct val="100000"/>
              </a:lnSpc>
            </a:pPr>
            <a:endParaRPr lang="en-US" altLang="ko-KR" sz="2000" dirty="0"/>
          </a:p>
          <a:p>
            <a:pPr lvl="1">
              <a:lnSpc>
                <a:spcPct val="100000"/>
              </a:lnSpc>
            </a:pP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b="1" dirty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668476"/>
            <a:ext cx="5715562" cy="183253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44702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람다식</a:t>
            </a:r>
            <a:r>
              <a:rPr lang="en-US" altLang="ko-KR" dirty="0"/>
              <a:t>(lambda expression)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1052736"/>
            <a:ext cx="4104456" cy="4320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b="1" dirty="0" err="1">
                <a:solidFill>
                  <a:srgbClr val="C00000"/>
                </a:solidFill>
              </a:rPr>
              <a:t>람다식</a:t>
            </a:r>
            <a:r>
              <a:rPr lang="ko-KR" altLang="en-US" sz="2000" b="1" dirty="0">
                <a:solidFill>
                  <a:srgbClr val="C00000"/>
                </a:solidFill>
              </a:rPr>
              <a:t> 표현법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2000" dirty="0"/>
          </a:p>
          <a:p>
            <a:pPr lvl="1">
              <a:lnSpc>
                <a:spcPct val="100000"/>
              </a:lnSpc>
            </a:pPr>
            <a:endParaRPr lang="en-US" altLang="ko-KR" sz="2000" dirty="0"/>
          </a:p>
          <a:p>
            <a:pPr lvl="1">
              <a:lnSpc>
                <a:spcPct val="100000"/>
              </a:lnSpc>
            </a:pP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b="1" dirty="0">
              <a:solidFill>
                <a:srgbClr val="00206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628800"/>
            <a:ext cx="6379004" cy="380333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0939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람다식</a:t>
            </a:r>
            <a:r>
              <a:rPr lang="en-US" altLang="ko-KR" dirty="0"/>
              <a:t>(lambda expression)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1052736"/>
            <a:ext cx="4104456" cy="4320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1800" b="1" dirty="0">
                <a:solidFill>
                  <a:srgbClr val="C00000"/>
                </a:solidFill>
              </a:rPr>
              <a:t>객체 지향 방식으로 구현하기</a:t>
            </a:r>
            <a:endParaRPr lang="en-US" altLang="ko-KR" sz="18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800" dirty="0"/>
          </a:p>
          <a:p>
            <a:pPr lvl="1">
              <a:lnSpc>
                <a:spcPct val="100000"/>
              </a:lnSpc>
            </a:pPr>
            <a:endParaRPr lang="en-US" altLang="ko-KR" sz="1800" dirty="0"/>
          </a:p>
          <a:p>
            <a:pPr lvl="1">
              <a:lnSpc>
                <a:spcPct val="100000"/>
              </a:lnSpc>
            </a:pPr>
            <a:endParaRPr lang="en-US" altLang="ko-KR" sz="18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 b="1" dirty="0">
              <a:solidFill>
                <a:srgbClr val="002060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/>
          <a:srcRect t="13404"/>
          <a:stretch/>
        </p:blipFill>
        <p:spPr>
          <a:xfrm>
            <a:off x="1424609" y="3645024"/>
            <a:ext cx="5915665" cy="22322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609" y="1526290"/>
            <a:ext cx="4320480" cy="19161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58380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람다식</a:t>
            </a:r>
            <a:r>
              <a:rPr lang="en-US" altLang="ko-KR" dirty="0"/>
              <a:t>(lambda expression)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1052736"/>
            <a:ext cx="4104456" cy="4320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1800" b="1" dirty="0">
                <a:solidFill>
                  <a:srgbClr val="C00000"/>
                </a:solidFill>
              </a:rPr>
              <a:t>객체 지향 방식으로 구현하기</a:t>
            </a:r>
            <a:endParaRPr lang="en-US" altLang="ko-KR" sz="18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800" dirty="0"/>
          </a:p>
          <a:p>
            <a:pPr lvl="1">
              <a:lnSpc>
                <a:spcPct val="100000"/>
              </a:lnSpc>
            </a:pPr>
            <a:endParaRPr lang="en-US" altLang="ko-KR" sz="1800" dirty="0"/>
          </a:p>
          <a:p>
            <a:pPr lvl="1">
              <a:lnSpc>
                <a:spcPct val="100000"/>
              </a:lnSpc>
            </a:pPr>
            <a:endParaRPr lang="en-US" altLang="ko-KR" sz="18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 b="1" dirty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556792"/>
            <a:ext cx="6397493" cy="22322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09990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람다식</a:t>
            </a:r>
            <a:r>
              <a:rPr lang="en-US" altLang="ko-KR" dirty="0"/>
              <a:t>(lambda expression)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1052736"/>
            <a:ext cx="4104456" cy="4320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1800" b="1" dirty="0" err="1">
                <a:solidFill>
                  <a:srgbClr val="C00000"/>
                </a:solidFill>
              </a:rPr>
              <a:t>람다식으로</a:t>
            </a:r>
            <a:r>
              <a:rPr lang="ko-KR" altLang="en-US" sz="1800" b="1" dirty="0">
                <a:solidFill>
                  <a:srgbClr val="C00000"/>
                </a:solidFill>
              </a:rPr>
              <a:t> 구현하기</a:t>
            </a:r>
            <a:endParaRPr lang="en-US" altLang="ko-KR" sz="18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800" dirty="0"/>
          </a:p>
          <a:p>
            <a:pPr lvl="1">
              <a:lnSpc>
                <a:spcPct val="100000"/>
              </a:lnSpc>
            </a:pPr>
            <a:endParaRPr lang="en-US" altLang="ko-KR" sz="1800" dirty="0"/>
          </a:p>
          <a:p>
            <a:pPr lvl="1">
              <a:lnSpc>
                <a:spcPct val="100000"/>
              </a:lnSpc>
            </a:pPr>
            <a:endParaRPr lang="en-US" altLang="ko-KR" sz="18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 b="1" dirty="0">
              <a:solidFill>
                <a:srgbClr val="002060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484784"/>
            <a:ext cx="5205402" cy="21591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953000" y="1916832"/>
            <a:ext cx="3312368" cy="646986"/>
          </a:xfrm>
          <a:prstGeom prst="wedgeRoundRectCallout">
            <a:avLst>
              <a:gd name="adj1" fmla="val -70523"/>
              <a:gd name="adj2" fmla="val -26338"/>
              <a:gd name="adj3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600" dirty="0" err="1"/>
              <a:t>애너테이션을</a:t>
            </a:r>
            <a:r>
              <a:rPr lang="ko-KR" altLang="en-US" sz="1600" dirty="0"/>
              <a:t> 명시해서 </a:t>
            </a:r>
            <a:r>
              <a:rPr lang="ko-KR" altLang="en-US" sz="1600" dirty="0" err="1"/>
              <a:t>실행전에</a:t>
            </a:r>
            <a:r>
              <a:rPr lang="ko-KR" altLang="en-US" sz="1600" dirty="0"/>
              <a:t> 오류 체크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624" y="3717032"/>
            <a:ext cx="6228299" cy="258208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53499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람다식</a:t>
            </a:r>
            <a:r>
              <a:rPr lang="en-US" altLang="ko-KR" dirty="0"/>
              <a:t>(lambda expression)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8094" y="980728"/>
            <a:ext cx="5685106" cy="5321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1800" b="1" dirty="0">
                <a:solidFill>
                  <a:srgbClr val="C00000"/>
                </a:solidFill>
              </a:rPr>
              <a:t>객체 지향 프로그래밍 방식과 </a:t>
            </a:r>
            <a:r>
              <a:rPr lang="ko-KR" altLang="en-US" sz="1800" b="1" dirty="0" err="1">
                <a:solidFill>
                  <a:srgbClr val="C00000"/>
                </a:solidFill>
              </a:rPr>
              <a:t>람다식</a:t>
            </a:r>
            <a:r>
              <a:rPr lang="ko-KR" altLang="en-US" sz="1800" b="1" dirty="0">
                <a:solidFill>
                  <a:srgbClr val="C00000"/>
                </a:solidFill>
              </a:rPr>
              <a:t> 비교</a:t>
            </a:r>
            <a:endParaRPr lang="en-US" altLang="ko-KR" sz="1800" dirty="0">
              <a:latin typeface="+mn-ea"/>
            </a:endParaRPr>
          </a:p>
          <a:p>
            <a:pPr lvl="1">
              <a:lnSpc>
                <a:spcPct val="100000"/>
              </a:lnSpc>
            </a:pPr>
            <a:endParaRPr lang="en-US" altLang="ko-KR" sz="1600" dirty="0">
              <a:latin typeface="+mn-ea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600" dirty="0">
              <a:latin typeface="+mn-ea"/>
            </a:endParaRPr>
          </a:p>
          <a:p>
            <a:pPr lvl="1" algn="r">
              <a:lnSpc>
                <a:spcPct val="100000"/>
              </a:lnSpc>
            </a:pPr>
            <a:endParaRPr lang="en-US" altLang="ko-KR" sz="1600" dirty="0">
              <a:latin typeface="+mn-ea"/>
            </a:endParaRPr>
          </a:p>
          <a:p>
            <a:pPr lvl="1">
              <a:lnSpc>
                <a:spcPct val="100000"/>
              </a:lnSpc>
            </a:pPr>
            <a:endParaRPr lang="en-US" altLang="ko-KR" sz="1600" dirty="0">
              <a:latin typeface="+mn-ea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600" dirty="0"/>
          </a:p>
          <a:p>
            <a:pPr lvl="1">
              <a:lnSpc>
                <a:spcPct val="100000"/>
              </a:lnSpc>
            </a:pPr>
            <a:endParaRPr lang="en-US" altLang="ko-KR" sz="1600" dirty="0"/>
          </a:p>
          <a:p>
            <a:pPr lvl="1">
              <a:lnSpc>
                <a:spcPct val="100000"/>
              </a:lnSpc>
            </a:pPr>
            <a:endParaRPr lang="en-US" altLang="ko-KR" sz="16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200" b="1" dirty="0">
              <a:solidFill>
                <a:srgbClr val="00206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24608" y="1484784"/>
            <a:ext cx="33843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1. </a:t>
            </a:r>
            <a:r>
              <a:rPr lang="ko-KR" altLang="en-US" sz="1600" dirty="0"/>
              <a:t>객체 지향 프로그래밍 방식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632" y="1916832"/>
            <a:ext cx="6408712" cy="125329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633" y="3429000"/>
            <a:ext cx="6408711" cy="197063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76389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람다식</a:t>
            </a:r>
            <a:r>
              <a:rPr lang="en-US" altLang="ko-KR" dirty="0"/>
              <a:t>(lambda expression)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8094" y="980728"/>
            <a:ext cx="5685106" cy="5321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1800" b="1" dirty="0">
                <a:solidFill>
                  <a:srgbClr val="C00000"/>
                </a:solidFill>
              </a:rPr>
              <a:t>객체 지향 프로그래밍 방식과 </a:t>
            </a:r>
            <a:r>
              <a:rPr lang="ko-KR" altLang="en-US" sz="1800" b="1" dirty="0" err="1">
                <a:solidFill>
                  <a:srgbClr val="C00000"/>
                </a:solidFill>
              </a:rPr>
              <a:t>람다식</a:t>
            </a:r>
            <a:r>
              <a:rPr lang="ko-KR" altLang="en-US" sz="1800" b="1" dirty="0">
                <a:solidFill>
                  <a:srgbClr val="C00000"/>
                </a:solidFill>
              </a:rPr>
              <a:t> 비교</a:t>
            </a:r>
            <a:endParaRPr lang="en-US" altLang="ko-KR" sz="1800" dirty="0">
              <a:latin typeface="+mn-ea"/>
            </a:endParaRPr>
          </a:p>
          <a:p>
            <a:pPr lvl="1">
              <a:lnSpc>
                <a:spcPct val="100000"/>
              </a:lnSpc>
            </a:pPr>
            <a:endParaRPr lang="en-US" altLang="ko-KR" sz="1600" dirty="0">
              <a:latin typeface="+mn-ea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600" dirty="0">
              <a:latin typeface="+mn-ea"/>
            </a:endParaRPr>
          </a:p>
          <a:p>
            <a:pPr lvl="1" algn="r">
              <a:lnSpc>
                <a:spcPct val="100000"/>
              </a:lnSpc>
            </a:pPr>
            <a:endParaRPr lang="en-US" altLang="ko-KR" sz="1600" dirty="0">
              <a:latin typeface="+mn-ea"/>
            </a:endParaRPr>
          </a:p>
          <a:p>
            <a:pPr lvl="1">
              <a:lnSpc>
                <a:spcPct val="100000"/>
              </a:lnSpc>
            </a:pPr>
            <a:endParaRPr lang="en-US" altLang="ko-KR" sz="1600" dirty="0">
              <a:latin typeface="+mn-ea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600" dirty="0"/>
          </a:p>
          <a:p>
            <a:pPr lvl="1">
              <a:lnSpc>
                <a:spcPct val="100000"/>
              </a:lnSpc>
            </a:pPr>
            <a:endParaRPr lang="en-US" altLang="ko-KR" sz="1600" dirty="0"/>
          </a:p>
          <a:p>
            <a:pPr lvl="1">
              <a:lnSpc>
                <a:spcPct val="100000"/>
              </a:lnSpc>
            </a:pPr>
            <a:endParaRPr lang="en-US" altLang="ko-KR" sz="16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200" b="1" dirty="0">
              <a:solidFill>
                <a:srgbClr val="00206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24608" y="1484784"/>
            <a:ext cx="33843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1. </a:t>
            </a:r>
            <a:r>
              <a:rPr lang="ko-KR" altLang="en-US" sz="1600" dirty="0"/>
              <a:t>객체 지향 프로그래밍 방식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632" y="2016947"/>
            <a:ext cx="6408712" cy="215731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26149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람다식</a:t>
            </a:r>
            <a:r>
              <a:rPr lang="en-US" altLang="ko-KR" dirty="0"/>
              <a:t>(lambda expression)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8094" y="980728"/>
            <a:ext cx="5685106" cy="5321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1800" b="1" dirty="0">
                <a:solidFill>
                  <a:srgbClr val="C00000"/>
                </a:solidFill>
              </a:rPr>
              <a:t>객체 지향 프로그래밍 방식과 </a:t>
            </a:r>
            <a:r>
              <a:rPr lang="ko-KR" altLang="en-US" sz="1800" b="1" dirty="0" err="1">
                <a:solidFill>
                  <a:srgbClr val="C00000"/>
                </a:solidFill>
              </a:rPr>
              <a:t>람다식</a:t>
            </a:r>
            <a:r>
              <a:rPr lang="ko-KR" altLang="en-US" sz="1800" b="1" dirty="0">
                <a:solidFill>
                  <a:srgbClr val="C00000"/>
                </a:solidFill>
              </a:rPr>
              <a:t> 비교</a:t>
            </a:r>
            <a:endParaRPr lang="en-US" altLang="ko-KR" sz="1800" dirty="0">
              <a:latin typeface="+mn-ea"/>
            </a:endParaRPr>
          </a:p>
          <a:p>
            <a:pPr lvl="1">
              <a:lnSpc>
                <a:spcPct val="100000"/>
              </a:lnSpc>
            </a:pPr>
            <a:endParaRPr lang="en-US" altLang="ko-KR" sz="1600" dirty="0">
              <a:latin typeface="+mn-ea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600" dirty="0">
              <a:latin typeface="+mn-ea"/>
            </a:endParaRPr>
          </a:p>
          <a:p>
            <a:pPr lvl="1" algn="r">
              <a:lnSpc>
                <a:spcPct val="100000"/>
              </a:lnSpc>
            </a:pPr>
            <a:endParaRPr lang="en-US" altLang="ko-KR" sz="1600" dirty="0">
              <a:latin typeface="+mn-ea"/>
            </a:endParaRPr>
          </a:p>
          <a:p>
            <a:pPr lvl="1">
              <a:lnSpc>
                <a:spcPct val="100000"/>
              </a:lnSpc>
            </a:pPr>
            <a:endParaRPr lang="en-US" altLang="ko-KR" sz="1600" dirty="0">
              <a:latin typeface="+mn-ea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600" dirty="0"/>
          </a:p>
          <a:p>
            <a:pPr lvl="1">
              <a:lnSpc>
                <a:spcPct val="100000"/>
              </a:lnSpc>
            </a:pPr>
            <a:endParaRPr lang="en-US" altLang="ko-KR" sz="1600" dirty="0"/>
          </a:p>
          <a:p>
            <a:pPr lvl="1">
              <a:lnSpc>
                <a:spcPct val="100000"/>
              </a:lnSpc>
            </a:pPr>
            <a:endParaRPr lang="en-US" altLang="ko-KR" sz="16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200" b="1" dirty="0">
              <a:solidFill>
                <a:srgbClr val="00206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24608" y="1484784"/>
            <a:ext cx="33843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2 </a:t>
            </a:r>
            <a:r>
              <a:rPr lang="ko-KR" altLang="en-US" sz="1600" dirty="0" err="1"/>
              <a:t>람다식</a:t>
            </a:r>
            <a:r>
              <a:rPr lang="ko-KR" altLang="en-US" sz="1600" dirty="0"/>
              <a:t> 방식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636" y="2016948"/>
            <a:ext cx="5724636" cy="136999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636" y="3573016"/>
            <a:ext cx="6300700" cy="234804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83937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람다식</a:t>
            </a:r>
            <a:r>
              <a:rPr lang="en-US" altLang="ko-KR" dirty="0"/>
              <a:t>(lambda expression)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1124744"/>
            <a:ext cx="3096344" cy="4320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 err="1">
                <a:latin typeface="+mn-ea"/>
              </a:rPr>
              <a:t>람다식</a:t>
            </a:r>
            <a:r>
              <a:rPr lang="ko-KR" altLang="en-US" sz="2000" dirty="0">
                <a:latin typeface="+mn-ea"/>
              </a:rPr>
              <a:t> 활용 예제</a:t>
            </a:r>
            <a:endParaRPr lang="en-US" altLang="ko-KR" sz="2000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632" y="1772816"/>
            <a:ext cx="4999412" cy="129614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632" y="3320988"/>
            <a:ext cx="5883052" cy="13681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92167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람다식</a:t>
            </a:r>
            <a:r>
              <a:rPr lang="en-US" altLang="ko-KR" dirty="0"/>
              <a:t>(lambda expression)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358" y="1700808"/>
            <a:ext cx="7331075" cy="321591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1124744"/>
            <a:ext cx="3096344" cy="4320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 err="1">
                <a:latin typeface="+mn-ea"/>
              </a:rPr>
              <a:t>람다식</a:t>
            </a:r>
            <a:r>
              <a:rPr lang="ko-KR" altLang="en-US" sz="2000" dirty="0">
                <a:latin typeface="+mn-ea"/>
              </a:rPr>
              <a:t> 활용 예제</a:t>
            </a:r>
            <a:endParaRPr lang="en-US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59928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람다식</a:t>
            </a:r>
            <a:r>
              <a:rPr lang="en-US" altLang="ko-KR" dirty="0"/>
              <a:t>(lambda expression)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1052736"/>
            <a:ext cx="6480720" cy="4320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b="1" dirty="0">
                <a:solidFill>
                  <a:srgbClr val="C00000"/>
                </a:solidFill>
              </a:rPr>
              <a:t>함수형 인터페이스를 변수</a:t>
            </a: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</a:rPr>
              <a:t>및 반환 </a:t>
            </a:r>
            <a:r>
              <a:rPr lang="ko-KR" altLang="en-US" sz="2000" b="1" dirty="0" err="1">
                <a:solidFill>
                  <a:srgbClr val="C00000"/>
                </a:solidFill>
              </a:rPr>
              <a:t>자료형으로</a:t>
            </a:r>
            <a:r>
              <a:rPr lang="ko-KR" altLang="en-US" sz="2000" b="1" dirty="0">
                <a:solidFill>
                  <a:srgbClr val="C00000"/>
                </a:solidFill>
              </a:rPr>
              <a:t> 사용 </a:t>
            </a:r>
            <a:endParaRPr lang="en-US" altLang="ko-KR" sz="1800" dirty="0">
              <a:latin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511" y="1556792"/>
            <a:ext cx="7034881" cy="41764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15414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람다식</a:t>
            </a:r>
            <a:r>
              <a:rPr lang="en-US" altLang="ko-KR" dirty="0"/>
              <a:t>(lambda expression)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488" y="1556792"/>
            <a:ext cx="6729785" cy="38164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120" y="4869160"/>
            <a:ext cx="1661304" cy="73158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1052736"/>
            <a:ext cx="6480720" cy="4320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b="1" dirty="0">
                <a:solidFill>
                  <a:srgbClr val="C00000"/>
                </a:solidFill>
              </a:rPr>
              <a:t>함수형 인터페이스를 변수</a:t>
            </a: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</a:rPr>
              <a:t>및 반환 </a:t>
            </a:r>
            <a:r>
              <a:rPr lang="ko-KR" altLang="en-US" sz="2000" b="1" dirty="0" err="1">
                <a:solidFill>
                  <a:srgbClr val="C00000"/>
                </a:solidFill>
              </a:rPr>
              <a:t>자료형으로</a:t>
            </a:r>
            <a:r>
              <a:rPr lang="ko-KR" altLang="en-US" sz="2000" b="1" dirty="0">
                <a:solidFill>
                  <a:srgbClr val="C00000"/>
                </a:solidFill>
              </a:rPr>
              <a:t> 사용 </a:t>
            </a:r>
            <a:endParaRPr lang="en-US" altLang="ko-KR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22612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스트림</a:t>
            </a:r>
            <a:r>
              <a:rPr lang="en-US" altLang="ko-KR" dirty="0"/>
              <a:t>(Stream)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20089" y="980727"/>
            <a:ext cx="8397407" cy="23007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>
                <a:solidFill>
                  <a:srgbClr val="C00000"/>
                </a:solidFill>
              </a:rPr>
              <a:t>스트림</a:t>
            </a:r>
            <a:r>
              <a:rPr lang="en-US" altLang="ko-KR" sz="2000" b="1" dirty="0">
                <a:solidFill>
                  <a:srgbClr val="C00000"/>
                </a:solidFill>
              </a:rPr>
              <a:t>(Stream)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+mn-ea"/>
              </a:rPr>
              <a:t>자료가 모여있는 배열이나 컬렉션에서 처리에 대한 기능을 구현해 놓은 클래스</a:t>
            </a:r>
            <a:endParaRPr lang="en-US" altLang="ko-KR" sz="16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+mn-ea"/>
              </a:rPr>
              <a:t>스트림 클래스 </a:t>
            </a:r>
            <a:r>
              <a:rPr lang="en-US" altLang="ko-KR" sz="1600" dirty="0">
                <a:latin typeface="+mn-ea"/>
              </a:rPr>
              <a:t>-</a:t>
            </a:r>
            <a:r>
              <a:rPr lang="ko-KR" altLang="en-US" sz="1600" dirty="0">
                <a:latin typeface="+mn-ea"/>
              </a:rPr>
              <a:t> </a:t>
            </a:r>
            <a:r>
              <a:rPr lang="ko-KR" altLang="en-US" sz="1600" dirty="0" err="1">
                <a:latin typeface="+mn-ea"/>
              </a:rPr>
              <a:t>람다식으로</a:t>
            </a:r>
            <a:r>
              <a:rPr lang="ko-KR" altLang="en-US" sz="1600" dirty="0">
                <a:latin typeface="+mn-ea"/>
              </a:rPr>
              <a:t> 처리하는 반복자이다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latin typeface="+mn-ea"/>
              </a:rPr>
              <a:t>Arrays </a:t>
            </a:r>
            <a:r>
              <a:rPr lang="ko-KR" altLang="en-US" sz="1600" dirty="0">
                <a:latin typeface="+mn-ea"/>
              </a:rPr>
              <a:t>클래스 </a:t>
            </a:r>
            <a:r>
              <a:rPr lang="en-US" altLang="ko-KR" sz="1600" dirty="0">
                <a:latin typeface="+mn-ea"/>
              </a:rPr>
              <a:t>– </a:t>
            </a:r>
            <a:r>
              <a:rPr lang="ko-KR" altLang="en-US" sz="1600" dirty="0">
                <a:latin typeface="+mn-ea"/>
              </a:rPr>
              <a:t>배열을 다루기 위한 유틸리티 클래스로써 배열의 정렬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검색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 err="1">
                <a:latin typeface="+mn-ea"/>
              </a:rPr>
              <a:t>출력등의</a:t>
            </a:r>
            <a:r>
              <a:rPr lang="ko-KR" altLang="en-US" sz="1600" dirty="0">
                <a:latin typeface="+mn-ea"/>
              </a:rPr>
              <a:t> 정적인 메서드들로 구성되어 있다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616" y="3471499"/>
            <a:ext cx="4299392" cy="204573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826"/>
          <a:stretch/>
        </p:blipFill>
        <p:spPr>
          <a:xfrm>
            <a:off x="5529064" y="3947046"/>
            <a:ext cx="3960440" cy="17601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13914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스트림</a:t>
            </a:r>
            <a:r>
              <a:rPr lang="en-US" altLang="ko-KR" dirty="0"/>
              <a:t>(Stream)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20089" y="980728"/>
            <a:ext cx="6093151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Arrays </a:t>
            </a:r>
            <a:r>
              <a:rPr lang="ko-KR" altLang="en-US" sz="2000" b="1" dirty="0">
                <a:solidFill>
                  <a:srgbClr val="C00000"/>
                </a:solidFill>
              </a:rPr>
              <a:t>클래스 사용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76" y="1628800"/>
            <a:ext cx="7913023" cy="39604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53238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스트림</a:t>
            </a:r>
            <a:r>
              <a:rPr lang="en-US" altLang="ko-KR" dirty="0"/>
              <a:t>(Stream)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606866"/>
            <a:ext cx="6984776" cy="43599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20089" y="980728"/>
            <a:ext cx="6093151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Arrays </a:t>
            </a:r>
            <a:r>
              <a:rPr lang="ko-KR" altLang="en-US" sz="2000" b="1" dirty="0">
                <a:solidFill>
                  <a:srgbClr val="C00000"/>
                </a:solidFill>
              </a:rPr>
              <a:t>클래스 사용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807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스트림</a:t>
            </a:r>
            <a:r>
              <a:rPr lang="en-US" altLang="ko-KR" dirty="0"/>
              <a:t>(Stream)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20089" y="980728"/>
            <a:ext cx="4292951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Stream </a:t>
            </a:r>
            <a:r>
              <a:rPr lang="ko-KR" altLang="en-US" sz="2000" b="1" dirty="0">
                <a:solidFill>
                  <a:srgbClr val="C00000"/>
                </a:solidFill>
              </a:rPr>
              <a:t>클래스</a:t>
            </a: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</a:rPr>
              <a:t>사용</a:t>
            </a: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600" y="1644297"/>
            <a:ext cx="7997327" cy="42329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86944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스트림</a:t>
            </a:r>
            <a:r>
              <a:rPr lang="en-US" altLang="ko-KR" dirty="0"/>
              <a:t>(Stream)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48081" y="980727"/>
            <a:ext cx="7965359" cy="12241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b="1" dirty="0" err="1">
                <a:solidFill>
                  <a:srgbClr val="C00000"/>
                </a:solidFill>
              </a:rPr>
              <a:t>스트림</a:t>
            </a:r>
            <a:r>
              <a:rPr lang="en-US" altLang="ko-KR" sz="1800" b="1" dirty="0">
                <a:solidFill>
                  <a:srgbClr val="C00000"/>
                </a:solidFill>
              </a:rPr>
              <a:t>(Stream) </a:t>
            </a:r>
            <a:r>
              <a:rPr lang="ko-KR" altLang="en-US" sz="1800" b="1" dirty="0">
                <a:solidFill>
                  <a:srgbClr val="C00000"/>
                </a:solidFill>
              </a:rPr>
              <a:t>연산</a:t>
            </a:r>
            <a:endParaRPr lang="en-US" altLang="ko-KR" sz="18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ko-KR" altLang="en-US" sz="1600" dirty="0">
                <a:latin typeface="+mn-ea"/>
              </a:rPr>
              <a:t>중간 연산 </a:t>
            </a:r>
            <a:r>
              <a:rPr lang="en-US" altLang="ko-KR" sz="1600" dirty="0">
                <a:latin typeface="+mn-ea"/>
              </a:rPr>
              <a:t>– </a:t>
            </a:r>
            <a:r>
              <a:rPr lang="ko-KR" altLang="en-US" sz="1600" dirty="0">
                <a:latin typeface="+mn-ea"/>
              </a:rPr>
              <a:t>자료를 거르거나 변경하여 또 다른 자료를 내부적으로 생성함</a:t>
            </a:r>
            <a:endParaRPr lang="en-US" altLang="ko-KR" sz="1600" dirty="0">
              <a:latin typeface="+mn-ea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ko-KR" altLang="en-US" sz="1600" dirty="0">
                <a:latin typeface="+mn-ea"/>
              </a:rPr>
              <a:t>최종 연산 </a:t>
            </a:r>
            <a:r>
              <a:rPr lang="en-US" altLang="ko-KR" sz="1600" dirty="0">
                <a:latin typeface="+mn-ea"/>
              </a:rPr>
              <a:t>– </a:t>
            </a:r>
            <a:r>
              <a:rPr lang="ko-KR" altLang="en-US" sz="1600" dirty="0">
                <a:latin typeface="+mn-ea"/>
              </a:rPr>
              <a:t>생성된 내부 자료를 소모해 가면서 연산을 수행함</a:t>
            </a:r>
            <a:endParaRPr lang="en-US" altLang="ko-KR" sz="1600" dirty="0"/>
          </a:p>
        </p:txBody>
      </p:sp>
      <p:sp>
        <p:nvSpPr>
          <p:cNvPr id="13" name="직사각형 12"/>
          <p:cNvSpPr/>
          <p:nvPr/>
        </p:nvSpPr>
        <p:spPr>
          <a:xfrm>
            <a:off x="1362138" y="2708920"/>
            <a:ext cx="7983350" cy="14401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600" dirty="0">
                <a:latin typeface="+mn-ea"/>
              </a:rPr>
              <a:t>- </a:t>
            </a:r>
            <a:r>
              <a:rPr lang="ko-KR" altLang="en-US" sz="1600" dirty="0">
                <a:latin typeface="+mn-ea"/>
              </a:rPr>
              <a:t>문자열 배열이 있을 때 문자열의 길이가 </a:t>
            </a:r>
            <a:r>
              <a:rPr lang="en-US" altLang="ko-KR" sz="1600" dirty="0">
                <a:latin typeface="+mn-ea"/>
              </a:rPr>
              <a:t>5 </a:t>
            </a:r>
            <a:r>
              <a:rPr lang="ko-KR" altLang="en-US" sz="1600" dirty="0">
                <a:latin typeface="+mn-ea"/>
              </a:rPr>
              <a:t>이상인 경우 출력</a:t>
            </a:r>
            <a:endParaRPr lang="en-US" altLang="ko-KR" sz="16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   </a:t>
            </a:r>
            <a:r>
              <a:rPr lang="en-US" altLang="ko-KR" sz="1600" b="1" dirty="0" err="1">
                <a:latin typeface="+mn-ea"/>
              </a:rPr>
              <a:t>sList.stream</a:t>
            </a:r>
            <a:r>
              <a:rPr lang="en-US" altLang="ko-KR" sz="1600" b="1" dirty="0">
                <a:latin typeface="+mn-ea"/>
              </a:rPr>
              <a:t>().</a:t>
            </a:r>
            <a:r>
              <a:rPr lang="en-US" altLang="ko-KR" sz="1600" b="1" dirty="0">
                <a:solidFill>
                  <a:srgbClr val="C00000"/>
                </a:solidFill>
                <a:latin typeface="+mn-ea"/>
              </a:rPr>
              <a:t>filter</a:t>
            </a:r>
            <a:r>
              <a:rPr lang="en-US" altLang="ko-KR" sz="1600" b="1" dirty="0">
                <a:latin typeface="+mn-ea"/>
              </a:rPr>
              <a:t>(s-&gt;</a:t>
            </a:r>
            <a:r>
              <a:rPr lang="en-US" altLang="ko-KR" sz="1600" b="1" dirty="0" err="1">
                <a:latin typeface="+mn-ea"/>
              </a:rPr>
              <a:t>s.length</a:t>
            </a:r>
            <a:r>
              <a:rPr lang="en-US" altLang="ko-KR" sz="1600" b="1" dirty="0">
                <a:latin typeface="+mn-ea"/>
              </a:rPr>
              <a:t>() &gt;=5).</a:t>
            </a:r>
            <a:r>
              <a:rPr lang="en-US" altLang="ko-KR" sz="1600" b="1" dirty="0" err="1">
                <a:solidFill>
                  <a:srgbClr val="C00000"/>
                </a:solidFill>
                <a:latin typeface="+mn-ea"/>
              </a:rPr>
              <a:t>forEach</a:t>
            </a:r>
            <a:r>
              <a:rPr lang="en-US" altLang="ko-KR" sz="1600" b="1" dirty="0">
                <a:latin typeface="+mn-ea"/>
              </a:rPr>
              <a:t>(s-&gt;</a:t>
            </a:r>
            <a:r>
              <a:rPr lang="en-US" altLang="ko-KR" sz="1600" b="1" dirty="0" err="1">
                <a:latin typeface="+mn-ea"/>
              </a:rPr>
              <a:t>System.out.println</a:t>
            </a:r>
            <a:r>
              <a:rPr lang="en-US" altLang="ko-KR" sz="1600" b="1" dirty="0">
                <a:latin typeface="+mn-ea"/>
              </a:rPr>
              <a:t>(s));</a:t>
            </a:r>
          </a:p>
          <a:p>
            <a:endParaRPr lang="en-US" altLang="ko-KR" sz="16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- </a:t>
            </a:r>
            <a:r>
              <a:rPr lang="ko-KR" altLang="en-US" sz="1600" dirty="0">
                <a:latin typeface="+mn-ea"/>
              </a:rPr>
              <a:t>고객 클래스에서 고객 이름만 가져와 출력</a:t>
            </a:r>
            <a:endParaRPr lang="en-US" altLang="ko-KR" sz="16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    </a:t>
            </a:r>
            <a:r>
              <a:rPr lang="en-US" altLang="ko-KR" sz="1600" b="1" dirty="0" err="1">
                <a:latin typeface="+mn-ea"/>
              </a:rPr>
              <a:t>customerList.stream</a:t>
            </a:r>
            <a:r>
              <a:rPr lang="en-US" altLang="ko-KR" sz="1600" b="1" dirty="0">
                <a:latin typeface="+mn-ea"/>
              </a:rPr>
              <a:t>().</a:t>
            </a:r>
            <a:r>
              <a:rPr lang="en-US" altLang="ko-KR" sz="1600" b="1" dirty="0">
                <a:solidFill>
                  <a:srgbClr val="C00000"/>
                </a:solidFill>
                <a:latin typeface="+mn-ea"/>
              </a:rPr>
              <a:t>map</a:t>
            </a:r>
            <a:r>
              <a:rPr lang="en-US" altLang="ko-KR" sz="1600" b="1" dirty="0">
                <a:latin typeface="+mn-ea"/>
              </a:rPr>
              <a:t>(c-&gt;</a:t>
            </a:r>
            <a:r>
              <a:rPr lang="en-US" altLang="ko-KR" sz="1600" b="1" dirty="0" err="1">
                <a:latin typeface="+mn-ea"/>
              </a:rPr>
              <a:t>c.getName</a:t>
            </a:r>
            <a:r>
              <a:rPr lang="en-US" altLang="ko-KR" sz="1600" b="1" dirty="0">
                <a:latin typeface="+mn-ea"/>
              </a:rPr>
              <a:t>()).</a:t>
            </a:r>
            <a:r>
              <a:rPr lang="en-US" altLang="ko-KR" sz="1600" b="1" dirty="0" err="1">
                <a:solidFill>
                  <a:srgbClr val="C00000"/>
                </a:solidFill>
                <a:latin typeface="+mn-ea"/>
              </a:rPr>
              <a:t>forEach</a:t>
            </a:r>
            <a:r>
              <a:rPr lang="en-US" altLang="ko-KR" sz="1600" b="1" dirty="0">
                <a:latin typeface="+mn-ea"/>
              </a:rPr>
              <a:t>(s-&gt;</a:t>
            </a:r>
            <a:r>
              <a:rPr lang="en-US" altLang="ko-KR" sz="1600" b="1" dirty="0" err="1">
                <a:latin typeface="+mn-ea"/>
              </a:rPr>
              <a:t>System.out.println</a:t>
            </a:r>
            <a:r>
              <a:rPr lang="en-US" altLang="ko-KR" sz="1600" b="1" dirty="0">
                <a:latin typeface="+mn-ea"/>
              </a:rPr>
              <a:t>(s));</a:t>
            </a:r>
          </a:p>
        </p:txBody>
      </p:sp>
      <p:sp>
        <p:nvSpPr>
          <p:cNvPr id="14" name="모서리가 둥근 직사각형 13"/>
          <p:cNvSpPr/>
          <p:nvPr/>
        </p:nvSpPr>
        <p:spPr>
          <a:xfrm>
            <a:off x="1208584" y="2276872"/>
            <a:ext cx="3086806" cy="315857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C00000"/>
                </a:solidFill>
              </a:rPr>
              <a:t>중간연산 </a:t>
            </a:r>
            <a:r>
              <a:rPr lang="en-US" altLang="ko-KR" b="1" dirty="0">
                <a:solidFill>
                  <a:srgbClr val="C00000"/>
                </a:solidFill>
              </a:rPr>
              <a:t>– filter(), map()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362138" y="4797152"/>
            <a:ext cx="7263270" cy="7920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600" dirty="0">
                <a:latin typeface="+mn-ea"/>
              </a:rPr>
              <a:t>-  List</a:t>
            </a:r>
            <a:r>
              <a:rPr lang="ko-KR" altLang="en-US" sz="1600" dirty="0">
                <a:latin typeface="+mn-ea"/>
              </a:rPr>
              <a:t>컬렉션에서 </a:t>
            </a:r>
            <a:r>
              <a:rPr lang="ko-KR" altLang="en-US" sz="1600" dirty="0" err="1">
                <a:latin typeface="+mn-ea"/>
              </a:rPr>
              <a:t>정렬후</a:t>
            </a:r>
            <a:r>
              <a:rPr lang="ko-KR" altLang="en-US" sz="1600" dirty="0">
                <a:latin typeface="+mn-ea"/>
              </a:rPr>
              <a:t> 출력</a:t>
            </a:r>
            <a:endParaRPr lang="en-US" altLang="ko-KR" sz="1600" dirty="0">
              <a:latin typeface="+mn-ea"/>
            </a:endParaRPr>
          </a:p>
          <a:p>
            <a:r>
              <a:rPr lang="en-US" altLang="ko-KR" sz="1600" b="1" dirty="0" err="1">
                <a:latin typeface="+mn-ea"/>
              </a:rPr>
              <a:t>sList.stream</a:t>
            </a:r>
            <a:r>
              <a:rPr lang="en-US" altLang="ko-KR" sz="1600" b="1" dirty="0">
                <a:latin typeface="+mn-ea"/>
              </a:rPr>
              <a:t>().</a:t>
            </a:r>
            <a:r>
              <a:rPr lang="en-US" altLang="ko-KR" sz="1600" b="1" dirty="0">
                <a:solidFill>
                  <a:srgbClr val="C00000"/>
                </a:solidFill>
                <a:latin typeface="+mn-ea"/>
              </a:rPr>
              <a:t>sorted().</a:t>
            </a:r>
            <a:r>
              <a:rPr lang="en-US" altLang="ko-KR" sz="1600" b="1" dirty="0" err="1">
                <a:solidFill>
                  <a:srgbClr val="C00000"/>
                </a:solidFill>
                <a:latin typeface="+mn-ea"/>
              </a:rPr>
              <a:t>forEach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en-US" altLang="ko-KR" sz="1600" b="1" dirty="0" err="1">
                <a:latin typeface="+mn-ea"/>
              </a:rPr>
              <a:t>str</a:t>
            </a:r>
            <a:r>
              <a:rPr lang="en-US" altLang="ko-KR" sz="1600" b="1" dirty="0">
                <a:latin typeface="+mn-ea"/>
              </a:rPr>
              <a:t> -&gt; </a:t>
            </a:r>
            <a:r>
              <a:rPr lang="en-US" altLang="ko-KR" sz="1600" b="1" dirty="0" err="1">
                <a:latin typeface="+mn-ea"/>
              </a:rPr>
              <a:t>System.out.print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en-US" altLang="ko-KR" sz="1600" b="1" dirty="0" err="1">
                <a:latin typeface="+mn-ea"/>
              </a:rPr>
              <a:t>str</a:t>
            </a:r>
            <a:r>
              <a:rPr lang="en-US" altLang="ko-KR" sz="1600" b="1" dirty="0">
                <a:latin typeface="+mn-ea"/>
              </a:rPr>
              <a:t>+" "));</a:t>
            </a:r>
          </a:p>
        </p:txBody>
      </p:sp>
      <p:sp>
        <p:nvSpPr>
          <p:cNvPr id="18" name="모서리가 둥근 직사각형 17"/>
          <p:cNvSpPr/>
          <p:nvPr/>
        </p:nvSpPr>
        <p:spPr>
          <a:xfrm>
            <a:off x="1362138" y="4365104"/>
            <a:ext cx="5175038" cy="300726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C00000"/>
                </a:solidFill>
              </a:rPr>
              <a:t>최종 연산 </a:t>
            </a:r>
            <a:r>
              <a:rPr lang="en-US" altLang="ko-KR" b="1" dirty="0">
                <a:solidFill>
                  <a:srgbClr val="C00000"/>
                </a:solidFill>
              </a:rPr>
              <a:t>– </a:t>
            </a:r>
            <a:r>
              <a:rPr lang="en-US" altLang="ko-KR" b="1" dirty="0" err="1">
                <a:solidFill>
                  <a:srgbClr val="C00000"/>
                </a:solidFill>
              </a:rPr>
              <a:t>forEach</a:t>
            </a:r>
            <a:r>
              <a:rPr lang="en-US" altLang="ko-KR" b="1" dirty="0">
                <a:solidFill>
                  <a:srgbClr val="C00000"/>
                </a:solidFill>
              </a:rPr>
              <a:t>(), count(), sum(), reduce()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2830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스트림</a:t>
            </a:r>
            <a:r>
              <a:rPr lang="en-US" altLang="ko-KR" dirty="0"/>
              <a:t>(Stream)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80727"/>
            <a:ext cx="4724999" cy="5040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b="1" dirty="0">
                <a:solidFill>
                  <a:srgbClr val="C00000"/>
                </a:solidFill>
              </a:rPr>
              <a:t>클래스의 객체로 스트림 얻기</a:t>
            </a:r>
            <a:endParaRPr lang="en-US" altLang="ko-KR" sz="1600" dirty="0">
              <a:latin typeface="+mn-ea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600" dirty="0"/>
          </a:p>
          <a:p>
            <a:pPr lvl="1">
              <a:lnSpc>
                <a:spcPct val="100000"/>
              </a:lnSpc>
            </a:pPr>
            <a:endParaRPr lang="en-US" altLang="ko-KR" sz="1600" dirty="0"/>
          </a:p>
          <a:p>
            <a:pPr lvl="1">
              <a:lnSpc>
                <a:spcPct val="100000"/>
              </a:lnSpc>
            </a:pPr>
            <a:endParaRPr lang="en-US" altLang="ko-KR" sz="16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200" b="1" dirty="0">
              <a:solidFill>
                <a:srgbClr val="002060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23" y="1617725"/>
            <a:ext cx="4981117" cy="447557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749038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스트림</a:t>
            </a:r>
            <a:r>
              <a:rPr lang="en-US" altLang="ko-KR" dirty="0"/>
              <a:t>(Stream)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80727"/>
            <a:ext cx="4724999" cy="5040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b="1" dirty="0">
                <a:solidFill>
                  <a:srgbClr val="C00000"/>
                </a:solidFill>
              </a:rPr>
              <a:t>클래스의 객체로 스트림 얻기</a:t>
            </a:r>
            <a:endParaRPr lang="en-US" altLang="ko-KR" sz="1600" dirty="0">
              <a:latin typeface="+mn-ea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600" dirty="0"/>
          </a:p>
          <a:p>
            <a:pPr lvl="1">
              <a:lnSpc>
                <a:spcPct val="100000"/>
              </a:lnSpc>
            </a:pPr>
            <a:endParaRPr lang="en-US" altLang="ko-KR" sz="1600" dirty="0"/>
          </a:p>
          <a:p>
            <a:pPr lvl="1">
              <a:lnSpc>
                <a:spcPct val="100000"/>
              </a:lnSpc>
            </a:pPr>
            <a:endParaRPr lang="en-US" altLang="ko-KR" sz="16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200" b="1" dirty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76" y="1628798"/>
            <a:ext cx="8049043" cy="41764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313787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스트림</a:t>
            </a:r>
            <a:r>
              <a:rPr lang="en-US" altLang="ko-KR" dirty="0"/>
              <a:t>(Stream)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80727"/>
            <a:ext cx="4724999" cy="5040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b="1" dirty="0">
                <a:solidFill>
                  <a:srgbClr val="C00000"/>
                </a:solidFill>
              </a:rPr>
              <a:t>클래스의 객체 스트림 얻기</a:t>
            </a:r>
            <a:endParaRPr lang="en-US" altLang="ko-KR" sz="1600" dirty="0">
              <a:latin typeface="+mn-ea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600" dirty="0"/>
          </a:p>
          <a:p>
            <a:pPr lvl="1">
              <a:lnSpc>
                <a:spcPct val="100000"/>
              </a:lnSpc>
            </a:pPr>
            <a:endParaRPr lang="en-US" altLang="ko-KR" sz="1600" dirty="0"/>
          </a:p>
          <a:p>
            <a:pPr lvl="1">
              <a:lnSpc>
                <a:spcPct val="100000"/>
              </a:lnSpc>
            </a:pPr>
            <a:endParaRPr lang="en-US" altLang="ko-KR" sz="16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200" b="1" dirty="0">
              <a:solidFill>
                <a:srgbClr val="00206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560" y="1628799"/>
            <a:ext cx="7034920" cy="40271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216" y="2204864"/>
            <a:ext cx="2744841" cy="21602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455389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스트림</a:t>
            </a:r>
            <a:r>
              <a:rPr lang="en-US" altLang="ko-KR" dirty="0"/>
              <a:t>(Stream)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92097" y="980728"/>
            <a:ext cx="6669215" cy="5760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b="1" dirty="0" err="1">
                <a:solidFill>
                  <a:srgbClr val="C00000"/>
                </a:solidFill>
              </a:rPr>
              <a:t>스트림을</a:t>
            </a:r>
            <a:r>
              <a:rPr lang="en-US" altLang="ko-KR" sz="1800" b="1" dirty="0">
                <a:solidFill>
                  <a:srgbClr val="C00000"/>
                </a:solidFill>
              </a:rPr>
              <a:t> </a:t>
            </a:r>
            <a:r>
              <a:rPr lang="ko-KR" altLang="en-US" sz="1800" b="1" dirty="0">
                <a:solidFill>
                  <a:srgbClr val="C00000"/>
                </a:solidFill>
              </a:rPr>
              <a:t>활용하여 여행객의 여행 비용 계산하기</a:t>
            </a:r>
            <a:endParaRPr lang="en-US" altLang="ko-KR" sz="1800" dirty="0">
              <a:latin typeface="+mn-ea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800" dirty="0">
              <a:latin typeface="+mn-ea"/>
            </a:endParaRPr>
          </a:p>
          <a:p>
            <a:pPr lvl="1">
              <a:lnSpc>
                <a:spcPct val="100000"/>
              </a:lnSpc>
            </a:pPr>
            <a:endParaRPr lang="en-US" altLang="ko-KR" sz="1800" dirty="0">
              <a:latin typeface="+mn-ea"/>
            </a:endParaRPr>
          </a:p>
          <a:p>
            <a:pPr lvl="1">
              <a:lnSpc>
                <a:spcPct val="100000"/>
              </a:lnSpc>
            </a:pPr>
            <a:endParaRPr lang="en-US" altLang="ko-KR" sz="1800" dirty="0">
              <a:latin typeface="+mn-ea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800" dirty="0">
              <a:latin typeface="+mn-ea"/>
            </a:endParaRPr>
          </a:p>
          <a:p>
            <a:pPr lvl="1" algn="r">
              <a:lnSpc>
                <a:spcPct val="100000"/>
              </a:lnSpc>
            </a:pPr>
            <a:endParaRPr lang="en-US" altLang="ko-KR" sz="1800" dirty="0">
              <a:latin typeface="+mn-ea"/>
            </a:endParaRPr>
          </a:p>
          <a:p>
            <a:pPr lvl="1">
              <a:lnSpc>
                <a:spcPct val="100000"/>
              </a:lnSpc>
            </a:pPr>
            <a:endParaRPr lang="en-US" altLang="ko-KR" sz="1800" dirty="0">
              <a:latin typeface="+mn-ea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800" dirty="0"/>
          </a:p>
          <a:p>
            <a:pPr lvl="1">
              <a:lnSpc>
                <a:spcPct val="100000"/>
              </a:lnSpc>
            </a:pPr>
            <a:endParaRPr lang="en-US" altLang="ko-KR" sz="1800" dirty="0"/>
          </a:p>
          <a:p>
            <a:pPr lvl="1">
              <a:lnSpc>
                <a:spcPct val="100000"/>
              </a:lnSpc>
            </a:pPr>
            <a:endParaRPr lang="en-US" altLang="ko-KR" sz="18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 b="1" dirty="0">
              <a:solidFill>
                <a:srgbClr val="002060"/>
              </a:solidFill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1241191-1320-448B-958D-8CB79767C029}"/>
              </a:ext>
            </a:extLst>
          </p:cNvPr>
          <p:cNvGraphicFramePr>
            <a:graphicFrameLocks noGrp="1"/>
          </p:cNvGraphicFramePr>
          <p:nvPr/>
        </p:nvGraphicFramePr>
        <p:xfrm>
          <a:off x="1496615" y="1628800"/>
          <a:ext cx="6336705" cy="1512168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112235">
                  <a:extLst>
                    <a:ext uri="{9D8B030D-6E8A-4147-A177-3AD203B41FA5}">
                      <a16:colId xmlns:a16="http://schemas.microsoft.com/office/drawing/2014/main" val="2999485284"/>
                    </a:ext>
                  </a:extLst>
                </a:gridCol>
                <a:gridCol w="2112235">
                  <a:extLst>
                    <a:ext uri="{9D8B030D-6E8A-4147-A177-3AD203B41FA5}">
                      <a16:colId xmlns:a16="http://schemas.microsoft.com/office/drawing/2014/main" val="1302133471"/>
                    </a:ext>
                  </a:extLst>
                </a:gridCol>
                <a:gridCol w="2112235">
                  <a:extLst>
                    <a:ext uri="{9D8B030D-6E8A-4147-A177-3AD203B41FA5}">
                      <a16:colId xmlns:a16="http://schemas.microsoft.com/office/drawing/2014/main" val="3478021724"/>
                    </a:ext>
                  </a:extLst>
                </a:gridCol>
              </a:tblGrid>
              <a:tr h="4788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CustomerLee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/>
                        <a:t>CustomerKang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CustomerHong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197872"/>
                  </a:ext>
                </a:extLst>
              </a:tr>
              <a:tr h="1033316"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/>
                        <a:t> - </a:t>
                      </a:r>
                      <a:r>
                        <a:rPr lang="ko-KR" altLang="en-US" sz="1600" dirty="0"/>
                        <a:t>이름 </a:t>
                      </a: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이순신</a:t>
                      </a:r>
                      <a:endParaRPr lang="en-US" altLang="ko-KR" sz="16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/>
                        <a:t> - </a:t>
                      </a:r>
                      <a:r>
                        <a:rPr lang="ko-KR" altLang="en-US" sz="1600" dirty="0"/>
                        <a:t>나이 </a:t>
                      </a:r>
                      <a:r>
                        <a:rPr lang="en-US" altLang="ko-KR" sz="1600" dirty="0"/>
                        <a:t>: 40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/>
                        <a:t> - </a:t>
                      </a:r>
                      <a:r>
                        <a:rPr lang="ko-KR" altLang="en-US" sz="1600" dirty="0"/>
                        <a:t>비용 </a:t>
                      </a:r>
                      <a:r>
                        <a:rPr lang="en-US" altLang="ko-KR" sz="1600" dirty="0"/>
                        <a:t>: 100</a:t>
                      </a:r>
                      <a:r>
                        <a:rPr lang="ko-KR" altLang="en-US" sz="1600" dirty="0"/>
                        <a:t>만원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/>
                        <a:t> - </a:t>
                      </a:r>
                      <a:r>
                        <a:rPr lang="ko-KR" altLang="en-US" sz="1600" dirty="0"/>
                        <a:t>이름 </a:t>
                      </a: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강감찬</a:t>
                      </a:r>
                      <a:endParaRPr lang="en-US" altLang="ko-KR" sz="16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/>
                        <a:t> - </a:t>
                      </a:r>
                      <a:r>
                        <a:rPr lang="ko-KR" altLang="en-US" sz="1600" dirty="0"/>
                        <a:t>나이 </a:t>
                      </a:r>
                      <a:r>
                        <a:rPr lang="en-US" altLang="ko-KR" sz="1600" dirty="0"/>
                        <a:t>: 30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/>
                        <a:t> - </a:t>
                      </a:r>
                      <a:r>
                        <a:rPr lang="ko-KR" altLang="en-US" sz="1600" dirty="0"/>
                        <a:t>비용 </a:t>
                      </a:r>
                      <a:r>
                        <a:rPr lang="en-US" altLang="ko-KR" sz="1600" dirty="0"/>
                        <a:t>: 100</a:t>
                      </a:r>
                      <a:r>
                        <a:rPr lang="ko-KR" altLang="en-US" sz="1600" dirty="0"/>
                        <a:t>만원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600" dirty="0"/>
                        <a:t> </a:t>
                      </a:r>
                      <a:r>
                        <a:rPr lang="en-US" altLang="ko-KR" sz="1600" dirty="0"/>
                        <a:t>- </a:t>
                      </a:r>
                      <a:r>
                        <a:rPr lang="ko-KR" altLang="en-US" sz="1600" dirty="0"/>
                        <a:t>이름 </a:t>
                      </a: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홍길동</a:t>
                      </a:r>
                      <a:endParaRPr lang="en-US" altLang="ko-KR" sz="16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/>
                        <a:t> - </a:t>
                      </a:r>
                      <a:r>
                        <a:rPr lang="ko-KR" altLang="en-US" sz="1600" dirty="0"/>
                        <a:t>나이 </a:t>
                      </a:r>
                      <a:r>
                        <a:rPr lang="en-US" altLang="ko-KR" sz="1600" dirty="0"/>
                        <a:t>: 14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/>
                        <a:t> - </a:t>
                      </a:r>
                      <a:r>
                        <a:rPr lang="ko-KR" altLang="en-US" sz="1600" dirty="0"/>
                        <a:t>비용 </a:t>
                      </a:r>
                      <a:r>
                        <a:rPr lang="en-US" altLang="ko-KR" sz="1600" dirty="0"/>
                        <a:t>: 50</a:t>
                      </a:r>
                      <a:r>
                        <a:rPr lang="ko-KR" altLang="en-US" sz="1600" dirty="0"/>
                        <a:t>만원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148843691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96615" y="3356992"/>
            <a:ext cx="6336705" cy="1522020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▶ 예제 시나리오</a:t>
            </a:r>
            <a:endParaRPr lang="en-US" altLang="ko-KR" sz="16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600" dirty="0"/>
              <a:t>고객의 명단을 출력합니다</a:t>
            </a:r>
            <a:r>
              <a:rPr lang="en-US" altLang="ko-KR" sz="1600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600" dirty="0"/>
              <a:t>여행의 총 비용을 계산합니다</a:t>
            </a:r>
            <a:r>
              <a:rPr lang="en-US" altLang="ko-KR" sz="1600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600" dirty="0"/>
              <a:t>고객 중 </a:t>
            </a:r>
            <a:r>
              <a:rPr lang="en-US" altLang="ko-KR" sz="1600" dirty="0"/>
              <a:t>20</a:t>
            </a:r>
            <a:r>
              <a:rPr lang="ko-KR" altLang="en-US" sz="1600" dirty="0"/>
              <a:t>세 이상인 사람의 이름을 정렬하여 출력합니다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0460713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스트림</a:t>
            </a:r>
            <a:r>
              <a:rPr lang="en-US" altLang="ko-KR" dirty="0"/>
              <a:t>(Stream)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92097" y="980728"/>
            <a:ext cx="6957247" cy="5040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b="1" dirty="0" err="1">
                <a:solidFill>
                  <a:srgbClr val="C00000"/>
                </a:solidFill>
              </a:rPr>
              <a:t>스트림을</a:t>
            </a:r>
            <a:r>
              <a:rPr lang="en-US" altLang="ko-KR" sz="1800" b="1" dirty="0">
                <a:solidFill>
                  <a:srgbClr val="C00000"/>
                </a:solidFill>
              </a:rPr>
              <a:t> </a:t>
            </a:r>
            <a:r>
              <a:rPr lang="ko-KR" altLang="en-US" sz="1800" b="1" dirty="0">
                <a:solidFill>
                  <a:srgbClr val="C00000"/>
                </a:solidFill>
              </a:rPr>
              <a:t>활용하여 여행객의 여행 비용 계산하기</a:t>
            </a:r>
            <a:endParaRPr lang="en-US" altLang="ko-KR" sz="1800" dirty="0">
              <a:latin typeface="+mn-ea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800" dirty="0"/>
          </a:p>
          <a:p>
            <a:pPr lvl="1">
              <a:lnSpc>
                <a:spcPct val="100000"/>
              </a:lnSpc>
            </a:pPr>
            <a:endParaRPr lang="en-US" altLang="ko-KR" sz="1800" dirty="0"/>
          </a:p>
          <a:p>
            <a:pPr lvl="1">
              <a:lnSpc>
                <a:spcPct val="100000"/>
              </a:lnSpc>
            </a:pPr>
            <a:endParaRPr lang="en-US" altLang="ko-KR" sz="18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 b="1" dirty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24" y="1556792"/>
            <a:ext cx="5225804" cy="464020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613697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스트림</a:t>
            </a:r>
            <a:r>
              <a:rPr lang="en-US" altLang="ko-KR" dirty="0"/>
              <a:t>(Stream)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92097" y="980728"/>
            <a:ext cx="6957247" cy="5040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b="1" dirty="0" err="1">
                <a:solidFill>
                  <a:srgbClr val="C00000"/>
                </a:solidFill>
              </a:rPr>
              <a:t>스트림을</a:t>
            </a:r>
            <a:r>
              <a:rPr lang="en-US" altLang="ko-KR" sz="1800" b="1" dirty="0">
                <a:solidFill>
                  <a:srgbClr val="C00000"/>
                </a:solidFill>
              </a:rPr>
              <a:t> </a:t>
            </a:r>
            <a:r>
              <a:rPr lang="ko-KR" altLang="en-US" sz="1800" b="1" dirty="0">
                <a:solidFill>
                  <a:srgbClr val="C00000"/>
                </a:solidFill>
              </a:rPr>
              <a:t>활용하여 여행객의 여행 비용 계산하기</a:t>
            </a:r>
            <a:endParaRPr lang="en-US" altLang="ko-KR" sz="1800" dirty="0"/>
          </a:p>
          <a:p>
            <a:pPr lvl="1">
              <a:lnSpc>
                <a:spcPct val="100000"/>
              </a:lnSpc>
            </a:pPr>
            <a:endParaRPr lang="en-US" altLang="ko-KR" sz="18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 b="1" dirty="0">
              <a:solidFill>
                <a:srgbClr val="002060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92" y="1628800"/>
            <a:ext cx="8420583" cy="424847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168" y="2056910"/>
            <a:ext cx="3052711" cy="148010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1725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DD81B33-3C10-4B58-9ACC-5628B021DE57}"/>
              </a:ext>
            </a:extLst>
          </p:cNvPr>
          <p:cNvSpPr txBox="1"/>
          <p:nvPr/>
        </p:nvSpPr>
        <p:spPr>
          <a:xfrm>
            <a:off x="776536" y="1484784"/>
            <a:ext cx="81667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   프로세스</a:t>
            </a:r>
            <a:r>
              <a:rPr lang="en-US" altLang="ko-KR" sz="1600" dirty="0"/>
              <a:t>(Process)</a:t>
            </a:r>
          </a:p>
          <a:p>
            <a:pPr marL="603647" lvl="1" indent="-232172">
              <a:buFont typeface="Wingdings" panose="05000000000000000000" pitchFamily="2" charset="2"/>
              <a:buChar char="§"/>
            </a:pPr>
            <a:r>
              <a:rPr lang="ko-KR" altLang="en-US" sz="1600" dirty="0"/>
              <a:t>실행 중인 하나의 프로그램을 말한다</a:t>
            </a:r>
            <a:r>
              <a:rPr lang="en-US" altLang="ko-KR" sz="1600" dirty="0"/>
              <a:t>.(</a:t>
            </a:r>
            <a:r>
              <a:rPr lang="ko-KR" altLang="en-US" sz="1600" dirty="0"/>
              <a:t>하드디스크 </a:t>
            </a:r>
            <a:r>
              <a:rPr lang="en-US" altLang="ko-KR" sz="1600" dirty="0"/>
              <a:t>-&gt; </a:t>
            </a:r>
            <a:r>
              <a:rPr lang="ko-KR" altLang="en-US" sz="1600" dirty="0"/>
              <a:t>주기억장치</a:t>
            </a:r>
            <a:r>
              <a:rPr lang="en-US" altLang="ko-KR" sz="1600" dirty="0"/>
              <a:t>)</a:t>
            </a:r>
          </a:p>
          <a:p>
            <a:pPr marL="603647" lvl="1" indent="-232172">
              <a:buFont typeface="Wingdings" panose="05000000000000000000" pitchFamily="2" charset="2"/>
              <a:buChar char="§"/>
            </a:pPr>
            <a:endParaRPr lang="en-US" altLang="ko-KR" sz="1600" dirty="0"/>
          </a:p>
          <a:p>
            <a:r>
              <a:rPr lang="ko-KR" altLang="en-US" sz="1600" dirty="0"/>
              <a:t>  멀티 </a:t>
            </a:r>
            <a:r>
              <a:rPr lang="ko-KR" altLang="en-US" sz="1600" dirty="0" err="1"/>
              <a:t>태스킹</a:t>
            </a:r>
            <a:r>
              <a:rPr lang="en-US" altLang="ko-KR" sz="1600" dirty="0"/>
              <a:t>(multi tasking)</a:t>
            </a:r>
          </a:p>
          <a:p>
            <a:pPr marL="603647" lvl="1" indent="-232172">
              <a:buFont typeface="Wingdings" panose="05000000000000000000" pitchFamily="2" charset="2"/>
              <a:buChar char="§"/>
            </a:pPr>
            <a:r>
              <a:rPr lang="ko-KR" altLang="en-US" sz="1600" dirty="0"/>
              <a:t>두가지 이상의 작업을 동시에 처리하는 것</a:t>
            </a:r>
            <a:r>
              <a:rPr lang="en-US" altLang="ko-KR" sz="1600" dirty="0"/>
              <a:t>.</a:t>
            </a:r>
          </a:p>
          <a:p>
            <a:pPr marL="603647" lvl="1" indent="-232172">
              <a:buFont typeface="Wingdings" panose="05000000000000000000" pitchFamily="2" charset="2"/>
              <a:buChar char="§"/>
            </a:pPr>
            <a:r>
              <a:rPr lang="ko-KR" altLang="en-US" sz="1600" dirty="0"/>
              <a:t>멀티 프로세스 </a:t>
            </a:r>
            <a:r>
              <a:rPr lang="en-US" altLang="ko-KR" sz="1600" dirty="0"/>
              <a:t>: </a:t>
            </a:r>
            <a:r>
              <a:rPr lang="ko-KR" altLang="en-US" sz="1600" dirty="0"/>
              <a:t>독립적으로 프로그램들을 실행하고 여러가지 작업처리</a:t>
            </a:r>
            <a:r>
              <a:rPr lang="en-US" altLang="ko-KR" sz="1600" dirty="0"/>
              <a:t>.</a:t>
            </a:r>
          </a:p>
          <a:p>
            <a:pPr marL="603647" lvl="1" indent="-232172">
              <a:buFont typeface="Wingdings" panose="05000000000000000000" pitchFamily="2" charset="2"/>
              <a:buChar char="§"/>
            </a:pPr>
            <a:r>
              <a:rPr lang="ko-KR" altLang="en-US" sz="1600" dirty="0"/>
              <a:t>멀티 스레드 </a:t>
            </a:r>
            <a:r>
              <a:rPr lang="en-US" altLang="ko-KR" sz="1600" dirty="0"/>
              <a:t>: </a:t>
            </a:r>
            <a:r>
              <a:rPr lang="ko-KR" altLang="en-US" sz="1600" dirty="0"/>
              <a:t>한 개를 프로그램을 실행하고 내부적으로 여러 가지 작업 처리</a:t>
            </a:r>
            <a:endParaRPr lang="en-US" altLang="ko-KR" sz="16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5B5900A-C7AE-410B-A88E-EF5BC96AF91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64"/>
          <a:stretch/>
        </p:blipFill>
        <p:spPr>
          <a:xfrm>
            <a:off x="6897216" y="3488751"/>
            <a:ext cx="2638062" cy="2091737"/>
          </a:xfrm>
          <a:prstGeom prst="rect">
            <a:avLst/>
          </a:prstGeom>
          <a:ln w="635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8F039AC-EDAF-4D10-B3BB-9ACEBD3B870C}"/>
              </a:ext>
            </a:extLst>
          </p:cNvPr>
          <p:cNvSpPr/>
          <p:nvPr/>
        </p:nvSpPr>
        <p:spPr>
          <a:xfrm>
            <a:off x="776536" y="3456828"/>
            <a:ext cx="5957232" cy="207889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E4058B0-4F3C-44CD-912F-EB1674FC6717}"/>
              </a:ext>
            </a:extLst>
          </p:cNvPr>
          <p:cNvSpPr/>
          <p:nvPr/>
        </p:nvSpPr>
        <p:spPr>
          <a:xfrm>
            <a:off x="1130971" y="4158882"/>
            <a:ext cx="1090568" cy="11246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C840D05-DF66-4815-B3D7-2AE4F85A464B}"/>
              </a:ext>
            </a:extLst>
          </p:cNvPr>
          <p:cNvGrpSpPr/>
          <p:nvPr/>
        </p:nvGrpSpPr>
        <p:grpSpPr>
          <a:xfrm>
            <a:off x="1281141" y="4496277"/>
            <a:ext cx="306722" cy="681606"/>
            <a:chOff x="1963024" y="5217952"/>
            <a:chExt cx="377504" cy="838899"/>
          </a:xfrm>
          <a:solidFill>
            <a:schemeClr val="bg1">
              <a:lumMod val="65000"/>
            </a:schemeClr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C466844-9BA9-4F1D-A68C-4E85E006E286}"/>
                </a:ext>
              </a:extLst>
            </p:cNvPr>
            <p:cNvSpPr/>
            <p:nvPr/>
          </p:nvSpPr>
          <p:spPr>
            <a:xfrm>
              <a:off x="1963024" y="5217952"/>
              <a:ext cx="377504" cy="83889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A643543D-F1A9-4606-A2C9-4F9E9DD2A28E}"/>
                </a:ext>
              </a:extLst>
            </p:cNvPr>
            <p:cNvCxnSpPr>
              <a:cxnSpLocks/>
            </p:cNvCxnSpPr>
            <p:nvPr/>
          </p:nvCxnSpPr>
          <p:spPr>
            <a:xfrm>
              <a:off x="2151776" y="5343787"/>
              <a:ext cx="0" cy="629174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A178E67-82AA-4E34-A516-138758CBA7AC}"/>
              </a:ext>
            </a:extLst>
          </p:cNvPr>
          <p:cNvGrpSpPr/>
          <p:nvPr/>
        </p:nvGrpSpPr>
        <p:grpSpPr>
          <a:xfrm>
            <a:off x="1738032" y="4496276"/>
            <a:ext cx="306722" cy="681606"/>
            <a:chOff x="1963024" y="5217952"/>
            <a:chExt cx="377504" cy="838899"/>
          </a:xfrm>
          <a:solidFill>
            <a:schemeClr val="bg1">
              <a:lumMod val="65000"/>
            </a:schemeClr>
          </a:solidFill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464188E-92F8-4D34-849E-257CF660271E}"/>
                </a:ext>
              </a:extLst>
            </p:cNvPr>
            <p:cNvSpPr/>
            <p:nvPr/>
          </p:nvSpPr>
          <p:spPr>
            <a:xfrm>
              <a:off x="1963024" y="5217952"/>
              <a:ext cx="377504" cy="83889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EE28BE99-3206-442D-83D4-0A928A0FE80F}"/>
                </a:ext>
              </a:extLst>
            </p:cNvPr>
            <p:cNvCxnSpPr>
              <a:cxnSpLocks/>
            </p:cNvCxnSpPr>
            <p:nvPr/>
          </p:nvCxnSpPr>
          <p:spPr>
            <a:xfrm>
              <a:off x="2151776" y="5343787"/>
              <a:ext cx="0" cy="629174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D57C4C7-FBD8-4A95-8F9C-35E5D1111459}"/>
              </a:ext>
            </a:extLst>
          </p:cNvPr>
          <p:cNvSpPr txBox="1"/>
          <p:nvPr/>
        </p:nvSpPr>
        <p:spPr>
          <a:xfrm>
            <a:off x="1200140" y="4213281"/>
            <a:ext cx="10625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멀티 스레드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A7B743-804B-412A-A136-23DBE7948FB8}"/>
              </a:ext>
            </a:extLst>
          </p:cNvPr>
          <p:cNvSpPr txBox="1"/>
          <p:nvPr/>
        </p:nvSpPr>
        <p:spPr>
          <a:xfrm>
            <a:off x="1130971" y="3836742"/>
            <a:ext cx="1078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프로세스 </a:t>
            </a:r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7A6C644-A5DC-4396-97A1-B59EB5D575AE}"/>
              </a:ext>
            </a:extLst>
          </p:cNvPr>
          <p:cNvSpPr/>
          <p:nvPr/>
        </p:nvSpPr>
        <p:spPr>
          <a:xfrm>
            <a:off x="3796134" y="4158882"/>
            <a:ext cx="886086" cy="11246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ED7D9F4-7125-4584-A8B5-8F597ABC03BC}"/>
              </a:ext>
            </a:extLst>
          </p:cNvPr>
          <p:cNvGrpSpPr/>
          <p:nvPr/>
        </p:nvGrpSpPr>
        <p:grpSpPr>
          <a:xfrm>
            <a:off x="4092633" y="4494398"/>
            <a:ext cx="306722" cy="681606"/>
            <a:chOff x="1963024" y="5217952"/>
            <a:chExt cx="377504" cy="838899"/>
          </a:xfrm>
          <a:solidFill>
            <a:schemeClr val="bg1">
              <a:lumMod val="65000"/>
            </a:schemeClr>
          </a:solidFill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4F7B8AD-DDEE-40DC-B03A-31DC5BE08EE6}"/>
                </a:ext>
              </a:extLst>
            </p:cNvPr>
            <p:cNvSpPr/>
            <p:nvPr/>
          </p:nvSpPr>
          <p:spPr>
            <a:xfrm>
              <a:off x="1963024" y="5217952"/>
              <a:ext cx="377504" cy="83889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2C73D9E0-50C7-48BD-9F2B-86729C0E4D17}"/>
                </a:ext>
              </a:extLst>
            </p:cNvPr>
            <p:cNvCxnSpPr>
              <a:cxnSpLocks/>
            </p:cNvCxnSpPr>
            <p:nvPr/>
          </p:nvCxnSpPr>
          <p:spPr>
            <a:xfrm>
              <a:off x="2151776" y="5343787"/>
              <a:ext cx="0" cy="629174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AD858ED-6790-45E0-896A-596B926813FA}"/>
              </a:ext>
            </a:extLst>
          </p:cNvPr>
          <p:cNvSpPr txBox="1"/>
          <p:nvPr/>
        </p:nvSpPr>
        <p:spPr>
          <a:xfrm>
            <a:off x="3692146" y="4205945"/>
            <a:ext cx="11076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싱글 스레드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C165F6-4B59-442B-833F-E9EE5C1D466D}"/>
              </a:ext>
            </a:extLst>
          </p:cNvPr>
          <p:cNvSpPr txBox="1"/>
          <p:nvPr/>
        </p:nvSpPr>
        <p:spPr>
          <a:xfrm>
            <a:off x="3692146" y="3866574"/>
            <a:ext cx="10717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프로세스 </a:t>
            </a:r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2EF3C4C-7974-4A8F-B8A2-4FF91B60E3B3}"/>
              </a:ext>
            </a:extLst>
          </p:cNvPr>
          <p:cNvSpPr/>
          <p:nvPr/>
        </p:nvSpPr>
        <p:spPr>
          <a:xfrm>
            <a:off x="4989143" y="4158882"/>
            <a:ext cx="1388515" cy="11246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3BA85684-48C4-487F-A48E-A885C057295E}"/>
              </a:ext>
            </a:extLst>
          </p:cNvPr>
          <p:cNvGrpSpPr/>
          <p:nvPr/>
        </p:nvGrpSpPr>
        <p:grpSpPr>
          <a:xfrm>
            <a:off x="5521967" y="4494397"/>
            <a:ext cx="306722" cy="681606"/>
            <a:chOff x="1963024" y="5217952"/>
            <a:chExt cx="377504" cy="838899"/>
          </a:xfrm>
          <a:solidFill>
            <a:schemeClr val="bg1">
              <a:lumMod val="65000"/>
            </a:schemeClr>
          </a:solidFill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DEEA7985-1685-4BE2-B59F-34D76BC13AAB}"/>
                </a:ext>
              </a:extLst>
            </p:cNvPr>
            <p:cNvSpPr/>
            <p:nvPr/>
          </p:nvSpPr>
          <p:spPr>
            <a:xfrm>
              <a:off x="1963024" y="5217952"/>
              <a:ext cx="377504" cy="83889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48897340-A132-4436-8BE3-51E2194B1854}"/>
                </a:ext>
              </a:extLst>
            </p:cNvPr>
            <p:cNvCxnSpPr>
              <a:cxnSpLocks/>
            </p:cNvCxnSpPr>
            <p:nvPr/>
          </p:nvCxnSpPr>
          <p:spPr>
            <a:xfrm>
              <a:off x="2151776" y="5343787"/>
              <a:ext cx="0" cy="629174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11A90508-4DDC-4353-A936-B0BAF69EE474}"/>
              </a:ext>
            </a:extLst>
          </p:cNvPr>
          <p:cNvGrpSpPr/>
          <p:nvPr/>
        </p:nvGrpSpPr>
        <p:grpSpPr>
          <a:xfrm>
            <a:off x="5962311" y="4494397"/>
            <a:ext cx="306722" cy="681606"/>
            <a:chOff x="1963024" y="5217952"/>
            <a:chExt cx="377504" cy="838899"/>
          </a:xfrm>
          <a:solidFill>
            <a:schemeClr val="bg1">
              <a:lumMod val="65000"/>
            </a:schemeClr>
          </a:solidFill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CF72BDE4-24D4-4FC3-82AE-E8A07ABA27C4}"/>
                </a:ext>
              </a:extLst>
            </p:cNvPr>
            <p:cNvSpPr/>
            <p:nvPr/>
          </p:nvSpPr>
          <p:spPr>
            <a:xfrm>
              <a:off x="1963024" y="5217952"/>
              <a:ext cx="377504" cy="83889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AECE26EB-C76B-451D-AEE6-3ADB3EBAB9CD}"/>
                </a:ext>
              </a:extLst>
            </p:cNvPr>
            <p:cNvCxnSpPr>
              <a:cxnSpLocks/>
            </p:cNvCxnSpPr>
            <p:nvPr/>
          </p:nvCxnSpPr>
          <p:spPr>
            <a:xfrm>
              <a:off x="2151776" y="5343787"/>
              <a:ext cx="0" cy="629174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F2968966-9A2F-4E91-9EAA-E6B0449E8111}"/>
              </a:ext>
            </a:extLst>
          </p:cNvPr>
          <p:cNvSpPr txBox="1"/>
          <p:nvPr/>
        </p:nvSpPr>
        <p:spPr>
          <a:xfrm>
            <a:off x="5166141" y="4221287"/>
            <a:ext cx="1102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멀티 스레드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E84CEA3-EA80-4C46-9963-BDD220D99E99}"/>
              </a:ext>
            </a:extLst>
          </p:cNvPr>
          <p:cNvSpPr txBox="1"/>
          <p:nvPr/>
        </p:nvSpPr>
        <p:spPr>
          <a:xfrm>
            <a:off x="5126253" y="3836757"/>
            <a:ext cx="110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프로세스 </a:t>
            </a:r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ECC18E7-CE9A-4030-AF1B-80BB2B33DE3D}"/>
              </a:ext>
            </a:extLst>
          </p:cNvPr>
          <p:cNvSpPr/>
          <p:nvPr/>
        </p:nvSpPr>
        <p:spPr>
          <a:xfrm>
            <a:off x="2603126" y="4158882"/>
            <a:ext cx="886086" cy="11246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06631C40-0792-48C5-BB0B-CA2B4E1D3777}"/>
              </a:ext>
            </a:extLst>
          </p:cNvPr>
          <p:cNvGrpSpPr/>
          <p:nvPr/>
        </p:nvGrpSpPr>
        <p:grpSpPr>
          <a:xfrm>
            <a:off x="2899624" y="4494398"/>
            <a:ext cx="306722" cy="681606"/>
            <a:chOff x="1963024" y="5217952"/>
            <a:chExt cx="377504" cy="838899"/>
          </a:xfrm>
          <a:solidFill>
            <a:schemeClr val="bg1">
              <a:lumMod val="65000"/>
            </a:schemeClr>
          </a:solidFill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7ED2E16B-1539-426A-9D1A-11663071F9B7}"/>
                </a:ext>
              </a:extLst>
            </p:cNvPr>
            <p:cNvSpPr/>
            <p:nvPr/>
          </p:nvSpPr>
          <p:spPr>
            <a:xfrm>
              <a:off x="1963024" y="5217952"/>
              <a:ext cx="377504" cy="83889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6A273F66-3F79-4F49-88C6-0200488587D0}"/>
                </a:ext>
              </a:extLst>
            </p:cNvPr>
            <p:cNvCxnSpPr>
              <a:cxnSpLocks/>
            </p:cNvCxnSpPr>
            <p:nvPr/>
          </p:nvCxnSpPr>
          <p:spPr>
            <a:xfrm>
              <a:off x="2151776" y="5343787"/>
              <a:ext cx="0" cy="629174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07688CE7-4589-4A85-A8CF-C684D183E8B0}"/>
              </a:ext>
            </a:extLst>
          </p:cNvPr>
          <p:cNvSpPr txBox="1"/>
          <p:nvPr/>
        </p:nvSpPr>
        <p:spPr>
          <a:xfrm>
            <a:off x="2513871" y="4214109"/>
            <a:ext cx="10805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싱글 스레드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47982B0-5887-448A-9B4A-F255B359B492}"/>
              </a:ext>
            </a:extLst>
          </p:cNvPr>
          <p:cNvSpPr txBox="1"/>
          <p:nvPr/>
        </p:nvSpPr>
        <p:spPr>
          <a:xfrm>
            <a:off x="2471407" y="3866574"/>
            <a:ext cx="1072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프로세스 </a:t>
            </a:r>
            <a:r>
              <a:rPr lang="en-US" altLang="ko-KR" sz="1400" dirty="0"/>
              <a:t>2</a:t>
            </a:r>
            <a:endParaRPr lang="ko-KR" altLang="en-US" sz="1400" dirty="0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683551CF-F841-48F8-94E5-BF1CBFC8496F}"/>
              </a:ext>
            </a:extLst>
          </p:cNvPr>
          <p:cNvGrpSpPr/>
          <p:nvPr/>
        </p:nvGrpSpPr>
        <p:grpSpPr>
          <a:xfrm>
            <a:off x="5081622" y="4494397"/>
            <a:ext cx="306722" cy="681606"/>
            <a:chOff x="1963024" y="5217952"/>
            <a:chExt cx="377504" cy="838899"/>
          </a:xfrm>
          <a:solidFill>
            <a:schemeClr val="bg1">
              <a:lumMod val="65000"/>
            </a:schemeClr>
          </a:solidFill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866C6E50-6077-4FD8-B411-89871C5EE675}"/>
                </a:ext>
              </a:extLst>
            </p:cNvPr>
            <p:cNvSpPr/>
            <p:nvPr/>
          </p:nvSpPr>
          <p:spPr>
            <a:xfrm>
              <a:off x="1963024" y="5217952"/>
              <a:ext cx="377504" cy="83889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C3489354-6395-4B24-A9BF-48BA33FA95F2}"/>
                </a:ext>
              </a:extLst>
            </p:cNvPr>
            <p:cNvCxnSpPr>
              <a:cxnSpLocks/>
            </p:cNvCxnSpPr>
            <p:nvPr/>
          </p:nvCxnSpPr>
          <p:spPr>
            <a:xfrm>
              <a:off x="2151776" y="5343787"/>
              <a:ext cx="0" cy="629174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F6BA05A4-FF15-4FF7-B02F-E866F257E1C3}"/>
              </a:ext>
            </a:extLst>
          </p:cNvPr>
          <p:cNvSpPr txBox="1"/>
          <p:nvPr/>
        </p:nvSpPr>
        <p:spPr>
          <a:xfrm>
            <a:off x="2754939" y="3488751"/>
            <a:ext cx="1874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멀티 프로세스 </a:t>
            </a:r>
          </a:p>
        </p:txBody>
      </p:sp>
      <p:sp>
        <p:nvSpPr>
          <p:cNvPr id="57" name="제목 5"/>
          <p:cNvSpPr txBox="1">
            <a:spLocks/>
          </p:cNvSpPr>
          <p:nvPr/>
        </p:nvSpPr>
        <p:spPr>
          <a:xfrm>
            <a:off x="1" y="-27384"/>
            <a:ext cx="3800872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멀티 </a:t>
            </a:r>
            <a:r>
              <a:rPr lang="ko-KR" altLang="en-US" dirty="0" err="1"/>
              <a:t>쓰레드</a:t>
            </a:r>
            <a:endParaRPr lang="ko-KR" altLang="en-US" dirty="0"/>
          </a:p>
        </p:txBody>
      </p:sp>
      <p:sp>
        <p:nvSpPr>
          <p:cNvPr id="5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704528" y="980728"/>
            <a:ext cx="3295458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프로세스와 </a:t>
            </a:r>
            <a:r>
              <a:rPr lang="ko-KR" altLang="en-US" sz="2000" b="1" dirty="0" err="1">
                <a:solidFill>
                  <a:srgbClr val="C00000"/>
                </a:solidFill>
              </a:rPr>
              <a:t>쓰레드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02679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DD81B33-3C10-4B58-9ACC-5628B021DE57}"/>
              </a:ext>
            </a:extLst>
          </p:cNvPr>
          <p:cNvSpPr txBox="1"/>
          <p:nvPr/>
        </p:nvSpPr>
        <p:spPr>
          <a:xfrm>
            <a:off x="491795" y="836712"/>
            <a:ext cx="8167625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rgbClr val="C00000"/>
                </a:solidFill>
              </a:rPr>
              <a:t>  </a:t>
            </a:r>
            <a:r>
              <a:rPr lang="ko-KR" altLang="en-US" b="1" dirty="0">
                <a:solidFill>
                  <a:srgbClr val="C00000"/>
                </a:solidFill>
              </a:rPr>
              <a:t>메인</a:t>
            </a:r>
            <a:r>
              <a:rPr lang="en-US" altLang="ko-KR" b="1" dirty="0">
                <a:solidFill>
                  <a:srgbClr val="C00000"/>
                </a:solidFill>
              </a:rPr>
              <a:t>(main) </a:t>
            </a:r>
            <a:r>
              <a:rPr lang="ko-KR" altLang="en-US" b="1" dirty="0">
                <a:solidFill>
                  <a:srgbClr val="C00000"/>
                </a:solidFill>
              </a:rPr>
              <a:t>스레드</a:t>
            </a:r>
            <a:endParaRPr lang="en-US" altLang="ko-KR" b="1" dirty="0">
              <a:solidFill>
                <a:srgbClr val="C00000"/>
              </a:solidFill>
            </a:endParaRPr>
          </a:p>
          <a:p>
            <a:pPr marL="603647" lvl="1" indent="-232172">
              <a:buFont typeface="Wingdings" panose="05000000000000000000" pitchFamily="2" charset="2"/>
              <a:buChar char="§"/>
            </a:pPr>
            <a:r>
              <a:rPr lang="ko-KR" altLang="en-US" sz="1600" dirty="0"/>
              <a:t>모든 자바 프로그램은 메인 스레드가 </a:t>
            </a:r>
            <a:r>
              <a:rPr lang="en-US" altLang="ko-KR" sz="1600" dirty="0"/>
              <a:t>main() </a:t>
            </a:r>
            <a:r>
              <a:rPr lang="ko-KR" altLang="en-US" sz="1600" dirty="0"/>
              <a:t>메소드를 실행하면서 시작된다</a:t>
            </a:r>
            <a:r>
              <a:rPr lang="en-US" altLang="ko-KR" sz="1600" dirty="0"/>
              <a:t>.</a:t>
            </a:r>
          </a:p>
          <a:p>
            <a:pPr marL="603647" lvl="1" indent="-232172">
              <a:buFont typeface="Wingdings" panose="05000000000000000000" pitchFamily="2" charset="2"/>
              <a:buChar char="§"/>
            </a:pPr>
            <a:r>
              <a:rPr lang="en-US" altLang="ko-KR" sz="1600" dirty="0"/>
              <a:t>main() </a:t>
            </a:r>
            <a:r>
              <a:rPr lang="ko-KR" altLang="en-US" sz="1600" dirty="0"/>
              <a:t>메소드의 첫 코드부터 아래로 순차적으로 실행한다</a:t>
            </a:r>
            <a:r>
              <a:rPr lang="en-US" altLang="ko-KR" sz="1600" dirty="0"/>
              <a:t>.</a:t>
            </a:r>
          </a:p>
          <a:p>
            <a:pPr marL="603647" lvl="1" indent="-232172">
              <a:buFont typeface="Wingdings" panose="05000000000000000000" pitchFamily="2" charset="2"/>
              <a:buChar char="§"/>
            </a:pPr>
            <a:r>
              <a:rPr lang="en-US" altLang="ko-KR" sz="1600" dirty="0"/>
              <a:t>main()</a:t>
            </a:r>
            <a:r>
              <a:rPr lang="ko-KR" altLang="en-US" sz="1600" dirty="0"/>
              <a:t>메소드의 마지막 코드를 실행하거나</a:t>
            </a:r>
            <a:r>
              <a:rPr lang="en-US" altLang="ko-KR" sz="1600" dirty="0"/>
              <a:t>, return</a:t>
            </a:r>
            <a:r>
              <a:rPr lang="ko-KR" altLang="en-US" sz="1600" dirty="0"/>
              <a:t>문을 만나면 실행이 종료된다</a:t>
            </a:r>
            <a:r>
              <a:rPr lang="en-US" altLang="ko-KR" sz="1600" dirty="0"/>
              <a:t>.</a:t>
            </a:r>
          </a:p>
          <a:p>
            <a:pPr marL="603647" lvl="1" indent="-232172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600" dirty="0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F288D2EB-4076-4D0F-B649-07303C8EBD6E}"/>
              </a:ext>
            </a:extLst>
          </p:cNvPr>
          <p:cNvSpPr/>
          <p:nvPr/>
        </p:nvSpPr>
        <p:spPr>
          <a:xfrm>
            <a:off x="1320687" y="2544543"/>
            <a:ext cx="1571044" cy="229190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7194F82-841F-4B54-83ED-2E2BC991A54E}"/>
              </a:ext>
            </a:extLst>
          </p:cNvPr>
          <p:cNvSpPr txBox="1"/>
          <p:nvPr/>
        </p:nvSpPr>
        <p:spPr>
          <a:xfrm>
            <a:off x="1178222" y="2250279"/>
            <a:ext cx="1904670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38" b="1" u="sng" dirty="0">
                <a:solidFill>
                  <a:srgbClr val="0070C0"/>
                </a:solidFill>
              </a:rPr>
              <a:t>싱글 스레드 애플리케이션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382796A4-65AF-4C44-99BA-D8D3062D138F}"/>
              </a:ext>
            </a:extLst>
          </p:cNvPr>
          <p:cNvSpPr/>
          <p:nvPr/>
        </p:nvSpPr>
        <p:spPr>
          <a:xfrm>
            <a:off x="1665569" y="2930299"/>
            <a:ext cx="886087" cy="15676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8804376-D5CA-49E9-B528-2DD24CF2B7DB}"/>
              </a:ext>
            </a:extLst>
          </p:cNvPr>
          <p:cNvSpPr txBox="1"/>
          <p:nvPr/>
        </p:nvSpPr>
        <p:spPr>
          <a:xfrm>
            <a:off x="1395158" y="2576568"/>
            <a:ext cx="698104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75" dirty="0"/>
              <a:t>프로세스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0D1A482-8571-45C5-BF80-14CD89BBCBF7}"/>
              </a:ext>
            </a:extLst>
          </p:cNvPr>
          <p:cNvSpPr txBox="1"/>
          <p:nvPr/>
        </p:nvSpPr>
        <p:spPr>
          <a:xfrm>
            <a:off x="1632340" y="4586378"/>
            <a:ext cx="960950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38" dirty="0"/>
              <a:t>메인 스레드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7C5165C-112A-4704-8922-9DE6D7E45333}"/>
              </a:ext>
            </a:extLst>
          </p:cNvPr>
          <p:cNvSpPr/>
          <p:nvPr/>
        </p:nvSpPr>
        <p:spPr>
          <a:xfrm>
            <a:off x="1830158" y="3081606"/>
            <a:ext cx="552100" cy="250069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75">
                <a:solidFill>
                  <a:sysClr val="windowText" lastClr="000000"/>
                </a:solidFill>
              </a:rPr>
              <a:t>코드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A63DEAF7-2258-4FED-B96C-B72FB4A585A3}"/>
              </a:ext>
            </a:extLst>
          </p:cNvPr>
          <p:cNvSpPr/>
          <p:nvPr/>
        </p:nvSpPr>
        <p:spPr>
          <a:xfrm>
            <a:off x="1836766" y="3631266"/>
            <a:ext cx="552100" cy="250069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75">
                <a:solidFill>
                  <a:sysClr val="windowText" lastClr="000000"/>
                </a:solidFill>
              </a:rPr>
              <a:t>코드</a:t>
            </a: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C623DA23-E4CD-4481-A2C1-6CF29D0474B1}"/>
              </a:ext>
            </a:extLst>
          </p:cNvPr>
          <p:cNvSpPr/>
          <p:nvPr/>
        </p:nvSpPr>
        <p:spPr>
          <a:xfrm>
            <a:off x="1836766" y="4142057"/>
            <a:ext cx="552100" cy="250069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75">
                <a:solidFill>
                  <a:sysClr val="windowText" lastClr="000000"/>
                </a:solidFill>
              </a:rPr>
              <a:t>코드</a:t>
            </a: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407AAF7B-7452-40CD-9DBD-3B2DB548CB0B}"/>
              </a:ext>
            </a:extLst>
          </p:cNvPr>
          <p:cNvCxnSpPr>
            <a:cxnSpLocks/>
          </p:cNvCxnSpPr>
          <p:nvPr/>
        </p:nvCxnSpPr>
        <p:spPr>
          <a:xfrm>
            <a:off x="2115999" y="3363833"/>
            <a:ext cx="0" cy="265440"/>
          </a:xfrm>
          <a:prstGeom prst="straightConnector1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7BCF2ACA-8011-4BC6-8ECB-632F9CD630AC}"/>
              </a:ext>
            </a:extLst>
          </p:cNvPr>
          <p:cNvCxnSpPr>
            <a:cxnSpLocks/>
          </p:cNvCxnSpPr>
          <p:nvPr/>
        </p:nvCxnSpPr>
        <p:spPr>
          <a:xfrm>
            <a:off x="2112816" y="3881335"/>
            <a:ext cx="0" cy="265440"/>
          </a:xfrm>
          <a:prstGeom prst="straightConnector1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E9BB0B18-6CE6-43FD-A2A3-A694EB9837D3}"/>
              </a:ext>
            </a:extLst>
          </p:cNvPr>
          <p:cNvSpPr/>
          <p:nvPr/>
        </p:nvSpPr>
        <p:spPr>
          <a:xfrm>
            <a:off x="3639550" y="2576568"/>
            <a:ext cx="3969203" cy="23557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17DB6E2-4715-47C0-8290-4EE8D6723CD8}"/>
              </a:ext>
            </a:extLst>
          </p:cNvPr>
          <p:cNvSpPr txBox="1"/>
          <p:nvPr/>
        </p:nvSpPr>
        <p:spPr>
          <a:xfrm>
            <a:off x="4622292" y="2224282"/>
            <a:ext cx="2132021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38" b="1" u="sng" dirty="0">
                <a:solidFill>
                  <a:srgbClr val="0070C0"/>
                </a:solidFill>
              </a:rPr>
              <a:t>멀티 스레드 애플리케이션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C40DABDF-6688-4B10-B264-78E5C25178F1}"/>
              </a:ext>
            </a:extLst>
          </p:cNvPr>
          <p:cNvSpPr/>
          <p:nvPr/>
        </p:nvSpPr>
        <p:spPr>
          <a:xfrm>
            <a:off x="3984433" y="2930299"/>
            <a:ext cx="886086" cy="1567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C73E532-AF70-48AC-A488-57A0CE2FAEDB}"/>
              </a:ext>
            </a:extLst>
          </p:cNvPr>
          <p:cNvSpPr txBox="1"/>
          <p:nvPr/>
        </p:nvSpPr>
        <p:spPr>
          <a:xfrm>
            <a:off x="3836711" y="2620849"/>
            <a:ext cx="738897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75" dirty="0"/>
              <a:t>프로세스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ED8FD41-A7EE-44FE-BFB1-AFDD594175EC}"/>
              </a:ext>
            </a:extLst>
          </p:cNvPr>
          <p:cNvSpPr txBox="1"/>
          <p:nvPr/>
        </p:nvSpPr>
        <p:spPr>
          <a:xfrm>
            <a:off x="3951205" y="4586379"/>
            <a:ext cx="960950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38" dirty="0"/>
              <a:t>메인 스레드</a:t>
            </a:r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A6693438-8D14-46F3-BC4F-65AE6CB72605}"/>
              </a:ext>
            </a:extLst>
          </p:cNvPr>
          <p:cNvSpPr/>
          <p:nvPr/>
        </p:nvSpPr>
        <p:spPr>
          <a:xfrm>
            <a:off x="4149022" y="3081606"/>
            <a:ext cx="552100" cy="250069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75">
                <a:solidFill>
                  <a:sysClr val="windowText" lastClr="000000"/>
                </a:solidFill>
              </a:rPr>
              <a:t>코드</a:t>
            </a: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5DB5DBC1-37E6-4A50-820A-B3C5CBB19DD8}"/>
              </a:ext>
            </a:extLst>
          </p:cNvPr>
          <p:cNvSpPr/>
          <p:nvPr/>
        </p:nvSpPr>
        <p:spPr>
          <a:xfrm>
            <a:off x="4155630" y="3631266"/>
            <a:ext cx="552100" cy="250069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75">
                <a:solidFill>
                  <a:sysClr val="windowText" lastClr="000000"/>
                </a:solidFill>
              </a:rPr>
              <a:t>코드</a:t>
            </a:r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2516ED8B-1F40-4AC8-856E-2ABE3695B9CF}"/>
              </a:ext>
            </a:extLst>
          </p:cNvPr>
          <p:cNvSpPr/>
          <p:nvPr/>
        </p:nvSpPr>
        <p:spPr>
          <a:xfrm>
            <a:off x="4155630" y="4142057"/>
            <a:ext cx="552100" cy="250069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75">
                <a:solidFill>
                  <a:sysClr val="windowText" lastClr="000000"/>
                </a:solidFill>
              </a:rPr>
              <a:t>코드</a:t>
            </a:r>
          </a:p>
        </p:txBody>
      </p: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8F5B4034-282E-4C04-820D-333E9241BD1A}"/>
              </a:ext>
            </a:extLst>
          </p:cNvPr>
          <p:cNvCxnSpPr>
            <a:cxnSpLocks/>
          </p:cNvCxnSpPr>
          <p:nvPr/>
        </p:nvCxnSpPr>
        <p:spPr>
          <a:xfrm>
            <a:off x="4421231" y="3357017"/>
            <a:ext cx="0" cy="265440"/>
          </a:xfrm>
          <a:prstGeom prst="straightConnector1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2048C311-93E1-4786-8102-C0C9A3D4304A}"/>
              </a:ext>
            </a:extLst>
          </p:cNvPr>
          <p:cNvCxnSpPr>
            <a:cxnSpLocks/>
          </p:cNvCxnSpPr>
          <p:nvPr/>
        </p:nvCxnSpPr>
        <p:spPr>
          <a:xfrm>
            <a:off x="4431680" y="3881335"/>
            <a:ext cx="0" cy="265440"/>
          </a:xfrm>
          <a:prstGeom prst="straightConnector1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52EE5110-6F4A-4389-812D-F4D108A9FE62}"/>
              </a:ext>
            </a:extLst>
          </p:cNvPr>
          <p:cNvSpPr/>
          <p:nvPr/>
        </p:nvSpPr>
        <p:spPr>
          <a:xfrm>
            <a:off x="5167578" y="3454939"/>
            <a:ext cx="886086" cy="10430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18A51BB-1E04-4A92-8370-0637A16E49D2}"/>
              </a:ext>
            </a:extLst>
          </p:cNvPr>
          <p:cNvSpPr txBox="1"/>
          <p:nvPr/>
        </p:nvSpPr>
        <p:spPr>
          <a:xfrm>
            <a:off x="5079996" y="4586379"/>
            <a:ext cx="1063016" cy="442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38" dirty="0"/>
              <a:t>작업 스레드 </a:t>
            </a:r>
            <a:r>
              <a:rPr lang="en-US" altLang="ko-KR" sz="1138" dirty="0"/>
              <a:t>1</a:t>
            </a:r>
            <a:endParaRPr lang="ko-KR" altLang="en-US" sz="1138" dirty="0"/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CDFDDE6C-0E89-4975-88D8-63CD5A28990E}"/>
              </a:ext>
            </a:extLst>
          </p:cNvPr>
          <p:cNvSpPr/>
          <p:nvPr/>
        </p:nvSpPr>
        <p:spPr>
          <a:xfrm>
            <a:off x="5338774" y="3631267"/>
            <a:ext cx="552100" cy="250069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75">
                <a:solidFill>
                  <a:sysClr val="windowText" lastClr="000000"/>
                </a:solidFill>
              </a:rPr>
              <a:t>코드</a:t>
            </a: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7C672945-FD71-480F-93F5-D087EEA80BF2}"/>
              </a:ext>
            </a:extLst>
          </p:cNvPr>
          <p:cNvSpPr/>
          <p:nvPr/>
        </p:nvSpPr>
        <p:spPr>
          <a:xfrm>
            <a:off x="5338774" y="4142058"/>
            <a:ext cx="552100" cy="250069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75">
                <a:solidFill>
                  <a:sysClr val="windowText" lastClr="000000"/>
                </a:solidFill>
              </a:rPr>
              <a:t>코드</a:t>
            </a:r>
          </a:p>
        </p:txBody>
      </p: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163AA0FD-9A8F-4133-97D0-FFE966A0642D}"/>
              </a:ext>
            </a:extLst>
          </p:cNvPr>
          <p:cNvCxnSpPr>
            <a:cxnSpLocks/>
          </p:cNvCxnSpPr>
          <p:nvPr/>
        </p:nvCxnSpPr>
        <p:spPr>
          <a:xfrm>
            <a:off x="5614824" y="3881336"/>
            <a:ext cx="0" cy="265440"/>
          </a:xfrm>
          <a:prstGeom prst="straightConnector1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E8FC8298-A9B7-43DF-8AF9-CAE36C10D5BF}"/>
              </a:ext>
            </a:extLst>
          </p:cNvPr>
          <p:cNvSpPr/>
          <p:nvPr/>
        </p:nvSpPr>
        <p:spPr>
          <a:xfrm>
            <a:off x="6325218" y="3454938"/>
            <a:ext cx="886086" cy="1061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6C6FC046-5A9C-45C3-B087-A8D4D472D5D8}"/>
              </a:ext>
            </a:extLst>
          </p:cNvPr>
          <p:cNvSpPr/>
          <p:nvPr/>
        </p:nvSpPr>
        <p:spPr>
          <a:xfrm>
            <a:off x="6496415" y="3649814"/>
            <a:ext cx="552100" cy="250069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75">
                <a:solidFill>
                  <a:sysClr val="windowText" lastClr="000000"/>
                </a:solidFill>
              </a:rPr>
              <a:t>코드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B22740DB-7BE0-4904-AF93-11EF03B3B6AD}"/>
              </a:ext>
            </a:extLst>
          </p:cNvPr>
          <p:cNvSpPr/>
          <p:nvPr/>
        </p:nvSpPr>
        <p:spPr>
          <a:xfrm>
            <a:off x="6496415" y="4160605"/>
            <a:ext cx="552100" cy="250069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75">
                <a:solidFill>
                  <a:sysClr val="windowText" lastClr="000000"/>
                </a:solidFill>
              </a:rPr>
              <a:t>코드</a:t>
            </a:r>
          </a:p>
        </p:txBody>
      </p: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0EF851EC-4087-401D-BDD7-3B5B3AA47DA7}"/>
              </a:ext>
            </a:extLst>
          </p:cNvPr>
          <p:cNvCxnSpPr>
            <a:cxnSpLocks/>
          </p:cNvCxnSpPr>
          <p:nvPr/>
        </p:nvCxnSpPr>
        <p:spPr>
          <a:xfrm>
            <a:off x="6772465" y="3899883"/>
            <a:ext cx="0" cy="265440"/>
          </a:xfrm>
          <a:prstGeom prst="straightConnector1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0D8CD4D9-25F8-4547-B90F-F200F9C82326}"/>
              </a:ext>
            </a:extLst>
          </p:cNvPr>
          <p:cNvSpPr txBox="1"/>
          <p:nvPr/>
        </p:nvSpPr>
        <p:spPr>
          <a:xfrm>
            <a:off x="6257058" y="4586379"/>
            <a:ext cx="1063016" cy="442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38" dirty="0"/>
              <a:t>작업 스레드 </a:t>
            </a:r>
            <a:r>
              <a:rPr lang="en-US" altLang="ko-KR" sz="1138" dirty="0"/>
              <a:t>2</a:t>
            </a:r>
            <a:endParaRPr lang="ko-KR" altLang="en-US" sz="1138" dirty="0"/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A3456047-E7F4-4C45-A375-8B63E5BD97F8}"/>
              </a:ext>
            </a:extLst>
          </p:cNvPr>
          <p:cNvCxnSpPr>
            <a:cxnSpLocks/>
            <a:stCxn id="99" idx="3"/>
            <a:endCxn id="118" idx="0"/>
          </p:cNvCxnSpPr>
          <p:nvPr/>
        </p:nvCxnSpPr>
        <p:spPr>
          <a:xfrm>
            <a:off x="4701123" y="3206641"/>
            <a:ext cx="2071342" cy="443173"/>
          </a:xfrm>
          <a:prstGeom prst="bentConnector2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72706BAF-F4EB-4945-8A79-64E235373D79}"/>
              </a:ext>
            </a:extLst>
          </p:cNvPr>
          <p:cNvCxnSpPr>
            <a:stCxn id="100" idx="3"/>
          </p:cNvCxnSpPr>
          <p:nvPr/>
        </p:nvCxnSpPr>
        <p:spPr>
          <a:xfrm flipV="1">
            <a:off x="4707730" y="3756300"/>
            <a:ext cx="631044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EEC9FC4A-F363-45D1-8A89-9C06D1E3CEF2}"/>
              </a:ext>
            </a:extLst>
          </p:cNvPr>
          <p:cNvSpPr txBox="1"/>
          <p:nvPr/>
        </p:nvSpPr>
        <p:spPr>
          <a:xfrm>
            <a:off x="663860" y="4958067"/>
            <a:ext cx="83215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   프로세스의 종료</a:t>
            </a:r>
            <a:endParaRPr lang="en-US" altLang="ko-KR" sz="1600" dirty="0"/>
          </a:p>
          <a:p>
            <a:pPr marL="603647" lvl="1" indent="-232172">
              <a:buFont typeface="Wingdings" panose="05000000000000000000" pitchFamily="2" charset="2"/>
              <a:buChar char="§"/>
            </a:pPr>
            <a:r>
              <a:rPr lang="ko-KR" altLang="en-US" sz="1600" dirty="0"/>
              <a:t>싱글 스레드 </a:t>
            </a:r>
            <a:r>
              <a:rPr lang="en-US" altLang="ko-KR" sz="1600" dirty="0"/>
              <a:t>: </a:t>
            </a:r>
            <a:r>
              <a:rPr lang="ko-KR" altLang="en-US" sz="1600" dirty="0"/>
              <a:t>메인 스레드가 종료되면 프로세스도 종료된다</a:t>
            </a:r>
            <a:r>
              <a:rPr lang="en-US" altLang="ko-KR" sz="1600" dirty="0"/>
              <a:t>.</a:t>
            </a:r>
          </a:p>
          <a:p>
            <a:pPr marL="603647" lvl="1" indent="-232172">
              <a:buFont typeface="Wingdings" panose="05000000000000000000" pitchFamily="2" charset="2"/>
              <a:buChar char="§"/>
            </a:pPr>
            <a:r>
              <a:rPr lang="ko-KR" altLang="en-US" sz="1600" dirty="0"/>
              <a:t>멀티 스레드 </a:t>
            </a:r>
            <a:r>
              <a:rPr lang="en-US" altLang="ko-KR" sz="1600" dirty="0"/>
              <a:t>: </a:t>
            </a:r>
            <a:r>
              <a:rPr lang="ko-KR" altLang="en-US" sz="1600" dirty="0"/>
              <a:t>실행 중인 스레드가 하나라도 있다면</a:t>
            </a:r>
            <a:r>
              <a:rPr lang="en-US" altLang="ko-KR" sz="1600" dirty="0"/>
              <a:t>, </a:t>
            </a:r>
            <a:r>
              <a:rPr lang="ko-KR" altLang="en-US" sz="1600" dirty="0"/>
              <a:t>프로세스는 종료되지 않는다</a:t>
            </a:r>
            <a:r>
              <a:rPr lang="en-US" altLang="ko-KR" sz="1600" dirty="0"/>
              <a:t>.</a:t>
            </a:r>
          </a:p>
          <a:p>
            <a:pPr lvl="1"/>
            <a:r>
              <a:rPr lang="en-US" altLang="ko-KR" sz="1600" dirty="0"/>
              <a:t>     (</a:t>
            </a:r>
            <a:r>
              <a:rPr lang="ko-KR" altLang="en-US" sz="1600" dirty="0"/>
              <a:t>메인 스레드가 작업 스레드보다 먼저 종료되는 경우도 있다</a:t>
            </a:r>
            <a:r>
              <a:rPr lang="en-US" altLang="ko-KR" sz="1600" dirty="0"/>
              <a:t>.)</a:t>
            </a:r>
          </a:p>
          <a:p>
            <a:pPr marL="603647" lvl="1" indent="-232172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600" dirty="0"/>
          </a:p>
        </p:txBody>
      </p:sp>
      <p:sp>
        <p:nvSpPr>
          <p:cNvPr id="38" name="제목 5"/>
          <p:cNvSpPr txBox="1">
            <a:spLocks/>
          </p:cNvSpPr>
          <p:nvPr/>
        </p:nvSpPr>
        <p:spPr>
          <a:xfrm>
            <a:off x="1" y="-27384"/>
            <a:ext cx="3800872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멀티 </a:t>
            </a:r>
            <a:r>
              <a:rPr lang="ko-KR" altLang="en-US" dirty="0" err="1"/>
              <a:t>쓰레드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26769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DD81B33-3C10-4B58-9ACC-5628B021DE57}"/>
              </a:ext>
            </a:extLst>
          </p:cNvPr>
          <p:cNvSpPr txBox="1"/>
          <p:nvPr/>
        </p:nvSpPr>
        <p:spPr>
          <a:xfrm>
            <a:off x="1109523" y="1624577"/>
            <a:ext cx="79928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000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자바에서는 작업 스레드도 객체로 생성되기 때문에 클래스가 필요하다</a:t>
            </a:r>
            <a:r>
              <a:rPr lang="en-US" altLang="ko-KR" sz="1600" dirty="0"/>
              <a:t>.</a:t>
            </a:r>
          </a:p>
          <a:p>
            <a:pPr marL="2000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/>
              <a:t>Java.lang.Thread</a:t>
            </a:r>
            <a:r>
              <a:rPr lang="en-US" altLang="ko-KR" sz="1600" dirty="0"/>
              <a:t> </a:t>
            </a:r>
            <a:r>
              <a:rPr lang="ko-KR" altLang="en-US" sz="1600" dirty="0"/>
              <a:t>클래스를 직접 </a:t>
            </a:r>
            <a:r>
              <a:rPr lang="ko-KR" altLang="en-US" sz="1600" dirty="0" err="1"/>
              <a:t>객체화하거나</a:t>
            </a:r>
            <a:r>
              <a:rPr lang="en-US" altLang="ko-KR" sz="1600" dirty="0"/>
              <a:t>, Thread</a:t>
            </a:r>
            <a:r>
              <a:rPr lang="ko-KR" altLang="en-US" sz="1600" dirty="0"/>
              <a:t>를 상속해서 하위 클래스를 만들어 생성</a:t>
            </a:r>
            <a:endParaRPr lang="en-US" altLang="ko-KR" sz="160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68A1867-7CD4-49EE-83C7-70CEA737ECB0}"/>
              </a:ext>
            </a:extLst>
          </p:cNvPr>
          <p:cNvGrpSpPr/>
          <p:nvPr/>
        </p:nvGrpSpPr>
        <p:grpSpPr>
          <a:xfrm>
            <a:off x="3944888" y="3071661"/>
            <a:ext cx="5184576" cy="2020413"/>
            <a:chOff x="1887523" y="2943109"/>
            <a:chExt cx="5783823" cy="1909050"/>
          </a:xfrm>
        </p:grpSpPr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D941E062-9EEF-4ED7-BA9F-D133DAFD3E62}"/>
                </a:ext>
              </a:extLst>
            </p:cNvPr>
            <p:cNvSpPr/>
            <p:nvPr/>
          </p:nvSpPr>
          <p:spPr>
            <a:xfrm>
              <a:off x="2880228" y="2943109"/>
              <a:ext cx="3926047" cy="455402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ysClr val="windowText" lastClr="000000"/>
                  </a:solidFill>
                </a:rPr>
                <a:t>병렬로 실행할 작업 결정</a:t>
              </a:r>
              <a:endParaRPr lang="en-US" altLang="ko-KR" sz="1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BEFBEA21-593E-4412-8CDF-DF9AC31F2AD9}"/>
                </a:ext>
              </a:extLst>
            </p:cNvPr>
            <p:cNvSpPr/>
            <p:nvPr/>
          </p:nvSpPr>
          <p:spPr>
            <a:xfrm>
              <a:off x="1887523" y="4118419"/>
              <a:ext cx="1873884" cy="733740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ko-KR" sz="1600" dirty="0">
                <a:solidFill>
                  <a:sysClr val="windowText" lastClr="000000"/>
                </a:solidFill>
              </a:endParaRPr>
            </a:p>
            <a:p>
              <a:pPr algn="ctr"/>
              <a:endParaRPr lang="en-US" altLang="ko-KR" sz="1600" dirty="0">
                <a:solidFill>
                  <a:sysClr val="windowText" lastClr="000000"/>
                </a:solidFill>
              </a:endParaRPr>
            </a:p>
            <a:p>
              <a:pPr algn="ctr"/>
              <a:endParaRPr lang="en-US" altLang="ko-KR" sz="16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ysClr val="windowText" lastClr="000000"/>
                  </a:solidFill>
                </a:rPr>
                <a:t>메인 스레드</a:t>
              </a:r>
              <a:endParaRPr lang="en-US" altLang="ko-KR" sz="16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altLang="ko-KR" sz="1600" dirty="0">
                  <a:solidFill>
                    <a:sysClr val="windowText" lastClr="000000"/>
                  </a:solidFill>
                </a:rPr>
                <a:t>(</a:t>
              </a:r>
              <a:r>
                <a:rPr lang="ko-KR" altLang="en-US" sz="1600" dirty="0">
                  <a:solidFill>
                    <a:sysClr val="windowText" lastClr="000000"/>
                  </a:solidFill>
                </a:rPr>
                <a:t>프로그램 시작</a:t>
              </a:r>
              <a:r>
                <a:rPr lang="en-US" altLang="ko-KR" sz="1600" dirty="0">
                  <a:solidFill>
                    <a:sysClr val="windowText" lastClr="000000"/>
                  </a:solidFill>
                </a:rPr>
                <a:t>)</a:t>
              </a:r>
            </a:p>
            <a:p>
              <a:pPr algn="ctr"/>
              <a:endParaRPr lang="en-US" altLang="ko-KR" sz="1600" dirty="0">
                <a:solidFill>
                  <a:sysClr val="windowText" lastClr="000000"/>
                </a:solidFill>
              </a:endParaRPr>
            </a:p>
            <a:p>
              <a:pPr algn="ctr"/>
              <a:endParaRPr lang="en-US" altLang="ko-KR" sz="1600" dirty="0">
                <a:solidFill>
                  <a:sysClr val="windowText" lastClr="000000"/>
                </a:solidFill>
              </a:endParaRPr>
            </a:p>
            <a:p>
              <a:pPr algn="ctr"/>
              <a:endParaRPr lang="ko-KR" altLang="en-US" sz="1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2" name="자유형: 도형 61">
              <a:extLst>
                <a:ext uri="{FF2B5EF4-FFF2-40B4-BE49-F238E27FC236}">
                  <a16:creationId xmlns:a16="http://schemas.microsoft.com/office/drawing/2014/main" id="{5A310A04-DDF6-43A3-A7F4-040840B7DFC5}"/>
                </a:ext>
              </a:extLst>
            </p:cNvPr>
            <p:cNvSpPr/>
            <p:nvPr/>
          </p:nvSpPr>
          <p:spPr>
            <a:xfrm>
              <a:off x="2768370" y="3837164"/>
              <a:ext cx="3984768" cy="298034"/>
            </a:xfrm>
            <a:custGeom>
              <a:avLst/>
              <a:gdLst>
                <a:gd name="connsiteX0" fmla="*/ 0 w 3338818"/>
                <a:gd name="connsiteY0" fmla="*/ 243280 h 285225"/>
                <a:gd name="connsiteX1" fmla="*/ 0 w 3338818"/>
                <a:gd name="connsiteY1" fmla="*/ 0 h 285225"/>
                <a:gd name="connsiteX2" fmla="*/ 3330429 w 3338818"/>
                <a:gd name="connsiteY2" fmla="*/ 0 h 285225"/>
                <a:gd name="connsiteX3" fmla="*/ 3338818 w 3338818"/>
                <a:gd name="connsiteY3" fmla="*/ 285225 h 28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8818" h="285225">
                  <a:moveTo>
                    <a:pt x="0" y="243280"/>
                  </a:moveTo>
                  <a:lnTo>
                    <a:pt x="0" y="0"/>
                  </a:lnTo>
                  <a:lnTo>
                    <a:pt x="3330429" y="0"/>
                  </a:lnTo>
                  <a:lnTo>
                    <a:pt x="3338818" y="285225"/>
                  </a:lnTo>
                </a:path>
              </a:pathLst>
            </a:custGeom>
            <a:ln>
              <a:headEnd type="triangle" w="med" len="med"/>
              <a:tailEnd type="triangle" w="med" len="med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CDA94D2E-DC23-4F2F-9F18-55FB0B3AF594}"/>
                </a:ext>
              </a:extLst>
            </p:cNvPr>
            <p:cNvCxnSpPr>
              <a:cxnSpLocks/>
            </p:cNvCxnSpPr>
            <p:nvPr/>
          </p:nvCxnSpPr>
          <p:spPr>
            <a:xfrm>
              <a:off x="4785444" y="3398511"/>
              <a:ext cx="0" cy="71990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EA717ECE-1932-47FB-9E4B-5FF5047FA343}"/>
                </a:ext>
              </a:extLst>
            </p:cNvPr>
            <p:cNvSpPr/>
            <p:nvPr/>
          </p:nvSpPr>
          <p:spPr>
            <a:xfrm>
              <a:off x="3921714" y="4118419"/>
              <a:ext cx="1847965" cy="733740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ko-KR" sz="1600" dirty="0">
                <a:solidFill>
                  <a:sysClr val="windowText" lastClr="000000"/>
                </a:solidFill>
              </a:endParaRPr>
            </a:p>
            <a:p>
              <a:pPr algn="ctr"/>
              <a:endParaRPr lang="en-US" altLang="ko-KR" sz="1600" dirty="0">
                <a:solidFill>
                  <a:sysClr val="windowText" lastClr="000000"/>
                </a:solidFill>
              </a:endParaRPr>
            </a:p>
            <a:p>
              <a:pPr algn="ctr"/>
              <a:endParaRPr lang="en-US" altLang="ko-KR" sz="16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ysClr val="windowText" lastClr="000000"/>
                  </a:solidFill>
                </a:rPr>
                <a:t>스레드 </a:t>
              </a:r>
              <a:r>
                <a:rPr lang="en-US" altLang="ko-KR" sz="1600" dirty="0">
                  <a:solidFill>
                    <a:sysClr val="windowText" lastClr="000000"/>
                  </a:solidFill>
                </a:rPr>
                <a:t>1</a:t>
              </a:r>
            </a:p>
            <a:p>
              <a:pPr algn="ctr"/>
              <a:r>
                <a:rPr lang="en-US" altLang="ko-KR" sz="1600" dirty="0">
                  <a:solidFill>
                    <a:sysClr val="windowText" lastClr="000000"/>
                  </a:solidFill>
                </a:rPr>
                <a:t>(</a:t>
              </a:r>
              <a:r>
                <a:rPr lang="ko-KR" altLang="en-US" sz="1600" dirty="0">
                  <a:solidFill>
                    <a:sysClr val="windowText" lastClr="000000"/>
                  </a:solidFill>
                </a:rPr>
                <a:t>네트워킹</a:t>
              </a:r>
              <a:r>
                <a:rPr lang="en-US" altLang="ko-KR" sz="1600" dirty="0">
                  <a:solidFill>
                    <a:sysClr val="windowText" lastClr="000000"/>
                  </a:solidFill>
                </a:rPr>
                <a:t>)</a:t>
              </a:r>
            </a:p>
            <a:p>
              <a:pPr algn="ctr"/>
              <a:endParaRPr lang="en-US" altLang="ko-KR" sz="1600" dirty="0">
                <a:solidFill>
                  <a:sysClr val="windowText" lastClr="000000"/>
                </a:solidFill>
              </a:endParaRPr>
            </a:p>
            <a:p>
              <a:pPr algn="ctr"/>
              <a:endParaRPr lang="en-US" altLang="ko-KR" sz="1600" dirty="0">
                <a:solidFill>
                  <a:sysClr val="windowText" lastClr="000000"/>
                </a:solidFill>
              </a:endParaRPr>
            </a:p>
            <a:p>
              <a:pPr algn="ctr"/>
              <a:endParaRPr lang="ko-KR" altLang="en-US" sz="1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82353AC0-599D-41B4-A57D-6DA1B2EAC532}"/>
                </a:ext>
              </a:extLst>
            </p:cNvPr>
            <p:cNvSpPr/>
            <p:nvPr/>
          </p:nvSpPr>
          <p:spPr>
            <a:xfrm>
              <a:off x="5941205" y="4118419"/>
              <a:ext cx="1730141" cy="733740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ko-KR" sz="1600" dirty="0">
                <a:solidFill>
                  <a:sysClr val="windowText" lastClr="000000"/>
                </a:solidFill>
              </a:endParaRPr>
            </a:p>
            <a:p>
              <a:pPr algn="ctr"/>
              <a:endParaRPr lang="en-US" altLang="ko-KR" sz="1600" dirty="0">
                <a:solidFill>
                  <a:sysClr val="windowText" lastClr="000000"/>
                </a:solidFill>
              </a:endParaRPr>
            </a:p>
            <a:p>
              <a:pPr algn="ctr"/>
              <a:endParaRPr lang="en-US" altLang="ko-KR" sz="16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ysClr val="windowText" lastClr="000000"/>
                  </a:solidFill>
                </a:rPr>
                <a:t>스레드 </a:t>
              </a:r>
              <a:r>
                <a:rPr lang="en-US" altLang="ko-KR" sz="1600" dirty="0">
                  <a:solidFill>
                    <a:sysClr val="windowText" lastClr="000000"/>
                  </a:solidFill>
                </a:rPr>
                <a:t>2</a:t>
              </a:r>
            </a:p>
            <a:p>
              <a:pPr algn="ctr"/>
              <a:r>
                <a:rPr lang="en-US" altLang="ko-KR" sz="1600" dirty="0">
                  <a:solidFill>
                    <a:sysClr val="windowText" lastClr="000000"/>
                  </a:solidFill>
                </a:rPr>
                <a:t>(</a:t>
              </a:r>
              <a:r>
                <a:rPr lang="ko-KR" altLang="en-US" sz="1600" dirty="0">
                  <a:solidFill>
                    <a:sysClr val="windowText" lastClr="000000"/>
                  </a:solidFill>
                </a:rPr>
                <a:t>드로잉</a:t>
              </a:r>
              <a:r>
                <a:rPr lang="en-US" altLang="ko-KR" sz="1600" dirty="0">
                  <a:solidFill>
                    <a:sysClr val="windowText" lastClr="000000"/>
                  </a:solidFill>
                </a:rPr>
                <a:t>)</a:t>
              </a:r>
            </a:p>
            <a:p>
              <a:pPr algn="ctr"/>
              <a:endParaRPr lang="en-US" altLang="ko-KR" sz="1600" dirty="0">
                <a:solidFill>
                  <a:sysClr val="windowText" lastClr="000000"/>
                </a:solidFill>
              </a:endParaRPr>
            </a:p>
            <a:p>
              <a:pPr algn="ctr"/>
              <a:endParaRPr lang="en-US" altLang="ko-KR" sz="1600" dirty="0">
                <a:solidFill>
                  <a:sysClr val="windowText" lastClr="000000"/>
                </a:solidFill>
              </a:endParaRPr>
            </a:p>
            <a:p>
              <a:pPr algn="ctr"/>
              <a:endParaRPr lang="ko-KR" altLang="en-US" sz="160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3" name="제목 5"/>
          <p:cNvSpPr txBox="1">
            <a:spLocks/>
          </p:cNvSpPr>
          <p:nvPr/>
        </p:nvSpPr>
        <p:spPr>
          <a:xfrm>
            <a:off x="1" y="-27384"/>
            <a:ext cx="3800872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en-US" altLang="ko-KR" dirty="0"/>
              <a:t>Thread </a:t>
            </a:r>
            <a:r>
              <a:rPr lang="ko-KR" altLang="en-US" dirty="0"/>
              <a:t>클래스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547" y="2924944"/>
            <a:ext cx="2277285" cy="293308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73621" y="980728"/>
            <a:ext cx="3760852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b="1" dirty="0">
                <a:solidFill>
                  <a:srgbClr val="C00000"/>
                </a:solidFill>
              </a:rPr>
              <a:t>작업 </a:t>
            </a:r>
            <a:r>
              <a:rPr lang="ko-KR" altLang="en-US" sz="2000" b="1" dirty="0" err="1">
                <a:solidFill>
                  <a:srgbClr val="C00000"/>
                </a:solidFill>
              </a:rPr>
              <a:t>스레드</a:t>
            </a:r>
            <a:r>
              <a:rPr lang="ko-KR" altLang="en-US" sz="2000" b="1" dirty="0">
                <a:solidFill>
                  <a:srgbClr val="C00000"/>
                </a:solidFill>
              </a:rPr>
              <a:t> 생성과 실행 </a:t>
            </a:r>
            <a:endParaRPr lang="en-US" altLang="ko-KR" sz="2000" dirty="0"/>
          </a:p>
          <a:p>
            <a:pPr lvl="1">
              <a:lnSpc>
                <a:spcPct val="100000"/>
              </a:lnSpc>
            </a:pP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b="1" dirty="0"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30417" y="3701301"/>
            <a:ext cx="1008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/>
              <a:t>메인작업</a:t>
            </a:r>
            <a:endParaRPr lang="ko-KR" altLang="en-US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6510123" y="3701301"/>
            <a:ext cx="720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작업</a:t>
            </a:r>
            <a:r>
              <a:rPr lang="en-US" altLang="ko-KR" sz="1600" dirty="0"/>
              <a:t>1</a:t>
            </a:r>
            <a:endParaRPr lang="ko-KR" altLang="en-US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7874341" y="3701301"/>
            <a:ext cx="7240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작업</a:t>
            </a:r>
            <a:r>
              <a:rPr lang="en-US" altLang="ko-KR" sz="1600" dirty="0"/>
              <a:t>2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271577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CE1C9AD0-9A11-479E-8A61-CD6E58941419}"/>
              </a:ext>
            </a:extLst>
          </p:cNvPr>
          <p:cNvGraphicFramePr>
            <a:graphicFrameLocks noGrp="1"/>
          </p:cNvGraphicFramePr>
          <p:nvPr/>
        </p:nvGraphicFramePr>
        <p:xfrm>
          <a:off x="2256841" y="2410334"/>
          <a:ext cx="4211182" cy="1994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1182">
                  <a:extLst>
                    <a:ext uri="{9D8B030D-6E8A-4147-A177-3AD203B41FA5}">
                      <a16:colId xmlns:a16="http://schemas.microsoft.com/office/drawing/2014/main" val="3058073475"/>
                    </a:ext>
                  </a:extLst>
                </a:gridCol>
              </a:tblGrid>
              <a:tr h="144016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800" b="0" dirty="0">
                          <a:solidFill>
                            <a:srgbClr val="C00000"/>
                          </a:solidFill>
                        </a:rPr>
                        <a:t>class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 Task </a:t>
                      </a:r>
                      <a:r>
                        <a:rPr lang="en-US" altLang="ko-KR" sz="1800" b="0" dirty="0">
                          <a:solidFill>
                            <a:srgbClr val="C00000"/>
                          </a:solidFill>
                        </a:rPr>
                        <a:t>implements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 Runnable{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     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      @Override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public void run(){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            </a:t>
                      </a:r>
                      <a:r>
                        <a:rPr lang="en-US" altLang="ko-KR" sz="1800" b="0" dirty="0">
                          <a:solidFill>
                            <a:srgbClr val="00B050"/>
                          </a:solidFill>
                        </a:rPr>
                        <a:t>//</a:t>
                      </a:r>
                      <a:r>
                        <a:rPr lang="ko-KR" altLang="en-US" sz="1800" b="0" dirty="0">
                          <a:solidFill>
                            <a:srgbClr val="00B050"/>
                          </a:solidFill>
                        </a:rPr>
                        <a:t>스레드가 실행할 코드</a:t>
                      </a:r>
                      <a:r>
                        <a:rPr lang="en-US" altLang="ko-KR" sz="1800" b="0" dirty="0">
                          <a:solidFill>
                            <a:srgbClr val="00B050"/>
                          </a:solidFill>
                        </a:rPr>
                        <a:t>;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      }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081826"/>
                  </a:ext>
                </a:extLst>
              </a:tr>
            </a:tbl>
          </a:graphicData>
        </a:graphic>
      </p:graphicFrame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172D4F4B-26A7-4105-AE3E-47D8D2D9E96C}"/>
              </a:ext>
            </a:extLst>
          </p:cNvPr>
          <p:cNvGraphicFramePr>
            <a:graphicFrameLocks noGrp="1"/>
          </p:cNvGraphicFramePr>
          <p:nvPr/>
        </p:nvGraphicFramePr>
        <p:xfrm>
          <a:off x="2256841" y="4474576"/>
          <a:ext cx="4211182" cy="938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1182">
                  <a:extLst>
                    <a:ext uri="{9D8B030D-6E8A-4147-A177-3AD203B41FA5}">
                      <a16:colId xmlns:a16="http://schemas.microsoft.com/office/drawing/2014/main" val="3058073475"/>
                    </a:ext>
                  </a:extLst>
                </a:gridCol>
              </a:tblGrid>
              <a:tr h="9384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  Runnable task = new Task();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 Thread </a:t>
                      </a:r>
                      <a:r>
                        <a:rPr lang="en-US" altLang="ko-KR" sz="1800" b="0" dirty="0" err="1">
                          <a:solidFill>
                            <a:schemeClr val="tx1"/>
                          </a:solidFill>
                        </a:rPr>
                        <a:t>thread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 = new Thread(task)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081826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76AF775C-5FFF-4E90-A429-74B9F2D13B0E}"/>
              </a:ext>
            </a:extLst>
          </p:cNvPr>
          <p:cNvSpPr txBox="1"/>
          <p:nvPr/>
        </p:nvSpPr>
        <p:spPr>
          <a:xfrm>
            <a:off x="996110" y="1092502"/>
            <a:ext cx="5685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방법 </a:t>
            </a:r>
            <a:r>
              <a:rPr lang="en-US" altLang="ko-KR" b="1" dirty="0"/>
              <a:t>1) Thread </a:t>
            </a:r>
            <a:r>
              <a:rPr lang="ko-KR" altLang="en-US" b="1" dirty="0"/>
              <a:t>클래스로 부터 직접 생성</a:t>
            </a:r>
          </a:p>
        </p:txBody>
      </p: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A3177616-37FE-4C8A-8475-C36158C4600D}"/>
              </a:ext>
            </a:extLst>
          </p:cNvPr>
          <p:cNvGraphicFramePr>
            <a:graphicFrameLocks noGrp="1"/>
          </p:cNvGraphicFramePr>
          <p:nvPr/>
        </p:nvGraphicFramePr>
        <p:xfrm>
          <a:off x="2939630" y="5463504"/>
          <a:ext cx="1621468" cy="485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468">
                  <a:extLst>
                    <a:ext uri="{9D8B030D-6E8A-4147-A177-3AD203B41FA5}">
                      <a16:colId xmlns:a16="http://schemas.microsoft.com/office/drawing/2014/main" val="3058073475"/>
                    </a:ext>
                  </a:extLst>
                </a:gridCol>
              </a:tblGrid>
              <a:tr h="413712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1" dirty="0" err="1">
                          <a:solidFill>
                            <a:srgbClr val="C00000"/>
                          </a:solidFill>
                        </a:rPr>
                        <a:t>thread.start</a:t>
                      </a:r>
                      <a:r>
                        <a:rPr lang="en-US" altLang="ko-KR" sz="1800" b="1" dirty="0">
                          <a:solidFill>
                            <a:srgbClr val="C00000"/>
                          </a:solidFill>
                        </a:rPr>
                        <a:t>()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081826"/>
                  </a:ext>
                </a:extLst>
              </a:tr>
            </a:tbl>
          </a:graphicData>
        </a:graphic>
      </p:graphicFrame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26822254-CE65-44A6-AAC2-F7C914DAA23A}"/>
              </a:ext>
            </a:extLst>
          </p:cNvPr>
          <p:cNvCxnSpPr>
            <a:cxnSpLocks/>
          </p:cNvCxnSpPr>
          <p:nvPr/>
        </p:nvCxnSpPr>
        <p:spPr>
          <a:xfrm>
            <a:off x="2256841" y="5756914"/>
            <a:ext cx="576064" cy="0"/>
          </a:xfrm>
          <a:prstGeom prst="straightConnector1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제목 5"/>
          <p:cNvSpPr txBox="1">
            <a:spLocks/>
          </p:cNvSpPr>
          <p:nvPr/>
        </p:nvSpPr>
        <p:spPr>
          <a:xfrm>
            <a:off x="1" y="-27384"/>
            <a:ext cx="3800872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Thread </a:t>
            </a:r>
            <a:r>
              <a:rPr lang="ko-KR" altLang="en-US" dirty="0"/>
              <a:t>클래스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707965" y="5537115"/>
            <a:ext cx="1829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/>
              <a:t>쓰레드</a:t>
            </a:r>
            <a:r>
              <a:rPr lang="ko-KR" altLang="en-US" sz="1600" dirty="0"/>
              <a:t> 시작</a:t>
            </a:r>
            <a:r>
              <a:rPr lang="en-US" altLang="ko-KR" sz="1600" dirty="0"/>
              <a:t>(</a:t>
            </a:r>
            <a:r>
              <a:rPr lang="ko-KR" altLang="en-US" sz="1600" dirty="0"/>
              <a:t>실행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1424608" y="1461834"/>
            <a:ext cx="6731461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Runnable</a:t>
            </a:r>
            <a:r>
              <a:rPr lang="ko-KR" altLang="en-US" sz="1600" dirty="0"/>
              <a:t>은 스레드가 </a:t>
            </a:r>
            <a:r>
              <a:rPr lang="ko-KR" altLang="en-US" sz="1600" dirty="0" err="1"/>
              <a:t>작업흘</a:t>
            </a:r>
            <a:r>
              <a:rPr lang="ko-KR" altLang="en-US" sz="1600" dirty="0"/>
              <a:t> 실행할 때 사용하는 인터페이스이다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Run() </a:t>
            </a:r>
            <a:r>
              <a:rPr lang="ko-KR" altLang="en-US" sz="1600" dirty="0"/>
              <a:t>메서드를 재정의해서 스레드가 실행할 코드를 가지고 있어야 함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4450417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76AF775C-5FFF-4E90-A429-74B9F2D13B0E}"/>
              </a:ext>
            </a:extLst>
          </p:cNvPr>
          <p:cNvSpPr txBox="1"/>
          <p:nvPr/>
        </p:nvSpPr>
        <p:spPr>
          <a:xfrm>
            <a:off x="992560" y="1124744"/>
            <a:ext cx="5973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방법 </a:t>
            </a:r>
            <a:r>
              <a:rPr lang="en-US" altLang="ko-KR" b="1" dirty="0"/>
              <a:t>2) Runnable </a:t>
            </a:r>
            <a:r>
              <a:rPr lang="ko-KR" altLang="en-US" b="1" dirty="0"/>
              <a:t>구현 객체 정의</a:t>
            </a:r>
          </a:p>
        </p:txBody>
      </p:sp>
      <p:sp>
        <p:nvSpPr>
          <p:cNvPr id="15" name="제목 5"/>
          <p:cNvSpPr txBox="1">
            <a:spLocks/>
          </p:cNvSpPr>
          <p:nvPr/>
        </p:nvSpPr>
        <p:spPr>
          <a:xfrm>
            <a:off x="1" y="-27384"/>
            <a:ext cx="3800872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Thread </a:t>
            </a:r>
            <a:r>
              <a:rPr lang="ko-KR" altLang="en-US" dirty="0"/>
              <a:t>클래스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856656" y="1700808"/>
            <a:ext cx="4943459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 Runnable task = new Runnable(){</a:t>
            </a:r>
          </a:p>
          <a:p>
            <a:endParaRPr lang="en-US" altLang="ko-KR" dirty="0"/>
          </a:p>
          <a:p>
            <a:r>
              <a:rPr lang="en-US" altLang="ko-KR" dirty="0"/>
              <a:t>        @Override</a:t>
            </a:r>
          </a:p>
          <a:p>
            <a:r>
              <a:rPr lang="en-US" altLang="ko-KR" dirty="0"/>
              <a:t>        public void run() {       </a:t>
            </a:r>
          </a:p>
          <a:p>
            <a:r>
              <a:rPr lang="en-US" altLang="ko-KR" dirty="0"/>
              <a:t>           </a:t>
            </a:r>
            <a:r>
              <a:rPr lang="en-US" altLang="ko-KR" dirty="0">
                <a:solidFill>
                  <a:srgbClr val="00B050"/>
                </a:solidFill>
              </a:rPr>
              <a:t>//</a:t>
            </a:r>
            <a:r>
              <a:rPr lang="ko-KR" altLang="en-US" dirty="0">
                <a:solidFill>
                  <a:srgbClr val="00B050"/>
                </a:solidFill>
              </a:rPr>
              <a:t>스레드가 실행할 코드</a:t>
            </a:r>
            <a:endParaRPr lang="en-US" altLang="ko-KR" dirty="0">
              <a:solidFill>
                <a:srgbClr val="00B050"/>
              </a:solidFill>
            </a:endParaRPr>
          </a:p>
          <a:p>
            <a:r>
              <a:rPr lang="en-US" altLang="ko-KR" dirty="0"/>
              <a:t>        }		</a:t>
            </a:r>
            <a:r>
              <a:rPr lang="ko-KR" altLang="en-US" dirty="0"/>
              <a:t>		</a:t>
            </a:r>
            <a:r>
              <a:rPr lang="en-US" altLang="ko-KR" dirty="0"/>
              <a:t>	</a:t>
            </a:r>
          </a:p>
          <a:p>
            <a:r>
              <a:rPr lang="en-US" altLang="ko-KR" dirty="0"/>
              <a:t>    };</a:t>
            </a:r>
          </a:p>
          <a:p>
            <a:endParaRPr lang="en-US" altLang="ko-KR" dirty="0"/>
          </a:p>
          <a:p>
            <a:r>
              <a:rPr lang="en-US" altLang="ko-KR" dirty="0"/>
              <a:t>  Thread </a:t>
            </a:r>
            <a:r>
              <a:rPr lang="en-US" altLang="ko-KR" dirty="0" err="1"/>
              <a:t>thread</a:t>
            </a:r>
            <a:r>
              <a:rPr lang="en-US" altLang="ko-KR" dirty="0"/>
              <a:t> = new Thread(task)</a:t>
            </a:r>
          </a:p>
          <a:p>
            <a:r>
              <a:rPr lang="en-US" altLang="ko-KR" dirty="0"/>
              <a:t>  </a:t>
            </a:r>
            <a:r>
              <a:rPr lang="en-US" altLang="ko-KR" dirty="0" err="1"/>
              <a:t>thread.start</a:t>
            </a:r>
            <a:r>
              <a:rPr lang="en-US" altLang="ko-KR" dirty="0"/>
              <a:t>()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04235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5"/>
          <p:cNvSpPr txBox="1">
            <a:spLocks/>
          </p:cNvSpPr>
          <p:nvPr/>
        </p:nvSpPr>
        <p:spPr>
          <a:xfrm>
            <a:off x="1" y="-27384"/>
            <a:ext cx="3800872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Thread </a:t>
            </a:r>
            <a:r>
              <a:rPr lang="ko-KR" altLang="en-US" dirty="0"/>
              <a:t>이름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0552" y="980728"/>
            <a:ext cx="222413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C00000"/>
                </a:solidFill>
              </a:rPr>
              <a:t>Thread </a:t>
            </a:r>
            <a:r>
              <a:rPr lang="ko-KR" altLang="en-US" sz="2000" b="1" dirty="0">
                <a:solidFill>
                  <a:srgbClr val="C00000"/>
                </a:solidFill>
              </a:rPr>
              <a:t> 이름</a:t>
            </a:r>
            <a:endParaRPr lang="en-US" altLang="ko-KR" sz="2000" dirty="0"/>
          </a:p>
          <a:p>
            <a:pPr lvl="1">
              <a:lnSpc>
                <a:spcPct val="100000"/>
              </a:lnSpc>
            </a:pP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b="1" dirty="0">
              <a:solidFill>
                <a:srgbClr val="00206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51154" y="1484784"/>
            <a:ext cx="77541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/>
              <a:t>스레드는</a:t>
            </a:r>
            <a:r>
              <a:rPr lang="ko-KR" altLang="en-US" sz="1600" dirty="0"/>
              <a:t> 자신의 이름을 가지고 있다</a:t>
            </a:r>
            <a:r>
              <a:rPr lang="en-US" altLang="ko-KR" sz="1600" dirty="0"/>
              <a:t>. </a:t>
            </a:r>
            <a:r>
              <a:rPr lang="ko-KR" altLang="en-US" sz="1600" dirty="0"/>
              <a:t>메인 </a:t>
            </a:r>
            <a:r>
              <a:rPr lang="ko-KR" altLang="en-US" sz="1600" dirty="0" err="1"/>
              <a:t>스레드는</a:t>
            </a:r>
            <a:r>
              <a:rPr lang="ko-KR" altLang="en-US" sz="1600" dirty="0"/>
              <a:t> </a:t>
            </a:r>
            <a:r>
              <a:rPr lang="en-US" altLang="ko-KR" sz="1600" dirty="0"/>
              <a:t>‘main’</a:t>
            </a:r>
            <a:r>
              <a:rPr lang="ko-KR" altLang="en-US" sz="1600" dirty="0"/>
              <a:t>이라는 이름을 가지고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직접 생성한 </a:t>
            </a:r>
            <a:r>
              <a:rPr lang="ko-KR" altLang="en-US" sz="1600" dirty="0" err="1"/>
              <a:t>스레드는</a:t>
            </a:r>
            <a:r>
              <a:rPr lang="ko-KR" altLang="en-US" sz="1600" dirty="0"/>
              <a:t> 자동으로</a:t>
            </a:r>
            <a:r>
              <a:rPr lang="en-US" altLang="ko-KR" sz="1600" dirty="0"/>
              <a:t> Thread-n </a:t>
            </a:r>
            <a:r>
              <a:rPr lang="ko-KR" altLang="en-US" sz="1600" dirty="0"/>
              <a:t>이라는 이름으로 설정된다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1" dirty="0"/>
              <a:t>다른 이름으로 설정하고 싶다면 </a:t>
            </a:r>
            <a:r>
              <a:rPr lang="en-US" altLang="ko-KR" sz="1600" b="1" dirty="0"/>
              <a:t>Thread </a:t>
            </a:r>
            <a:r>
              <a:rPr lang="ko-KR" altLang="en-US" sz="1600" b="1" dirty="0"/>
              <a:t>클래스의 </a:t>
            </a:r>
            <a:r>
              <a:rPr lang="en-US" altLang="ko-KR" sz="1600" b="1" dirty="0" err="1"/>
              <a:t>setName</a:t>
            </a:r>
            <a:r>
              <a:rPr lang="en-US" altLang="ko-KR" sz="1600" b="1" dirty="0"/>
              <a:t>() </a:t>
            </a:r>
            <a:r>
              <a:rPr lang="ko-KR" altLang="en-US" sz="1600" b="1" dirty="0" err="1"/>
              <a:t>메소드로</a:t>
            </a:r>
            <a:r>
              <a:rPr lang="ko-KR" altLang="en-US" sz="1600" b="1" dirty="0"/>
              <a:t> 변경한다</a:t>
            </a:r>
            <a:r>
              <a:rPr lang="en-US" altLang="ko-KR" sz="1600" b="1" dirty="0"/>
              <a:t>.</a:t>
            </a:r>
            <a:endParaRPr lang="ko-KR" altLang="en-US" sz="1600" b="1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1241191-1320-448B-958D-8CB79767C029}"/>
              </a:ext>
            </a:extLst>
          </p:cNvPr>
          <p:cNvGraphicFramePr>
            <a:graphicFrameLocks noGrp="1"/>
          </p:cNvGraphicFramePr>
          <p:nvPr/>
        </p:nvGraphicFramePr>
        <p:xfrm>
          <a:off x="1330750" y="2924944"/>
          <a:ext cx="7574575" cy="222075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173976">
                  <a:extLst>
                    <a:ext uri="{9D8B030D-6E8A-4147-A177-3AD203B41FA5}">
                      <a16:colId xmlns:a16="http://schemas.microsoft.com/office/drawing/2014/main" val="1302133471"/>
                    </a:ext>
                  </a:extLst>
                </a:gridCol>
                <a:gridCol w="5400599">
                  <a:extLst>
                    <a:ext uri="{9D8B030D-6E8A-4147-A177-3AD203B41FA5}">
                      <a16:colId xmlns:a16="http://schemas.microsoft.com/office/drawing/2014/main" val="3478021724"/>
                    </a:ext>
                  </a:extLst>
                </a:gridCol>
              </a:tblGrid>
              <a:tr h="4441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메소드명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설명</a:t>
                      </a:r>
                    </a:p>
                  </a:txBody>
                  <a:tcPr marL="74295" marR="74295" marT="37148" marB="37148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197872"/>
                  </a:ext>
                </a:extLst>
              </a:tr>
              <a:tr h="4441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</a:t>
                      </a:r>
                      <a:r>
                        <a:rPr lang="en-US" altLang="ko-KR" sz="1600" dirty="0" err="1"/>
                        <a:t>currentThread</a:t>
                      </a:r>
                      <a:r>
                        <a:rPr lang="en-US" altLang="ko-KR" sz="1600" dirty="0"/>
                        <a:t>()</a:t>
                      </a:r>
                      <a:endParaRPr lang="ko-KR" altLang="en-US" sz="16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aseline="0" dirty="0"/>
                        <a:t> </a:t>
                      </a:r>
                      <a:r>
                        <a:rPr lang="ko-KR" altLang="en-US" sz="1600" baseline="0" dirty="0"/>
                        <a:t>현재 실행 중인 메서드 반환</a:t>
                      </a:r>
                      <a:endParaRPr lang="ko-KR" altLang="en-US" sz="1600" dirty="0"/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1488436910"/>
                  </a:ext>
                </a:extLst>
              </a:tr>
              <a:tr h="4441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</a:t>
                      </a:r>
                      <a:r>
                        <a:rPr lang="en-US" altLang="ko-KR" sz="1600" dirty="0" err="1"/>
                        <a:t>getName</a:t>
                      </a:r>
                      <a:r>
                        <a:rPr lang="en-US" altLang="ko-KR" sz="1600" dirty="0"/>
                        <a:t>()</a:t>
                      </a:r>
                      <a:endParaRPr lang="ko-KR" altLang="en-US" sz="16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스레드의 이름 반환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1701167864"/>
                  </a:ext>
                </a:extLst>
              </a:tr>
              <a:tr h="4441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aseline="0" dirty="0"/>
                        <a:t> </a:t>
                      </a:r>
                      <a:r>
                        <a:rPr lang="en-US" altLang="ko-KR" sz="1600" baseline="0" dirty="0" err="1"/>
                        <a:t>setName</a:t>
                      </a:r>
                      <a:r>
                        <a:rPr lang="en-US" altLang="ko-KR" sz="1600" baseline="0" dirty="0"/>
                        <a:t>()</a:t>
                      </a:r>
                      <a:endParaRPr lang="ko-KR" altLang="en-US" sz="16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스레드의 이름 지정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변경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631478700"/>
                  </a:ext>
                </a:extLst>
              </a:tr>
              <a:tr h="4441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start()</a:t>
                      </a:r>
                      <a:endParaRPr lang="ko-KR" altLang="en-US" sz="16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스레드 시작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2001138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44980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5"/>
          <p:cNvSpPr txBox="1">
            <a:spLocks/>
          </p:cNvSpPr>
          <p:nvPr/>
        </p:nvSpPr>
        <p:spPr>
          <a:xfrm>
            <a:off x="1" y="-27384"/>
            <a:ext cx="3800872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Thread </a:t>
            </a:r>
            <a:r>
              <a:rPr lang="ko-KR" altLang="en-US" dirty="0"/>
              <a:t>이름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8666" y="980728"/>
            <a:ext cx="5680518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Runnable </a:t>
            </a:r>
            <a:r>
              <a:rPr lang="ko-KR" altLang="en-US" sz="2000" b="1" dirty="0">
                <a:solidFill>
                  <a:srgbClr val="C00000"/>
                </a:solidFill>
              </a:rPr>
              <a:t>인터페이스로 구현</a:t>
            </a:r>
            <a:endParaRPr lang="en-US" altLang="ko-KR" sz="2000" dirty="0"/>
          </a:p>
          <a:p>
            <a:pPr lvl="1">
              <a:lnSpc>
                <a:spcPct val="100000"/>
              </a:lnSpc>
            </a:pP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b="1" dirty="0">
              <a:solidFill>
                <a:srgbClr val="00206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1700808"/>
            <a:ext cx="6995354" cy="410445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868296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5"/>
          <p:cNvSpPr txBox="1">
            <a:spLocks/>
          </p:cNvSpPr>
          <p:nvPr/>
        </p:nvSpPr>
        <p:spPr>
          <a:xfrm>
            <a:off x="1" y="-27384"/>
            <a:ext cx="3800872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Thread </a:t>
            </a:r>
            <a:r>
              <a:rPr lang="ko-KR" altLang="en-US" dirty="0"/>
              <a:t>이름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1628800"/>
            <a:ext cx="6349474" cy="36004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232" y="4437112"/>
            <a:ext cx="2024225" cy="129614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8666" y="980728"/>
            <a:ext cx="5680518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Runnable </a:t>
            </a:r>
            <a:r>
              <a:rPr lang="ko-KR" altLang="en-US" sz="2000" b="1" dirty="0">
                <a:solidFill>
                  <a:srgbClr val="C00000"/>
                </a:solidFill>
              </a:rPr>
              <a:t>인터페이스로 구현</a:t>
            </a:r>
            <a:endParaRPr lang="en-US" altLang="ko-KR" sz="2000" dirty="0"/>
          </a:p>
          <a:p>
            <a:pPr lvl="1">
              <a:lnSpc>
                <a:spcPct val="100000"/>
              </a:lnSpc>
            </a:pP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6993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5"/>
          <p:cNvSpPr txBox="1">
            <a:spLocks/>
          </p:cNvSpPr>
          <p:nvPr/>
        </p:nvSpPr>
        <p:spPr>
          <a:xfrm>
            <a:off x="1" y="-27384"/>
            <a:ext cx="3800872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Thread </a:t>
            </a:r>
            <a:r>
              <a:rPr lang="ko-KR" altLang="en-US" dirty="0"/>
              <a:t>이름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8666" y="980728"/>
            <a:ext cx="4816422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Lambda</a:t>
            </a:r>
            <a:r>
              <a:rPr lang="ko-KR" altLang="en-US" sz="2000" b="1" dirty="0">
                <a:solidFill>
                  <a:srgbClr val="C00000"/>
                </a:solidFill>
              </a:rPr>
              <a:t>로 구현</a:t>
            </a:r>
            <a:endParaRPr lang="en-US" altLang="ko-KR" sz="2000" dirty="0"/>
          </a:p>
          <a:p>
            <a:pPr lvl="1">
              <a:lnSpc>
                <a:spcPct val="100000"/>
              </a:lnSpc>
            </a:pP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b="1" dirty="0">
              <a:solidFill>
                <a:srgbClr val="00206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633384"/>
            <a:ext cx="5734856" cy="144618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298346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DD81B33-3C10-4B58-9ACC-5628B021DE57}"/>
              </a:ext>
            </a:extLst>
          </p:cNvPr>
          <p:cNvSpPr txBox="1"/>
          <p:nvPr/>
        </p:nvSpPr>
        <p:spPr>
          <a:xfrm>
            <a:off x="920552" y="1008733"/>
            <a:ext cx="3888432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rgbClr val="C00000"/>
                </a:solidFill>
              </a:rPr>
              <a:t>메인 </a:t>
            </a:r>
            <a:r>
              <a:rPr lang="ko-KR" altLang="en-US" b="1" dirty="0" err="1">
                <a:solidFill>
                  <a:srgbClr val="C00000"/>
                </a:solidFill>
              </a:rPr>
              <a:t>스레드만</a:t>
            </a:r>
            <a:r>
              <a:rPr lang="ko-KR" altLang="en-US" b="1" dirty="0">
                <a:solidFill>
                  <a:srgbClr val="C00000"/>
                </a:solidFill>
              </a:rPr>
              <a:t> 이용한 경우</a:t>
            </a:r>
            <a:endParaRPr lang="en-US" altLang="ko-KR" b="1" dirty="0">
              <a:solidFill>
                <a:srgbClr val="C00000"/>
              </a:solidFill>
            </a:endParaRPr>
          </a:p>
        </p:txBody>
      </p:sp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617295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 err="1"/>
              <a:t>비프음과</a:t>
            </a:r>
            <a:r>
              <a:rPr lang="ko-KR" altLang="en-US" dirty="0"/>
              <a:t> 문자 출력 동시 실행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905" y="1844823"/>
            <a:ext cx="2569592" cy="183917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544" y="1556792"/>
            <a:ext cx="5256584" cy="4724741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400729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113239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 err="1"/>
              <a:t>비프음과</a:t>
            </a:r>
            <a:r>
              <a:rPr lang="ko-KR" altLang="en-US" dirty="0"/>
              <a:t> 문자 출력 동시 실행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D81B33-3C10-4B58-9ACC-5628B021DE57}"/>
              </a:ext>
            </a:extLst>
          </p:cNvPr>
          <p:cNvSpPr txBox="1"/>
          <p:nvPr/>
        </p:nvSpPr>
        <p:spPr>
          <a:xfrm>
            <a:off x="920552" y="1008733"/>
            <a:ext cx="38884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 err="1">
                <a:solidFill>
                  <a:srgbClr val="C00000"/>
                </a:solidFill>
              </a:rPr>
              <a:t>비프음을</a:t>
            </a:r>
            <a:r>
              <a:rPr lang="ko-KR" altLang="en-US" b="1" dirty="0">
                <a:solidFill>
                  <a:srgbClr val="C00000"/>
                </a:solidFill>
              </a:rPr>
              <a:t> 들려주는 </a:t>
            </a:r>
            <a:r>
              <a:rPr lang="ko-KR" altLang="en-US" b="1" dirty="0" err="1">
                <a:solidFill>
                  <a:srgbClr val="C00000"/>
                </a:solidFill>
              </a:rPr>
              <a:t>작업스레드</a:t>
            </a:r>
            <a:r>
              <a:rPr lang="ko-KR" altLang="en-US" b="1" dirty="0">
                <a:solidFill>
                  <a:srgbClr val="C00000"/>
                </a:solidFill>
              </a:rPr>
              <a:t> 정의</a:t>
            </a:r>
            <a:endParaRPr lang="en-US" altLang="ko-KR" b="1" dirty="0">
              <a:solidFill>
                <a:srgbClr val="C00000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09"/>
          <a:stretch/>
        </p:blipFill>
        <p:spPr>
          <a:xfrm>
            <a:off x="1424608" y="2348880"/>
            <a:ext cx="6121025" cy="3910670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</p:pic>
      <p:sp>
        <p:nvSpPr>
          <p:cNvPr id="2" name="TextBox 1"/>
          <p:cNvSpPr txBox="1"/>
          <p:nvPr/>
        </p:nvSpPr>
        <p:spPr>
          <a:xfrm>
            <a:off x="992560" y="1512238"/>
            <a:ext cx="7488832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/>
              <a:t>비프음을</a:t>
            </a:r>
            <a:r>
              <a:rPr lang="ko-KR" altLang="en-US" sz="1600" dirty="0"/>
              <a:t> 발생시키면서 동시에 프린팅을 하고 싶다면 두 작업중 하나를 작업스레드에서 처리하도록 해야한다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7856900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113239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 err="1"/>
              <a:t>비프음과</a:t>
            </a:r>
            <a:r>
              <a:rPr lang="ko-KR" altLang="en-US" dirty="0"/>
              <a:t> 문자 출력 동시 실행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D81B33-3C10-4B58-9ACC-5628B021DE57}"/>
              </a:ext>
            </a:extLst>
          </p:cNvPr>
          <p:cNvSpPr txBox="1"/>
          <p:nvPr/>
        </p:nvSpPr>
        <p:spPr>
          <a:xfrm>
            <a:off x="920552" y="1008733"/>
            <a:ext cx="51845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rgbClr val="C00000"/>
                </a:solidFill>
              </a:rPr>
              <a:t>메인 </a:t>
            </a:r>
            <a:r>
              <a:rPr lang="ko-KR" altLang="en-US" b="1" dirty="0" err="1">
                <a:solidFill>
                  <a:srgbClr val="C00000"/>
                </a:solidFill>
              </a:rPr>
              <a:t>스레드와</a:t>
            </a:r>
            <a:r>
              <a:rPr lang="ko-KR" altLang="en-US" b="1" dirty="0">
                <a:solidFill>
                  <a:srgbClr val="C00000"/>
                </a:solidFill>
              </a:rPr>
              <a:t> 작업 </a:t>
            </a:r>
            <a:r>
              <a:rPr lang="ko-KR" altLang="en-US" b="1" dirty="0" err="1">
                <a:solidFill>
                  <a:srgbClr val="C00000"/>
                </a:solidFill>
              </a:rPr>
              <a:t>스레드가</a:t>
            </a:r>
            <a:r>
              <a:rPr lang="ko-KR" altLang="en-US" b="1" dirty="0">
                <a:solidFill>
                  <a:srgbClr val="C00000"/>
                </a:solidFill>
              </a:rPr>
              <a:t> 동시에 실행</a:t>
            </a:r>
            <a:endParaRPr lang="en-US" altLang="ko-KR" b="1" dirty="0">
              <a:solidFill>
                <a:srgbClr val="C00000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00" y="1613024"/>
            <a:ext cx="6192688" cy="4048778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336" y="4402764"/>
            <a:ext cx="281964" cy="1234547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643293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DD81B33-3C10-4B58-9ACC-5628B021DE57}"/>
              </a:ext>
            </a:extLst>
          </p:cNvPr>
          <p:cNvSpPr txBox="1"/>
          <p:nvPr/>
        </p:nvSpPr>
        <p:spPr>
          <a:xfrm>
            <a:off x="964333" y="980728"/>
            <a:ext cx="362862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Runnable </a:t>
            </a:r>
            <a:r>
              <a:rPr lang="ko-KR" altLang="en-US" sz="2000" b="1" dirty="0"/>
              <a:t>구현체 정의 </a:t>
            </a:r>
            <a:endParaRPr lang="en-US" altLang="ko-KR" sz="2000" b="1" dirty="0"/>
          </a:p>
        </p:txBody>
      </p:sp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6825207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 err="1"/>
              <a:t>비프음과</a:t>
            </a:r>
            <a:r>
              <a:rPr lang="ko-KR" altLang="en-US" dirty="0"/>
              <a:t> 문자 출력 동시 실행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b="32282"/>
          <a:stretch/>
        </p:blipFill>
        <p:spPr>
          <a:xfrm>
            <a:off x="1064568" y="1668924"/>
            <a:ext cx="5350500" cy="363228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t="66223" r="20586"/>
          <a:stretch/>
        </p:blipFill>
        <p:spPr>
          <a:xfrm>
            <a:off x="4664968" y="3933056"/>
            <a:ext cx="4559682" cy="19442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769327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6681191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 err="1"/>
              <a:t>비프음과</a:t>
            </a:r>
            <a:r>
              <a:rPr lang="ko-KR" altLang="en-US" dirty="0"/>
              <a:t> 문자 출력 동시 실행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D81B33-3C10-4B58-9ACC-5628B021DE57}"/>
              </a:ext>
            </a:extLst>
          </p:cNvPr>
          <p:cNvSpPr txBox="1"/>
          <p:nvPr/>
        </p:nvSpPr>
        <p:spPr>
          <a:xfrm>
            <a:off x="964333" y="980728"/>
            <a:ext cx="398866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Runnable </a:t>
            </a:r>
            <a:r>
              <a:rPr lang="ko-KR" altLang="en-US" sz="2000" b="1" dirty="0"/>
              <a:t>구현체 정의 </a:t>
            </a:r>
            <a:r>
              <a:rPr lang="en-US" altLang="ko-KR" sz="2000" b="1" dirty="0"/>
              <a:t>– </a:t>
            </a:r>
            <a:r>
              <a:rPr lang="ko-KR" altLang="en-US" sz="2000" b="1" dirty="0" err="1"/>
              <a:t>람다식</a:t>
            </a:r>
            <a:r>
              <a:rPr lang="ko-KR" altLang="en-US" sz="2000" b="1" dirty="0"/>
              <a:t>  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687870"/>
            <a:ext cx="6366388" cy="37493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25540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5968</TotalTime>
  <Words>1335</Words>
  <Application>Microsoft Office PowerPoint</Application>
  <PresentationFormat>A4 용지(210x297mm)</PresentationFormat>
  <Paragraphs>322</Paragraphs>
  <Slides>41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8" baseType="lpstr">
      <vt:lpstr>HY헤드라인M</vt:lpstr>
      <vt:lpstr>맑은 고딕</vt:lpstr>
      <vt:lpstr>휴먼모음T</vt:lpstr>
      <vt:lpstr>휴먼엑스포</vt:lpstr>
      <vt:lpstr>Arial</vt:lpstr>
      <vt:lpstr>Wingdings</vt:lpstr>
      <vt:lpstr>Office 테마</vt:lpstr>
      <vt:lpstr>9장. 람다식 &amp; 스트림 &amp; 쓰레드</vt:lpstr>
      <vt:lpstr> 람다식(lambda expression)</vt:lpstr>
      <vt:lpstr> 람다식(lambda expression)</vt:lpstr>
      <vt:lpstr> 람다식(lambda expression)</vt:lpstr>
      <vt:lpstr> 람다식(lambda expression)</vt:lpstr>
      <vt:lpstr> 람다식(lambda expression)</vt:lpstr>
      <vt:lpstr> 람다식(lambda expression)</vt:lpstr>
      <vt:lpstr> 람다식(lambda expression)</vt:lpstr>
      <vt:lpstr> 람다식(lambda expression)</vt:lpstr>
      <vt:lpstr> 람다식(lambda expression)</vt:lpstr>
      <vt:lpstr> 람다식(lambda expression)</vt:lpstr>
      <vt:lpstr> 람다식(lambda expression)</vt:lpstr>
      <vt:lpstr> 람다식(lambda expression)</vt:lpstr>
      <vt:lpstr> 람다식(lambda expression)</vt:lpstr>
      <vt:lpstr> 람다식(lambda expression)</vt:lpstr>
      <vt:lpstr> 람다식(lambda expression)</vt:lpstr>
      <vt:lpstr> 스트림(Stream)</vt:lpstr>
      <vt:lpstr> 스트림(Stream)</vt:lpstr>
      <vt:lpstr> 스트림(Stream)</vt:lpstr>
      <vt:lpstr> 스트림(Stream)</vt:lpstr>
      <vt:lpstr> 스트림(Stream)</vt:lpstr>
      <vt:lpstr> 스트림(Stream)</vt:lpstr>
      <vt:lpstr> 스트림(Stream)</vt:lpstr>
      <vt:lpstr> 스트림(Stream)</vt:lpstr>
      <vt:lpstr> 스트림(Stream)</vt:lpstr>
      <vt:lpstr> 스트림(Stream)</vt:lpstr>
      <vt:lpstr> 스트림(Stream)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giyong kim</cp:lastModifiedBy>
  <cp:revision>480</cp:revision>
  <dcterms:created xsi:type="dcterms:W3CDTF">2019-03-04T02:36:55Z</dcterms:created>
  <dcterms:modified xsi:type="dcterms:W3CDTF">2026-07-28T06:32:54Z</dcterms:modified>
</cp:coreProperties>
</file>