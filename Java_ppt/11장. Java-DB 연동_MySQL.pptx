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sldIdLst>
    <p:sldId id="256" r:id="rId2"/>
    <p:sldId id="301" r:id="rId3"/>
    <p:sldId id="505" r:id="rId4"/>
    <p:sldId id="506" r:id="rId5"/>
    <p:sldId id="507" r:id="rId6"/>
    <p:sldId id="508" r:id="rId7"/>
    <p:sldId id="509" r:id="rId8"/>
    <p:sldId id="510" r:id="rId9"/>
    <p:sldId id="512" r:id="rId10"/>
    <p:sldId id="513" r:id="rId11"/>
    <p:sldId id="514" r:id="rId12"/>
    <p:sldId id="515" r:id="rId13"/>
    <p:sldId id="511" r:id="rId14"/>
    <p:sldId id="488" r:id="rId15"/>
    <p:sldId id="489" r:id="rId16"/>
    <p:sldId id="490" r:id="rId17"/>
    <p:sldId id="493" r:id="rId18"/>
    <p:sldId id="494" r:id="rId19"/>
    <p:sldId id="516" r:id="rId20"/>
    <p:sldId id="491" r:id="rId21"/>
    <p:sldId id="517" r:id="rId22"/>
    <p:sldId id="497" r:id="rId23"/>
    <p:sldId id="495" r:id="rId24"/>
    <p:sldId id="496" r:id="rId25"/>
    <p:sldId id="499" r:id="rId26"/>
    <p:sldId id="523" r:id="rId27"/>
    <p:sldId id="522" r:id="rId28"/>
    <p:sldId id="524" r:id="rId29"/>
    <p:sldId id="478" r:id="rId30"/>
    <p:sldId id="371" r:id="rId31"/>
    <p:sldId id="372" r:id="rId32"/>
    <p:sldId id="345" r:id="rId33"/>
    <p:sldId id="518" r:id="rId34"/>
    <p:sldId id="471" r:id="rId35"/>
    <p:sldId id="364" r:id="rId36"/>
    <p:sldId id="311" r:id="rId37"/>
    <p:sldId id="477" r:id="rId38"/>
    <p:sldId id="406" r:id="rId39"/>
    <p:sldId id="465" r:id="rId40"/>
    <p:sldId id="476" r:id="rId41"/>
    <p:sldId id="481" r:id="rId42"/>
    <p:sldId id="519" r:id="rId43"/>
    <p:sldId id="479" r:id="rId44"/>
    <p:sldId id="482" r:id="rId45"/>
    <p:sldId id="520" r:id="rId46"/>
    <p:sldId id="483" r:id="rId47"/>
    <p:sldId id="521" r:id="rId48"/>
    <p:sldId id="484" r:id="rId49"/>
    <p:sldId id="487" r:id="rId50"/>
    <p:sldId id="485" r:id="rId51"/>
    <p:sldId id="525" r:id="rId5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>
      <p:cViewPr varScale="1">
        <p:scale>
          <a:sx n="84" d="100"/>
          <a:sy n="84" d="100"/>
        </p:scale>
        <p:origin x="1238" y="91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5898655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11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Java – MySQL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DB 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연동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dirty="0">
                <a:solidFill>
                  <a:schemeClr val="bg1"/>
                </a:solidFill>
              </a:rPr>
              <a:t>  </a:t>
            </a:r>
            <a:r>
              <a:rPr lang="en-US" altLang="ko-KR" sz="2000" i="1" dirty="0">
                <a:solidFill>
                  <a:schemeClr val="bg1"/>
                </a:solidFill>
              </a:rPr>
              <a:t>JDBC Connection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25725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JDBC</a:t>
            </a:r>
            <a:r>
              <a:rPr lang="en-US" altLang="ko-KR" b="1" dirty="0"/>
              <a:t>(Java Database Connectivity)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2520" y="1000530"/>
            <a:ext cx="8280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/>
              <a:t>JDBC(Java Database Connectivity) </a:t>
            </a:r>
            <a:r>
              <a:rPr lang="ko-KR" altLang="en-US" sz="2000" b="1" dirty="0"/>
              <a:t>정의와 사용</a:t>
            </a:r>
            <a:endParaRPr lang="en-US" altLang="ko-KR" sz="2000" b="1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자바 애플리케이션에서 </a:t>
            </a:r>
            <a:r>
              <a:rPr lang="en-US" altLang="ko-KR" dirty="0"/>
              <a:t>DBMS</a:t>
            </a:r>
            <a:r>
              <a:rPr lang="ko-KR" altLang="en-US" dirty="0"/>
              <a:t>에 연결해주는 기능을 갖는 </a:t>
            </a:r>
            <a:r>
              <a:rPr lang="en-US" altLang="ko-KR" dirty="0"/>
              <a:t>API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 err="1"/>
              <a:t>오라클</a:t>
            </a:r>
            <a:r>
              <a:rPr lang="en-US" altLang="ko-KR" dirty="0"/>
              <a:t>, MySQL, MS-SQL </a:t>
            </a:r>
            <a:r>
              <a:rPr lang="ko-KR" altLang="en-US" dirty="0"/>
              <a:t>개발사가 구현한 </a:t>
            </a:r>
            <a:r>
              <a:rPr lang="en-US" altLang="ko-KR" dirty="0"/>
              <a:t>‘</a:t>
            </a:r>
            <a:r>
              <a:rPr lang="ko-KR" altLang="en-US" dirty="0"/>
              <a:t>드라이버</a:t>
            </a:r>
            <a:r>
              <a:rPr lang="en-US" altLang="ko-KR" dirty="0"/>
              <a:t>’</a:t>
            </a:r>
            <a:r>
              <a:rPr lang="ko-KR" altLang="en-US" dirty="0"/>
              <a:t>가 존재함  </a:t>
            </a:r>
            <a:endParaRPr lang="en-US" altLang="ko-KR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2636912"/>
            <a:ext cx="5904656" cy="31986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6459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56456" y="-27384"/>
            <a:ext cx="590465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/>
              <a:t>설치하기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5929" y="980728"/>
            <a:ext cx="8244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▷ </a:t>
            </a:r>
            <a:r>
              <a:rPr lang="en-US" altLang="ko-KR" b="1" dirty="0"/>
              <a:t>MySQL</a:t>
            </a:r>
            <a:r>
              <a:rPr lang="ko-KR" altLang="en-US" b="1" dirty="0"/>
              <a:t> 설치하기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dirty="0" err="1"/>
              <a:t>mysql</a:t>
            </a:r>
            <a:r>
              <a:rPr lang="en-US" altLang="ko-KR" dirty="0"/>
              <a:t> download </a:t>
            </a:r>
            <a:r>
              <a:rPr lang="ko-KR" altLang="en-US" dirty="0"/>
              <a:t>검색 </a:t>
            </a:r>
            <a:r>
              <a:rPr lang="en-US" altLang="ko-KR" dirty="0"/>
              <a:t>&gt; MySQL Community Downloads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184" y="1988840"/>
            <a:ext cx="5082030" cy="28803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모서리가 둥근 직사각형 12"/>
          <p:cNvSpPr/>
          <p:nvPr/>
        </p:nvSpPr>
        <p:spPr>
          <a:xfrm>
            <a:off x="1496616" y="3236943"/>
            <a:ext cx="1728192" cy="264065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6DD618-61E0-4F40-B204-242CFAF546A3}"/>
              </a:ext>
            </a:extLst>
          </p:cNvPr>
          <p:cNvSpPr txBox="1"/>
          <p:nvPr/>
        </p:nvSpPr>
        <p:spPr>
          <a:xfrm>
            <a:off x="3276369" y="2996286"/>
            <a:ext cx="367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①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992" y="2965148"/>
            <a:ext cx="4257075" cy="2124559"/>
          </a:xfrm>
          <a:prstGeom prst="rect">
            <a:avLst/>
          </a:prstGeom>
        </p:spPr>
      </p:pic>
      <p:sp>
        <p:nvSpPr>
          <p:cNvPr id="22" name="모서리가 둥근 직사각형 21"/>
          <p:cNvSpPr/>
          <p:nvPr/>
        </p:nvSpPr>
        <p:spPr>
          <a:xfrm>
            <a:off x="7113240" y="4653136"/>
            <a:ext cx="1512168" cy="432048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6DD618-61E0-4F40-B204-242CFAF546A3}"/>
              </a:ext>
            </a:extLst>
          </p:cNvPr>
          <p:cNvSpPr txBox="1"/>
          <p:nvPr/>
        </p:nvSpPr>
        <p:spPr>
          <a:xfrm>
            <a:off x="8556359" y="4325534"/>
            <a:ext cx="367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77632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-15552" y="-2738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/>
              <a:t>설치하기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5929" y="980728"/>
            <a:ext cx="824491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▷ </a:t>
            </a:r>
            <a:r>
              <a:rPr lang="en-US" altLang="ko-KR" b="1" dirty="0"/>
              <a:t>MySQL</a:t>
            </a:r>
            <a:r>
              <a:rPr lang="ko-KR" altLang="en-US" b="1" dirty="0"/>
              <a:t> 설치하기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88164"/>
            <a:ext cx="7094318" cy="39555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4544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92560" y="1052736"/>
            <a:ext cx="36724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▷ </a:t>
            </a:r>
            <a:r>
              <a:rPr lang="en-US" altLang="ko-KR" b="1" dirty="0"/>
              <a:t>MySQL</a:t>
            </a:r>
            <a:r>
              <a:rPr lang="ko-KR" altLang="en-US" b="1" dirty="0"/>
              <a:t> 설치하기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844824"/>
            <a:ext cx="4030080" cy="29354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040" y="1844824"/>
            <a:ext cx="4013755" cy="29923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제목 5"/>
          <p:cNvSpPr txBox="1">
            <a:spLocks/>
          </p:cNvSpPr>
          <p:nvPr/>
        </p:nvSpPr>
        <p:spPr>
          <a:xfrm>
            <a:off x="-15552" y="-2738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/>
              <a:t>설치하기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342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20552" y="1052736"/>
            <a:ext cx="36724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▷ </a:t>
            </a:r>
            <a:r>
              <a:rPr lang="en-US" altLang="ko-KR" b="1" dirty="0"/>
              <a:t>MySQL</a:t>
            </a:r>
            <a:r>
              <a:rPr lang="ko-KR" altLang="en-US" b="1" dirty="0"/>
              <a:t> 설치하기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2" name="오른쪽 화살표 11"/>
          <p:cNvSpPr/>
          <p:nvPr/>
        </p:nvSpPr>
        <p:spPr>
          <a:xfrm>
            <a:off x="5322472" y="2962190"/>
            <a:ext cx="490745" cy="133066"/>
          </a:xfrm>
          <a:prstGeom prst="rightArrow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73" y="1772816"/>
            <a:ext cx="4024866" cy="309119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109" y="2420888"/>
            <a:ext cx="3696411" cy="158417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69158" y="4293096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 </a:t>
            </a:r>
            <a:r>
              <a:rPr lang="en-US" altLang="ko-KR" dirty="0"/>
              <a:t>: root</a:t>
            </a:r>
          </a:p>
          <a:p>
            <a:r>
              <a:rPr lang="ko-KR" altLang="en-US" dirty="0"/>
              <a:t>비밀번호 </a:t>
            </a:r>
            <a:r>
              <a:rPr lang="en-US" altLang="ko-KR" dirty="0"/>
              <a:t>: pw1234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939441" y="508518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포트 </a:t>
            </a:r>
            <a:r>
              <a:rPr lang="en-US" altLang="ko-KR" dirty="0"/>
              <a:t>: 3306</a:t>
            </a:r>
            <a:endParaRPr lang="ko-KR" altLang="en-US" dirty="0"/>
          </a:p>
        </p:txBody>
      </p:sp>
      <p:sp>
        <p:nvSpPr>
          <p:cNvPr id="9" name="제목 5"/>
          <p:cNvSpPr txBox="1">
            <a:spLocks/>
          </p:cNvSpPr>
          <p:nvPr/>
        </p:nvSpPr>
        <p:spPr>
          <a:xfrm>
            <a:off x="-15552" y="-2738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/>
              <a:t>설치하기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12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20552" y="980728"/>
            <a:ext cx="367240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▷ </a:t>
            </a:r>
            <a:r>
              <a:rPr lang="ko-KR" altLang="en-US" b="1" dirty="0"/>
              <a:t>환경 변수 설정하기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5" name="제목 5"/>
          <p:cNvSpPr txBox="1">
            <a:spLocks/>
          </p:cNvSpPr>
          <p:nvPr/>
        </p:nvSpPr>
        <p:spPr>
          <a:xfrm>
            <a:off x="-15552" y="-2738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/>
              <a:t>설치하기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280592" y="1575578"/>
            <a:ext cx="6120680" cy="4459555"/>
            <a:chOff x="1280592" y="1575578"/>
            <a:chExt cx="6120680" cy="445955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6616" y="2098696"/>
              <a:ext cx="5904656" cy="3936437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4" name="직사각형 3"/>
            <p:cNvSpPr/>
            <p:nvPr/>
          </p:nvSpPr>
          <p:spPr>
            <a:xfrm>
              <a:off x="1280592" y="1575578"/>
              <a:ext cx="590465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rgbClr val="C00000"/>
                  </a:solidFill>
                </a:rPr>
                <a:t>C:\Program </a:t>
              </a:r>
              <a:r>
                <a:rPr lang="ko-KR" altLang="en-US" b="1" dirty="0" err="1">
                  <a:solidFill>
                    <a:srgbClr val="C00000"/>
                  </a:solidFill>
                </a:rPr>
                <a:t>Files</a:t>
              </a:r>
              <a:r>
                <a:rPr lang="ko-KR" altLang="en-US" b="1" dirty="0">
                  <a:solidFill>
                    <a:srgbClr val="C00000"/>
                  </a:solidFill>
                </a:rPr>
                <a:t>\</a:t>
              </a:r>
              <a:r>
                <a:rPr lang="ko-KR" altLang="en-US" b="1" dirty="0" err="1">
                  <a:solidFill>
                    <a:srgbClr val="C00000"/>
                  </a:solidFill>
                </a:rPr>
                <a:t>MySQL</a:t>
              </a:r>
              <a:r>
                <a:rPr lang="ko-KR" altLang="en-US" b="1" dirty="0">
                  <a:solidFill>
                    <a:srgbClr val="C00000"/>
                  </a:solidFill>
                </a:rPr>
                <a:t>\</a:t>
              </a:r>
              <a:r>
                <a:rPr lang="ko-KR" altLang="en-US" b="1" dirty="0" err="1">
                  <a:solidFill>
                    <a:srgbClr val="C00000"/>
                  </a:solidFill>
                </a:rPr>
                <a:t>MySQL</a:t>
              </a:r>
              <a:r>
                <a:rPr lang="ko-KR" altLang="en-US" b="1" dirty="0">
                  <a:solidFill>
                    <a:srgbClr val="C00000"/>
                  </a:solidFill>
                </a:rPr>
                <a:t> Server 8.0\</a:t>
              </a:r>
              <a:r>
                <a:rPr lang="ko-KR" altLang="en-US" b="1" dirty="0" err="1">
                  <a:solidFill>
                    <a:srgbClr val="C00000"/>
                  </a:solidFill>
                </a:rPr>
                <a:t>bin</a:t>
              </a:r>
              <a:endParaRPr lang="ko-KR" altLang="en-US" b="1" dirty="0">
                <a:solidFill>
                  <a:srgbClr val="C00000"/>
                </a:solidFill>
              </a:endParaRP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5961112" y="1916832"/>
              <a:ext cx="0" cy="316835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0016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20552" y="1052736"/>
            <a:ext cx="36724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▷ </a:t>
            </a:r>
            <a:r>
              <a:rPr lang="en-US" altLang="ko-KR" dirty="0"/>
              <a:t>CMD</a:t>
            </a:r>
            <a:r>
              <a:rPr lang="ko-KR" altLang="en-US" dirty="0"/>
              <a:t>에서 </a:t>
            </a:r>
            <a:r>
              <a:rPr lang="en-US" altLang="ko-KR" dirty="0" err="1"/>
              <a:t>mysql</a:t>
            </a:r>
            <a:r>
              <a:rPr lang="en-US" altLang="ko-KR" dirty="0"/>
              <a:t> </a:t>
            </a:r>
            <a:r>
              <a:rPr lang="ko-KR" altLang="en-US" dirty="0"/>
              <a:t>사용 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2865839"/>
            <a:ext cx="5634940" cy="2420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27998" y="1628800"/>
            <a:ext cx="3148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mysql</a:t>
            </a:r>
            <a:r>
              <a:rPr lang="en-US" altLang="ko-KR" b="1" dirty="0"/>
              <a:t> --version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64" y="2865839"/>
            <a:ext cx="1693865" cy="20033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27998" y="2132856"/>
            <a:ext cx="746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mysql</a:t>
            </a:r>
            <a:r>
              <a:rPr lang="en-US" altLang="ko-KR" b="1" dirty="0"/>
              <a:t> – u root –p</a:t>
            </a:r>
            <a:r>
              <a:rPr lang="en-US" altLang="ko-KR" dirty="0"/>
              <a:t> </a:t>
            </a:r>
            <a:r>
              <a:rPr lang="ko-KR" altLang="en-US" dirty="0"/>
              <a:t>명령어 입력 </a:t>
            </a:r>
            <a:r>
              <a:rPr lang="en-US" altLang="ko-KR" dirty="0"/>
              <a:t>&gt; password </a:t>
            </a:r>
            <a:r>
              <a:rPr lang="ko-KR" altLang="en-US" dirty="0"/>
              <a:t>입력 </a:t>
            </a:r>
            <a:r>
              <a:rPr lang="en-US" altLang="ko-KR" dirty="0"/>
              <a:t>&gt; show databases; </a:t>
            </a:r>
            <a:endParaRPr lang="ko-KR" altLang="en-US" dirty="0"/>
          </a:p>
        </p:txBody>
      </p:sp>
      <p:sp>
        <p:nvSpPr>
          <p:cNvPr id="9" name="제목 5"/>
          <p:cNvSpPr txBox="1">
            <a:spLocks/>
          </p:cNvSpPr>
          <p:nvPr/>
        </p:nvSpPr>
        <p:spPr>
          <a:xfrm>
            <a:off x="-15552" y="-2738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/>
              <a:t>설치하기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280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5"/>
          <p:cNvSpPr txBox="1">
            <a:spLocks/>
          </p:cNvSpPr>
          <p:nvPr/>
        </p:nvSpPr>
        <p:spPr>
          <a:xfrm>
            <a:off x="-15552" y="-2738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 err="1"/>
              <a:t>워크벤치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600" y="1052736"/>
            <a:ext cx="77978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/>
              <a:t>MySQL Workbench </a:t>
            </a:r>
            <a:r>
              <a:rPr lang="ko-KR" altLang="en-US" sz="2000" dirty="0"/>
              <a:t>설치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mysql</a:t>
            </a:r>
            <a:r>
              <a:rPr lang="en-US" altLang="ko-KR" sz="2000" dirty="0"/>
              <a:t> Workbench </a:t>
            </a:r>
            <a:r>
              <a:rPr lang="ko-KR" altLang="en-US" sz="2000" dirty="0"/>
              <a:t>검색 </a:t>
            </a:r>
            <a:r>
              <a:rPr lang="en-US" altLang="ko-KR" sz="2000" dirty="0"/>
              <a:t>&gt; Downloads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3" y="2132856"/>
            <a:ext cx="5236487" cy="3600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261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5"/>
          <p:cNvSpPr txBox="1">
            <a:spLocks/>
          </p:cNvSpPr>
          <p:nvPr/>
        </p:nvSpPr>
        <p:spPr>
          <a:xfrm>
            <a:off x="-15552" y="-2738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 err="1"/>
              <a:t>워크벤치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600" y="1052736"/>
            <a:ext cx="77978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/>
              <a:t>MySQL Workbench </a:t>
            </a:r>
            <a:r>
              <a:rPr lang="ko-KR" altLang="en-US" sz="2000" dirty="0"/>
              <a:t>접속</a:t>
            </a:r>
            <a:endParaRPr lang="en-US" altLang="ko-KR" sz="20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3" y="2204864"/>
            <a:ext cx="5616624" cy="37828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2600" y="1647220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root </a:t>
            </a:r>
            <a:r>
              <a:rPr lang="ko-KR" altLang="en-US" dirty="0"/>
              <a:t>계정으로 접속 </a:t>
            </a:r>
            <a:r>
              <a:rPr lang="en-US" altLang="ko-KR" dirty="0"/>
              <a:t>&gt; password 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3977726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5"/>
          <p:cNvSpPr txBox="1">
            <a:spLocks/>
          </p:cNvSpPr>
          <p:nvPr/>
        </p:nvSpPr>
        <p:spPr>
          <a:xfrm>
            <a:off x="-15552" y="-2738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 err="1"/>
              <a:t>워크벤치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600" y="1052736"/>
            <a:ext cx="77978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/>
              <a:t>새 계정 만들기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2617000"/>
            <a:ext cx="7007463" cy="27821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352600" y="1647220"/>
            <a:ext cx="54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b="1" dirty="0"/>
              <a:t>username: </a:t>
            </a:r>
            <a:r>
              <a:rPr lang="en-US" altLang="ko-KR" b="1" dirty="0" err="1"/>
              <a:t>javauser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b="1" dirty="0" err="1"/>
              <a:t>db</a:t>
            </a:r>
            <a:r>
              <a:rPr lang="en-US" altLang="ko-KR" b="1" dirty="0"/>
              <a:t> : </a:t>
            </a:r>
            <a:r>
              <a:rPr lang="en-US" altLang="ko-KR" b="1" dirty="0" err="1"/>
              <a:t>javadb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00161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5"/>
          <p:cNvSpPr txBox="1">
            <a:spLocks/>
          </p:cNvSpPr>
          <p:nvPr/>
        </p:nvSpPr>
        <p:spPr>
          <a:xfrm>
            <a:off x="-15552" y="-2738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/>
              <a:t>MySQL </a:t>
            </a:r>
            <a:r>
              <a:rPr lang="ko-KR" altLang="en-US" dirty="0" err="1"/>
              <a:t>워크벤치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600" y="1052736"/>
            <a:ext cx="77978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/>
              <a:t>javauser</a:t>
            </a:r>
            <a:r>
              <a:rPr lang="en-US" altLang="ko-KR" sz="2000" dirty="0"/>
              <a:t> </a:t>
            </a:r>
            <a:r>
              <a:rPr lang="ko-KR" altLang="en-US" sz="2000" dirty="0"/>
              <a:t>계정 접속 화면 만들기 </a:t>
            </a:r>
            <a:endParaRPr lang="en-US" altLang="ko-KR" sz="2000" dirty="0"/>
          </a:p>
        </p:txBody>
      </p:sp>
      <p:grpSp>
        <p:nvGrpSpPr>
          <p:cNvPr id="31" name="그룹 30"/>
          <p:cNvGrpSpPr/>
          <p:nvPr/>
        </p:nvGrpSpPr>
        <p:grpSpPr>
          <a:xfrm>
            <a:off x="1424610" y="1628800"/>
            <a:ext cx="7992886" cy="4224575"/>
            <a:chOff x="1424610" y="1628800"/>
            <a:chExt cx="7992886" cy="422457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4610" y="1796891"/>
              <a:ext cx="2736304" cy="1921417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cxnSp>
          <p:nvCxnSpPr>
            <p:cNvPr id="5" name="직선 화살표 연결선 4"/>
            <p:cNvCxnSpPr/>
            <p:nvPr/>
          </p:nvCxnSpPr>
          <p:spPr>
            <a:xfrm flipH="1">
              <a:off x="3800873" y="1868899"/>
              <a:ext cx="576064" cy="28803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4304929" y="162880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C00000"/>
                  </a:solidFill>
                </a:rPr>
                <a:t>①</a:t>
              </a:r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 rotWithShape="1">
            <a:blip r:embed="rId3"/>
            <a:srcRect r="13681" b="30935"/>
            <a:stretch/>
          </p:blipFill>
          <p:spPr>
            <a:xfrm>
              <a:off x="3800873" y="2744631"/>
              <a:ext cx="5294065" cy="2664295"/>
            </a:xfrm>
            <a:prstGeom prst="rect">
              <a:avLst/>
            </a:prstGeom>
          </p:spPr>
        </p:pic>
        <p:cxnSp>
          <p:nvCxnSpPr>
            <p:cNvPr id="14" name="직선 화살표 연결선 13"/>
            <p:cNvCxnSpPr/>
            <p:nvPr/>
          </p:nvCxnSpPr>
          <p:spPr>
            <a:xfrm flipV="1">
              <a:off x="3296817" y="4245163"/>
              <a:ext cx="1423610" cy="50405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68229" y="460520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C00000"/>
                  </a:solidFill>
                </a:rPr>
                <a:t>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288706" y="4974535"/>
              <a:ext cx="2232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username: </a:t>
              </a:r>
              <a:r>
                <a:rPr lang="en-US" altLang="ko-KR" dirty="0" err="1"/>
                <a:t>javauser</a:t>
              </a:r>
              <a:endParaRPr lang="ko-KR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85249" y="5484043"/>
              <a:ext cx="2232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password: ******</a:t>
              </a:r>
              <a:endParaRPr lang="ko-KR" altLang="en-US" dirty="0"/>
            </a:p>
          </p:txBody>
        </p:sp>
        <p:cxnSp>
          <p:nvCxnSpPr>
            <p:cNvPr id="23" name="직선 화살표 연결선 22"/>
            <p:cNvCxnSpPr/>
            <p:nvPr/>
          </p:nvCxnSpPr>
          <p:spPr>
            <a:xfrm flipV="1">
              <a:off x="5224483" y="4461189"/>
              <a:ext cx="16550" cy="72007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808985" y="5113447"/>
              <a:ext cx="10032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C00000"/>
                  </a:solidFill>
                </a:rPr>
                <a:t>③ 클릭</a:t>
              </a:r>
            </a:p>
          </p:txBody>
        </p:sp>
        <p:cxnSp>
          <p:nvCxnSpPr>
            <p:cNvPr id="29" name="직선 화살표 연결선 28"/>
            <p:cNvCxnSpPr/>
            <p:nvPr/>
          </p:nvCxnSpPr>
          <p:spPr>
            <a:xfrm flipV="1">
              <a:off x="7711410" y="4656315"/>
              <a:ext cx="16550" cy="72007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7324450" y="5266844"/>
              <a:ext cx="501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C00000"/>
                  </a:solidFill>
                </a:rPr>
                <a:t>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3778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15552" y="-27384"/>
            <a:ext cx="6981224" cy="854968"/>
          </a:xfrm>
        </p:spPr>
        <p:txBody>
          <a:bodyPr/>
          <a:lstStyle/>
          <a:p>
            <a:r>
              <a:rPr lang="en-US" altLang="ko-KR" dirty="0"/>
              <a:t>  SQL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934144" y="980728"/>
            <a:ext cx="8483352" cy="22322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SQL(Structured Query Language)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F0000"/>
                </a:solidFill>
              </a:rPr>
              <a:t>‘</a:t>
            </a:r>
            <a:r>
              <a:rPr lang="ko-KR" altLang="en-US" sz="1600" dirty="0" err="1">
                <a:solidFill>
                  <a:srgbClr val="FF0000"/>
                </a:solidFill>
              </a:rPr>
              <a:t>에스큐엘</a:t>
            </a:r>
            <a:r>
              <a:rPr lang="en-US" altLang="ko-KR" sz="1600" dirty="0">
                <a:solidFill>
                  <a:srgbClr val="FF0000"/>
                </a:solidFill>
              </a:rPr>
              <a:t>’, </a:t>
            </a:r>
            <a:r>
              <a:rPr lang="ko-KR" altLang="en-US" sz="1600" dirty="0">
                <a:solidFill>
                  <a:srgbClr val="FF0000"/>
                </a:solidFill>
              </a:rPr>
              <a:t>또는 </a:t>
            </a:r>
            <a:r>
              <a:rPr lang="en-US" altLang="ko-KR" sz="1600" dirty="0">
                <a:solidFill>
                  <a:srgbClr val="FF0000"/>
                </a:solidFill>
              </a:rPr>
              <a:t>‘</a:t>
            </a:r>
            <a:r>
              <a:rPr lang="ko-KR" altLang="en-US" sz="1600" dirty="0" err="1">
                <a:solidFill>
                  <a:srgbClr val="FF0000"/>
                </a:solidFill>
              </a:rPr>
              <a:t>시퀄</a:t>
            </a:r>
            <a:r>
              <a:rPr lang="en-US" altLang="ko-KR" sz="1600" dirty="0">
                <a:solidFill>
                  <a:srgbClr val="FF0000"/>
                </a:solidFill>
              </a:rPr>
              <a:t>’</a:t>
            </a:r>
            <a:r>
              <a:rPr lang="ko-KR" altLang="en-US" sz="1600" dirty="0">
                <a:solidFill>
                  <a:srgbClr val="FF0000"/>
                </a:solidFill>
              </a:rPr>
              <a:t>이라 부른다</a:t>
            </a:r>
            <a:r>
              <a:rPr lang="en-US" altLang="ko-KR" sz="1600" dirty="0">
                <a:solidFill>
                  <a:srgbClr val="C00000"/>
                </a:solidFill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사용자와 데이터베이스 시스템 간에 의사 소통을 하기 위한 언어이다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사용자가 </a:t>
            </a:r>
            <a:r>
              <a:rPr lang="en-US" altLang="ko-KR" sz="1600" dirty="0"/>
              <a:t>SQL</a:t>
            </a:r>
            <a:r>
              <a:rPr lang="ko-KR" altLang="en-US" sz="1600" dirty="0"/>
              <a:t>을 이용하여 </a:t>
            </a:r>
            <a:r>
              <a:rPr lang="en-US" altLang="ko-KR" sz="1600" dirty="0"/>
              <a:t>DB </a:t>
            </a:r>
            <a:r>
              <a:rPr lang="ko-KR" altLang="en-US" sz="1600" dirty="0"/>
              <a:t>시스템에 데이터의 검색</a:t>
            </a:r>
            <a:r>
              <a:rPr lang="en-US" altLang="ko-KR" sz="1600" dirty="0"/>
              <a:t>, </a:t>
            </a:r>
            <a:r>
              <a:rPr lang="ko-KR" altLang="en-US" sz="1600" dirty="0"/>
              <a:t>조작</a:t>
            </a:r>
            <a:r>
              <a:rPr lang="en-US" altLang="ko-KR" sz="1600" dirty="0"/>
              <a:t>, </a:t>
            </a:r>
            <a:r>
              <a:rPr lang="ko-KR" altLang="en-US" sz="1600" dirty="0"/>
              <a:t>정의 등을 요구하면 </a:t>
            </a:r>
            <a:r>
              <a:rPr lang="en-US" altLang="ko-KR" sz="1600" dirty="0"/>
              <a:t>DB </a:t>
            </a:r>
            <a:r>
              <a:rPr lang="ko-KR" altLang="en-US" sz="1600" dirty="0"/>
              <a:t>시스템이 필요한 데이터를 가져와서 결과를 알려준다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18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79111"/>
              </p:ext>
            </p:extLst>
          </p:nvPr>
        </p:nvGraphicFramePr>
        <p:xfrm>
          <a:off x="1270183" y="3348455"/>
          <a:ext cx="8088343" cy="2886381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3462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구분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개념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88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DDL(Data </a:t>
                      </a:r>
                      <a:r>
                        <a:rPr lang="en-US" altLang="ko-KR" sz="1600" dirty="0" err="1"/>
                        <a:t>Defiintion</a:t>
                      </a:r>
                      <a:r>
                        <a:rPr lang="en-US" altLang="ko-KR" sz="1600" dirty="0"/>
                        <a:t> Language)</a:t>
                      </a:r>
                      <a:r>
                        <a:rPr lang="en-US" altLang="ko-KR" sz="1600" baseline="0" dirty="0"/>
                        <a:t>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aseline="0" dirty="0"/>
                        <a:t>- </a:t>
                      </a:r>
                      <a:r>
                        <a:rPr lang="ko-KR" altLang="en-US" sz="1600" dirty="0"/>
                        <a:t>데이터 </a:t>
                      </a:r>
                      <a:r>
                        <a:rPr lang="ko-KR" altLang="en-US" sz="1600" dirty="0" err="1"/>
                        <a:t>정의어</a:t>
                      </a:r>
                      <a:endParaRPr lang="ko-KR" altLang="en-US" sz="1600" dirty="0"/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aseline="0" dirty="0"/>
                        <a:t>테이블을 포함한 여러 객체를 생성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수정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삭제하는 명령어</a:t>
                      </a:r>
                      <a:endParaRPr lang="ko-KR" altLang="en-US" sz="1600" dirty="0"/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88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DML(Data Manipulation Language)</a:t>
                      </a:r>
                      <a:r>
                        <a:rPr lang="en-US" altLang="ko-KR" sz="1600" baseline="0" dirty="0"/>
                        <a:t> - </a:t>
                      </a:r>
                      <a:r>
                        <a:rPr lang="ko-KR" altLang="en-US" sz="1600" dirty="0"/>
                        <a:t>데이터 </a:t>
                      </a:r>
                      <a:r>
                        <a:rPr lang="ko-KR" altLang="en-US" sz="1600" dirty="0" err="1"/>
                        <a:t>조작어</a:t>
                      </a:r>
                      <a:endParaRPr lang="ko-KR" altLang="en-US" sz="1600" dirty="0"/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aseline="0" dirty="0"/>
                        <a:t>데이터를 저장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검색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수정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삭제하는 명령어</a:t>
                      </a:r>
                      <a:endParaRPr lang="ko-KR" altLang="en-US" sz="1600" dirty="0"/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88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DCL(Data Control Language)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데이터 </a:t>
                      </a:r>
                      <a:r>
                        <a:rPr lang="ko-KR" altLang="en-US" sz="1600" dirty="0" err="1"/>
                        <a:t>제어어</a:t>
                      </a:r>
                      <a:endParaRPr lang="ko-KR" altLang="en-US" sz="1600" dirty="0"/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/>
                        <a:t>데이터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사용 권한과 관련된 명령어</a:t>
                      </a:r>
                      <a:endParaRPr lang="ko-KR" altLang="en-US" sz="1600" dirty="0"/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003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SQL – DDL(</a:t>
            </a:r>
            <a:r>
              <a:rPr lang="ko-KR" altLang="en-US" dirty="0"/>
              <a:t>데이터 </a:t>
            </a:r>
            <a:r>
              <a:rPr lang="ko-KR" altLang="en-US" dirty="0" err="1"/>
              <a:t>정의어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graphicFrame>
        <p:nvGraphicFramePr>
          <p:cNvPr id="8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973199"/>
              </p:ext>
            </p:extLst>
          </p:nvPr>
        </p:nvGraphicFramePr>
        <p:xfrm>
          <a:off x="1547664" y="3620274"/>
          <a:ext cx="5832648" cy="1728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91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1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명령어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 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CREATE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테이블을 생성함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ALTER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테이블의 구조를 변경함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DROP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테이블을 삭제함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1304764" y="1461033"/>
            <a:ext cx="76806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데이터를 저장할 테이블의 구조를 만드는 명령어이다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DDL</a:t>
            </a:r>
            <a:r>
              <a:rPr lang="ko-KR" altLang="en-US" sz="1600" dirty="0"/>
              <a:t>은 번역한 결과가 데이터 사전이라는 특별한 파일에 여러 개의 테이블로써 저장된다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CREATE SCHEMA, CREATE TABLE, CREATE VIEW, CREATE INDEX, ALTER, DROP </a:t>
            </a:r>
            <a:r>
              <a:rPr lang="ko-KR" altLang="en-US" sz="1600" dirty="0"/>
              <a:t>등이 있다</a:t>
            </a:r>
            <a:r>
              <a:rPr lang="en-US" altLang="ko-KR" sz="1600"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600" y="1052736"/>
            <a:ext cx="5238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1" dirty="0"/>
              <a:t>DDL(Data Definition Language)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18266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SQL – DML(</a:t>
            </a:r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71600" y="1052736"/>
            <a:ext cx="5238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1" dirty="0"/>
              <a:t>DML(Data Manipulation Language)</a:t>
            </a:r>
            <a:endParaRPr lang="en-US" altLang="ko-KR" sz="2000" dirty="0"/>
          </a:p>
        </p:txBody>
      </p:sp>
      <p:graphicFrame>
        <p:nvGraphicFramePr>
          <p:cNvPr id="7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3840647"/>
              </p:ext>
            </p:extLst>
          </p:nvPr>
        </p:nvGraphicFramePr>
        <p:xfrm>
          <a:off x="1727684" y="2852936"/>
          <a:ext cx="5616624" cy="2899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17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명령어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 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SELECT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테이블에 있는 행을 검색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INSERT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테이블에 새로운 행 삽입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UPDATE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테이블에 있는 행의 내용 갱신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DELETE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테이블의 행을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COMMIT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작업을 수행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ROLLBACK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작업 수행을 취소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331640" y="1462425"/>
            <a:ext cx="736577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데이터를 조작하는 명령어이다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데이터를 조작하여 저장하는 일련의 과정을 </a:t>
            </a:r>
            <a:r>
              <a:rPr lang="ko-KR" altLang="en-US" sz="1600" b="1" dirty="0">
                <a:solidFill>
                  <a:srgbClr val="C00000"/>
                </a:solidFill>
              </a:rPr>
              <a:t>트랜잭션</a:t>
            </a:r>
            <a:r>
              <a:rPr lang="en-US" altLang="ko-KR" sz="1600" b="1" dirty="0">
                <a:solidFill>
                  <a:srgbClr val="C00000"/>
                </a:solidFill>
              </a:rPr>
              <a:t>(transition)</a:t>
            </a:r>
            <a:r>
              <a:rPr lang="ko-KR" altLang="en-US" sz="1600" dirty="0"/>
              <a:t>이라 하며</a:t>
            </a:r>
            <a:r>
              <a:rPr lang="en-US" altLang="ko-KR" sz="1600" dirty="0"/>
              <a:t>,  DML</a:t>
            </a:r>
            <a:r>
              <a:rPr lang="ko-KR" altLang="en-US" sz="1600" dirty="0"/>
              <a:t>은 트랜잭션을 다루는 명령어이다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6156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SQL – DCL(</a:t>
            </a:r>
            <a:r>
              <a:rPr lang="ko-KR" altLang="en-US" dirty="0"/>
              <a:t>데이터 </a:t>
            </a:r>
            <a:r>
              <a:rPr lang="ko-KR" altLang="en-US" dirty="0" err="1"/>
              <a:t>제어어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71600" y="980728"/>
            <a:ext cx="5238329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DCL(Data Control Language)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43372" y="1484784"/>
            <a:ext cx="73820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DCL</a:t>
            </a:r>
            <a:r>
              <a:rPr lang="ko-KR" altLang="en-US" sz="1600" dirty="0"/>
              <a:t>은 데이터의 보안</a:t>
            </a:r>
            <a:r>
              <a:rPr lang="en-US" altLang="ko-KR" sz="1600" dirty="0"/>
              <a:t>, </a:t>
            </a:r>
            <a:r>
              <a:rPr lang="ko-KR" altLang="en-US" sz="1600" dirty="0"/>
              <a:t>무결성</a:t>
            </a:r>
            <a:r>
              <a:rPr lang="en-US" altLang="ko-KR" sz="1600" dirty="0"/>
              <a:t>, </a:t>
            </a:r>
            <a:r>
              <a:rPr lang="ko-KR" altLang="en-US" sz="1600" dirty="0"/>
              <a:t>회복</a:t>
            </a:r>
            <a:r>
              <a:rPr lang="en-US" altLang="ko-KR" sz="1600" dirty="0"/>
              <a:t>, </a:t>
            </a:r>
            <a:r>
              <a:rPr lang="ko-KR" altLang="en-US" sz="1600" dirty="0"/>
              <a:t>병행 제어 등을 정의하는 데 사용하는 언어이다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DDL</a:t>
            </a:r>
            <a:r>
              <a:rPr lang="ko-KR" altLang="en-US" sz="1600" dirty="0"/>
              <a:t>은 데이터 관리자가</a:t>
            </a:r>
            <a:r>
              <a:rPr lang="en-US" altLang="ko-KR" sz="1600" dirty="0"/>
              <a:t>(DBA)</a:t>
            </a:r>
            <a:r>
              <a:rPr lang="ko-KR" altLang="en-US" sz="1600" dirty="0"/>
              <a:t>가 데이터 관리를 목적으로 사용한다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DCL</a:t>
            </a:r>
            <a:r>
              <a:rPr lang="ko-KR" altLang="en-US" sz="1600" dirty="0"/>
              <a:t>에는 </a:t>
            </a:r>
            <a:r>
              <a:rPr lang="en-US" altLang="ko-KR" sz="1600" dirty="0"/>
              <a:t>GRANT, REVOKE, COMMIT, ROLLBACK, SAVEPOINT </a:t>
            </a:r>
            <a:r>
              <a:rPr lang="ko-KR" altLang="en-US" sz="1600" dirty="0"/>
              <a:t>등이 있다</a:t>
            </a:r>
            <a:r>
              <a:rPr lang="en-US" altLang="ko-KR" sz="160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8624" y="2996952"/>
            <a:ext cx="475252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GRANT / REVOKE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C00000"/>
                </a:solidFill>
              </a:rPr>
              <a:t>    </a:t>
            </a:r>
            <a:r>
              <a:rPr lang="en-US" altLang="ko-KR" sz="1600" b="1" dirty="0"/>
              <a:t>GRANT</a:t>
            </a:r>
            <a:r>
              <a:rPr lang="en-US" altLang="ko-KR" sz="1600" dirty="0"/>
              <a:t>: </a:t>
            </a:r>
            <a:r>
              <a:rPr lang="ko-KR" altLang="en-US" sz="1600" dirty="0"/>
              <a:t>권한 부여를 위한 명령어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C00000"/>
                </a:solidFill>
              </a:rPr>
              <a:t>     </a:t>
            </a:r>
            <a:r>
              <a:rPr lang="en-US" altLang="ko-KR" sz="1600" b="1" dirty="0"/>
              <a:t>REVOKE</a:t>
            </a:r>
            <a:r>
              <a:rPr lang="en-US" altLang="ko-KR" sz="1600" dirty="0"/>
              <a:t>: </a:t>
            </a:r>
            <a:r>
              <a:rPr lang="ko-KR" altLang="en-US" sz="1600" dirty="0"/>
              <a:t>권한 취소를 위한 명령어</a:t>
            </a:r>
            <a:endParaRPr lang="en-US" altLang="ko-KR" sz="1600" b="1" dirty="0">
              <a:solidFill>
                <a:srgbClr val="C00000"/>
              </a:solidFill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670753" y="4345359"/>
            <a:ext cx="4176464" cy="4206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400" b="1" dirty="0"/>
              <a:t>  GRANT RESOURCE TO TODAY;</a:t>
            </a:r>
            <a:endParaRPr lang="en-US" altLang="ko-KR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1670753" y="4849415"/>
            <a:ext cx="745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사용자 </a:t>
            </a:r>
            <a:r>
              <a:rPr lang="en-US" altLang="ko-KR" sz="1400" dirty="0"/>
              <a:t>ID</a:t>
            </a:r>
            <a:r>
              <a:rPr lang="ko-KR" altLang="en-US" sz="1400" dirty="0"/>
              <a:t>가 </a:t>
            </a:r>
            <a:r>
              <a:rPr lang="en-US" altLang="ko-KR" sz="1400" dirty="0"/>
              <a:t>‘TODAY’</a:t>
            </a:r>
            <a:r>
              <a:rPr lang="ko-KR" altLang="en-US" sz="1400" dirty="0"/>
              <a:t>인 사람에게 </a:t>
            </a:r>
            <a:r>
              <a:rPr lang="en-US" altLang="ko-KR" sz="1400" dirty="0"/>
              <a:t>DB </a:t>
            </a:r>
            <a:r>
              <a:rPr lang="ko-KR" altLang="en-US" sz="1400" dirty="0"/>
              <a:t>및 테이블을 생성할 수 있는 권한을 부여함 </a:t>
            </a: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670753" y="5340033"/>
            <a:ext cx="4176464" cy="4206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400" b="1" dirty="0"/>
              <a:t>  GRANT CONNECT TO CLOUD;</a:t>
            </a:r>
            <a:endParaRPr lang="en-US" altLang="ko-KR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70753" y="5857527"/>
            <a:ext cx="7664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사용자 </a:t>
            </a:r>
            <a:r>
              <a:rPr lang="en-US" altLang="ko-KR" sz="1400" dirty="0"/>
              <a:t>ID</a:t>
            </a:r>
            <a:r>
              <a:rPr lang="ko-KR" altLang="en-US" sz="1400" dirty="0"/>
              <a:t>가 </a:t>
            </a:r>
            <a:r>
              <a:rPr lang="en-US" altLang="ko-KR" sz="1400" dirty="0"/>
              <a:t>‘CLOUD’</a:t>
            </a:r>
            <a:r>
              <a:rPr lang="ko-KR" altLang="en-US" sz="1400" dirty="0"/>
              <a:t>인 사람에게 </a:t>
            </a:r>
            <a:r>
              <a:rPr lang="en-US" altLang="ko-KR" sz="1400" dirty="0"/>
              <a:t>DB</a:t>
            </a:r>
            <a:r>
              <a:rPr lang="ko-KR" altLang="en-US" sz="1400" dirty="0"/>
              <a:t>에 있는 정보를 검색할 수 있는 권한을 부여</a:t>
            </a:r>
          </a:p>
        </p:txBody>
      </p:sp>
    </p:spTree>
    <p:extLst>
      <p:ext uri="{BB962C8B-B14F-4D97-AF65-F5344CB8AC3E}">
        <p14:creationId xmlns:p14="http://schemas.microsoft.com/office/powerpoint/2010/main" val="2580195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SQL – DML(</a:t>
            </a:r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71600" y="1052736"/>
            <a:ext cx="5238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1" dirty="0"/>
              <a:t>DML(Data Manipulation Language)</a:t>
            </a:r>
            <a:endParaRPr lang="en-US" altLang="ko-KR" sz="20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352600" y="1553396"/>
            <a:ext cx="3257399" cy="5040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INSERT </a:t>
            </a:r>
            <a:r>
              <a:rPr lang="ko-KR" altLang="en-US" sz="1800" dirty="0"/>
              <a:t>문 </a:t>
            </a:r>
            <a:r>
              <a:rPr lang="en-US" altLang="ko-KR" sz="1800" dirty="0"/>
              <a:t>– </a:t>
            </a:r>
            <a:r>
              <a:rPr lang="ko-KR" altLang="en-US" sz="1800" dirty="0"/>
              <a:t>자료 삽입</a:t>
            </a:r>
            <a:endParaRPr lang="en-US" altLang="ko-KR" sz="1800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1791233" y="2201468"/>
            <a:ext cx="5627078" cy="11161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/>
              <a:t>    INSERT INTO </a:t>
            </a:r>
            <a:r>
              <a:rPr lang="ko-KR" altLang="en-US" sz="1800"/>
              <a:t>테이블 이름</a:t>
            </a:r>
            <a:r>
              <a:rPr lang="en-US" altLang="ko-KR" sz="1800"/>
              <a:t>(</a:t>
            </a:r>
            <a:r>
              <a:rPr lang="ko-KR" altLang="en-US" sz="1800"/>
              <a:t>열이름</a:t>
            </a:r>
            <a:r>
              <a:rPr lang="en-US" altLang="ko-KR" sz="1800"/>
              <a:t>1, </a:t>
            </a:r>
            <a:r>
              <a:rPr lang="ko-KR" altLang="en-US" sz="1800"/>
              <a:t>열이름</a:t>
            </a:r>
            <a:r>
              <a:rPr lang="en-US" altLang="ko-KR" sz="1800"/>
              <a:t>2…)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/>
              <a:t>    </a:t>
            </a:r>
            <a:r>
              <a:rPr lang="en-US" altLang="ko-KR" sz="1800" b="1"/>
              <a:t>VALUES</a:t>
            </a:r>
            <a:r>
              <a:rPr lang="en-US" altLang="ko-KR" sz="1800"/>
              <a:t> (</a:t>
            </a:r>
            <a:r>
              <a:rPr lang="ko-KR" altLang="en-US" sz="1800"/>
              <a:t>데이터 값</a:t>
            </a:r>
            <a:r>
              <a:rPr lang="en-US" altLang="ko-KR" sz="1800"/>
              <a:t>1, </a:t>
            </a:r>
            <a:r>
              <a:rPr lang="ko-KR" altLang="en-US" sz="1800"/>
              <a:t>데이터값 </a:t>
            </a:r>
            <a:r>
              <a:rPr lang="en-US" altLang="ko-KR" sz="1800"/>
              <a:t>2, …)</a:t>
            </a:r>
            <a:endParaRPr lang="en-US" altLang="ko-KR" sz="18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424608" y="3566224"/>
            <a:ext cx="325739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SELECT </a:t>
            </a:r>
            <a:r>
              <a:rPr lang="ko-KR" altLang="en-US" sz="1800" dirty="0"/>
              <a:t>문 </a:t>
            </a:r>
            <a:r>
              <a:rPr lang="en-US" altLang="ko-KR" sz="1800" dirty="0"/>
              <a:t>– </a:t>
            </a:r>
            <a:r>
              <a:rPr lang="ko-KR" altLang="en-US" sz="1800" dirty="0"/>
              <a:t>자료 검색</a:t>
            </a:r>
            <a:endParaRPr lang="en-US" altLang="ko-KR" sz="18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1801687" y="4145684"/>
            <a:ext cx="3672408" cy="10115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  SELECT  </a:t>
            </a:r>
            <a:r>
              <a:rPr lang="ko-KR" altLang="en-US" sz="1800" dirty="0" err="1"/>
              <a:t>열이름</a:t>
            </a:r>
            <a:r>
              <a:rPr lang="ko-KR" altLang="en-US" sz="1800" dirty="0"/>
              <a:t> </a:t>
            </a:r>
            <a:r>
              <a:rPr lang="en-US" altLang="ko-KR" sz="1800" dirty="0"/>
              <a:t>(or </a:t>
            </a:r>
            <a:r>
              <a:rPr lang="ko-KR" altLang="en-US" sz="1800" dirty="0"/>
              <a:t>별칭</a:t>
            </a:r>
            <a:r>
              <a:rPr lang="en-US" altLang="ko-KR" sz="1800" dirty="0"/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   </a:t>
            </a:r>
            <a:r>
              <a:rPr lang="en-US" altLang="ko-KR" sz="1800" b="1" dirty="0"/>
              <a:t>FROM</a:t>
            </a:r>
            <a:r>
              <a:rPr lang="en-US" altLang="ko-KR" sz="1800" dirty="0"/>
              <a:t>  </a:t>
            </a:r>
            <a:r>
              <a:rPr lang="ko-KR" altLang="en-US" sz="1800" dirty="0"/>
              <a:t>테이블 이름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828895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SQL – DML(</a:t>
            </a:r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71600" y="1052736"/>
            <a:ext cx="5238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1" dirty="0"/>
              <a:t>DML(Data Manipulation Language)</a:t>
            </a:r>
            <a:endParaRPr lang="en-US" altLang="ko-KR" sz="2000" dirty="0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1335562" y="1553396"/>
            <a:ext cx="3617439" cy="5040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UPDATE </a:t>
            </a:r>
            <a:r>
              <a:rPr lang="ko-KR" altLang="en-US" sz="1800" dirty="0"/>
              <a:t>문 </a:t>
            </a:r>
            <a:r>
              <a:rPr lang="en-US" altLang="ko-KR" sz="1800" dirty="0"/>
              <a:t>– </a:t>
            </a:r>
            <a:r>
              <a:rPr lang="ko-KR" altLang="en-US" sz="1800" dirty="0"/>
              <a:t>레코드 수정</a:t>
            </a:r>
            <a:endParaRPr lang="en-US" altLang="ko-KR" sz="1800" dirty="0"/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779421" y="2165464"/>
            <a:ext cx="6053899" cy="11161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  UPDATE </a:t>
            </a:r>
            <a:r>
              <a:rPr lang="ko-KR" altLang="en-US" sz="1800" dirty="0"/>
              <a:t>테이블 이름 </a:t>
            </a:r>
            <a:r>
              <a:rPr lang="en-US" altLang="ko-KR" sz="1800" b="1" dirty="0"/>
              <a:t>SET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칼럼이름</a:t>
            </a:r>
            <a:r>
              <a:rPr lang="ko-KR" altLang="en-US" sz="1800" dirty="0"/>
              <a:t> </a:t>
            </a:r>
            <a:r>
              <a:rPr lang="en-US" altLang="ko-KR" sz="1800" dirty="0"/>
              <a:t>= </a:t>
            </a:r>
            <a:r>
              <a:rPr lang="ko-KR" altLang="en-US" sz="1800" dirty="0"/>
              <a:t>변경할 값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    </a:t>
            </a:r>
            <a:r>
              <a:rPr lang="en-US" altLang="ko-KR" sz="1800" b="1" dirty="0"/>
              <a:t>WHERE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칼럼이름</a:t>
            </a:r>
            <a:r>
              <a:rPr lang="ko-KR" altLang="en-US" sz="1800" dirty="0"/>
              <a:t> </a:t>
            </a:r>
            <a:r>
              <a:rPr lang="en-US" altLang="ko-KR" sz="1800" dirty="0"/>
              <a:t>= </a:t>
            </a:r>
            <a:r>
              <a:rPr lang="ko-KR" altLang="en-US" sz="1800" dirty="0" err="1"/>
              <a:t>칼럼값</a:t>
            </a:r>
            <a:endParaRPr lang="en-US" altLang="ko-KR" sz="1800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1335562" y="3533616"/>
            <a:ext cx="325739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DELETE </a:t>
            </a:r>
            <a:r>
              <a:rPr lang="ko-KR" altLang="en-US" sz="1800" dirty="0"/>
              <a:t>문 </a:t>
            </a:r>
            <a:r>
              <a:rPr lang="en-US" altLang="ko-KR" sz="1800" dirty="0"/>
              <a:t>– </a:t>
            </a:r>
            <a:r>
              <a:rPr lang="ko-KR" altLang="en-US" sz="1800" dirty="0"/>
              <a:t>레코드 삭제</a:t>
            </a:r>
            <a:endParaRPr lang="en-US" altLang="ko-KR" sz="1800" dirty="0"/>
          </a:p>
        </p:txBody>
      </p:sp>
      <p:sp>
        <p:nvSpPr>
          <p:cNvPr id="16" name="내용 개체 틀 2"/>
          <p:cNvSpPr txBox="1">
            <a:spLocks/>
          </p:cNvSpPr>
          <p:nvPr/>
        </p:nvSpPr>
        <p:spPr>
          <a:xfrm>
            <a:off x="1779421" y="4145684"/>
            <a:ext cx="5981892" cy="10115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  DELETE  </a:t>
            </a:r>
            <a:r>
              <a:rPr lang="ko-KR" altLang="en-US" sz="1800" dirty="0" err="1"/>
              <a:t>열이름</a:t>
            </a:r>
            <a:r>
              <a:rPr lang="ko-KR" altLang="en-US" sz="1800" dirty="0"/>
              <a:t> </a:t>
            </a:r>
            <a:r>
              <a:rPr lang="en-US" altLang="ko-KR" sz="1800" dirty="0"/>
              <a:t>(or </a:t>
            </a:r>
            <a:r>
              <a:rPr lang="ko-KR" altLang="en-US" sz="1800" dirty="0"/>
              <a:t>별칭</a:t>
            </a:r>
            <a:r>
              <a:rPr lang="en-US" altLang="ko-KR" sz="1800" dirty="0"/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   </a:t>
            </a:r>
            <a:r>
              <a:rPr lang="en-US" altLang="ko-KR" sz="1800" b="1" dirty="0"/>
              <a:t>FROM</a:t>
            </a:r>
            <a:r>
              <a:rPr lang="en-US" altLang="ko-KR" sz="1800" dirty="0"/>
              <a:t>  </a:t>
            </a:r>
            <a:r>
              <a:rPr lang="ko-KR" altLang="en-US" sz="1800" dirty="0"/>
              <a:t>테이블 이름 </a:t>
            </a:r>
            <a:r>
              <a:rPr lang="en-US" altLang="ko-KR" sz="1800" b="1" dirty="0"/>
              <a:t>WHERE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칼럼이름</a:t>
            </a:r>
            <a:r>
              <a:rPr lang="ko-KR" altLang="en-US" sz="1800" dirty="0"/>
              <a:t> </a:t>
            </a:r>
            <a:r>
              <a:rPr lang="en-US" altLang="ko-KR" sz="1800" dirty="0"/>
              <a:t>= </a:t>
            </a:r>
            <a:r>
              <a:rPr lang="ko-KR" altLang="en-US" sz="1800" dirty="0" err="1"/>
              <a:t>칼럼값</a:t>
            </a:r>
            <a:r>
              <a:rPr lang="en-US" altLang="ko-K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6874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043608" y="1052736"/>
            <a:ext cx="6624736" cy="50405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데이터 타입</a:t>
            </a:r>
            <a:r>
              <a:rPr lang="en-US" altLang="ko-KR" sz="2000" b="1" dirty="0"/>
              <a:t>(Data Type)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931520"/>
              </p:ext>
            </p:extLst>
          </p:nvPr>
        </p:nvGraphicFramePr>
        <p:xfrm>
          <a:off x="1580625" y="1772816"/>
          <a:ext cx="7272808" cy="3312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7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1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1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 char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고정길이 문자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최대 </a:t>
                      </a:r>
                      <a:r>
                        <a:rPr lang="en-US" altLang="ko-KR" sz="1600" dirty="0"/>
                        <a:t>255byte,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 err="1"/>
                        <a:t>디폴트값은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en-US" altLang="ko-KR" sz="1600" baseline="0" dirty="0"/>
                        <a:t>1byte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1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 varchar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가변길이 문자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최대 </a:t>
                      </a:r>
                      <a:r>
                        <a:rPr lang="en-US" altLang="ko-KR" sz="1600" dirty="0"/>
                        <a:t>65536byte,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 err="1"/>
                        <a:t>디폴트값은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en-US" altLang="ko-KR" sz="1600" baseline="0" dirty="0"/>
                        <a:t>1byte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1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aseline="0" dirty="0" err="1"/>
                        <a:t>int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가변 숫자</a:t>
                      </a:r>
                      <a:r>
                        <a:rPr lang="en-US" altLang="ko-KR" sz="1600" dirty="0"/>
                        <a:t>,  </a:t>
                      </a:r>
                      <a:r>
                        <a:rPr lang="ko-KR" altLang="en-US" sz="1600" dirty="0"/>
                        <a:t>십진수 기준 최대 </a:t>
                      </a:r>
                      <a:r>
                        <a:rPr lang="en-US" altLang="ko-KR" sz="1600" dirty="0"/>
                        <a:t>220byte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1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aseline="0" dirty="0"/>
                        <a:t> text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 err="1"/>
                        <a:t>가변길이</a:t>
                      </a:r>
                      <a:r>
                        <a:rPr lang="ko-KR" altLang="en-US" sz="1600" dirty="0"/>
                        <a:t> 문자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최대 </a:t>
                      </a:r>
                      <a:r>
                        <a:rPr lang="en-US" altLang="ko-KR" sz="1600" dirty="0"/>
                        <a:t>65536byte,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 err="1"/>
                        <a:t>디폴트값은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en-US" altLang="ko-KR" sz="1600" baseline="0" dirty="0"/>
                        <a:t>1byte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1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aseline="0" dirty="0"/>
                        <a:t> date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날짜 </a:t>
                      </a:r>
                      <a:r>
                        <a:rPr lang="en-US" altLang="ko-KR" sz="1600" dirty="0"/>
                        <a:t>–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연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월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일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1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aseline="0" dirty="0"/>
                        <a:t> timestamp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날짜 </a:t>
                      </a:r>
                      <a:r>
                        <a:rPr lang="en-US" altLang="ko-KR" sz="1600" dirty="0"/>
                        <a:t>– </a:t>
                      </a:r>
                      <a:r>
                        <a:rPr lang="ko-KR" altLang="en-US" sz="1600" dirty="0"/>
                        <a:t>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월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일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초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밀리초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522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71600" y="980728"/>
            <a:ext cx="52383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/>
              <a:t>사원 테이블 생성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98918"/>
            <a:ext cx="6430315" cy="39723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95430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71600" y="980728"/>
            <a:ext cx="52383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/>
              <a:t>사원 자료 삽입 및 검색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78512"/>
            <a:ext cx="8012002" cy="30118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976" y="4228326"/>
            <a:ext cx="2510765" cy="10728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23310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71600" y="980728"/>
            <a:ext cx="66456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 err="1"/>
              <a:t>조건절</a:t>
            </a:r>
            <a:r>
              <a:rPr lang="en-US" altLang="ko-KR" sz="2000" b="1" dirty="0"/>
              <a:t>(where)</a:t>
            </a:r>
            <a:r>
              <a:rPr lang="ko-KR" altLang="en-US" sz="2000" b="1" dirty="0"/>
              <a:t>과 정렬</a:t>
            </a:r>
            <a:r>
              <a:rPr lang="en-US" altLang="ko-KR" sz="2000" b="1" dirty="0"/>
              <a:t>(order by)  </a:t>
            </a: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5" y="1678742"/>
            <a:ext cx="6272131" cy="39104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919" y="4847865"/>
            <a:ext cx="1932213" cy="10081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240" y="3717032"/>
            <a:ext cx="1886213" cy="5334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11427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71600" y="990290"/>
            <a:ext cx="5238329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/>
              <a:t>제약 조건</a:t>
            </a:r>
            <a:endParaRPr lang="en-US" altLang="ko-KR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327515" y="2946738"/>
            <a:ext cx="735384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>
                <a:solidFill>
                  <a:srgbClr val="C00000"/>
                </a:solidFill>
              </a:rPr>
              <a:t>NOT NULL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ko-KR" altLang="en-US" sz="1600" dirty="0"/>
              <a:t>칼럼을 정의할 때 </a:t>
            </a:r>
            <a:r>
              <a:rPr lang="en-US" altLang="ko-KR" sz="1600" dirty="0"/>
              <a:t>NOT NULL </a:t>
            </a:r>
            <a:r>
              <a:rPr lang="ko-KR" altLang="en-US" sz="1600" dirty="0"/>
              <a:t>제약 조건을 명시하면 반드시 데이터를 입력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ko-KR" altLang="en-US" sz="1600" dirty="0"/>
              <a:t>해야 한다</a:t>
            </a:r>
            <a:r>
              <a:rPr lang="en-US" altLang="ko-KR" sz="1600" dirty="0"/>
              <a:t>.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800080" y="4447575"/>
            <a:ext cx="5310439" cy="43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</a:t>
            </a:r>
            <a:r>
              <a:rPr lang="ko-KR" altLang="en-US" sz="1600" dirty="0" err="1"/>
              <a:t>칼럼명</a:t>
            </a:r>
            <a:r>
              <a:rPr lang="ko-KR" altLang="en-US" sz="1600" dirty="0"/>
              <a:t>  데이터 타입 </a:t>
            </a:r>
            <a:r>
              <a:rPr lang="en-US" altLang="ko-KR" sz="1600" b="1" dirty="0"/>
              <a:t>NOT NULL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352600" y="1556792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테이블들은 각 속성</a:t>
            </a:r>
            <a:r>
              <a:rPr lang="en-US" altLang="ko-KR" sz="1600" dirty="0"/>
              <a:t>(</a:t>
            </a:r>
            <a:r>
              <a:rPr lang="ko-KR" altLang="en-US" sz="1600" dirty="0"/>
              <a:t>칼럼</a:t>
            </a:r>
            <a:r>
              <a:rPr lang="en-US" altLang="ko-KR" sz="1600" dirty="0"/>
              <a:t>)</a:t>
            </a:r>
            <a:r>
              <a:rPr lang="ko-KR" altLang="en-US" sz="1600" dirty="0"/>
              <a:t>에 대한 </a:t>
            </a:r>
            <a:r>
              <a:rPr lang="ko-KR" altLang="en-US" sz="1600" dirty="0" err="1"/>
              <a:t>무결성을</a:t>
            </a:r>
            <a:r>
              <a:rPr lang="ko-KR" altLang="en-US" sz="1600" dirty="0"/>
              <a:t> 유지하기 위한 다양한 제약 조건</a:t>
            </a:r>
            <a:r>
              <a:rPr lang="en-US" altLang="ko-KR" sz="1600" dirty="0"/>
              <a:t>(Constraints)</a:t>
            </a:r>
            <a:r>
              <a:rPr lang="ko-KR" altLang="en-US" sz="1600" dirty="0"/>
              <a:t>이 적용되어 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제약 조건에는 </a:t>
            </a:r>
            <a:r>
              <a:rPr lang="en-US" altLang="ko-KR" sz="1600" dirty="0"/>
              <a:t>NOT NULL,  </a:t>
            </a:r>
            <a:r>
              <a:rPr lang="ko-KR" altLang="en-US" sz="1600" dirty="0" err="1"/>
              <a:t>기본키</a:t>
            </a:r>
            <a:r>
              <a:rPr lang="en-US" altLang="ko-KR" sz="1600" dirty="0"/>
              <a:t>,  </a:t>
            </a:r>
            <a:r>
              <a:rPr lang="ko-KR" altLang="en-US" sz="1600" dirty="0" err="1"/>
              <a:t>외래키</a:t>
            </a:r>
            <a:r>
              <a:rPr lang="en-US" altLang="ko-KR" sz="1600" dirty="0"/>
              <a:t>, CHECK </a:t>
            </a:r>
            <a:r>
              <a:rPr lang="ko-KR" altLang="en-US" sz="1600" dirty="0"/>
              <a:t>등이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327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71600" y="990290"/>
            <a:ext cx="5238329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/>
              <a:t>제약 조건</a:t>
            </a:r>
            <a:endParaRPr lang="en-US" altLang="ko-KR" sz="2000" b="1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228361" y="1513706"/>
            <a:ext cx="3744416" cy="5040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rgbClr val="C00000"/>
                </a:solidFill>
              </a:rPr>
              <a:t>기본키</a:t>
            </a:r>
            <a:r>
              <a:rPr lang="en-US" altLang="ko-KR" sz="2000" b="1" dirty="0">
                <a:solidFill>
                  <a:srgbClr val="C00000"/>
                </a:solidFill>
              </a:rPr>
              <a:t>(PRIMARY 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8624" y="2073622"/>
            <a:ext cx="734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latin typeface="+mn-ea"/>
              </a:rPr>
              <a:t>기본키는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Primay</a:t>
            </a:r>
            <a:r>
              <a:rPr lang="en-US" altLang="ko-KR" dirty="0">
                <a:latin typeface="+mn-ea"/>
              </a:rPr>
              <a:t> Key</a:t>
            </a:r>
            <a:r>
              <a:rPr lang="ko-KR" altLang="en-US" dirty="0">
                <a:latin typeface="+mn-ea"/>
              </a:rPr>
              <a:t>라고도 하며</a:t>
            </a:r>
            <a:r>
              <a:rPr lang="en-US" altLang="ko-KR" dirty="0">
                <a:latin typeface="+mn-ea"/>
              </a:rPr>
              <a:t>, UNIQUE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NOT NULL </a:t>
            </a:r>
            <a:r>
              <a:rPr lang="ko-KR" altLang="en-US" dirty="0">
                <a:latin typeface="+mn-ea"/>
              </a:rPr>
              <a:t>속성을 동시에 가진 제약 조건으로 테이블 당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개의 </a:t>
            </a:r>
            <a:r>
              <a:rPr lang="ko-KR" altLang="en-US" dirty="0" err="1">
                <a:latin typeface="+mn-ea"/>
              </a:rPr>
              <a:t>기본키만</a:t>
            </a:r>
            <a:r>
              <a:rPr lang="ko-KR" altLang="en-US" dirty="0">
                <a:latin typeface="+mn-ea"/>
              </a:rPr>
              <a:t> 생성할 수 있다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1640632" y="3284984"/>
            <a:ext cx="5377790" cy="1380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</a:t>
            </a:r>
            <a:r>
              <a:rPr lang="ko-KR" altLang="en-US" sz="1600" dirty="0" err="1"/>
              <a:t>칼럼명</a:t>
            </a:r>
            <a:r>
              <a:rPr lang="ko-KR" altLang="en-US" sz="1600" dirty="0"/>
              <a:t>  데이터 타입 </a:t>
            </a:r>
            <a:r>
              <a:rPr lang="en-US" altLang="ko-KR" sz="1600" b="1" dirty="0"/>
              <a:t>PRIMARY KEY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</a:t>
            </a:r>
            <a:r>
              <a:rPr lang="en-US" altLang="ko-KR" sz="1600" dirty="0"/>
              <a:t> </a:t>
            </a:r>
            <a:r>
              <a:rPr lang="ko-KR" altLang="en-US" sz="1600" dirty="0"/>
              <a:t>또는 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PRIMARY KEY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칼럼명</a:t>
            </a:r>
            <a:r>
              <a:rPr lang="en-US" altLang="ko-KR" sz="1600" dirty="0"/>
              <a:t>, …)</a:t>
            </a:r>
          </a:p>
        </p:txBody>
      </p:sp>
    </p:spTree>
    <p:extLst>
      <p:ext uri="{BB962C8B-B14F-4D97-AF65-F5344CB8AC3E}">
        <p14:creationId xmlns:p14="http://schemas.microsoft.com/office/powerpoint/2010/main" val="146394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71600" y="980728"/>
            <a:ext cx="5997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/>
              <a:t>사원 아이디 중복 등록으로 인한 오류 발생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138" y="3068960"/>
            <a:ext cx="2105319" cy="6287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1772816"/>
            <a:ext cx="4968552" cy="9033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600" y="4090469"/>
            <a:ext cx="5832649" cy="7203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06801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71600" y="980728"/>
            <a:ext cx="5997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/>
              <a:t>사원 테이블 신규 생성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78742"/>
            <a:ext cx="7644675" cy="35653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1623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71600" y="980728"/>
            <a:ext cx="52383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/>
              <a:t>사원 수정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78742"/>
            <a:ext cx="6452133" cy="8855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309" y="2852936"/>
            <a:ext cx="2143424" cy="9621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75463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DB – </a:t>
            </a:r>
            <a:r>
              <a:rPr lang="ko-KR" altLang="en-US" dirty="0"/>
              <a:t>사원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71600" y="980728"/>
            <a:ext cx="52383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/>
              <a:t>사원 삭제 </a:t>
            </a:r>
            <a:endParaRPr lang="en-US" altLang="ko-KR" sz="20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69247"/>
            <a:ext cx="5106113" cy="10193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824" y="3140968"/>
            <a:ext cx="1950897" cy="8640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83354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96922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JDBC</a:t>
            </a:r>
            <a:r>
              <a:rPr lang="en-US" altLang="ko-KR" b="1" dirty="0"/>
              <a:t>(Java Database Connectivity)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2520" y="1000530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/>
              <a:t>데이터베이스 연결 순서</a:t>
            </a:r>
            <a:endParaRPr lang="en-US" altLang="ko-KR" sz="2000" b="1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064568" y="1772816"/>
            <a:ext cx="3024336" cy="50405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JDBC </a:t>
            </a:r>
            <a:r>
              <a:rPr lang="ko-KR" altLang="en-US" dirty="0"/>
              <a:t>드라이버 로딩하기</a:t>
            </a:r>
            <a:endParaRPr lang="en-US" altLang="ko-KR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4448944" y="1772816"/>
            <a:ext cx="2232248" cy="50405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DriverManager</a:t>
            </a:r>
            <a:endParaRPr lang="en-US" altLang="ko-KR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064568" y="2708920"/>
            <a:ext cx="3024336" cy="50405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데이터베이스 연결</a:t>
            </a:r>
            <a:endParaRPr lang="en-US" altLang="ko-KR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4448944" y="2708920"/>
            <a:ext cx="2232248" cy="50405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Connection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64568" y="3645024"/>
            <a:ext cx="3024336" cy="50405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SQL</a:t>
            </a:r>
            <a:r>
              <a:rPr lang="ko-KR" altLang="en-US" dirty="0"/>
              <a:t>문 실행</a:t>
            </a:r>
            <a:endParaRPr lang="en-US" altLang="ko-KR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4448944" y="3645024"/>
            <a:ext cx="2232248" cy="50405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Statement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1064568" y="4581128"/>
            <a:ext cx="3024336" cy="50405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데이터베이스 연결 해제</a:t>
            </a:r>
            <a:endParaRPr lang="en-US" altLang="ko-KR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4448944" y="4581128"/>
            <a:ext cx="2232248" cy="50405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Close()</a:t>
            </a:r>
          </a:p>
        </p:txBody>
      </p:sp>
      <p:cxnSp>
        <p:nvCxnSpPr>
          <p:cNvPr id="3" name="직선 화살표 연결선 2"/>
          <p:cNvCxnSpPr>
            <a:stCxn id="12" idx="2"/>
            <a:endCxn id="13" idx="0"/>
          </p:cNvCxnSpPr>
          <p:nvPr/>
        </p:nvCxnSpPr>
        <p:spPr>
          <a:xfrm>
            <a:off x="2576736" y="2276872"/>
            <a:ext cx="0" cy="43204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2596456" y="3212976"/>
            <a:ext cx="0" cy="43204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2599243" y="4149080"/>
            <a:ext cx="0" cy="43204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5673080" y="2276872"/>
            <a:ext cx="0" cy="43204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5673080" y="3212976"/>
            <a:ext cx="0" cy="43204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5673080" y="4149080"/>
            <a:ext cx="0" cy="43204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97216" y="1844824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메모리에 </a:t>
            </a:r>
            <a:r>
              <a:rPr lang="en-US" altLang="ko-KR" sz="1600" dirty="0" err="1"/>
              <a:t>OracleDriver</a:t>
            </a:r>
            <a:r>
              <a:rPr lang="en-US" altLang="ko-KR" sz="1600" dirty="0"/>
              <a:t> </a:t>
            </a:r>
            <a:r>
              <a:rPr lang="ko-KR" altLang="en-US" sz="1600" dirty="0"/>
              <a:t>로딩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7216" y="2791671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Connection </a:t>
            </a:r>
            <a:r>
              <a:rPr lang="ko-KR" altLang="en-US" sz="1600" dirty="0"/>
              <a:t>객체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7216" y="3645024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Statement </a:t>
            </a:r>
            <a:r>
              <a:rPr lang="ko-KR" altLang="en-US" sz="1600" dirty="0"/>
              <a:t>객체를 통해 </a:t>
            </a:r>
            <a:r>
              <a:rPr lang="en-US" altLang="ko-KR" sz="1600" dirty="0"/>
              <a:t>SQL</a:t>
            </a:r>
            <a:r>
              <a:rPr lang="ko-KR" altLang="en-US" sz="1600" dirty="0"/>
              <a:t>문이 실행됨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7216" y="4581128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 </a:t>
            </a:r>
            <a:r>
              <a:rPr lang="ko-KR" altLang="en-US" sz="1600" dirty="0"/>
              <a:t>연결 종료</a:t>
            </a:r>
          </a:p>
        </p:txBody>
      </p:sp>
    </p:spTree>
    <p:extLst>
      <p:ext uri="{BB962C8B-B14F-4D97-AF65-F5344CB8AC3E}">
        <p14:creationId xmlns:p14="http://schemas.microsoft.com/office/powerpoint/2010/main" val="2892682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82520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JDBC</a:t>
            </a:r>
            <a:r>
              <a:rPr lang="en-US" altLang="ko-KR" b="1" dirty="0"/>
              <a:t>(Java Database Connectivity)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00336" y="980745"/>
            <a:ext cx="4312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mysql</a:t>
            </a:r>
            <a:r>
              <a:rPr lang="en-US" altLang="ko-KR" sz="2000" dirty="0"/>
              <a:t> connector/j </a:t>
            </a:r>
            <a:r>
              <a:rPr lang="ko-KR" altLang="en-US" sz="2000" dirty="0"/>
              <a:t>다운로드</a:t>
            </a:r>
            <a:endParaRPr lang="en-US" altLang="ko-KR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355893" y="1474299"/>
            <a:ext cx="5351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Maven </a:t>
            </a:r>
            <a:r>
              <a:rPr lang="ko-KR" altLang="en-US" sz="1600" dirty="0"/>
              <a:t>저장소 사이트 </a:t>
            </a:r>
            <a:r>
              <a:rPr lang="en-US" altLang="ko-KR" sz="1600" dirty="0"/>
              <a:t>&gt; </a:t>
            </a:r>
            <a:r>
              <a:rPr lang="en-US" altLang="ko-KR" sz="1600" dirty="0" err="1"/>
              <a:t>mysql</a:t>
            </a:r>
            <a:r>
              <a:rPr lang="en-US" altLang="ko-KR" sz="1600" dirty="0"/>
              <a:t> driver</a:t>
            </a:r>
            <a:r>
              <a:rPr lang="ko-KR" altLang="en-US" sz="1600" dirty="0"/>
              <a:t>로 검색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2002319" y="2056018"/>
            <a:ext cx="4058884" cy="4022328"/>
            <a:chOff x="4678187" y="2028297"/>
            <a:chExt cx="4058884" cy="402232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8187" y="2028297"/>
              <a:ext cx="4058884" cy="365299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14" name="모서리가 둥근 직사각형 13"/>
            <p:cNvSpPr/>
            <p:nvPr/>
          </p:nvSpPr>
          <p:spPr>
            <a:xfrm>
              <a:off x="6622403" y="4636427"/>
              <a:ext cx="1602161" cy="360040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 flipV="1">
              <a:off x="7431178" y="4996467"/>
              <a:ext cx="0" cy="720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7152895" y="5681293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C00000"/>
                  </a:solidFill>
                </a:rPr>
                <a:t>jar </a:t>
              </a:r>
              <a:r>
                <a:rPr lang="ko-KR" altLang="en-US" dirty="0">
                  <a:solidFill>
                    <a:srgbClr val="C00000"/>
                  </a:solidFill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738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98722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JDBC</a:t>
            </a:r>
            <a:r>
              <a:rPr lang="en-US" altLang="ko-KR" b="1" dirty="0"/>
              <a:t>(Java Database Connectivity) </a:t>
            </a:r>
            <a:endParaRPr lang="ko-KR" altLang="en-US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460612" y="3616340"/>
            <a:ext cx="3312368" cy="1152128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ysClr val="windowText" lastClr="000000"/>
                </a:solidFill>
              </a:rPr>
              <a:t>1. lib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폴더 만들기 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ysClr val="windowText" lastClr="000000"/>
                </a:solidFill>
              </a:rPr>
              <a:t>2. </a:t>
            </a:r>
            <a:r>
              <a:rPr lang="en-US" altLang="ko-KR" sz="1600" dirty="0" err="1">
                <a:solidFill>
                  <a:sysClr val="windowText" lastClr="000000"/>
                </a:solidFill>
              </a:rPr>
              <a:t>mysql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드라이버 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.jar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파일 복사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ysClr val="windowText" lastClr="000000"/>
                </a:solidFill>
              </a:rPr>
              <a:t>3. 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클래스 패스 설정</a:t>
            </a:r>
            <a:endParaRPr lang="en-US" altLang="ko-KR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2162690" y="3230015"/>
            <a:ext cx="90010" cy="387829"/>
          </a:xfrm>
          <a:prstGeom prst="straightConnector1">
            <a:avLst/>
          </a:prstGeom>
          <a:ln w="1905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" name="TextBox 3"/>
          <p:cNvSpPr txBox="1"/>
          <p:nvPr/>
        </p:nvSpPr>
        <p:spPr>
          <a:xfrm>
            <a:off x="5043010" y="3616340"/>
            <a:ext cx="3888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jar </a:t>
            </a:r>
            <a:r>
              <a:rPr lang="ko-KR" altLang="en-US" sz="1600" dirty="0"/>
              <a:t>파일 </a:t>
            </a:r>
            <a:r>
              <a:rPr lang="en-US" altLang="ko-KR" sz="1600" dirty="0"/>
              <a:t>&gt; </a:t>
            </a:r>
            <a:r>
              <a:rPr lang="ko-KR" altLang="en-US" sz="1600" dirty="0"/>
              <a:t>우측마우스 </a:t>
            </a:r>
            <a:r>
              <a:rPr lang="en-US" altLang="ko-KR" sz="1600" dirty="0"/>
              <a:t>&gt; Build Path &gt; Add to Build Path</a:t>
            </a:r>
            <a:endParaRPr lang="ko-KR" altLang="en-US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1000336" y="980745"/>
            <a:ext cx="53208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mysql</a:t>
            </a:r>
            <a:r>
              <a:rPr lang="en-US" altLang="ko-KR" sz="2000" dirty="0"/>
              <a:t> connector/j </a:t>
            </a:r>
            <a:r>
              <a:rPr lang="ko-KR" altLang="en-US" sz="2000" dirty="0"/>
              <a:t>자바 프로젝트에 포함</a:t>
            </a:r>
            <a:endParaRPr lang="en-US" altLang="ko-KR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21579" t="9061"/>
          <a:stretch/>
        </p:blipFill>
        <p:spPr>
          <a:xfrm>
            <a:off x="4016896" y="2108488"/>
            <a:ext cx="5004556" cy="13484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612" y="1700808"/>
            <a:ext cx="2421934" cy="15292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65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8972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ko-KR" altLang="en-US" b="1" dirty="0"/>
              <a:t>연결 테스트</a:t>
            </a:r>
            <a:r>
              <a:rPr lang="en-US" altLang="ko-KR" b="1" dirty="0"/>
              <a:t>(Connection 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568" y="1000530"/>
            <a:ext cx="388843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MySQL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DBMS</a:t>
            </a:r>
            <a:r>
              <a:rPr lang="ko-KR" altLang="en-US" sz="2000" b="1" dirty="0"/>
              <a:t>에 연결하기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28800"/>
            <a:ext cx="6967955" cy="45537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525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8972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ko-KR" altLang="en-US" b="1" dirty="0"/>
              <a:t>연결 테스트</a:t>
            </a:r>
            <a:r>
              <a:rPr lang="en-US" altLang="ko-KR" b="1" dirty="0"/>
              <a:t>(Connection 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568" y="1000530"/>
            <a:ext cx="388843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MySQL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DBMS</a:t>
            </a:r>
            <a:r>
              <a:rPr lang="ko-KR" altLang="en-US" sz="2000" b="1" dirty="0"/>
              <a:t>에 연결하기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28" y="1643954"/>
            <a:ext cx="6696744" cy="29822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60832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8972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ko-KR" altLang="en-US" b="1" dirty="0"/>
              <a:t>연결 테스트</a:t>
            </a:r>
            <a:r>
              <a:rPr lang="en-US" altLang="ko-KR" b="1" dirty="0"/>
              <a:t>(Connection 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568" y="1000530"/>
            <a:ext cx="388843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개선된 연결 테스트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7951488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62673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SQL – DDL, DML 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64568" y="990290"/>
            <a:ext cx="622091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테이블 생성 및 데이터 삽입</a:t>
            </a:r>
            <a:endParaRPr lang="en-US" altLang="ko-KR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659741"/>
            <a:ext cx="6342580" cy="36756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b="28340"/>
          <a:stretch/>
        </p:blipFill>
        <p:spPr>
          <a:xfrm>
            <a:off x="4736976" y="4945888"/>
            <a:ext cx="3591426" cy="5597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452440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8972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/>
              <a:t>  DTO </a:t>
            </a:r>
            <a:r>
              <a:rPr lang="ko-KR" altLang="en-US" dirty="0"/>
              <a:t>정의와 사용법</a:t>
            </a:r>
            <a:endParaRPr lang="en-US" altLang="ko-KR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64568" y="980728"/>
            <a:ext cx="67687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DTO(Data Transfer Object)</a:t>
            </a:r>
            <a:r>
              <a:rPr lang="ko-KR" altLang="en-US" sz="2000" b="1" dirty="0"/>
              <a:t>의 정의와 사용법</a:t>
            </a:r>
            <a:endParaRPr lang="en-US" altLang="ko-KR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68624" y="1484784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여러 타입의 데이터를 다른 클래스로 전달할 때 사용하는 클래스이다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/>
              <a:t>로직이나</a:t>
            </a:r>
            <a:r>
              <a:rPr lang="ko-KR" altLang="en-US" dirty="0"/>
              <a:t> 서비스 </a:t>
            </a:r>
            <a:r>
              <a:rPr lang="ko-KR" altLang="en-US" dirty="0" err="1"/>
              <a:t>기능등은</a:t>
            </a:r>
            <a:r>
              <a:rPr lang="ko-KR" altLang="en-US" dirty="0"/>
              <a:t> 없고 단순히 참조되는 </a:t>
            </a:r>
            <a:r>
              <a:rPr lang="ko-KR" altLang="en-US" dirty="0" err="1"/>
              <a:t>자료형이다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만드는 방법</a:t>
            </a:r>
            <a:endParaRPr lang="en-US" altLang="ko-KR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2072680" y="3324529"/>
            <a:ext cx="5616624" cy="190348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ysClr val="windowText" lastClr="000000"/>
                </a:solidFill>
              </a:rPr>
              <a:t>DB </a:t>
            </a:r>
            <a:r>
              <a:rPr lang="ko-KR" altLang="en-US" dirty="0">
                <a:solidFill>
                  <a:sysClr val="windowText" lastClr="000000"/>
                </a:solidFill>
              </a:rPr>
              <a:t>테이블의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필드명을</a:t>
            </a:r>
            <a:r>
              <a:rPr lang="ko-KR" altLang="en-US" dirty="0">
                <a:solidFill>
                  <a:sysClr val="windowText" lastClr="000000"/>
                </a:solidFill>
              </a:rPr>
              <a:t> 속성으로 선언한다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ysClr val="windowText" lastClr="000000"/>
                </a:solidFill>
              </a:rPr>
              <a:t>생성자를</a:t>
            </a:r>
            <a:r>
              <a:rPr lang="ko-KR" altLang="en-US" dirty="0">
                <a:solidFill>
                  <a:sysClr val="windowText" lastClr="000000"/>
                </a:solidFill>
              </a:rPr>
              <a:t> 구현한다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ysClr val="windowText" lastClr="000000"/>
                </a:solidFill>
              </a:rPr>
              <a:t>각 속성에 대한 </a:t>
            </a:r>
            <a:r>
              <a:rPr lang="en-US" altLang="ko-KR" dirty="0">
                <a:solidFill>
                  <a:sysClr val="windowText" lastClr="000000"/>
                </a:solidFill>
              </a:rPr>
              <a:t>getter/setter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메서드를</a:t>
            </a:r>
            <a:r>
              <a:rPr lang="ko-KR" altLang="en-US" dirty="0">
                <a:solidFill>
                  <a:sysClr val="windowText" lastClr="000000"/>
                </a:solidFill>
              </a:rPr>
              <a:t> 구현한다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6974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8972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/>
              <a:t>  DAO </a:t>
            </a:r>
            <a:r>
              <a:rPr lang="ko-KR" altLang="en-US" dirty="0"/>
              <a:t>정의와 사용법</a:t>
            </a:r>
            <a:endParaRPr lang="en-US" altLang="ko-KR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64568" y="980728"/>
            <a:ext cx="87129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DAO(Data Access Object)</a:t>
            </a:r>
            <a:r>
              <a:rPr lang="ko-KR" altLang="en-US" sz="2000" b="1" dirty="0"/>
              <a:t>의 정의와 사용법</a:t>
            </a:r>
            <a:endParaRPr lang="en-US" altLang="ko-KR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352600" y="1557428"/>
            <a:ext cx="7416824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데이터베이스에 연결</a:t>
            </a:r>
            <a:r>
              <a:rPr lang="en-US" altLang="ko-KR" sz="1600" dirty="0"/>
              <a:t>(</a:t>
            </a:r>
            <a:r>
              <a:rPr lang="ko-KR" altLang="en-US" sz="1600" dirty="0"/>
              <a:t>접속</a:t>
            </a:r>
            <a:r>
              <a:rPr lang="en-US" altLang="ko-KR" sz="1600" dirty="0"/>
              <a:t>)</a:t>
            </a:r>
            <a:r>
              <a:rPr lang="ko-KR" altLang="en-US" sz="1600" dirty="0"/>
              <a:t>하고</a:t>
            </a:r>
            <a:r>
              <a:rPr lang="en-US" altLang="ko-KR" sz="1600" dirty="0"/>
              <a:t>,</a:t>
            </a:r>
            <a:r>
              <a:rPr lang="ko-KR" altLang="en-US" sz="1600" dirty="0"/>
              <a:t> 데이터를 생성</a:t>
            </a:r>
            <a:r>
              <a:rPr lang="en-US" altLang="ko-KR" sz="1600" dirty="0"/>
              <a:t>, </a:t>
            </a:r>
            <a:r>
              <a:rPr lang="ko-KR" altLang="en-US" sz="1600" dirty="0"/>
              <a:t>조회</a:t>
            </a:r>
            <a:r>
              <a:rPr lang="en-US" altLang="ko-KR" sz="1600" dirty="0"/>
              <a:t>, </a:t>
            </a:r>
            <a:r>
              <a:rPr lang="ko-KR" altLang="en-US" sz="1600" dirty="0"/>
              <a:t>수정</a:t>
            </a:r>
            <a:r>
              <a:rPr lang="en-US" altLang="ko-KR" sz="1600" dirty="0"/>
              <a:t>, </a:t>
            </a:r>
            <a:r>
              <a:rPr lang="ko-KR" altLang="en-US" sz="1600" dirty="0"/>
              <a:t>삭제 등의 작업을 하는 클래스이다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/>
              <a:t>DTO </a:t>
            </a:r>
            <a:r>
              <a:rPr lang="ko-KR" altLang="en-US" sz="1600" dirty="0"/>
              <a:t>클래스를 사용하여 작업을 수행한다</a:t>
            </a:r>
            <a:r>
              <a:rPr lang="en-US" altLang="ko-KR" sz="1600" dirty="0"/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928664" y="3068960"/>
            <a:ext cx="2304256" cy="64463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+mn-ea"/>
              </a:rPr>
              <a:t>  </a:t>
            </a:r>
          </a:p>
          <a:p>
            <a:pPr algn="ctr"/>
            <a:r>
              <a:rPr lang="en-US" altLang="ko-KR" sz="2000" dirty="0">
                <a:latin typeface="+mn-ea"/>
              </a:rPr>
              <a:t>Users</a:t>
            </a:r>
          </a:p>
          <a:p>
            <a:pPr algn="ctr"/>
            <a:endParaRPr lang="en-US" altLang="ko-KR" sz="20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928664" y="3713597"/>
            <a:ext cx="2304256" cy="156856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+mn-ea"/>
              </a:rPr>
              <a:t>  </a:t>
            </a:r>
          </a:p>
          <a:p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userId</a:t>
            </a:r>
            <a:endParaRPr lang="en-US" altLang="ko-KR" sz="2000" dirty="0">
              <a:latin typeface="+mn-ea"/>
            </a:endParaRPr>
          </a:p>
          <a:p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userPasswd</a:t>
            </a:r>
            <a:endParaRPr lang="en-US" altLang="ko-KR" sz="2000" dirty="0">
              <a:latin typeface="+mn-ea"/>
            </a:endParaRPr>
          </a:p>
          <a:p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userName</a:t>
            </a:r>
            <a:endParaRPr lang="en-US" altLang="ko-KR" sz="2000" dirty="0">
              <a:latin typeface="+mn-ea"/>
            </a:endParaRPr>
          </a:p>
          <a:p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userAge</a:t>
            </a:r>
            <a:endParaRPr lang="en-US" altLang="ko-KR" sz="2000" dirty="0">
              <a:latin typeface="+mn-ea"/>
            </a:endParaRPr>
          </a:p>
          <a:p>
            <a:r>
              <a:rPr lang="en-US" altLang="ko-KR" sz="2000" dirty="0">
                <a:latin typeface="+mn-ea"/>
              </a:rPr>
              <a:t> 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5254096" y="3068960"/>
            <a:ext cx="2520280" cy="2213203"/>
            <a:chOff x="2000672" y="3015996"/>
            <a:chExt cx="1888558" cy="1925171"/>
          </a:xfrm>
        </p:grpSpPr>
        <p:sp>
          <p:nvSpPr>
            <p:cNvPr id="10" name="직사각형 9"/>
            <p:cNvSpPr/>
            <p:nvPr/>
          </p:nvSpPr>
          <p:spPr>
            <a:xfrm>
              <a:off x="2000672" y="3015996"/>
              <a:ext cx="1888558" cy="560743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+mn-ea"/>
                </a:rPr>
                <a:t>  </a:t>
              </a:r>
            </a:p>
            <a:p>
              <a:pPr algn="ctr"/>
              <a:r>
                <a:rPr lang="en-US" altLang="ko-KR" sz="2000" dirty="0" err="1">
                  <a:latin typeface="+mn-ea"/>
                </a:rPr>
                <a:t>UserDAO</a:t>
              </a:r>
              <a:endParaRPr lang="en-US" altLang="ko-KR" sz="2000" dirty="0">
                <a:latin typeface="+mn-ea"/>
              </a:endParaRPr>
            </a:p>
            <a:p>
              <a:pPr algn="ctr"/>
              <a:endParaRPr lang="en-US" altLang="ko-KR" sz="2000" dirty="0">
                <a:latin typeface="+mn-ea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000672" y="3576738"/>
              <a:ext cx="1888558" cy="1364429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ko-KR" sz="2000" dirty="0">
                <a:latin typeface="+mn-ea"/>
              </a:endParaRPr>
            </a:p>
            <a:p>
              <a:r>
                <a:rPr lang="en-US" altLang="ko-KR" sz="2000" dirty="0">
                  <a:latin typeface="+mn-ea"/>
                </a:rPr>
                <a:t> create()</a:t>
              </a:r>
            </a:p>
            <a:p>
              <a:r>
                <a:rPr lang="en-US" altLang="ko-KR" sz="2000" dirty="0">
                  <a:latin typeface="+mn-ea"/>
                </a:rPr>
                <a:t> read() </a:t>
              </a:r>
            </a:p>
            <a:p>
              <a:r>
                <a:rPr lang="en-US" altLang="ko-KR" sz="2000" dirty="0">
                  <a:latin typeface="+mn-ea"/>
                </a:rPr>
                <a:t> update()</a:t>
              </a:r>
            </a:p>
            <a:p>
              <a:r>
                <a:rPr lang="en-US" altLang="ko-KR" sz="2000" dirty="0">
                  <a:latin typeface="+mn-ea"/>
                </a:rPr>
                <a:t> delete()</a:t>
              </a:r>
            </a:p>
            <a:p>
              <a:endParaRPr lang="en-US" altLang="ko-KR" sz="2000" dirty="0">
                <a:latin typeface="+mn-ea"/>
              </a:endParaRPr>
            </a:p>
          </p:txBody>
        </p:sp>
      </p:grpSp>
      <p:cxnSp>
        <p:nvCxnSpPr>
          <p:cNvPr id="4" name="직선 화살표 연결선 3"/>
          <p:cNvCxnSpPr/>
          <p:nvPr/>
        </p:nvCxnSpPr>
        <p:spPr>
          <a:xfrm>
            <a:off x="4376936" y="4005064"/>
            <a:ext cx="73314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16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8972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/>
              <a:t>  DTO </a:t>
            </a:r>
            <a:r>
              <a:rPr lang="ko-KR" altLang="en-US" dirty="0"/>
              <a:t>정의와 사용법</a:t>
            </a:r>
            <a:endParaRPr lang="en-US" altLang="ko-KR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136576" y="980728"/>
            <a:ext cx="597666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DTO(Data Transfer Object)</a:t>
            </a:r>
            <a:r>
              <a:rPr lang="ko-KR" altLang="en-US" sz="2000" b="1" dirty="0"/>
              <a:t>의 정의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1" y="1509178"/>
            <a:ext cx="4608512" cy="49211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9715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8972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/>
              <a:t>  DTO </a:t>
            </a:r>
            <a:r>
              <a:rPr lang="ko-KR" altLang="en-US" dirty="0"/>
              <a:t>정의와 사용법</a:t>
            </a:r>
            <a:endParaRPr lang="en-US" altLang="ko-KR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20552" y="980728"/>
            <a:ext cx="84249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DTO(Data Transfer Object)</a:t>
            </a:r>
            <a:r>
              <a:rPr lang="ko-KR" altLang="en-US" sz="2000" b="1" dirty="0"/>
              <a:t>의 정의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1" y="1496047"/>
            <a:ext cx="7200800" cy="48453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078700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– DB </a:t>
            </a:r>
            <a:r>
              <a:rPr lang="ko-KR" altLang="en-US" b="1" dirty="0"/>
              <a:t>연결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DB </a:t>
            </a:r>
            <a:r>
              <a:rPr lang="ko-KR" altLang="en-US" sz="2000" b="1" dirty="0"/>
              <a:t>연결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96683"/>
            <a:ext cx="6558322" cy="46012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31733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회원 생성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생성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606297"/>
            <a:ext cx="8248406" cy="45011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5175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회원 생성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생성 테스트 및 </a:t>
            </a:r>
            <a:r>
              <a:rPr lang="en-US" altLang="ko-KR" sz="2000" b="1" dirty="0"/>
              <a:t>DB </a:t>
            </a:r>
            <a:r>
              <a:rPr lang="ko-KR" altLang="en-US" sz="2000" b="1" dirty="0"/>
              <a:t>확인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99279"/>
            <a:ext cx="5911653" cy="37944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176" y="3496488"/>
            <a:ext cx="2896844" cy="6572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70833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96922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JDBC</a:t>
            </a:r>
            <a:r>
              <a:rPr lang="en-US" altLang="ko-KR" b="1" dirty="0"/>
              <a:t>(Java Database Connectivity)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76536" y="1000530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 err="1"/>
              <a:t>PreparedStatement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객체</a:t>
            </a:r>
            <a:endParaRPr lang="en-US" altLang="ko-KR" sz="2000" b="1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992559" y="2363979"/>
            <a:ext cx="1944216" cy="64807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&lt;&lt;interface&gt;&gt;</a:t>
            </a:r>
          </a:p>
          <a:p>
            <a:pPr algn="ctr"/>
            <a:r>
              <a:rPr lang="en-US" altLang="ko-KR" dirty="0"/>
              <a:t>Statement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3675222" y="2969302"/>
            <a:ext cx="2016224" cy="50405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executeQuery</a:t>
            </a:r>
            <a:r>
              <a:rPr lang="en-US" altLang="ko-KR"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79725" y="2945995"/>
            <a:ext cx="3781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SQL</a:t>
            </a:r>
            <a:r>
              <a:rPr lang="ko-KR" altLang="en-US" sz="1600" dirty="0"/>
              <a:t>문 실행 후 여러 개의 결과값 생기는 경우 사용</a:t>
            </a:r>
            <a:r>
              <a:rPr lang="en-US" altLang="ko-KR" sz="1600" dirty="0"/>
              <a:t>. </a:t>
            </a:r>
            <a:r>
              <a:rPr lang="ko-KR" altLang="en-US" sz="1600" dirty="0"/>
              <a:t>예</a:t>
            </a:r>
            <a:r>
              <a:rPr lang="en-US" altLang="ko-KR" sz="1600" dirty="0"/>
              <a:t>)select</a:t>
            </a:r>
            <a:endParaRPr lang="ko-KR" altLang="en-US" sz="1600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3642210" y="1761639"/>
            <a:ext cx="2016224" cy="50405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executeUpdate</a:t>
            </a:r>
            <a:r>
              <a:rPr lang="en-US" altLang="ko-KR" dirty="0"/>
              <a:t>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4242" y="1721279"/>
            <a:ext cx="3817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SQL</a:t>
            </a:r>
            <a:r>
              <a:rPr lang="ko-KR" altLang="en-US" sz="1600" dirty="0"/>
              <a:t>문 실행 후 테이블의 내용만 변경되는 경우 사용</a:t>
            </a:r>
            <a:r>
              <a:rPr lang="en-US" altLang="ko-KR" sz="1600" dirty="0"/>
              <a:t>. </a:t>
            </a:r>
            <a:r>
              <a:rPr lang="ko-KR" altLang="en-US" sz="1600" dirty="0"/>
              <a:t>예</a:t>
            </a:r>
            <a:r>
              <a:rPr lang="en-US" altLang="ko-KR" sz="1600" dirty="0"/>
              <a:t>)insert, delete, update</a:t>
            </a:r>
            <a:endParaRPr lang="ko-KR" altLang="en-US" sz="1600" dirty="0"/>
          </a:p>
        </p:txBody>
      </p:sp>
      <p:cxnSp>
        <p:nvCxnSpPr>
          <p:cNvPr id="27" name="직선 화살표 연결선 26"/>
          <p:cNvCxnSpPr/>
          <p:nvPr/>
        </p:nvCxnSpPr>
        <p:spPr>
          <a:xfrm flipV="1">
            <a:off x="2928366" y="2001911"/>
            <a:ext cx="697573" cy="43204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2944637" y="2796027"/>
            <a:ext cx="697573" cy="43204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모서리가 둥근 직사각형 32"/>
          <p:cNvSpPr/>
          <p:nvPr/>
        </p:nvSpPr>
        <p:spPr>
          <a:xfrm>
            <a:off x="1208583" y="4621489"/>
            <a:ext cx="2016224" cy="50405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executeQuery</a:t>
            </a:r>
            <a:r>
              <a:rPr lang="en-US" altLang="ko-KR" dirty="0"/>
              <a:t>()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3780242" y="4549481"/>
            <a:ext cx="1944216" cy="64807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ResultSet</a:t>
            </a:r>
            <a:endParaRPr lang="en-US" altLang="ko-KR" dirty="0"/>
          </a:p>
        </p:txBody>
      </p:sp>
      <p:sp>
        <p:nvSpPr>
          <p:cNvPr id="35" name="TextBox 34"/>
          <p:cNvSpPr txBox="1"/>
          <p:nvPr/>
        </p:nvSpPr>
        <p:spPr>
          <a:xfrm>
            <a:off x="1064566" y="3901409"/>
            <a:ext cx="4587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C00000"/>
                </a:solidFill>
              </a:rPr>
              <a:t>executeQuery</a:t>
            </a:r>
            <a:r>
              <a:rPr lang="en-US" altLang="ko-KR" sz="1600" b="1" dirty="0">
                <a:solidFill>
                  <a:srgbClr val="C00000"/>
                </a:solidFill>
              </a:rPr>
              <a:t>() </a:t>
            </a:r>
            <a:r>
              <a:rPr lang="ko-KR" altLang="en-US" sz="1600" b="1" dirty="0">
                <a:solidFill>
                  <a:srgbClr val="C00000"/>
                </a:solidFill>
              </a:rPr>
              <a:t>실행 후 반환 되는 </a:t>
            </a:r>
            <a:r>
              <a:rPr lang="ko-KR" altLang="en-US" sz="1600" b="1" dirty="0" err="1">
                <a:solidFill>
                  <a:srgbClr val="C00000"/>
                </a:solidFill>
              </a:rPr>
              <a:t>레코드셋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cxnSp>
        <p:nvCxnSpPr>
          <p:cNvPr id="36" name="직선 화살표 연결선 35"/>
          <p:cNvCxnSpPr>
            <a:stCxn id="33" idx="3"/>
            <a:endCxn id="34" idx="1"/>
          </p:cNvCxnSpPr>
          <p:nvPr/>
        </p:nvCxnSpPr>
        <p:spPr>
          <a:xfrm>
            <a:off x="3224807" y="4873517"/>
            <a:ext cx="555435" cy="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6516546" y="4467601"/>
            <a:ext cx="1944216" cy="292968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첫번째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로우데이터</a:t>
            </a:r>
            <a:endParaRPr lang="en-US" altLang="ko-KR" sz="1600" dirty="0"/>
          </a:p>
        </p:txBody>
      </p:sp>
      <p:sp>
        <p:nvSpPr>
          <p:cNvPr id="40" name="직사각형 39"/>
          <p:cNvSpPr/>
          <p:nvPr/>
        </p:nvSpPr>
        <p:spPr>
          <a:xfrm>
            <a:off x="6516546" y="5008240"/>
            <a:ext cx="1944216" cy="292968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두번째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로우데이터</a:t>
            </a:r>
            <a:endParaRPr lang="en-US" altLang="ko-KR" sz="1600" dirty="0"/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5724458" y="4869160"/>
            <a:ext cx="555435" cy="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920551" y="4316907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4207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회원 목록 보기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목록 보기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475222"/>
            <a:ext cx="8131839" cy="4824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2850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회원 생성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목록 보기 테스트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87871"/>
            <a:ext cx="5760640" cy="17594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3645024"/>
            <a:ext cx="7344816" cy="8986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088" y="4797152"/>
            <a:ext cx="2880320" cy="8984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79564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회원 상세 보기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상세 보기</a:t>
            </a:r>
            <a:r>
              <a:rPr lang="en-US" altLang="ko-KR" sz="2000" b="1" dirty="0"/>
              <a:t>(1</a:t>
            </a:r>
            <a:r>
              <a:rPr lang="ko-KR" altLang="en-US" sz="2000" b="1" dirty="0"/>
              <a:t>건 검색</a:t>
            </a:r>
            <a:r>
              <a:rPr lang="en-US" altLang="ko-KR" sz="2000" b="1" dirty="0"/>
              <a:t>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10327"/>
            <a:ext cx="8128206" cy="43369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787891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회원 생성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상세 보기 테스트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5040560" cy="10851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2996952"/>
            <a:ext cx="7150637" cy="2689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144389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회원 수정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수정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628366"/>
            <a:ext cx="8764401" cy="38884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7701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회원 관리 테스트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수정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테스트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4221088"/>
            <a:ext cx="7582124" cy="6864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1" y="1687871"/>
            <a:ext cx="5040560" cy="22568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7" name="직선 연결선 6"/>
          <p:cNvCxnSpPr/>
          <p:nvPr/>
        </p:nvCxnSpPr>
        <p:spPr>
          <a:xfrm>
            <a:off x="1136576" y="4941168"/>
            <a:ext cx="806489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1567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회원 삭제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삭제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652572"/>
            <a:ext cx="8429531" cy="30925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128514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DAO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회원 삭제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2324" y="980728"/>
            <a:ext cx="55728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회원 삭제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032" y="1700808"/>
            <a:ext cx="4405056" cy="8074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032" y="2852936"/>
            <a:ext cx="8076654" cy="5079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214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10904</TotalTime>
  <Words>1411</Words>
  <Application>Microsoft Office PowerPoint</Application>
  <PresentationFormat>A4 용지(210x297mm)</PresentationFormat>
  <Paragraphs>279</Paragraphs>
  <Slides>51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11장. Java – MySQL DB 연동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 SQL이란?</vt:lpstr>
      <vt:lpstr>  SQL – DDL(데이터 정의어)</vt:lpstr>
      <vt:lpstr>  SQL – DML(데이터 조작어)</vt:lpstr>
      <vt:lpstr>  SQL – DCL(데이터 제어어)</vt:lpstr>
      <vt:lpstr>  SQL – DML(데이터 조작어)</vt:lpstr>
      <vt:lpstr>  SQL – DML(데이터 조작어)</vt:lpstr>
      <vt:lpstr>  DB – 사원 관리</vt:lpstr>
      <vt:lpstr>  DB – 사원 관리</vt:lpstr>
      <vt:lpstr>  DB – 사원 관리</vt:lpstr>
      <vt:lpstr>  DB – 사원 관리</vt:lpstr>
      <vt:lpstr>  DB – 사원 관리</vt:lpstr>
      <vt:lpstr>  DB – 사원 관리</vt:lpstr>
      <vt:lpstr>  DB – 사원 관리</vt:lpstr>
      <vt:lpstr>  DB – 사원 관리</vt:lpstr>
      <vt:lpstr>  DB – 사원 관리</vt:lpstr>
      <vt:lpstr>  DB – 사원 관리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735</cp:revision>
  <dcterms:created xsi:type="dcterms:W3CDTF">2019-03-04T02:36:55Z</dcterms:created>
  <dcterms:modified xsi:type="dcterms:W3CDTF">2026-07-28T06:33:45Z</dcterms:modified>
</cp:coreProperties>
</file>