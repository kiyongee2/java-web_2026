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310" r:id="rId8"/>
    <p:sldId id="311" r:id="rId9"/>
    <p:sldId id="312" r:id="rId10"/>
    <p:sldId id="318" r:id="rId11"/>
    <p:sldId id="319" r:id="rId12"/>
    <p:sldId id="314" r:id="rId13"/>
    <p:sldId id="320" r:id="rId14"/>
    <p:sldId id="315" r:id="rId15"/>
    <p:sldId id="316" r:id="rId16"/>
    <p:sldId id="321" r:id="rId17"/>
    <p:sldId id="317" r:id="rId18"/>
    <p:sldId id="262" r:id="rId19"/>
    <p:sldId id="263" r:id="rId20"/>
    <p:sldId id="264" r:id="rId21"/>
    <p:sldId id="267" r:id="rId22"/>
    <p:sldId id="269" r:id="rId23"/>
    <p:sldId id="270" r:id="rId24"/>
    <p:sldId id="271" r:id="rId25"/>
    <p:sldId id="272" r:id="rId26"/>
    <p:sldId id="274" r:id="rId27"/>
    <p:sldId id="275" r:id="rId28"/>
    <p:sldId id="284" r:id="rId29"/>
    <p:sldId id="285" r:id="rId30"/>
    <p:sldId id="286" r:id="rId31"/>
    <p:sldId id="322" r:id="rId32"/>
    <p:sldId id="288" r:id="rId33"/>
    <p:sldId id="289" r:id="rId34"/>
    <p:sldId id="290" r:id="rId35"/>
    <p:sldId id="291" r:id="rId36"/>
    <p:sldId id="292" r:id="rId37"/>
    <p:sldId id="323" r:id="rId38"/>
    <p:sldId id="296" r:id="rId39"/>
    <p:sldId id="324" r:id="rId40"/>
    <p:sldId id="297" r:id="rId41"/>
    <p:sldId id="298" r:id="rId42"/>
    <p:sldId id="325" r:id="rId43"/>
    <p:sldId id="300" r:id="rId44"/>
    <p:sldId id="301" r:id="rId45"/>
    <p:sldId id="326" r:id="rId4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84" d="100"/>
          <a:sy n="84" d="100"/>
        </p:scale>
        <p:origin x="1238" y="91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10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파일 입출력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400" i="1" dirty="0">
                <a:solidFill>
                  <a:schemeClr val="bg1"/>
                </a:solidFill>
              </a:rPr>
              <a:t>file IO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553287" y="1093671"/>
            <a:ext cx="8936217" cy="270138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b="1" dirty="0" err="1"/>
              <a:t>스트림</a:t>
            </a:r>
            <a:r>
              <a:rPr lang="ko-KR" altLang="en-US" sz="1600" dirty="0" err="1"/>
              <a:t>이란</a:t>
            </a:r>
            <a:r>
              <a:rPr lang="en-US" altLang="ko-KR" sz="1600" dirty="0"/>
              <a:t>? </a:t>
            </a:r>
            <a:r>
              <a:rPr lang="ko-KR" altLang="en-US" sz="1600" dirty="0"/>
              <a:t>자료흐름이 물의 흐름과 같다는 뜻이다</a:t>
            </a:r>
            <a:r>
              <a:rPr lang="en-US" altLang="ko-KR" sz="1600" dirty="0"/>
              <a:t>.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입출력 장치는 매우 다양하기 때문에 프로그램 호환성이 떨어짐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입출력 장치와 무관하고 일관성 있게 프로그램을 구현할 수 있도록 일종의 가상통로인 </a:t>
            </a:r>
            <a:r>
              <a:rPr lang="ko-KR" altLang="en-US" sz="1600" dirty="0" err="1">
                <a:latin typeface="+mn-ea"/>
              </a:rPr>
              <a:t>스트림을</a:t>
            </a:r>
            <a:r>
              <a:rPr lang="ko-KR" altLang="en-US" sz="1600" dirty="0">
                <a:latin typeface="+mn-ea"/>
              </a:rPr>
              <a:t> 제공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자료를 읽어 들이려는 소스</a:t>
            </a:r>
            <a:r>
              <a:rPr lang="en-US" altLang="ko-KR" sz="1600" dirty="0">
                <a:latin typeface="+mn-ea"/>
              </a:rPr>
              <a:t>(source)</a:t>
            </a:r>
            <a:r>
              <a:rPr lang="ko-KR" altLang="en-US" sz="1600" dirty="0">
                <a:latin typeface="+mn-ea"/>
              </a:rPr>
              <a:t>와 자료를 쓰려는 대상</a:t>
            </a:r>
            <a:r>
              <a:rPr lang="en-US" altLang="ko-KR" sz="1600" dirty="0">
                <a:latin typeface="+mn-ea"/>
              </a:rPr>
              <a:t>(target)</a:t>
            </a:r>
            <a:r>
              <a:rPr lang="ko-KR" altLang="en-US" sz="1600" dirty="0">
                <a:latin typeface="+mn-ea"/>
              </a:rPr>
              <a:t>에 따라 각각 다른 </a:t>
            </a:r>
            <a:r>
              <a:rPr lang="ko-KR" altLang="en-US" sz="1600" dirty="0" err="1">
                <a:solidFill>
                  <a:srgbClr val="C00000"/>
                </a:solidFill>
                <a:latin typeface="+mn-ea"/>
              </a:rPr>
              <a:t>스트림</a:t>
            </a:r>
            <a:r>
              <a:rPr lang="ko-KR" altLang="en-US" sz="1600" dirty="0">
                <a:solidFill>
                  <a:srgbClr val="C00000"/>
                </a:solidFill>
                <a:latin typeface="+mn-ea"/>
              </a:rPr>
              <a:t> 클래스</a:t>
            </a:r>
            <a:r>
              <a:rPr lang="ko-KR" altLang="en-US" sz="1600" dirty="0">
                <a:latin typeface="+mn-ea"/>
              </a:rPr>
              <a:t>를 제공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입력 </a:t>
            </a:r>
            <a:r>
              <a:rPr lang="ko-KR" altLang="en-US" sz="1600" dirty="0" err="1">
                <a:latin typeface="+mn-ea"/>
              </a:rPr>
              <a:t>스트림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어떤 동영상을 재생하기 위해 동영상 파일에서 자료를 </a:t>
            </a:r>
            <a:r>
              <a:rPr lang="ko-KR" altLang="en-US" sz="1600" dirty="0" err="1">
                <a:latin typeface="+mn-ea"/>
              </a:rPr>
              <a:t>읽을때</a:t>
            </a:r>
            <a:r>
              <a:rPr lang="ko-KR" altLang="en-US" sz="1600" dirty="0">
                <a:latin typeface="+mn-ea"/>
              </a:rPr>
              <a:t> 사용함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출력 </a:t>
            </a:r>
            <a:r>
              <a:rPr lang="ko-KR" altLang="en-US" sz="1600" dirty="0" err="1">
                <a:latin typeface="+mn-ea"/>
              </a:rPr>
              <a:t>스트림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편집 화면에 사용자가 쓴 글을 파일에 저장할 때는 출력 </a:t>
            </a:r>
            <a:r>
              <a:rPr lang="ko-KR" altLang="en-US" sz="1600" dirty="0" err="1">
                <a:latin typeface="+mn-ea"/>
              </a:rPr>
              <a:t>스트림</a:t>
            </a:r>
            <a:r>
              <a:rPr lang="ko-KR" altLang="en-US" sz="1600" dirty="0">
                <a:latin typeface="+mn-ea"/>
              </a:rPr>
              <a:t> 사용함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600" dirty="0">
              <a:latin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+mn-ea"/>
              </a:rPr>
              <a:t>  </a:t>
            </a: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>
              <a:latin typeface="+mn-ea"/>
            </a:endParaRPr>
          </a:p>
          <a:p>
            <a:pPr lvl="1" algn="r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lvl="1">
              <a:lnSpc>
                <a:spcPct val="100000"/>
              </a:lnSpc>
            </a:pPr>
            <a:endParaRPr lang="en-US" altLang="ko-KR" sz="1600" dirty="0"/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>
              <a:solidFill>
                <a:srgbClr val="002060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978020F-BC69-4706-B3C1-9EE614E62A31}"/>
              </a:ext>
            </a:extLst>
          </p:cNvPr>
          <p:cNvSpPr/>
          <p:nvPr/>
        </p:nvSpPr>
        <p:spPr>
          <a:xfrm>
            <a:off x="3584848" y="4077072"/>
            <a:ext cx="1878268" cy="114339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35AF9-376C-4052-A9A7-8F0D043E3483}"/>
              </a:ext>
            </a:extLst>
          </p:cNvPr>
          <p:cNvSpPr txBox="1"/>
          <p:nvPr/>
        </p:nvSpPr>
        <p:spPr>
          <a:xfrm>
            <a:off x="4061973" y="4288740"/>
            <a:ext cx="91675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dirty="0"/>
              <a:t>프로그램</a:t>
            </a:r>
            <a:endParaRPr lang="en-US" altLang="ko-KR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2AE254-A8D0-475E-80CD-9A2654F79975}"/>
              </a:ext>
            </a:extLst>
          </p:cNvPr>
          <p:cNvSpPr txBox="1"/>
          <p:nvPr/>
        </p:nvSpPr>
        <p:spPr>
          <a:xfrm>
            <a:off x="3584848" y="4644856"/>
            <a:ext cx="720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도착지</a:t>
            </a:r>
            <a:endParaRPr lang="en-US" altLang="ko-K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79B4FE-B70C-4CA4-9A24-5807B114F12B}"/>
              </a:ext>
            </a:extLst>
          </p:cNvPr>
          <p:cNvSpPr txBox="1"/>
          <p:nvPr/>
        </p:nvSpPr>
        <p:spPr>
          <a:xfrm>
            <a:off x="4810812" y="4640956"/>
            <a:ext cx="705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출발지</a:t>
            </a:r>
            <a:endParaRPr lang="en-US" altLang="ko-KR" sz="12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01EC22-DE3E-403C-BBF1-8F7985BAA527}"/>
              </a:ext>
            </a:extLst>
          </p:cNvPr>
          <p:cNvSpPr/>
          <p:nvPr/>
        </p:nvSpPr>
        <p:spPr>
          <a:xfrm>
            <a:off x="1427787" y="4699038"/>
            <a:ext cx="1233486" cy="799182"/>
          </a:xfrm>
          <a:prstGeom prst="roundRect">
            <a:avLst/>
          </a:prstGeom>
          <a:noFill/>
          <a:ln w="12700"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78606" indent="-278606">
              <a:buAutoNum type="arabicPeriod"/>
            </a:pPr>
            <a:r>
              <a:rPr lang="ko-KR" altLang="en-US" sz="1300" dirty="0"/>
              <a:t>키보드</a:t>
            </a:r>
            <a:endParaRPr lang="en-US" altLang="ko-KR" sz="1300" dirty="0"/>
          </a:p>
          <a:p>
            <a:pPr marL="278606" indent="-278606">
              <a:buAutoNum type="arabicPeriod"/>
            </a:pPr>
            <a:r>
              <a:rPr lang="ko-KR" altLang="en-US" sz="1300" dirty="0"/>
              <a:t>파일</a:t>
            </a:r>
            <a:endParaRPr lang="en-US" altLang="ko-KR" sz="1300" dirty="0"/>
          </a:p>
          <a:p>
            <a:pPr marL="278606" indent="-278606">
              <a:buAutoNum type="arabicPeriod"/>
            </a:pPr>
            <a:r>
              <a:rPr lang="ko-KR" altLang="en-US" sz="1300" dirty="0"/>
              <a:t>프로그램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923D04-31FF-4593-A679-B9C386D7290D}"/>
              </a:ext>
            </a:extLst>
          </p:cNvPr>
          <p:cNvSpPr txBox="1"/>
          <p:nvPr/>
        </p:nvSpPr>
        <p:spPr>
          <a:xfrm>
            <a:off x="1615225" y="4442054"/>
            <a:ext cx="736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출발지</a:t>
            </a:r>
            <a:endParaRPr lang="en-US" altLang="ko-KR" sz="1200" dirty="0"/>
          </a:p>
        </p:txBody>
      </p:sp>
      <p:cxnSp>
        <p:nvCxnSpPr>
          <p:cNvPr id="4" name="연결선: 구부러짐 3">
            <a:extLst>
              <a:ext uri="{FF2B5EF4-FFF2-40B4-BE49-F238E27FC236}">
                <a16:creationId xmlns:a16="http://schemas.microsoft.com/office/drawing/2014/main" id="{DB77A8BF-B45C-4323-8C9A-79EBF8B72A32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2661273" y="4648769"/>
            <a:ext cx="923576" cy="346767"/>
          </a:xfrm>
          <a:prstGeom prst="curved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475AB9D8-0CAA-4C16-BD8B-AA09DAD4031C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661273" y="4770606"/>
            <a:ext cx="935504" cy="328023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BA8481FD-DF13-4E2F-8DCA-9CB3524A142D}"/>
              </a:ext>
            </a:extLst>
          </p:cNvPr>
          <p:cNvCxnSpPr>
            <a:cxnSpLocks/>
          </p:cNvCxnSpPr>
          <p:nvPr/>
        </p:nvCxnSpPr>
        <p:spPr>
          <a:xfrm flipV="1">
            <a:off x="2661272" y="4893686"/>
            <a:ext cx="937203" cy="326780"/>
          </a:xfrm>
          <a:prstGeom prst="curved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59ED712-E3A6-4C7A-A381-DC6EBD2C0BB3}"/>
              </a:ext>
            </a:extLst>
          </p:cNvPr>
          <p:cNvSpPr txBox="1"/>
          <p:nvPr/>
        </p:nvSpPr>
        <p:spPr>
          <a:xfrm>
            <a:off x="2408121" y="4363550"/>
            <a:ext cx="1238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rgbClr val="C00000"/>
                </a:solidFill>
              </a:rPr>
              <a:t>입력스트림</a:t>
            </a:r>
            <a:endParaRPr lang="en-US" altLang="ko-KR" sz="1200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482FB7-D0D1-4123-A4DA-F6FE3D002F6E}"/>
              </a:ext>
            </a:extLst>
          </p:cNvPr>
          <p:cNvSpPr txBox="1"/>
          <p:nvPr/>
        </p:nvSpPr>
        <p:spPr>
          <a:xfrm>
            <a:off x="5494206" y="4367518"/>
            <a:ext cx="10756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rgbClr val="C00000"/>
                </a:solidFill>
              </a:rPr>
              <a:t>출력스트림</a:t>
            </a:r>
            <a:endParaRPr lang="en-US" altLang="ko-KR" sz="1200" dirty="0">
              <a:solidFill>
                <a:srgbClr val="C00000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0B63AEA-04D7-447C-A2B4-C609FC1CE2B4}"/>
              </a:ext>
            </a:extLst>
          </p:cNvPr>
          <p:cNvSpPr/>
          <p:nvPr/>
        </p:nvSpPr>
        <p:spPr>
          <a:xfrm>
            <a:off x="6396691" y="4697012"/>
            <a:ext cx="1233486" cy="799182"/>
          </a:xfrm>
          <a:prstGeom prst="roundRect">
            <a:avLst/>
          </a:prstGeom>
          <a:noFill/>
          <a:ln w="12700">
            <a:prstDash val="das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78606" indent="-278606">
              <a:buAutoNum type="arabicPeriod"/>
            </a:pPr>
            <a:r>
              <a:rPr lang="ko-KR" altLang="en-US" sz="1300" dirty="0"/>
              <a:t>모니터</a:t>
            </a:r>
            <a:endParaRPr lang="en-US" altLang="ko-KR" sz="1300" dirty="0"/>
          </a:p>
          <a:p>
            <a:pPr marL="278606" indent="-278606">
              <a:buAutoNum type="arabicPeriod"/>
            </a:pPr>
            <a:r>
              <a:rPr lang="ko-KR" altLang="en-US" sz="1300" dirty="0"/>
              <a:t>파일</a:t>
            </a:r>
            <a:endParaRPr lang="en-US" altLang="ko-KR" sz="1300" dirty="0"/>
          </a:p>
          <a:p>
            <a:pPr marL="278606" indent="-278606">
              <a:buAutoNum type="arabicPeriod"/>
            </a:pPr>
            <a:r>
              <a:rPr lang="ko-KR" altLang="en-US" sz="1300" dirty="0"/>
              <a:t>프로그램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F8458-A713-4FFA-A029-4806727D6CEF}"/>
              </a:ext>
            </a:extLst>
          </p:cNvPr>
          <p:cNvSpPr txBox="1"/>
          <p:nvPr/>
        </p:nvSpPr>
        <p:spPr>
          <a:xfrm>
            <a:off x="6584129" y="4440029"/>
            <a:ext cx="736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도착지</a:t>
            </a:r>
            <a:endParaRPr lang="en-US" altLang="ko-KR" sz="1200" dirty="0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E01C187D-3D04-4CE0-8ADF-C9773CD7800B}"/>
              </a:ext>
            </a:extLst>
          </p:cNvPr>
          <p:cNvCxnSpPr>
            <a:cxnSpLocks/>
          </p:cNvCxnSpPr>
          <p:nvPr/>
        </p:nvCxnSpPr>
        <p:spPr>
          <a:xfrm flipH="1" flipV="1">
            <a:off x="5466079" y="4648769"/>
            <a:ext cx="923575" cy="346767"/>
          </a:xfrm>
          <a:prstGeom prst="curved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1CA3CFAA-CE7E-4554-BE69-73AA816B490B}"/>
              </a:ext>
            </a:extLst>
          </p:cNvPr>
          <p:cNvCxnSpPr>
            <a:cxnSpLocks/>
          </p:cNvCxnSpPr>
          <p:nvPr/>
        </p:nvCxnSpPr>
        <p:spPr>
          <a:xfrm flipH="1" flipV="1">
            <a:off x="5466079" y="4770606"/>
            <a:ext cx="935504" cy="328023"/>
          </a:xfrm>
          <a:prstGeom prst="curvedConnector3">
            <a:avLst/>
          </a:prstGeom>
          <a:ln w="127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AA476F39-4E9B-4246-9E12-89FC300F4724}"/>
              </a:ext>
            </a:extLst>
          </p:cNvPr>
          <p:cNvCxnSpPr>
            <a:cxnSpLocks/>
          </p:cNvCxnSpPr>
          <p:nvPr/>
        </p:nvCxnSpPr>
        <p:spPr>
          <a:xfrm flipH="1" flipV="1">
            <a:off x="5466078" y="4893686"/>
            <a:ext cx="937203" cy="326780"/>
          </a:xfrm>
          <a:prstGeom prst="curvedConnector3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3DA7256-80F7-4533-BBB7-74AC3EB33177}"/>
              </a:ext>
            </a:extLst>
          </p:cNvPr>
          <p:cNvSpPr txBox="1"/>
          <p:nvPr/>
        </p:nvSpPr>
        <p:spPr>
          <a:xfrm>
            <a:off x="2795748" y="5250381"/>
            <a:ext cx="1437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InputStream</a:t>
            </a:r>
            <a:endParaRPr lang="en-US" altLang="ko-KR" sz="1400" dirty="0"/>
          </a:p>
          <a:p>
            <a:r>
              <a:rPr lang="en-US" altLang="ko-KR" sz="1400" dirty="0" err="1"/>
              <a:t>FileInputStream</a:t>
            </a:r>
            <a:endParaRPr lang="en-US" altLang="ko-KR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D006F3-5DEE-47A8-8631-AF2F0458DA0D}"/>
              </a:ext>
            </a:extLst>
          </p:cNvPr>
          <p:cNvSpPr txBox="1"/>
          <p:nvPr/>
        </p:nvSpPr>
        <p:spPr>
          <a:xfrm>
            <a:off x="4808984" y="5276941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/>
              <a:t>OutputStream</a:t>
            </a:r>
            <a:endParaRPr lang="en-US" altLang="ko-KR" sz="1400" dirty="0"/>
          </a:p>
          <a:p>
            <a:r>
              <a:rPr lang="en-US" altLang="ko-KR" sz="1400" dirty="0" err="1"/>
              <a:t>FileOutputStream</a:t>
            </a:r>
            <a:endParaRPr lang="en-US" altLang="ko-KR" sz="1400" dirty="0"/>
          </a:p>
        </p:txBody>
      </p:sp>
      <p:sp>
        <p:nvSpPr>
          <p:cNvPr id="22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입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0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입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1052736"/>
            <a:ext cx="9224249" cy="1584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+mn-ea"/>
              </a:rPr>
              <a:t>    </a:t>
            </a: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바이트 단위 </a:t>
            </a:r>
            <a:r>
              <a:rPr lang="ko-KR" altLang="en-US" sz="1800" b="1" dirty="0" err="1">
                <a:solidFill>
                  <a:srgbClr val="C00000"/>
                </a:solidFill>
                <a:latin typeface="+mn-ea"/>
              </a:rPr>
              <a:t>스트림과</a:t>
            </a: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 문자 단위 </a:t>
            </a:r>
            <a:r>
              <a:rPr lang="ko-KR" altLang="en-US" sz="1800" b="1" dirty="0" err="1">
                <a:solidFill>
                  <a:srgbClr val="C00000"/>
                </a:solidFill>
                <a:latin typeface="+mn-ea"/>
              </a:rPr>
              <a:t>스트림</a:t>
            </a:r>
            <a:endParaRPr lang="en-US" altLang="ko-KR" sz="18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바이트 단위 </a:t>
            </a:r>
            <a:r>
              <a:rPr lang="ko-KR" altLang="en-US" sz="1600" dirty="0" err="1">
                <a:latin typeface="+mn-ea"/>
              </a:rPr>
              <a:t>스트림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-</a:t>
            </a:r>
            <a:r>
              <a:rPr lang="ko-KR" altLang="en-US" sz="1600" dirty="0">
                <a:latin typeface="+mn-ea"/>
              </a:rPr>
              <a:t> 그림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동영상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음악 </a:t>
            </a:r>
            <a:r>
              <a:rPr lang="ko-KR" altLang="en-US" sz="1600" dirty="0" err="1">
                <a:latin typeface="+mn-ea"/>
              </a:rPr>
              <a:t>파일등</a:t>
            </a:r>
            <a:r>
              <a:rPr lang="ko-KR" altLang="en-US" sz="1600" dirty="0">
                <a:latin typeface="+mn-ea"/>
              </a:rPr>
              <a:t> 대부분 파일은 바이트 단위로 읽거나 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문자 단위 </a:t>
            </a:r>
            <a:r>
              <a:rPr lang="ko-KR" altLang="en-US" sz="1600" dirty="0" err="1">
                <a:latin typeface="+mn-ea"/>
              </a:rPr>
              <a:t>스트림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문자만 받고 보낼 수 있도록 특화되어 있다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800" dirty="0">
              <a:latin typeface="+mn-ea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744143" y="2348880"/>
          <a:ext cx="8568953" cy="144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598578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1785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 기반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문자 기반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60040">
                <a:tc vMerge="1"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입력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출력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입력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출력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최상위 클래스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OutputStream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Reader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Writer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143505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하위 클래스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FileInputStream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FileOutputStream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FileReader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FileWriter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" name="그룹 4"/>
          <p:cNvGrpSpPr/>
          <p:nvPr/>
        </p:nvGrpSpPr>
        <p:grpSpPr>
          <a:xfrm>
            <a:off x="1712640" y="4057327"/>
            <a:ext cx="6192688" cy="955849"/>
            <a:chOff x="1712640" y="2132856"/>
            <a:chExt cx="6192688" cy="955849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6321152" y="2132856"/>
              <a:ext cx="1584176" cy="72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입출력</a:t>
              </a:r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자료</a:t>
              </a: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712640" y="2132856"/>
              <a:ext cx="1584176" cy="720080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자바</a:t>
              </a:r>
              <a:endParaRPr lang="en-US" altLang="ko-KR" sz="16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응용프로그램</a:t>
              </a:r>
            </a:p>
          </p:txBody>
        </p:sp>
        <p:cxnSp>
          <p:nvCxnSpPr>
            <p:cNvPr id="9" name="직선 연결선 8"/>
            <p:cNvCxnSpPr/>
            <p:nvPr/>
          </p:nvCxnSpPr>
          <p:spPr>
            <a:xfrm>
              <a:off x="3296816" y="2276872"/>
              <a:ext cx="302433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3296816" y="2708920"/>
              <a:ext cx="3024336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직사각형 10"/>
            <p:cNvSpPr/>
            <p:nvPr/>
          </p:nvSpPr>
          <p:spPr>
            <a:xfrm>
              <a:off x="3440831" y="2340413"/>
              <a:ext cx="432049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016895" y="2340413"/>
              <a:ext cx="432049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592959" y="2340413"/>
              <a:ext cx="432049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5169023" y="2340413"/>
              <a:ext cx="432049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745087" y="2340413"/>
              <a:ext cx="432049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83939" y="2780928"/>
              <a:ext cx="167311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>
                  <a:solidFill>
                    <a:sysClr val="windowText" lastClr="000000"/>
                  </a:solidFill>
                </a:rPr>
                <a:t>바이트단위 </a:t>
              </a:r>
              <a:r>
                <a:rPr lang="ko-KR" altLang="en-US" sz="1400" dirty="0" err="1">
                  <a:solidFill>
                    <a:sysClr val="windowText" lastClr="000000"/>
                  </a:solidFill>
                </a:rPr>
                <a:t>스트림</a:t>
              </a:r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7" name="모서리가 둥근 직사각형 16"/>
          <p:cNvSpPr/>
          <p:nvPr/>
        </p:nvSpPr>
        <p:spPr>
          <a:xfrm>
            <a:off x="6321152" y="5209455"/>
            <a:ext cx="1584176" cy="7200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입출력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자료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1712640" y="5209455"/>
            <a:ext cx="1584176" cy="72008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자바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응용프로그램</a:t>
            </a:r>
          </a:p>
        </p:txBody>
      </p:sp>
      <p:cxnSp>
        <p:nvCxnSpPr>
          <p:cNvPr id="19" name="직선 연결선 18"/>
          <p:cNvCxnSpPr/>
          <p:nvPr/>
        </p:nvCxnSpPr>
        <p:spPr>
          <a:xfrm>
            <a:off x="3296816" y="5353471"/>
            <a:ext cx="302433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3296816" y="5785519"/>
            <a:ext cx="302433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656857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83939" y="5857527"/>
            <a:ext cx="1673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ysClr val="windowText" lastClr="000000"/>
                </a:solidFill>
              </a:rPr>
              <a:t>문자 단위 </a:t>
            </a:r>
            <a:r>
              <a:rPr lang="ko-KR" altLang="en-US" sz="1400" dirty="0" err="1">
                <a:solidFill>
                  <a:sysClr val="windowText" lastClr="000000"/>
                </a:solidFill>
              </a:rPr>
              <a:t>스트림</a:t>
            </a:r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351891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468014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163048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241032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936066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961112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5656146" y="5417012"/>
            <a:ext cx="304966" cy="2880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872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표준 입출력</a:t>
            </a: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1388603" y="3356992"/>
          <a:ext cx="6912769" cy="17281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664296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  <a:gridCol w="2520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자료형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변수 이름</a:t>
                      </a:r>
                    </a:p>
                  </a:txBody>
                  <a:tcPr marL="74295" marR="74295" marT="37148" marB="37148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rgbClr val="C00000"/>
                          </a:solidFill>
                        </a:rPr>
                        <a:t>static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PrintStream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out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표준 출력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rgbClr val="C00000"/>
                          </a:solidFill>
                        </a:rPr>
                        <a:t>static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endParaRPr lang="en-US" altLang="ko-K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in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표준 입력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143505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800" b="0" dirty="0">
                          <a:solidFill>
                            <a:srgbClr val="C00000"/>
                          </a:solidFill>
                        </a:rPr>
                        <a:t>stati</a:t>
                      </a: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c </a:t>
                      </a:r>
                      <a:r>
                        <a:rPr lang="en-US" altLang="ko-KR" sz="1800" b="0" dirty="0" err="1">
                          <a:solidFill>
                            <a:schemeClr val="tx1"/>
                          </a:solidFill>
                        </a:rPr>
                        <a:t>OutputStream</a:t>
                      </a:r>
                      <a:endParaRPr lang="en-US" altLang="ko-KR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chemeClr val="tx1"/>
                          </a:solidFill>
                        </a:rPr>
                        <a:t>err</a:t>
                      </a:r>
                      <a:endParaRPr lang="ko-KR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표준 오류 출력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848544" y="980728"/>
            <a:ext cx="85689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표준  입출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력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n-ea"/>
              </a:rPr>
              <a:t>System </a:t>
            </a:r>
            <a:r>
              <a:rPr lang="ko-KR" altLang="en-US" sz="1600" b="1" dirty="0">
                <a:latin typeface="+mn-ea"/>
              </a:rPr>
              <a:t>클래스</a:t>
            </a:r>
            <a:r>
              <a:rPr lang="ko-KR" altLang="en-US" sz="1600" dirty="0">
                <a:latin typeface="+mn-ea"/>
              </a:rPr>
              <a:t>는 </a:t>
            </a:r>
            <a:r>
              <a:rPr lang="en-US" altLang="ko-KR" sz="1600" dirty="0">
                <a:latin typeface="+mn-ea"/>
              </a:rPr>
              <a:t>3</a:t>
            </a:r>
            <a:r>
              <a:rPr lang="ko-KR" altLang="en-US" sz="1600" dirty="0">
                <a:latin typeface="+mn-ea"/>
              </a:rPr>
              <a:t>개의 변수를 가지고 있는데</a:t>
            </a:r>
            <a:r>
              <a:rPr lang="en-US" altLang="ko-KR" sz="1600" dirty="0">
                <a:latin typeface="+mn-ea"/>
              </a:rPr>
              <a:t>, </a:t>
            </a:r>
            <a:r>
              <a:rPr lang="en-US" altLang="ko-KR" sz="1600" dirty="0" err="1">
                <a:latin typeface="+mn-ea"/>
              </a:rPr>
              <a:t>System.out</a:t>
            </a:r>
            <a:r>
              <a:rPr lang="ko-KR" altLang="en-US" sz="1600" dirty="0">
                <a:latin typeface="+mn-ea"/>
              </a:rPr>
              <a:t>은 표준 출력용</a:t>
            </a:r>
            <a:r>
              <a:rPr lang="en-US" altLang="ko-KR" sz="1600" dirty="0">
                <a:latin typeface="+mn-ea"/>
              </a:rPr>
              <a:t>, System.in</a:t>
            </a:r>
            <a:r>
              <a:rPr lang="ko-KR" altLang="en-US" sz="1600" dirty="0">
                <a:latin typeface="+mn-ea"/>
              </a:rPr>
              <a:t>은 표준 입력용 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빨간색으로 오류를 표시할 때는 </a:t>
            </a:r>
            <a:r>
              <a:rPr lang="en-US" altLang="ko-KR" sz="1600" dirty="0" err="1">
                <a:latin typeface="+mn-ea"/>
              </a:rPr>
              <a:t>System.err</a:t>
            </a:r>
            <a:r>
              <a:rPr lang="ko-KR" altLang="en-US" sz="1600" dirty="0">
                <a:latin typeface="+mn-ea"/>
              </a:rPr>
              <a:t>을 사용한다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out, in, err </a:t>
            </a:r>
            <a:r>
              <a:rPr lang="ko-KR" altLang="en-US" sz="1600" dirty="0">
                <a:latin typeface="+mn-ea"/>
              </a:rPr>
              <a:t>모두 정적 변수이다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+mn-ea"/>
              </a:rPr>
              <a:t>그 외 </a:t>
            </a:r>
            <a:r>
              <a:rPr lang="en-US" altLang="ko-KR" sz="1600" dirty="0" err="1">
                <a:latin typeface="+mn-ea"/>
              </a:rPr>
              <a:t>java.util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패키지에 있는 </a:t>
            </a:r>
            <a:r>
              <a:rPr lang="en-US" altLang="ko-KR" sz="1600" b="1" dirty="0">
                <a:latin typeface="+mn-ea"/>
              </a:rPr>
              <a:t>Scanner </a:t>
            </a:r>
            <a:r>
              <a:rPr lang="ko-KR" altLang="en-US" sz="1600" b="1" dirty="0">
                <a:latin typeface="+mn-ea"/>
              </a:rPr>
              <a:t>클래스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– </a:t>
            </a:r>
            <a:r>
              <a:rPr lang="ko-KR" altLang="en-US" sz="1600" dirty="0">
                <a:latin typeface="+mn-ea"/>
              </a:rPr>
              <a:t>문자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정수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실수 등을 읽을 수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623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표준 입출력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983842" y="980728"/>
            <a:ext cx="5697350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System.in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으로 화면에서 문자 </a:t>
            </a: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1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개 입력 받기</a:t>
            </a:r>
            <a:endParaRPr lang="en-US" altLang="ko-KR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543411"/>
            <a:ext cx="7186283" cy="34445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5"/>
          <a:stretch/>
        </p:blipFill>
        <p:spPr>
          <a:xfrm>
            <a:off x="4736976" y="4622158"/>
            <a:ext cx="3816424" cy="731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824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표준 입출력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983842" y="908720"/>
            <a:ext cx="5697350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>
                <a:solidFill>
                  <a:srgbClr val="C00000"/>
                </a:solidFill>
                <a:latin typeface="+mn-ea"/>
              </a:rPr>
              <a:t>System.in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으로 화면에서 문자 </a:t>
            </a:r>
            <a:r>
              <a:rPr lang="ko-KR" altLang="en-US" b="1" dirty="0" err="1">
                <a:solidFill>
                  <a:srgbClr val="C00000"/>
                </a:solidFill>
                <a:latin typeface="+mn-ea"/>
              </a:rPr>
              <a:t>여러개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 입력 받기</a:t>
            </a:r>
            <a:endParaRPr lang="en-US" altLang="ko-KR" b="1" dirty="0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416551"/>
            <a:ext cx="6480720" cy="49915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1072" y="5589240"/>
            <a:ext cx="3672408" cy="6849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58582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E015F42-5D67-44BE-B640-35E3E46F6C6B}"/>
              </a:ext>
            </a:extLst>
          </p:cNvPr>
          <p:cNvSpPr txBox="1"/>
          <p:nvPr/>
        </p:nvSpPr>
        <p:spPr>
          <a:xfrm>
            <a:off x="817074" y="1008313"/>
            <a:ext cx="2479742" cy="44267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Writer </a:t>
            </a:r>
            <a:r>
              <a:rPr lang="ko-KR" altLang="en-US" sz="2000" b="1" dirty="0">
                <a:solidFill>
                  <a:schemeClr val="tx1"/>
                </a:solidFill>
              </a:rPr>
              <a:t>클래스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782553" y="4146151"/>
          <a:ext cx="8712333" cy="180312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37627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1612628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962078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266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리턴타입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메소드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665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write(</a:t>
                      </a:r>
                      <a:r>
                        <a:rPr lang="en-US" altLang="ko-KR" sz="1600" dirty="0" err="1"/>
                        <a:t>int</a:t>
                      </a:r>
                      <a:r>
                        <a:rPr lang="en-US" altLang="ko-KR" sz="1600" baseline="0" dirty="0"/>
                        <a:t> c)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한 문자를 파일에 출력한다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64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write(char[] b)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문자 배열 </a:t>
                      </a:r>
                      <a:r>
                        <a:rPr lang="en-US" altLang="ko-KR" sz="1600" dirty="0" err="1"/>
                        <a:t>buf</a:t>
                      </a:r>
                      <a:r>
                        <a:rPr lang="ko-KR" altLang="en-US" sz="1600" dirty="0"/>
                        <a:t>의 내용을 파일에 출력한다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flush()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파일에 출력하기 전에 자료가 있는 공간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출력버퍼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을 비워 출력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close()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출력 </a:t>
                      </a:r>
                      <a:r>
                        <a:rPr lang="ko-KR" altLang="en-US" sz="1600" dirty="0" err="1"/>
                        <a:t>스트림과</a:t>
                      </a:r>
                      <a:r>
                        <a:rPr lang="ko-KR" altLang="en-US" sz="1600" dirty="0"/>
                        <a:t> 연결된 대상 리소스를 닫는다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776536" y="3715030"/>
            <a:ext cx="1933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주요 메소드</a:t>
            </a:r>
            <a:endParaRPr lang="en-US" altLang="ko-KR" sz="1600" dirty="0"/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Writer</a:t>
            </a:r>
            <a:endParaRPr lang="ko-KR" altLang="en-US" dirty="0"/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778186" y="1905484"/>
          <a:ext cx="8644692" cy="17602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66768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877924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266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스트림</a:t>
                      </a:r>
                      <a:r>
                        <a:rPr lang="ko-KR" altLang="en-US" sz="1600" dirty="0"/>
                        <a:t> 클래스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665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FileWriter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문자 단위로 파일에 자료를 씁니다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64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OutputStreamWriter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파일에 바이트 단위로 출력한 자료를 문자로 변환해 주는    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보조 </a:t>
                      </a:r>
                      <a:r>
                        <a:rPr lang="ko-KR" altLang="en-US" sz="1600" dirty="0" err="1"/>
                        <a:t>스트림이다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BufferedWriter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문자로 쓸 때 배열을 제공하여 한꺼번에 쓸 수 있는 기능을 제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공해 주는 보조 </a:t>
                      </a:r>
                      <a:r>
                        <a:rPr lang="ko-KR" altLang="en-US" sz="1600" dirty="0" err="1"/>
                        <a:t>스트림이다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1060836" y="1412776"/>
            <a:ext cx="2163972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하위 클래스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26815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Writer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E0B12A7-3EF3-435F-9C44-88F4D46BE28C}"/>
              </a:ext>
            </a:extLst>
          </p:cNvPr>
          <p:cNvCxnSpPr>
            <a:cxnSpLocks/>
          </p:cNvCxnSpPr>
          <p:nvPr/>
        </p:nvCxnSpPr>
        <p:spPr>
          <a:xfrm>
            <a:off x="5116320" y="2066370"/>
            <a:ext cx="28304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5E98388-75A5-4F6E-83F0-D77DF2DE660C}"/>
              </a:ext>
            </a:extLst>
          </p:cNvPr>
          <p:cNvCxnSpPr>
            <a:cxnSpLocks/>
          </p:cNvCxnSpPr>
          <p:nvPr/>
        </p:nvCxnSpPr>
        <p:spPr>
          <a:xfrm>
            <a:off x="5116320" y="2786450"/>
            <a:ext cx="28304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A358FCD-A018-4E56-ACB3-B77BD4BF9373}"/>
              </a:ext>
            </a:extLst>
          </p:cNvPr>
          <p:cNvCxnSpPr>
            <a:cxnSpLocks/>
          </p:cNvCxnSpPr>
          <p:nvPr/>
        </p:nvCxnSpPr>
        <p:spPr>
          <a:xfrm flipH="1">
            <a:off x="7268134" y="2413765"/>
            <a:ext cx="606629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667117E-1522-4278-87D8-A3CFF0FA7421}"/>
              </a:ext>
            </a:extLst>
          </p:cNvPr>
          <p:cNvSpPr txBox="1"/>
          <p:nvPr/>
        </p:nvSpPr>
        <p:spPr>
          <a:xfrm>
            <a:off x="5116319" y="1778338"/>
            <a:ext cx="1295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Writer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B26DC4-D877-4CF1-AD64-AFA50C3A2AEA}"/>
              </a:ext>
            </a:extLst>
          </p:cNvPr>
          <p:cNvSpPr txBox="1"/>
          <p:nvPr/>
        </p:nvSpPr>
        <p:spPr>
          <a:xfrm>
            <a:off x="1628633" y="1772816"/>
            <a:ext cx="15636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2byte=</a:t>
            </a:r>
            <a:r>
              <a:rPr lang="ko-KR" altLang="en-US" sz="1600" dirty="0"/>
              <a:t>한 문자</a:t>
            </a:r>
            <a:endParaRPr lang="en-US" altLang="ko-KR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B7D67-3527-4801-9433-D7459986165B}"/>
              </a:ext>
            </a:extLst>
          </p:cNvPr>
          <p:cNvSpPr txBox="1"/>
          <p:nvPr/>
        </p:nvSpPr>
        <p:spPr>
          <a:xfrm>
            <a:off x="3641418" y="2244291"/>
            <a:ext cx="1209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</a:rPr>
              <a:t>write(</a:t>
            </a:r>
            <a:r>
              <a:rPr lang="en-US" altLang="ko-KR" sz="1600" dirty="0" err="1"/>
              <a:t>int</a:t>
            </a:r>
            <a:r>
              <a:rPr lang="ko-KR" altLang="en-US" sz="1600" dirty="0"/>
              <a:t> </a:t>
            </a:r>
            <a:r>
              <a:rPr lang="en-US" altLang="ko-KR" sz="1600" dirty="0"/>
              <a:t>b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E12A600E-63B5-4FFC-AF88-B5C3F222742F}"/>
              </a:ext>
            </a:extLst>
          </p:cNvPr>
          <p:cNvCxnSpPr>
            <a:cxnSpLocks/>
          </p:cNvCxnSpPr>
          <p:nvPr/>
        </p:nvCxnSpPr>
        <p:spPr>
          <a:xfrm flipH="1">
            <a:off x="5145177" y="2441953"/>
            <a:ext cx="35332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920552" y="980728"/>
            <a:ext cx="5154322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FileWriter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클래스로 문자 쓰기 </a:t>
            </a:r>
            <a:r>
              <a:rPr lang="en-US" altLang="ko-KR" sz="2000" b="1" dirty="0"/>
              <a:t> 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12A600E-63B5-4FFC-AF88-B5C3F222742F}"/>
              </a:ext>
            </a:extLst>
          </p:cNvPr>
          <p:cNvCxnSpPr>
            <a:cxnSpLocks/>
          </p:cNvCxnSpPr>
          <p:nvPr/>
        </p:nvCxnSpPr>
        <p:spPr>
          <a:xfrm flipH="1">
            <a:off x="3344977" y="2431055"/>
            <a:ext cx="35332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47BF1B-1B37-4C48-95D8-74F4E223CA2F}"/>
              </a:ext>
            </a:extLst>
          </p:cNvPr>
          <p:cNvSpPr/>
          <p:nvPr/>
        </p:nvSpPr>
        <p:spPr>
          <a:xfrm>
            <a:off x="1480425" y="4257018"/>
            <a:ext cx="456675" cy="473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027ADDC-AB42-4F6D-BB03-1BB07F1FED51}"/>
              </a:ext>
            </a:extLst>
          </p:cNvPr>
          <p:cNvSpPr/>
          <p:nvPr/>
        </p:nvSpPr>
        <p:spPr>
          <a:xfrm>
            <a:off x="1937101" y="4257017"/>
            <a:ext cx="504387" cy="473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2441487" y="4257016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8258C4-FA88-4BB3-8D16-9EDFB284D80A}"/>
              </a:ext>
            </a:extLst>
          </p:cNvPr>
          <p:cNvSpPr txBox="1"/>
          <p:nvPr/>
        </p:nvSpPr>
        <p:spPr>
          <a:xfrm>
            <a:off x="3482275" y="4314582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= read()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058767-3938-4078-ACC2-EA6DDD430742}"/>
              </a:ext>
            </a:extLst>
          </p:cNvPr>
          <p:cNvSpPr txBox="1"/>
          <p:nvPr/>
        </p:nvSpPr>
        <p:spPr>
          <a:xfrm>
            <a:off x="3482275" y="4967482"/>
            <a:ext cx="10081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= read()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3F9BA42-6978-423F-93E0-97C5B21F2BCD}"/>
              </a:ext>
            </a:extLst>
          </p:cNvPr>
          <p:cNvCxnSpPr>
            <a:cxnSpLocks/>
          </p:cNvCxnSpPr>
          <p:nvPr/>
        </p:nvCxnSpPr>
        <p:spPr>
          <a:xfrm>
            <a:off x="5149705" y="4437112"/>
            <a:ext cx="33330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36C195D-95DF-46F0-9D3E-4A497C4C75C9}"/>
              </a:ext>
            </a:extLst>
          </p:cNvPr>
          <p:cNvCxnSpPr>
            <a:cxnSpLocks/>
          </p:cNvCxnSpPr>
          <p:nvPr/>
        </p:nvCxnSpPr>
        <p:spPr>
          <a:xfrm>
            <a:off x="5138459" y="5301208"/>
            <a:ext cx="340121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FB22184-BE10-42D4-A22D-B3473162D8EF}"/>
              </a:ext>
            </a:extLst>
          </p:cNvPr>
          <p:cNvCxnSpPr/>
          <p:nvPr/>
        </p:nvCxnSpPr>
        <p:spPr>
          <a:xfrm>
            <a:off x="8018779" y="4877704"/>
            <a:ext cx="606629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EB9FB6-6085-47B9-A1B5-9983437A769D}"/>
              </a:ext>
            </a:extLst>
          </p:cNvPr>
          <p:cNvSpPr txBox="1"/>
          <p:nvPr/>
        </p:nvSpPr>
        <p:spPr>
          <a:xfrm>
            <a:off x="5354483" y="4026550"/>
            <a:ext cx="1001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Reader</a:t>
            </a:r>
          </a:p>
        </p:txBody>
      </p:sp>
      <p:sp>
        <p:nvSpPr>
          <p:cNvPr id="47" name="오른쪽 대괄호 46">
            <a:extLst>
              <a:ext uri="{FF2B5EF4-FFF2-40B4-BE49-F238E27FC236}">
                <a16:creationId xmlns:a16="http://schemas.microsoft.com/office/drawing/2014/main" id="{C12EBBD3-9D1B-4E32-A559-D193D25F0077}"/>
              </a:ext>
            </a:extLst>
          </p:cNvPr>
          <p:cNvSpPr/>
          <p:nvPr/>
        </p:nvSpPr>
        <p:spPr>
          <a:xfrm rot="16200000">
            <a:off x="2412706" y="3190230"/>
            <a:ext cx="57564" cy="183124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0A50E0-29CC-4A60-9893-428A1DCC291E}"/>
              </a:ext>
            </a:extLst>
          </p:cNvPr>
          <p:cNvSpPr txBox="1"/>
          <p:nvPr/>
        </p:nvSpPr>
        <p:spPr>
          <a:xfrm>
            <a:off x="1722632" y="3738518"/>
            <a:ext cx="1295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int</a:t>
            </a:r>
            <a:r>
              <a:rPr lang="en-US" altLang="ko-KR" sz="1600" dirty="0"/>
              <a:t>(4byte)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979459" y="3125005"/>
            <a:ext cx="5154322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FileReader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클래스로 읽기 </a:t>
            </a:r>
            <a:r>
              <a:rPr lang="en-US" altLang="ko-KR" sz="2000" b="1" dirty="0"/>
              <a:t> 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2938839" y="4257016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②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A47BF1B-1B37-4C48-95D8-74F4E223CA2F}"/>
              </a:ext>
            </a:extLst>
          </p:cNvPr>
          <p:cNvSpPr/>
          <p:nvPr/>
        </p:nvSpPr>
        <p:spPr>
          <a:xfrm>
            <a:off x="1480425" y="4899939"/>
            <a:ext cx="456675" cy="473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027ADDC-AB42-4F6D-BB03-1BB07F1FED51}"/>
              </a:ext>
            </a:extLst>
          </p:cNvPr>
          <p:cNvSpPr/>
          <p:nvPr/>
        </p:nvSpPr>
        <p:spPr>
          <a:xfrm>
            <a:off x="1937101" y="4899938"/>
            <a:ext cx="504387" cy="473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2441487" y="4899937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2938839" y="4899937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④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5314456" y="4662750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①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5811808" y="4662750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②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6663701" y="4683548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7161053" y="4683548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④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A47BF1B-1B37-4C48-95D8-74F4E223CA2F}"/>
              </a:ext>
            </a:extLst>
          </p:cNvPr>
          <p:cNvSpPr/>
          <p:nvPr/>
        </p:nvSpPr>
        <p:spPr>
          <a:xfrm>
            <a:off x="1466051" y="2168790"/>
            <a:ext cx="456675" cy="473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0027ADDC-AB42-4F6D-BB03-1BB07F1FED51}"/>
              </a:ext>
            </a:extLst>
          </p:cNvPr>
          <p:cNvSpPr/>
          <p:nvPr/>
        </p:nvSpPr>
        <p:spPr>
          <a:xfrm>
            <a:off x="1922727" y="2168789"/>
            <a:ext cx="504387" cy="4736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2427113" y="2168788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2924465" y="2168788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④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5814491" y="2176746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81FD0AE-FBB1-403E-9BBA-87497C18FACF}"/>
              </a:ext>
            </a:extLst>
          </p:cNvPr>
          <p:cNvSpPr/>
          <p:nvPr/>
        </p:nvSpPr>
        <p:spPr>
          <a:xfrm>
            <a:off x="6311843" y="2176746"/>
            <a:ext cx="504387" cy="473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④</a:t>
            </a:r>
          </a:p>
        </p:txBody>
      </p:sp>
    </p:spTree>
    <p:extLst>
      <p:ext uri="{BB962C8B-B14F-4D97-AF65-F5344CB8AC3E}">
        <p14:creationId xmlns:p14="http://schemas.microsoft.com/office/powerpoint/2010/main" val="2312954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Writer</a:t>
            </a:r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920552" y="980728"/>
            <a:ext cx="5154322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FileWriter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클래스로 문자 쓰기 </a:t>
            </a:r>
            <a:r>
              <a:rPr lang="en-US" altLang="ko-KR" sz="2000" b="1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4609" y="1752688"/>
            <a:ext cx="6408712" cy="25538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b="1" dirty="0"/>
              <a:t>파일을 이용한 입출력 과정</a:t>
            </a:r>
            <a:endParaRPr lang="en-US" altLang="ko-KR" b="1" dirty="0"/>
          </a:p>
          <a:p>
            <a:pPr marL="800100" lvl="1" indent="-342900">
              <a:lnSpc>
                <a:spcPct val="200000"/>
              </a:lnSpc>
              <a:buAutoNum type="arabicPeriod"/>
            </a:pPr>
            <a:r>
              <a:rPr lang="ko-KR" altLang="en-US" dirty="0"/>
              <a:t>파일을 연다</a:t>
            </a:r>
            <a:r>
              <a:rPr lang="en-US" altLang="ko-KR" dirty="0"/>
              <a:t>(open)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파일 경로에 파일 생성</a:t>
            </a:r>
            <a:endParaRPr lang="en-US" altLang="ko-KR" dirty="0"/>
          </a:p>
          <a:p>
            <a:pPr marL="800100" lvl="1" indent="-342900">
              <a:lnSpc>
                <a:spcPct val="200000"/>
              </a:lnSpc>
              <a:buAutoNum type="arabicPeriod"/>
            </a:pPr>
            <a:r>
              <a:rPr lang="ko-KR" altLang="en-US" dirty="0"/>
              <a:t>파일을 쓴다</a:t>
            </a:r>
            <a:r>
              <a:rPr lang="en-US" altLang="ko-KR" dirty="0"/>
              <a:t>. -&gt; </a:t>
            </a:r>
            <a:r>
              <a:rPr lang="ko-KR" altLang="en-US" dirty="0"/>
              <a:t>문자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를 쓴다</a:t>
            </a:r>
            <a:r>
              <a:rPr lang="en-US" altLang="ko-KR" dirty="0"/>
              <a:t>(</a:t>
            </a:r>
            <a:r>
              <a:rPr lang="ko-KR" altLang="en-US" dirty="0"/>
              <a:t>저장</a:t>
            </a:r>
            <a:r>
              <a:rPr lang="en-US" altLang="ko-KR" dirty="0"/>
              <a:t>)</a:t>
            </a:r>
          </a:p>
          <a:p>
            <a:pPr lvl="1">
              <a:lnSpc>
                <a:spcPct val="20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파일을 닫는다</a:t>
            </a:r>
            <a:r>
              <a:rPr lang="en-US" altLang="ko-KR" dirty="0"/>
              <a:t>. -&gt;</a:t>
            </a:r>
            <a:r>
              <a:rPr lang="en-US" altLang="ko-KR" b="1" dirty="0"/>
              <a:t> </a:t>
            </a:r>
            <a:r>
              <a:rPr lang="en-US" altLang="ko-KR" dirty="0" err="1"/>
              <a:t>writer.close</a:t>
            </a:r>
            <a:r>
              <a:rPr lang="en-US" altLang="ko-KR" dirty="0"/>
              <a:t>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3869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Writer</a:t>
            </a:r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920552" y="980728"/>
            <a:ext cx="5154322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문자 쓰기 </a:t>
            </a:r>
            <a:r>
              <a:rPr lang="en-US" altLang="ko-KR" sz="2000" b="1" dirty="0"/>
              <a:t>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593662"/>
            <a:ext cx="7727685" cy="40650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4357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Writer</a:t>
            </a:r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920552" y="980728"/>
            <a:ext cx="5154322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문자 쓰기 </a:t>
            </a:r>
            <a:r>
              <a:rPr lang="en-US" altLang="ko-KR" sz="2000" b="1" dirty="0"/>
              <a:t>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585" y="1606428"/>
            <a:ext cx="5614655" cy="40473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264" y="4797152"/>
            <a:ext cx="120984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4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E015F42-5D67-44BE-B640-35E3E46F6C6B}"/>
              </a:ext>
            </a:extLst>
          </p:cNvPr>
          <p:cNvSpPr txBox="1"/>
          <p:nvPr/>
        </p:nvSpPr>
        <p:spPr>
          <a:xfrm>
            <a:off x="750448" y="1052736"/>
            <a:ext cx="3050424" cy="44267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chemeClr val="tx1"/>
                </a:solidFill>
              </a:rPr>
              <a:t>Reader </a:t>
            </a:r>
            <a:r>
              <a:rPr lang="ko-KR" altLang="en-US" sz="2000" b="1" dirty="0">
                <a:solidFill>
                  <a:schemeClr val="tx1"/>
                </a:solidFill>
              </a:rPr>
              <a:t>클래스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80954"/>
              </p:ext>
            </p:extLst>
          </p:nvPr>
        </p:nvGraphicFramePr>
        <p:xfrm>
          <a:off x="782553" y="4220069"/>
          <a:ext cx="8568317" cy="145180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0017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1707660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266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리턴타입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메소드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665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int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read(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파일로부터 한 문자를 읽는다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64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int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read(char[] </a:t>
                      </a:r>
                      <a:r>
                        <a:rPr lang="en-US" altLang="ko-KR" sz="1600" dirty="0" err="1"/>
                        <a:t>buf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파일로부터 </a:t>
                      </a:r>
                      <a:r>
                        <a:rPr lang="en-US" altLang="ko-KR" sz="1600" dirty="0" err="1"/>
                        <a:t>buf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배열에 문자를 읽는다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close()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스트림과</a:t>
                      </a:r>
                      <a:r>
                        <a:rPr lang="ko-KR" altLang="en-US" sz="1600" dirty="0"/>
                        <a:t> 연결된 파일 리소스를 닫는다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776536" y="3788948"/>
            <a:ext cx="1933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주요 메소드</a:t>
            </a:r>
            <a:endParaRPr lang="en-US" altLang="ko-KR" sz="1600" dirty="0"/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- Reader</a:t>
            </a:r>
            <a:endParaRPr lang="ko-KR" altLang="en-US" dirty="0"/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807443"/>
              </p:ext>
            </p:extLst>
          </p:nvPr>
        </p:nvGraphicFramePr>
        <p:xfrm>
          <a:off x="778186" y="1988118"/>
          <a:ext cx="8572684" cy="1662457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66768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805916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266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스트림</a:t>
                      </a:r>
                      <a:r>
                        <a:rPr lang="ko-KR" altLang="en-US" sz="1600" dirty="0"/>
                        <a:t> 클래스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665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FileReader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파일에서 문자 단위</a:t>
                      </a:r>
                      <a:r>
                        <a:rPr lang="en-US" altLang="ko-KR" sz="1600" dirty="0"/>
                        <a:t>(2</a:t>
                      </a:r>
                      <a:r>
                        <a:rPr lang="ko-KR" altLang="en-US" sz="1600" dirty="0"/>
                        <a:t>바이트</a:t>
                      </a:r>
                      <a:r>
                        <a:rPr lang="en-US" altLang="ko-KR" sz="1600" dirty="0"/>
                        <a:t>)</a:t>
                      </a:r>
                      <a:r>
                        <a:rPr lang="ko-KR" altLang="en-US" sz="1600" dirty="0"/>
                        <a:t>로 읽는 </a:t>
                      </a:r>
                      <a:r>
                        <a:rPr lang="ko-KR" altLang="en-US" sz="1600" dirty="0" err="1"/>
                        <a:t>스트림</a:t>
                      </a:r>
                      <a:r>
                        <a:rPr lang="ko-KR" altLang="en-US" sz="1600" dirty="0"/>
                        <a:t> 클래스이다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64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InputStreamReader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바이트 단위로 읽은 자료를 문자로 변환해 주는 보조 </a:t>
                      </a:r>
                      <a:r>
                        <a:rPr lang="ko-KR" altLang="en-US" sz="1600" dirty="0" err="1"/>
                        <a:t>스트림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BufferedReader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문자로 읽을 때 배열을 제공하여 한꺼번에 읽을 수 있는 기능을 제공해 주는 보조 </a:t>
                      </a:r>
                      <a:r>
                        <a:rPr lang="ko-KR" altLang="en-US" sz="1600" dirty="0" err="1"/>
                        <a:t>스트림이다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1132844" y="1495410"/>
            <a:ext cx="2163972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하위 클래스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472258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Reader</a:t>
            </a:r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920552" y="980728"/>
            <a:ext cx="5154322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FileReader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클래스로 문자 쓰기 </a:t>
            </a:r>
            <a:r>
              <a:rPr lang="en-US" altLang="ko-KR" sz="2000" b="1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4609" y="1752688"/>
            <a:ext cx="6408712" cy="25538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ko-KR" altLang="en-US" b="1" dirty="0"/>
              <a:t>파일을 이용한 입출력 과정</a:t>
            </a:r>
            <a:endParaRPr lang="en-US" altLang="ko-KR" b="1" dirty="0"/>
          </a:p>
          <a:p>
            <a:pPr marL="800100" lvl="1" indent="-342900">
              <a:lnSpc>
                <a:spcPct val="200000"/>
              </a:lnSpc>
              <a:buAutoNum type="arabicPeriod"/>
            </a:pPr>
            <a:r>
              <a:rPr lang="ko-KR" altLang="en-US" dirty="0"/>
              <a:t>파일을 연다</a:t>
            </a:r>
            <a:r>
              <a:rPr lang="en-US" altLang="ko-KR" dirty="0"/>
              <a:t>(open)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파일 경로에 파일을 연다</a:t>
            </a:r>
            <a:endParaRPr lang="en-US" altLang="ko-KR" dirty="0"/>
          </a:p>
          <a:p>
            <a:pPr marL="800100" lvl="1" indent="-342900">
              <a:lnSpc>
                <a:spcPct val="200000"/>
              </a:lnSpc>
              <a:buAutoNum type="arabicPeriod"/>
            </a:pPr>
            <a:r>
              <a:rPr lang="ko-KR" altLang="en-US" dirty="0"/>
              <a:t>파일을 읽는다</a:t>
            </a:r>
            <a:r>
              <a:rPr lang="en-US" altLang="ko-KR" dirty="0"/>
              <a:t>. -&gt; </a:t>
            </a:r>
            <a:r>
              <a:rPr lang="ko-KR" altLang="en-US" dirty="0"/>
              <a:t>문자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을 읽는다</a:t>
            </a:r>
            <a:r>
              <a:rPr lang="en-US" altLang="ko-KR" dirty="0"/>
              <a:t>.</a:t>
            </a:r>
          </a:p>
          <a:p>
            <a:pPr lvl="1">
              <a:lnSpc>
                <a:spcPct val="20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파일을 닫는다</a:t>
            </a:r>
            <a:r>
              <a:rPr lang="en-US" altLang="ko-KR" dirty="0"/>
              <a:t>. -&gt;</a:t>
            </a:r>
            <a:r>
              <a:rPr lang="en-US" altLang="ko-KR" b="1" dirty="0"/>
              <a:t> </a:t>
            </a:r>
            <a:r>
              <a:rPr lang="en-US" altLang="ko-KR" dirty="0" err="1"/>
              <a:t>reader.close</a:t>
            </a:r>
            <a:r>
              <a:rPr lang="en-US" altLang="ko-KR" dirty="0"/>
              <a:t>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370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76536" y="980728"/>
            <a:ext cx="4104456" cy="547100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/>
              <a:t>FileReader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클래스로 읽기 </a:t>
            </a:r>
            <a:r>
              <a:rPr lang="en-US" altLang="ko-KR" sz="2000" b="1" dirty="0"/>
              <a:t> </a:t>
            </a:r>
          </a:p>
        </p:txBody>
      </p:sp>
      <p:sp>
        <p:nvSpPr>
          <p:cNvPr id="28" name="제목 5"/>
          <p:cNvSpPr txBox="1">
            <a:spLocks/>
          </p:cNvSpPr>
          <p:nvPr/>
        </p:nvSpPr>
        <p:spPr>
          <a:xfrm>
            <a:off x="1" y="-27384"/>
            <a:ext cx="657235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Reader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80972"/>
            <a:ext cx="7200800" cy="36527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48229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1" y="-27384"/>
            <a:ext cx="657235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Reader</a:t>
            </a:r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76536" y="980728"/>
            <a:ext cx="4104456" cy="612934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파일에서 읽기 </a:t>
            </a:r>
            <a:r>
              <a:rPr lang="en-US" altLang="ko-KR" sz="2000" b="1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93661"/>
            <a:ext cx="6408712" cy="43183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272" y="4581128"/>
            <a:ext cx="1271782" cy="10027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397586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5"/>
          <p:cNvSpPr txBox="1">
            <a:spLocks/>
          </p:cNvSpPr>
          <p:nvPr/>
        </p:nvSpPr>
        <p:spPr>
          <a:xfrm>
            <a:off x="1" y="-27384"/>
            <a:ext cx="6572356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문자 단위 스트림 </a:t>
            </a:r>
            <a:r>
              <a:rPr lang="en-US" altLang="ko-KR" dirty="0"/>
              <a:t>- </a:t>
            </a:r>
            <a:r>
              <a:rPr lang="en-US" altLang="ko-KR" dirty="0" err="1"/>
              <a:t>FileWriter</a:t>
            </a:r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76536" y="980728"/>
            <a:ext cx="4104456" cy="547100"/>
          </a:xfrm>
          <a:prstGeom prst="round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파일에 추가로 쓰기 </a:t>
            </a:r>
            <a:r>
              <a:rPr lang="en-US" altLang="ko-KR" sz="2000" b="1" dirty="0"/>
              <a:t>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85" y="1680972"/>
            <a:ext cx="7745333" cy="390826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336" y="4365104"/>
            <a:ext cx="1486107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70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5529064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File </a:t>
            </a:r>
            <a:r>
              <a:rPr lang="ko-KR" altLang="en-US" dirty="0"/>
              <a:t>클래스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13327" y="908720"/>
            <a:ext cx="8288145" cy="12626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9994" y="916817"/>
            <a:ext cx="812955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>
                <a:latin typeface="+mn-ea"/>
              </a:rPr>
              <a:t> File </a:t>
            </a:r>
            <a:r>
              <a:rPr lang="ko-KR" altLang="en-US" dirty="0">
                <a:latin typeface="+mn-ea"/>
              </a:rPr>
              <a:t>클래스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dirty="0"/>
              <a:t>디렉토리 생성</a:t>
            </a:r>
            <a:r>
              <a:rPr lang="en-US" altLang="ko-KR" sz="1600" dirty="0"/>
              <a:t>, </a:t>
            </a:r>
            <a:r>
              <a:rPr lang="ko-KR" altLang="en-US" sz="1600" b="1" dirty="0"/>
              <a:t>파일 생성</a:t>
            </a:r>
            <a:r>
              <a:rPr lang="en-US" altLang="ko-KR" sz="1600" dirty="0"/>
              <a:t>, </a:t>
            </a:r>
            <a:r>
              <a:rPr lang="ko-KR" altLang="en-US" sz="1600" b="1" dirty="0"/>
              <a:t>파일 정보 조회</a:t>
            </a:r>
            <a:r>
              <a:rPr lang="en-US" altLang="ko-KR" sz="1600" dirty="0"/>
              <a:t>, </a:t>
            </a:r>
            <a:r>
              <a:rPr lang="ko-KR" altLang="en-US" sz="1600" b="1" dirty="0"/>
              <a:t>파일 삭제</a:t>
            </a:r>
            <a:r>
              <a:rPr lang="ko-KR" altLang="en-US" sz="1600" dirty="0"/>
              <a:t> 등의 기본적인 파일 시스템 작업을 수행하는 클래스이다</a:t>
            </a:r>
            <a:endParaRPr lang="en-US" altLang="ko-KR" sz="1600" dirty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2179507"/>
            <a:ext cx="6480720" cy="412734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6" y="4907714"/>
            <a:ext cx="2304256" cy="9607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68807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E015F42-5D67-44BE-B640-35E3E46F6C6B}"/>
              </a:ext>
            </a:extLst>
          </p:cNvPr>
          <p:cNvSpPr txBox="1"/>
          <p:nvPr/>
        </p:nvSpPr>
        <p:spPr>
          <a:xfrm>
            <a:off x="704528" y="1052736"/>
            <a:ext cx="3456384" cy="44267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2000" b="1" dirty="0" err="1">
                <a:solidFill>
                  <a:schemeClr val="tx1"/>
                </a:solidFill>
              </a:rPr>
              <a:t>OutputStream</a:t>
            </a:r>
            <a:r>
              <a:rPr lang="en-US" altLang="ko-KR" sz="2000" b="1" dirty="0">
                <a:solidFill>
                  <a:schemeClr val="tx1"/>
                </a:solidFill>
              </a:rPr>
              <a:t> </a:t>
            </a:r>
            <a:r>
              <a:rPr lang="ko-KR" altLang="en-US" sz="2000" b="1" dirty="0">
                <a:solidFill>
                  <a:schemeClr val="tx1"/>
                </a:solidFill>
              </a:rPr>
              <a:t>클래스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921187" y="3867189"/>
          <a:ext cx="8640325" cy="180312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0017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3003804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266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리턴타입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메소드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665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write(</a:t>
                      </a:r>
                      <a:r>
                        <a:rPr lang="en-US" altLang="ko-KR" sz="1600" dirty="0" err="1"/>
                        <a:t>int</a:t>
                      </a:r>
                      <a:r>
                        <a:rPr lang="en-US" altLang="ko-KR" sz="1600" baseline="0" dirty="0"/>
                        <a:t> b)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한 바이트를 출력한다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64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write(byte[ ] b)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b[ ] </a:t>
                      </a:r>
                      <a:r>
                        <a:rPr lang="ko-KR" altLang="en-US" sz="1600" dirty="0"/>
                        <a:t>배열에 있는 자료를 출력한다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write</a:t>
                      </a:r>
                      <a:r>
                        <a:rPr lang="en-US" altLang="ko-KR" sz="1600" baseline="0" dirty="0"/>
                        <a:t>(byte b[ ], </a:t>
                      </a:r>
                      <a:r>
                        <a:rPr lang="en-US" altLang="ko-KR" sz="1600" baseline="0" dirty="0" err="1"/>
                        <a:t>int</a:t>
                      </a:r>
                      <a:r>
                        <a:rPr lang="en-US" altLang="ko-KR" sz="1600" baseline="0" dirty="0"/>
                        <a:t> off, </a:t>
                      </a:r>
                      <a:r>
                        <a:rPr lang="en-US" altLang="ko-KR" sz="1600" baseline="0" dirty="0" err="1"/>
                        <a:t>int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en-US" altLang="ko-KR" sz="1600" baseline="0" dirty="0" err="1"/>
                        <a:t>len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b[</a:t>
                      </a:r>
                      <a:r>
                        <a:rPr lang="en-US" altLang="ko-KR" sz="1600" baseline="0" dirty="0"/>
                        <a:t> ] </a:t>
                      </a:r>
                      <a:r>
                        <a:rPr lang="ko-KR" altLang="en-US" sz="1600" baseline="0" dirty="0"/>
                        <a:t>배열에 </a:t>
                      </a:r>
                      <a:r>
                        <a:rPr lang="en-US" altLang="ko-KR" sz="1600" baseline="0" dirty="0"/>
                        <a:t>off </a:t>
                      </a:r>
                      <a:r>
                        <a:rPr lang="ko-KR" altLang="en-US" sz="1600" baseline="0" dirty="0"/>
                        <a:t>위치부터 </a:t>
                      </a:r>
                      <a:r>
                        <a:rPr lang="en-US" altLang="ko-KR" sz="1600" baseline="0" dirty="0" err="1"/>
                        <a:t>len</a:t>
                      </a:r>
                      <a:r>
                        <a:rPr lang="ko-KR" altLang="en-US" sz="1600" baseline="0" dirty="0"/>
                        <a:t>개수 만큼 출력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close()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출력 </a:t>
                      </a:r>
                      <a:r>
                        <a:rPr lang="ko-KR" altLang="en-US" sz="1600" dirty="0" err="1"/>
                        <a:t>스트림과</a:t>
                      </a:r>
                      <a:r>
                        <a:rPr lang="ko-KR" altLang="en-US" sz="1600" dirty="0"/>
                        <a:t> 연결된 대상 리소스를 닫는다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915170" y="3436068"/>
            <a:ext cx="1933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주요 메소드</a:t>
            </a:r>
            <a:endParaRPr lang="en-US" altLang="ko-KR" sz="1600" dirty="0"/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바이트 단위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OutputStream</a:t>
            </a:r>
            <a:endParaRPr lang="ko-KR" altLang="en-US" dirty="0"/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916820" y="2060126"/>
          <a:ext cx="8428668" cy="130393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66768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661900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346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스트림</a:t>
                      </a:r>
                      <a:r>
                        <a:rPr lang="ko-KR" altLang="en-US" sz="1600" dirty="0"/>
                        <a:t> 클래스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FileOutputStream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바이트 단위로 파일에 자료를 씁니다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6115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BufferedOutputStream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기반 </a:t>
                      </a:r>
                      <a:r>
                        <a:rPr lang="ko-KR" altLang="en-US" sz="1600" dirty="0" err="1"/>
                        <a:t>스트림에서</a:t>
                      </a:r>
                      <a:r>
                        <a:rPr lang="ko-KR" altLang="en-US" sz="1600" dirty="0"/>
                        <a:t> 자료를 </a:t>
                      </a:r>
                      <a:r>
                        <a:rPr lang="ko-KR" altLang="en-US" sz="1600" dirty="0" err="1"/>
                        <a:t>쓸때</a:t>
                      </a:r>
                      <a:r>
                        <a:rPr lang="ko-KR" altLang="en-US" sz="1600" dirty="0"/>
                        <a:t> 추가 기능을 제공하는 보조  </a:t>
                      </a:r>
                      <a:endParaRPr lang="en-US" altLang="ko-KR" sz="16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스트림의</a:t>
                      </a:r>
                      <a:r>
                        <a:rPr lang="ko-KR" altLang="en-US" sz="1600" dirty="0"/>
                        <a:t> 상위 클래스이다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916820" y="1567418"/>
            <a:ext cx="21639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/>
              <a:t>주요 하위 클래스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28086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44729" y="908720"/>
            <a:ext cx="6227027" cy="5078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b="1" dirty="0"/>
              <a:t>파일에</a:t>
            </a:r>
            <a:r>
              <a:rPr lang="en-US" altLang="ko-KR" b="1" dirty="0"/>
              <a:t> </a:t>
            </a:r>
            <a:r>
              <a:rPr lang="ko-KR" altLang="en-US" b="1" dirty="0"/>
              <a:t>바이트 자료 쓰기</a:t>
            </a:r>
            <a:endParaRPr lang="en-US" altLang="ko-KR" b="1" dirty="0"/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err="1"/>
              <a:t>FileOutputStream</a:t>
            </a:r>
            <a:endParaRPr lang="ko-KR" altLang="en-US" dirty="0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E0B12A7-3EF3-435F-9C44-88F4D46BE28C}"/>
              </a:ext>
            </a:extLst>
          </p:cNvPr>
          <p:cNvCxnSpPr>
            <a:cxnSpLocks/>
          </p:cNvCxnSpPr>
          <p:nvPr/>
        </p:nvCxnSpPr>
        <p:spPr>
          <a:xfrm>
            <a:off x="5045769" y="3342176"/>
            <a:ext cx="293156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5E98388-75A5-4F6E-83F0-D77DF2DE660C}"/>
              </a:ext>
            </a:extLst>
          </p:cNvPr>
          <p:cNvCxnSpPr>
            <a:cxnSpLocks/>
          </p:cNvCxnSpPr>
          <p:nvPr/>
        </p:nvCxnSpPr>
        <p:spPr>
          <a:xfrm>
            <a:off x="5045769" y="4059337"/>
            <a:ext cx="293156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3A358FCD-A018-4E56-ACB3-B77BD4BF9373}"/>
              </a:ext>
            </a:extLst>
          </p:cNvPr>
          <p:cNvCxnSpPr>
            <a:cxnSpLocks/>
          </p:cNvCxnSpPr>
          <p:nvPr/>
        </p:nvCxnSpPr>
        <p:spPr>
          <a:xfrm flipH="1">
            <a:off x="5992774" y="3693477"/>
            <a:ext cx="606629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B667117E-1522-4278-87D8-A3CFF0FA7421}"/>
              </a:ext>
            </a:extLst>
          </p:cNvPr>
          <p:cNvSpPr txBox="1"/>
          <p:nvPr/>
        </p:nvSpPr>
        <p:spPr>
          <a:xfrm>
            <a:off x="4934000" y="2930708"/>
            <a:ext cx="1665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OutputStream</a:t>
            </a:r>
            <a:endParaRPr lang="en-US" altLang="ko-KR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BB26DC4-D877-4CF1-AD64-AFA50C3A2AEA}"/>
              </a:ext>
            </a:extLst>
          </p:cNvPr>
          <p:cNvSpPr txBox="1"/>
          <p:nvPr/>
        </p:nvSpPr>
        <p:spPr>
          <a:xfrm>
            <a:off x="1990457" y="1936012"/>
            <a:ext cx="1295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보낼 바이트</a:t>
            </a:r>
            <a:endParaRPr lang="en-US" altLang="ko-KR" sz="16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DB7D67-3527-4801-9433-D7459986165B}"/>
              </a:ext>
            </a:extLst>
          </p:cNvPr>
          <p:cNvSpPr txBox="1"/>
          <p:nvPr/>
        </p:nvSpPr>
        <p:spPr>
          <a:xfrm>
            <a:off x="2703803" y="3548351"/>
            <a:ext cx="1584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write(</a:t>
            </a:r>
            <a:r>
              <a:rPr lang="en-US" altLang="ko-KR" dirty="0" err="1"/>
              <a:t>int</a:t>
            </a:r>
            <a:r>
              <a:rPr lang="ko-KR" altLang="en-US" dirty="0"/>
              <a:t> </a:t>
            </a:r>
            <a:r>
              <a:rPr lang="en-US" altLang="ko-KR" dirty="0"/>
              <a:t>b)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12A600E-63B5-4FFC-AF88-B5C3F222742F}"/>
              </a:ext>
            </a:extLst>
          </p:cNvPr>
          <p:cNvCxnSpPr>
            <a:cxnSpLocks/>
          </p:cNvCxnSpPr>
          <p:nvPr/>
        </p:nvCxnSpPr>
        <p:spPr>
          <a:xfrm flipH="1">
            <a:off x="4288072" y="3699297"/>
            <a:ext cx="606629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C6882541-3780-44FF-B529-A65396540EE3}"/>
              </a:ext>
            </a:extLst>
          </p:cNvPr>
          <p:cNvCxnSpPr>
            <a:cxnSpLocks/>
          </p:cNvCxnSpPr>
          <p:nvPr/>
        </p:nvCxnSpPr>
        <p:spPr>
          <a:xfrm rot="5400000" flipH="1">
            <a:off x="3405893" y="3217048"/>
            <a:ext cx="46390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/>
          <p:cNvGrpSpPr/>
          <p:nvPr/>
        </p:nvGrpSpPr>
        <p:grpSpPr>
          <a:xfrm>
            <a:off x="1624110" y="2379176"/>
            <a:ext cx="2320777" cy="585756"/>
            <a:chOff x="1252089" y="2876524"/>
            <a:chExt cx="1631740" cy="408460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6016E395-0204-45F1-8B87-FE4C1B2595FF}"/>
                </a:ext>
              </a:extLst>
            </p:cNvPr>
            <p:cNvSpPr/>
            <p:nvPr/>
          </p:nvSpPr>
          <p:spPr>
            <a:xfrm>
              <a:off x="1252089" y="2876524"/>
              <a:ext cx="406907" cy="4079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096F346-CD3B-46CF-8FDB-F379013F1513}"/>
                </a:ext>
              </a:extLst>
            </p:cNvPr>
            <p:cNvSpPr/>
            <p:nvPr/>
          </p:nvSpPr>
          <p:spPr>
            <a:xfrm>
              <a:off x="1661052" y="2876524"/>
              <a:ext cx="406907" cy="4079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F9F49F32-C660-4CF2-A332-967BBA81FFFA}"/>
                </a:ext>
              </a:extLst>
            </p:cNvPr>
            <p:cNvSpPr/>
            <p:nvPr/>
          </p:nvSpPr>
          <p:spPr>
            <a:xfrm>
              <a:off x="2070015" y="2877067"/>
              <a:ext cx="406907" cy="40791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9F49F32-C660-4CF2-A332-967BBA81FFFA}"/>
                </a:ext>
              </a:extLst>
            </p:cNvPr>
            <p:cNvSpPr/>
            <p:nvPr/>
          </p:nvSpPr>
          <p:spPr>
            <a:xfrm>
              <a:off x="2476922" y="2877067"/>
              <a:ext cx="406907" cy="407917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F49F32-C660-4CF2-A332-967BBA81FFFA}"/>
              </a:ext>
            </a:extLst>
          </p:cNvPr>
          <p:cNvSpPr/>
          <p:nvPr/>
        </p:nvSpPr>
        <p:spPr>
          <a:xfrm>
            <a:off x="5340419" y="3444118"/>
            <a:ext cx="531922" cy="49871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B26DC4-D877-4CF1-AD64-AFA50C3A2AEA}"/>
              </a:ext>
            </a:extLst>
          </p:cNvPr>
          <p:cNvSpPr txBox="1"/>
          <p:nvPr/>
        </p:nvSpPr>
        <p:spPr>
          <a:xfrm>
            <a:off x="3366155" y="1916832"/>
            <a:ext cx="685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byte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0305" y="1484784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write(</a:t>
            </a:r>
            <a:r>
              <a:rPr lang="en-US" altLang="ko-KR" dirty="0" err="1"/>
              <a:t>int</a:t>
            </a:r>
            <a:r>
              <a:rPr lang="en-US" altLang="ko-KR" dirty="0"/>
              <a:t> b) </a:t>
            </a:r>
            <a:r>
              <a:rPr lang="ko-KR" altLang="en-US" dirty="0"/>
              <a:t>메서드는 </a:t>
            </a:r>
            <a:r>
              <a:rPr lang="ko-KR" altLang="en-US" dirty="0" err="1"/>
              <a:t>매개값</a:t>
            </a:r>
            <a:r>
              <a:rPr lang="ko-KR" altLang="en-US" dirty="0"/>
              <a:t> </a:t>
            </a:r>
            <a:r>
              <a:rPr lang="en-US" altLang="ko-KR" dirty="0" err="1"/>
              <a:t>int</a:t>
            </a:r>
            <a:r>
              <a:rPr lang="en-US" altLang="ko-KR" dirty="0"/>
              <a:t>(4byte)</a:t>
            </a:r>
            <a:r>
              <a:rPr lang="ko-KR" altLang="en-US" dirty="0"/>
              <a:t>에서 끝 </a:t>
            </a:r>
            <a:r>
              <a:rPr lang="en-US" altLang="ko-KR" dirty="0"/>
              <a:t>1byte</a:t>
            </a:r>
            <a:r>
              <a:rPr lang="ko-KR" altLang="en-US" dirty="0"/>
              <a:t>만 출력한다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F6D041-B6C9-4D01-8E88-B652855F5F47}"/>
              </a:ext>
            </a:extLst>
          </p:cNvPr>
          <p:cNvSpPr/>
          <p:nvPr/>
        </p:nvSpPr>
        <p:spPr>
          <a:xfrm>
            <a:off x="1229344" y="5465813"/>
            <a:ext cx="406907" cy="412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016E395-0204-45F1-8B87-FE4C1B2595FF}"/>
              </a:ext>
            </a:extLst>
          </p:cNvPr>
          <p:cNvSpPr/>
          <p:nvPr/>
        </p:nvSpPr>
        <p:spPr>
          <a:xfrm>
            <a:off x="1638307" y="5467172"/>
            <a:ext cx="406907" cy="410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②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96F346-CD3B-46CF-8FDB-F379013F1513}"/>
              </a:ext>
            </a:extLst>
          </p:cNvPr>
          <p:cNvSpPr/>
          <p:nvPr/>
        </p:nvSpPr>
        <p:spPr>
          <a:xfrm>
            <a:off x="2047270" y="5467172"/>
            <a:ext cx="406907" cy="410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9F49F32-C660-4CF2-A332-967BBA81FFFA}"/>
              </a:ext>
            </a:extLst>
          </p:cNvPr>
          <p:cNvSpPr/>
          <p:nvPr/>
        </p:nvSpPr>
        <p:spPr>
          <a:xfrm>
            <a:off x="2456233" y="5467715"/>
            <a:ext cx="406907" cy="41010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④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C5C4B60-6AF8-4A2E-A3DA-E857C62D6F5E}"/>
              </a:ext>
            </a:extLst>
          </p:cNvPr>
          <p:cNvSpPr/>
          <p:nvPr/>
        </p:nvSpPr>
        <p:spPr>
          <a:xfrm>
            <a:off x="2860436" y="5465813"/>
            <a:ext cx="406907" cy="4120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⑤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E0B12A7-3EF3-435F-9C44-88F4D46BE28C}"/>
              </a:ext>
            </a:extLst>
          </p:cNvPr>
          <p:cNvCxnSpPr>
            <a:cxnSpLocks/>
          </p:cNvCxnSpPr>
          <p:nvPr/>
        </p:nvCxnSpPr>
        <p:spPr>
          <a:xfrm>
            <a:off x="5477817" y="5373216"/>
            <a:ext cx="38851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A5E98388-75A5-4F6E-83F0-D77DF2DE660C}"/>
              </a:ext>
            </a:extLst>
          </p:cNvPr>
          <p:cNvCxnSpPr>
            <a:cxnSpLocks/>
          </p:cNvCxnSpPr>
          <p:nvPr/>
        </p:nvCxnSpPr>
        <p:spPr>
          <a:xfrm>
            <a:off x="5477817" y="5949280"/>
            <a:ext cx="39396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5E7DDEA-E42E-4C82-8E07-E526EF10C184}"/>
              </a:ext>
            </a:extLst>
          </p:cNvPr>
          <p:cNvSpPr/>
          <p:nvPr/>
        </p:nvSpPr>
        <p:spPr>
          <a:xfrm>
            <a:off x="5648672" y="5521776"/>
            <a:ext cx="504387" cy="31590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⑤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3C0699-AAA6-422A-BF19-EDCC5E0F8939}"/>
              </a:ext>
            </a:extLst>
          </p:cNvPr>
          <p:cNvSpPr/>
          <p:nvPr/>
        </p:nvSpPr>
        <p:spPr>
          <a:xfrm>
            <a:off x="6267116" y="5521775"/>
            <a:ext cx="504387" cy="314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④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D928B9F-2BEA-4ED7-9AE5-1EA9CC67EBCD}"/>
              </a:ext>
            </a:extLst>
          </p:cNvPr>
          <p:cNvSpPr/>
          <p:nvPr/>
        </p:nvSpPr>
        <p:spPr>
          <a:xfrm>
            <a:off x="6885560" y="5521775"/>
            <a:ext cx="504387" cy="314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DBF5172-A21D-4A78-931B-A002E61E64D5}"/>
              </a:ext>
            </a:extLst>
          </p:cNvPr>
          <p:cNvSpPr/>
          <p:nvPr/>
        </p:nvSpPr>
        <p:spPr>
          <a:xfrm>
            <a:off x="7504004" y="5521775"/>
            <a:ext cx="504387" cy="314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②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9099992-C538-4DF4-B490-35CBA1E1B90A}"/>
              </a:ext>
            </a:extLst>
          </p:cNvPr>
          <p:cNvSpPr/>
          <p:nvPr/>
        </p:nvSpPr>
        <p:spPr>
          <a:xfrm>
            <a:off x="8122447" y="5521775"/>
            <a:ext cx="504387" cy="31418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①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A358FCD-A018-4E56-ACB3-B77BD4BF9373}"/>
              </a:ext>
            </a:extLst>
          </p:cNvPr>
          <p:cNvCxnSpPr>
            <a:cxnSpLocks/>
          </p:cNvCxnSpPr>
          <p:nvPr/>
        </p:nvCxnSpPr>
        <p:spPr>
          <a:xfrm flipH="1">
            <a:off x="8749523" y="5651725"/>
            <a:ext cx="606629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667117E-1522-4278-87D8-A3CFF0FA7421}"/>
              </a:ext>
            </a:extLst>
          </p:cNvPr>
          <p:cNvSpPr txBox="1"/>
          <p:nvPr/>
        </p:nvSpPr>
        <p:spPr>
          <a:xfrm>
            <a:off x="5477816" y="5043877"/>
            <a:ext cx="17410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OutputStream</a:t>
            </a:r>
            <a:endParaRPr lang="en-US" altLang="ko-KR" sz="1600" dirty="0"/>
          </a:p>
        </p:txBody>
      </p:sp>
      <p:sp>
        <p:nvSpPr>
          <p:cNvPr id="36" name="오른쪽 대괄호 35">
            <a:extLst>
              <a:ext uri="{FF2B5EF4-FFF2-40B4-BE49-F238E27FC236}">
                <a16:creationId xmlns:a16="http://schemas.microsoft.com/office/drawing/2014/main" id="{796144E7-2017-43FF-B5E7-111EB313B9E3}"/>
              </a:ext>
            </a:extLst>
          </p:cNvPr>
          <p:cNvSpPr/>
          <p:nvPr/>
        </p:nvSpPr>
        <p:spPr>
          <a:xfrm rot="16200000">
            <a:off x="2154974" y="4426212"/>
            <a:ext cx="174945" cy="182670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B26DC4-D877-4CF1-AD64-AFA50C3A2AEA}"/>
              </a:ext>
            </a:extLst>
          </p:cNvPr>
          <p:cNvSpPr txBox="1"/>
          <p:nvPr/>
        </p:nvSpPr>
        <p:spPr>
          <a:xfrm>
            <a:off x="1594802" y="4899861"/>
            <a:ext cx="1295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보낼 바이트</a:t>
            </a:r>
            <a:endParaRPr lang="en-US" altLang="ko-KR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DB7D67-3527-4801-9433-D7459986165B}"/>
              </a:ext>
            </a:extLst>
          </p:cNvPr>
          <p:cNvSpPr txBox="1"/>
          <p:nvPr/>
        </p:nvSpPr>
        <p:spPr>
          <a:xfrm>
            <a:off x="3605608" y="5517232"/>
            <a:ext cx="15842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</a:rPr>
              <a:t>write(</a:t>
            </a:r>
            <a:r>
              <a:rPr lang="en-US" altLang="ko-KR" sz="1600" dirty="0"/>
              <a:t>byte[]</a:t>
            </a:r>
            <a:r>
              <a:rPr lang="ko-KR" altLang="en-US" sz="1600" dirty="0"/>
              <a:t> </a:t>
            </a:r>
            <a:r>
              <a:rPr lang="en-US" altLang="ko-KR" sz="1600" dirty="0"/>
              <a:t>b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E12A600E-63B5-4FFC-AF88-B5C3F222742F}"/>
              </a:ext>
            </a:extLst>
          </p:cNvPr>
          <p:cNvCxnSpPr>
            <a:cxnSpLocks/>
          </p:cNvCxnSpPr>
          <p:nvPr/>
        </p:nvCxnSpPr>
        <p:spPr>
          <a:xfrm flipH="1">
            <a:off x="5117776" y="5711770"/>
            <a:ext cx="303313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6882541-3780-44FF-B529-A65396540EE3}"/>
              </a:ext>
            </a:extLst>
          </p:cNvPr>
          <p:cNvCxnSpPr>
            <a:cxnSpLocks/>
          </p:cNvCxnSpPr>
          <p:nvPr/>
        </p:nvCxnSpPr>
        <p:spPr>
          <a:xfrm flipH="1">
            <a:off x="3389584" y="5711770"/>
            <a:ext cx="28803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805400" y="4293085"/>
            <a:ext cx="5806870" cy="5078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b="1" dirty="0"/>
              <a:t>write(byte[] b) – </a:t>
            </a:r>
            <a:r>
              <a:rPr lang="ko-KR" altLang="en-US" b="1" dirty="0"/>
              <a:t>파일에 바이트 배열로 쓰기</a:t>
            </a:r>
            <a:r>
              <a:rPr lang="en-US" altLang="ko-KR" b="1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9594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44729" y="908720"/>
            <a:ext cx="3416183" cy="5078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b="1" dirty="0"/>
              <a:t>파일에</a:t>
            </a:r>
            <a:r>
              <a:rPr lang="en-US" altLang="ko-KR" b="1" dirty="0"/>
              <a:t> </a:t>
            </a:r>
            <a:r>
              <a:rPr lang="ko-KR" altLang="en-US" b="1" dirty="0"/>
              <a:t>바이트 자료 쓰기  </a:t>
            </a:r>
            <a:r>
              <a:rPr lang="en-US" altLang="ko-KR" b="1" dirty="0"/>
              <a:t> </a:t>
            </a:r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err="1"/>
              <a:t>FileOutputStream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435020"/>
            <a:ext cx="7157921" cy="49171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91299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err="1"/>
              <a:t>FileOutputStream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484784"/>
            <a:ext cx="7704285" cy="47570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44729" y="908720"/>
            <a:ext cx="3416183" cy="5078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b="1" dirty="0"/>
              <a:t>파일에</a:t>
            </a:r>
            <a:r>
              <a:rPr lang="en-US" altLang="ko-KR" b="1" dirty="0"/>
              <a:t> </a:t>
            </a:r>
            <a:r>
              <a:rPr lang="ko-KR" altLang="en-US" b="1" dirty="0"/>
              <a:t>바이트 자료 쓰기  </a:t>
            </a:r>
            <a:r>
              <a:rPr lang="en-US" altLang="ko-KR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1891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E015F42-5D67-44BE-B640-35E3E46F6C6B}"/>
              </a:ext>
            </a:extLst>
          </p:cNvPr>
          <p:cNvSpPr txBox="1"/>
          <p:nvPr/>
        </p:nvSpPr>
        <p:spPr>
          <a:xfrm>
            <a:off x="646137" y="1008313"/>
            <a:ext cx="2146623" cy="44267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sz="2000" b="1" dirty="0" err="1">
                <a:solidFill>
                  <a:schemeClr val="tx1"/>
                </a:solidFill>
              </a:rPr>
              <a:t>InputStream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920552" y="3895652"/>
          <a:ext cx="8568953" cy="154957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00017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1559314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909622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26652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리턴타입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메소드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665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int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read()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입력 스트림으로부터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바이트를 읽고 읽은 바이트를 </a:t>
                      </a:r>
                      <a:r>
                        <a:rPr lang="ko-KR" altLang="en-US" sz="1600" dirty="0" err="1"/>
                        <a:t>리턴한다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642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int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read(byte[] b)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입력 스트림으로부터 읽은 바이트들을 </a:t>
                      </a:r>
                      <a:r>
                        <a:rPr lang="ko-KR" altLang="en-US" sz="1600" dirty="0" err="1"/>
                        <a:t>매개값으로</a:t>
                      </a:r>
                      <a:r>
                        <a:rPr lang="ko-KR" altLang="en-US" sz="1600" dirty="0"/>
                        <a:t> 주어진 바이트 배열 </a:t>
                      </a:r>
                      <a:r>
                        <a:rPr lang="en-US" altLang="ko-KR" sz="1600" dirty="0"/>
                        <a:t>b</a:t>
                      </a:r>
                      <a:r>
                        <a:rPr lang="ko-KR" altLang="en-US" sz="1600" dirty="0"/>
                        <a:t>에 저장하고 실제로 읽은 바이트 수를 </a:t>
                      </a:r>
                      <a:r>
                        <a:rPr lang="ko-KR" altLang="en-US" sz="1600" dirty="0" err="1"/>
                        <a:t>리턴한다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5132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void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close()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사용한 시스템 자원을 반납하고 입력 스트림을 닫는다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직사각형 21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916820" y="3433987"/>
            <a:ext cx="19334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주요 메소드</a:t>
            </a:r>
            <a:endParaRPr lang="en-US" altLang="ko-KR" dirty="0"/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7113240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바이트 단위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InputStream</a:t>
            </a:r>
            <a:endParaRPr lang="ko-KR" altLang="en-US" dirty="0"/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916820" y="1986037"/>
          <a:ext cx="8428668" cy="130393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66768">
                  <a:extLst>
                    <a:ext uri="{9D8B030D-6E8A-4147-A177-3AD203B41FA5}">
                      <a16:colId xmlns:a16="http://schemas.microsoft.com/office/drawing/2014/main" val="1417188338"/>
                    </a:ext>
                  </a:extLst>
                </a:gridCol>
                <a:gridCol w="5661900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346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스트림</a:t>
                      </a:r>
                      <a:r>
                        <a:rPr lang="ko-KR" altLang="en-US" sz="1600" dirty="0"/>
                        <a:t> 클래스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4619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FileInputStream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파일에서 바이트 단위로 자료를 읽는다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61154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 </a:t>
                      </a:r>
                      <a:r>
                        <a:rPr lang="en-US" altLang="ko-KR" sz="1600" dirty="0" err="1"/>
                        <a:t>BufferedInputStream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기반 </a:t>
                      </a:r>
                      <a:r>
                        <a:rPr lang="ko-KR" altLang="en-US" sz="1600" dirty="0" err="1"/>
                        <a:t>스트림에서</a:t>
                      </a:r>
                      <a:r>
                        <a:rPr lang="ko-KR" altLang="en-US" sz="1600" dirty="0"/>
                        <a:t> 자료를 </a:t>
                      </a:r>
                      <a:r>
                        <a:rPr lang="ko-KR" altLang="en-US" sz="1600" dirty="0" err="1"/>
                        <a:t>읽을때</a:t>
                      </a:r>
                      <a:r>
                        <a:rPr lang="ko-KR" altLang="en-US" sz="1600" dirty="0"/>
                        <a:t> 추가 기능을 제공하는 보조 </a:t>
                      </a:r>
                      <a:r>
                        <a:rPr lang="ko-KR" altLang="en-US" sz="1600" dirty="0" err="1"/>
                        <a:t>스트림의</a:t>
                      </a:r>
                      <a:r>
                        <a:rPr lang="ko-KR" altLang="en-US" sz="1600" dirty="0"/>
                        <a:t> 상위 클래스이다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" name="직사각형 75">
            <a:extLst>
              <a:ext uri="{FF2B5EF4-FFF2-40B4-BE49-F238E27FC236}">
                <a16:creationId xmlns:a16="http://schemas.microsoft.com/office/drawing/2014/main" id="{140E8D41-8777-4423-A7AE-510FA76696F1}"/>
              </a:ext>
            </a:extLst>
          </p:cNvPr>
          <p:cNvSpPr/>
          <p:nvPr/>
        </p:nvSpPr>
        <p:spPr>
          <a:xfrm>
            <a:off x="916820" y="1493329"/>
            <a:ext cx="237999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주요 하위 클래스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7109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776536" y="1042101"/>
            <a:ext cx="4158015" cy="553998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/>
              <a:t>파일에서 자료 읽기 </a:t>
            </a:r>
            <a:r>
              <a:rPr lang="en-US" altLang="ko-KR" sz="2000" b="1" dirty="0"/>
              <a:t>– 1byte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1571475" y="3006506"/>
            <a:ext cx="2954531" cy="459982"/>
            <a:chOff x="1427459" y="3366546"/>
            <a:chExt cx="2954531" cy="459982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E2A16AA8-01B7-4E82-A394-D6C917B40A38}"/>
                </a:ext>
              </a:extLst>
            </p:cNvPr>
            <p:cNvSpPr/>
            <p:nvPr/>
          </p:nvSpPr>
          <p:spPr>
            <a:xfrm>
              <a:off x="1427459" y="3366547"/>
              <a:ext cx="456675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3BC4B120-8AB3-4152-91E4-81BB082FFEC2}"/>
                </a:ext>
              </a:extLst>
            </p:cNvPr>
            <p:cNvSpPr/>
            <p:nvPr/>
          </p:nvSpPr>
          <p:spPr>
            <a:xfrm>
              <a:off x="2388522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E9C9D3A1-345D-4159-B552-E694CEA37306}"/>
                </a:ext>
              </a:extLst>
            </p:cNvPr>
            <p:cNvSpPr/>
            <p:nvPr/>
          </p:nvSpPr>
          <p:spPr>
            <a:xfrm>
              <a:off x="1884135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10486AD-001A-4443-A256-C3D30512FF40}"/>
                </a:ext>
              </a:extLst>
            </p:cNvPr>
            <p:cNvSpPr/>
            <p:nvPr/>
          </p:nvSpPr>
          <p:spPr>
            <a:xfrm>
              <a:off x="2892909" y="3366546"/>
              <a:ext cx="504387" cy="45998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①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81B704-84D5-456A-9784-C6E153D460E9}"/>
                </a:ext>
              </a:extLst>
            </p:cNvPr>
            <p:cNvSpPr txBox="1"/>
            <p:nvPr/>
          </p:nvSpPr>
          <p:spPr>
            <a:xfrm>
              <a:off x="3421376" y="3427259"/>
              <a:ext cx="9606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=read()</a:t>
              </a: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DD115E4-4B67-409D-9D08-93A78C301560}"/>
              </a:ext>
            </a:extLst>
          </p:cNvPr>
          <p:cNvCxnSpPr>
            <a:cxnSpLocks/>
          </p:cNvCxnSpPr>
          <p:nvPr/>
        </p:nvCxnSpPr>
        <p:spPr>
          <a:xfrm>
            <a:off x="5045769" y="3705139"/>
            <a:ext cx="38851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ABF0F5E-BD77-4ECB-8645-4728AD5BF049}"/>
              </a:ext>
            </a:extLst>
          </p:cNvPr>
          <p:cNvCxnSpPr>
            <a:cxnSpLocks/>
          </p:cNvCxnSpPr>
          <p:nvPr/>
        </p:nvCxnSpPr>
        <p:spPr>
          <a:xfrm>
            <a:off x="5045769" y="4437112"/>
            <a:ext cx="39396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C394006-C958-46AF-901E-D121D3FC0939}"/>
              </a:ext>
            </a:extLst>
          </p:cNvPr>
          <p:cNvSpPr/>
          <p:nvPr/>
        </p:nvSpPr>
        <p:spPr>
          <a:xfrm>
            <a:off x="5216624" y="3827005"/>
            <a:ext cx="504387" cy="4491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①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8706B4D-AF58-484B-9662-A7E0A70657CE}"/>
              </a:ext>
            </a:extLst>
          </p:cNvPr>
          <p:cNvSpPr/>
          <p:nvPr/>
        </p:nvSpPr>
        <p:spPr>
          <a:xfrm>
            <a:off x="5836669" y="3822091"/>
            <a:ext cx="504387" cy="4491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②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A68E86A-F245-4EED-A9E6-6FCA91A1DC4C}"/>
              </a:ext>
            </a:extLst>
          </p:cNvPr>
          <p:cNvSpPr/>
          <p:nvPr/>
        </p:nvSpPr>
        <p:spPr>
          <a:xfrm>
            <a:off x="6471017" y="3828364"/>
            <a:ext cx="504387" cy="4491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③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EA28589-9F0F-49FE-85D6-8D673019EB46}"/>
              </a:ext>
            </a:extLst>
          </p:cNvPr>
          <p:cNvSpPr/>
          <p:nvPr/>
        </p:nvSpPr>
        <p:spPr>
          <a:xfrm>
            <a:off x="7105365" y="3828363"/>
            <a:ext cx="504387" cy="44916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④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54BB761-875F-48DD-A908-8C648EA6F348}"/>
              </a:ext>
            </a:extLst>
          </p:cNvPr>
          <p:cNvCxnSpPr/>
          <p:nvPr/>
        </p:nvCxnSpPr>
        <p:spPr>
          <a:xfrm>
            <a:off x="7905328" y="4061502"/>
            <a:ext cx="606629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010687A-8F63-48FA-B312-17595A84BC62}"/>
              </a:ext>
            </a:extLst>
          </p:cNvPr>
          <p:cNvSpPr txBox="1"/>
          <p:nvPr/>
        </p:nvSpPr>
        <p:spPr>
          <a:xfrm>
            <a:off x="5045768" y="3328388"/>
            <a:ext cx="1425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InputStream</a:t>
            </a:r>
            <a:endParaRPr lang="en-US" altLang="ko-KR" sz="1600" dirty="0"/>
          </a:p>
        </p:txBody>
      </p:sp>
      <p:sp>
        <p:nvSpPr>
          <p:cNvPr id="71" name="오른쪽 대괄호 70">
            <a:extLst>
              <a:ext uri="{FF2B5EF4-FFF2-40B4-BE49-F238E27FC236}">
                <a16:creationId xmlns:a16="http://schemas.microsoft.com/office/drawing/2014/main" id="{844C4B39-2297-4026-83F1-9917176E991D}"/>
              </a:ext>
            </a:extLst>
          </p:cNvPr>
          <p:cNvSpPr/>
          <p:nvPr/>
        </p:nvSpPr>
        <p:spPr>
          <a:xfrm rot="16200000">
            <a:off x="2421473" y="1976369"/>
            <a:ext cx="222129" cy="1831249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3179BE-0F3F-4A65-87B0-972BCE9F4E2D}"/>
              </a:ext>
            </a:extLst>
          </p:cNvPr>
          <p:cNvSpPr txBox="1"/>
          <p:nvPr/>
        </p:nvSpPr>
        <p:spPr>
          <a:xfrm>
            <a:off x="1813682" y="2420888"/>
            <a:ext cx="12952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int</a:t>
            </a:r>
            <a:r>
              <a:rPr lang="en-US" altLang="ko-KR" sz="1600" dirty="0"/>
              <a:t>(4byte)</a:t>
            </a:r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err="1"/>
              <a:t>FileInputStream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36576" y="1596099"/>
            <a:ext cx="7650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read() </a:t>
            </a:r>
            <a:r>
              <a:rPr lang="ko-KR" altLang="en-US" sz="1600" dirty="0"/>
              <a:t>메서드는 입력 </a:t>
            </a:r>
            <a:r>
              <a:rPr lang="ko-KR" altLang="en-US" sz="1600" dirty="0" err="1"/>
              <a:t>스트림으로부터</a:t>
            </a:r>
            <a:r>
              <a:rPr lang="ko-KR" altLang="en-US" sz="1600" dirty="0"/>
              <a:t> </a:t>
            </a:r>
            <a:r>
              <a:rPr lang="en-US" altLang="ko-KR" sz="1600" dirty="0"/>
              <a:t>1byte</a:t>
            </a:r>
            <a:r>
              <a:rPr lang="ko-KR" altLang="en-US" sz="1600" dirty="0"/>
              <a:t>를 읽고 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(4byte) </a:t>
            </a:r>
            <a:r>
              <a:rPr lang="ko-KR" altLang="en-US" sz="1600" dirty="0"/>
              <a:t>타입으로 </a:t>
            </a:r>
            <a:r>
              <a:rPr lang="ko-KR" altLang="en-US" sz="1600" dirty="0" err="1"/>
              <a:t>리턴한다</a:t>
            </a:r>
            <a:r>
              <a:rPr lang="en-US" altLang="ko-KR" sz="1600" dirty="0"/>
              <a:t>. </a:t>
            </a:r>
            <a:r>
              <a:rPr lang="ko-KR" altLang="en-US" sz="1600" dirty="0"/>
              <a:t>따라서 </a:t>
            </a:r>
            <a:r>
              <a:rPr lang="ko-KR" altLang="en-US" sz="1600" dirty="0" err="1"/>
              <a:t>리턴된</a:t>
            </a:r>
            <a:r>
              <a:rPr lang="ko-KR" altLang="en-US" sz="1600" dirty="0"/>
              <a:t> </a:t>
            </a:r>
            <a:r>
              <a:rPr lang="en-US" altLang="ko-KR" sz="1600" dirty="0"/>
              <a:t>4byte </a:t>
            </a:r>
            <a:r>
              <a:rPr lang="ko-KR" altLang="en-US" sz="1600" dirty="0"/>
              <a:t>중 끝 </a:t>
            </a:r>
            <a:r>
              <a:rPr lang="en-US" altLang="ko-KR" sz="1600" dirty="0"/>
              <a:t>1byte</a:t>
            </a:r>
            <a:r>
              <a:rPr lang="ko-KR" altLang="en-US" sz="1600" dirty="0"/>
              <a:t>에만 데이터가 들어있음</a:t>
            </a:r>
          </a:p>
        </p:txBody>
      </p:sp>
      <p:grpSp>
        <p:nvGrpSpPr>
          <p:cNvPr id="79" name="그룹 78"/>
          <p:cNvGrpSpPr/>
          <p:nvPr/>
        </p:nvGrpSpPr>
        <p:grpSpPr>
          <a:xfrm>
            <a:off x="1571475" y="3573016"/>
            <a:ext cx="2954531" cy="459982"/>
            <a:chOff x="1427459" y="3366546"/>
            <a:chExt cx="2954531" cy="459982"/>
          </a:xfrm>
        </p:grpSpPr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E2A16AA8-01B7-4E82-A394-D6C917B40A38}"/>
                </a:ext>
              </a:extLst>
            </p:cNvPr>
            <p:cNvSpPr/>
            <p:nvPr/>
          </p:nvSpPr>
          <p:spPr>
            <a:xfrm>
              <a:off x="1427459" y="3366547"/>
              <a:ext cx="456675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3BC4B120-8AB3-4152-91E4-81BB082FFEC2}"/>
                </a:ext>
              </a:extLst>
            </p:cNvPr>
            <p:cNvSpPr/>
            <p:nvPr/>
          </p:nvSpPr>
          <p:spPr>
            <a:xfrm>
              <a:off x="2388522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E9C9D3A1-345D-4159-B552-E694CEA37306}"/>
                </a:ext>
              </a:extLst>
            </p:cNvPr>
            <p:cNvSpPr/>
            <p:nvPr/>
          </p:nvSpPr>
          <p:spPr>
            <a:xfrm>
              <a:off x="1884135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D10486AD-001A-4443-A256-C3D30512FF40}"/>
                </a:ext>
              </a:extLst>
            </p:cNvPr>
            <p:cNvSpPr/>
            <p:nvPr/>
          </p:nvSpPr>
          <p:spPr>
            <a:xfrm>
              <a:off x="2892909" y="3366546"/>
              <a:ext cx="504387" cy="45998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②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A81B704-84D5-456A-9784-C6E153D460E9}"/>
                </a:ext>
              </a:extLst>
            </p:cNvPr>
            <p:cNvSpPr txBox="1"/>
            <p:nvPr/>
          </p:nvSpPr>
          <p:spPr>
            <a:xfrm>
              <a:off x="3421376" y="3427259"/>
              <a:ext cx="9606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=read()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571475" y="4175945"/>
            <a:ext cx="2954531" cy="459982"/>
            <a:chOff x="1427459" y="3366546"/>
            <a:chExt cx="2954531" cy="459982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E2A16AA8-01B7-4E82-A394-D6C917B40A38}"/>
                </a:ext>
              </a:extLst>
            </p:cNvPr>
            <p:cNvSpPr/>
            <p:nvPr/>
          </p:nvSpPr>
          <p:spPr>
            <a:xfrm>
              <a:off x="1427459" y="3366547"/>
              <a:ext cx="456675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3BC4B120-8AB3-4152-91E4-81BB082FFEC2}"/>
                </a:ext>
              </a:extLst>
            </p:cNvPr>
            <p:cNvSpPr/>
            <p:nvPr/>
          </p:nvSpPr>
          <p:spPr>
            <a:xfrm>
              <a:off x="2388522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E9C9D3A1-345D-4159-B552-E694CEA37306}"/>
                </a:ext>
              </a:extLst>
            </p:cNvPr>
            <p:cNvSpPr/>
            <p:nvPr/>
          </p:nvSpPr>
          <p:spPr>
            <a:xfrm>
              <a:off x="1884135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D10486AD-001A-4443-A256-C3D30512FF40}"/>
                </a:ext>
              </a:extLst>
            </p:cNvPr>
            <p:cNvSpPr/>
            <p:nvPr/>
          </p:nvSpPr>
          <p:spPr>
            <a:xfrm>
              <a:off x="2892909" y="3366546"/>
              <a:ext cx="504387" cy="45998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③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3A81B704-84D5-456A-9784-C6E153D460E9}"/>
                </a:ext>
              </a:extLst>
            </p:cNvPr>
            <p:cNvSpPr txBox="1"/>
            <p:nvPr/>
          </p:nvSpPr>
          <p:spPr>
            <a:xfrm>
              <a:off x="3421376" y="3427259"/>
              <a:ext cx="9606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=read()</a:t>
              </a:r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1571475" y="4797152"/>
            <a:ext cx="2954531" cy="459982"/>
            <a:chOff x="1427459" y="3366546"/>
            <a:chExt cx="2954531" cy="459982"/>
          </a:xfrm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E2A16AA8-01B7-4E82-A394-D6C917B40A38}"/>
                </a:ext>
              </a:extLst>
            </p:cNvPr>
            <p:cNvSpPr/>
            <p:nvPr/>
          </p:nvSpPr>
          <p:spPr>
            <a:xfrm>
              <a:off x="1427459" y="3366547"/>
              <a:ext cx="456675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BC4B120-8AB3-4152-91E4-81BB082FFEC2}"/>
                </a:ext>
              </a:extLst>
            </p:cNvPr>
            <p:cNvSpPr/>
            <p:nvPr/>
          </p:nvSpPr>
          <p:spPr>
            <a:xfrm>
              <a:off x="2388522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E9C9D3A1-345D-4159-B552-E694CEA37306}"/>
                </a:ext>
              </a:extLst>
            </p:cNvPr>
            <p:cNvSpPr/>
            <p:nvPr/>
          </p:nvSpPr>
          <p:spPr>
            <a:xfrm>
              <a:off x="1884135" y="3366546"/>
              <a:ext cx="504387" cy="45998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D10486AD-001A-4443-A256-C3D30512FF40}"/>
                </a:ext>
              </a:extLst>
            </p:cNvPr>
            <p:cNvSpPr/>
            <p:nvPr/>
          </p:nvSpPr>
          <p:spPr>
            <a:xfrm>
              <a:off x="2892909" y="3366546"/>
              <a:ext cx="504387" cy="459981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ysClr val="windowText" lastClr="000000"/>
                  </a:solidFill>
                </a:rPr>
                <a:t>④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A81B704-84D5-456A-9784-C6E153D460E9}"/>
                </a:ext>
              </a:extLst>
            </p:cNvPr>
            <p:cNvSpPr txBox="1"/>
            <p:nvPr/>
          </p:nvSpPr>
          <p:spPr>
            <a:xfrm>
              <a:off x="3421376" y="3427259"/>
              <a:ext cx="9606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=read()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5532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866993" y="938472"/>
            <a:ext cx="4158015" cy="49449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/>
              <a:t>파일에서 자료 읽기 </a:t>
            </a:r>
            <a:r>
              <a:rPr lang="en-US" altLang="ko-KR" sz="2000" b="1" dirty="0"/>
              <a:t> </a:t>
            </a:r>
          </a:p>
        </p:txBody>
      </p:sp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err="1"/>
              <a:t>FileInputStream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30494"/>
            <a:ext cx="8059034" cy="40254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20754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en-US" altLang="ko-KR" dirty="0" err="1"/>
              <a:t>FileInputStream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866993" y="938472"/>
            <a:ext cx="4158015" cy="49449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2000" b="1" dirty="0"/>
              <a:t>파일에서 자료 읽기 </a:t>
            </a:r>
            <a:r>
              <a:rPr lang="en-US" altLang="ko-KR" sz="2000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543854"/>
            <a:ext cx="7920880" cy="437504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264" y="4869160"/>
            <a:ext cx="2248214" cy="69542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8592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이미지 파일 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552510" y="1048961"/>
            <a:ext cx="7765532" cy="5078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b="1" dirty="0" err="1"/>
              <a:t>FileInputStream</a:t>
            </a:r>
            <a:r>
              <a:rPr lang="ko-KR" altLang="en-US" b="1" dirty="0"/>
              <a:t>과 </a:t>
            </a:r>
            <a:r>
              <a:rPr lang="en-US" altLang="ko-KR" b="1" dirty="0" err="1"/>
              <a:t>FileOutputStream</a:t>
            </a:r>
            <a:r>
              <a:rPr lang="ko-KR" altLang="en-US" b="1" dirty="0"/>
              <a:t>을 이용하여 파일 복사하기</a:t>
            </a:r>
            <a:r>
              <a:rPr lang="en-US" altLang="ko-KR" b="1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744" y="1778169"/>
            <a:ext cx="2810549" cy="412915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5296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제목 5"/>
          <p:cNvSpPr txBox="1">
            <a:spLocks/>
          </p:cNvSpPr>
          <p:nvPr/>
        </p:nvSpPr>
        <p:spPr>
          <a:xfrm>
            <a:off x="0" y="-27384"/>
            <a:ext cx="453194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이미지 파일 복사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552510" y="980728"/>
            <a:ext cx="7765532" cy="5078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b="1" dirty="0" err="1"/>
              <a:t>FileInputStream</a:t>
            </a:r>
            <a:r>
              <a:rPr lang="ko-KR" altLang="en-US" b="1" dirty="0"/>
              <a:t>과 </a:t>
            </a:r>
            <a:r>
              <a:rPr lang="en-US" altLang="ko-KR" b="1" dirty="0" err="1"/>
              <a:t>FileOutputStream</a:t>
            </a:r>
            <a:r>
              <a:rPr lang="ko-KR" altLang="en-US" b="1" dirty="0"/>
              <a:t>을 이용하여 파일 복사하기</a:t>
            </a:r>
            <a:r>
              <a:rPr lang="en-US" altLang="ko-KR" b="1" dirty="0"/>
              <a:t> </a:t>
            </a:r>
            <a:r>
              <a:rPr lang="ko-KR" altLang="en-US" b="1" dirty="0"/>
              <a:t> </a:t>
            </a:r>
            <a:r>
              <a:rPr lang="en-US" altLang="ko-KR" b="1" dirty="0"/>
              <a:t> 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488559"/>
            <a:ext cx="7128792" cy="49505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00" y="5733256"/>
            <a:ext cx="2612136" cy="2359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804810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1" y="-27384"/>
            <a:ext cx="3800872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553287" y="942174"/>
            <a:ext cx="8720193" cy="22708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+mn-ea"/>
              </a:rPr>
              <a:t> 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보조 </a:t>
            </a:r>
            <a:r>
              <a:rPr lang="ko-KR" altLang="en-US" sz="2000" b="1" dirty="0" err="1">
                <a:solidFill>
                  <a:srgbClr val="C00000"/>
                </a:solidFill>
                <a:latin typeface="+mn-ea"/>
              </a:rPr>
              <a:t>스트림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다른 스트림과 연결되어 여러 가지 편리한 기능을 제공해주는 스트림을 말한다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자체적으로 입출력을 수행할 수 없기 때문에 입출력 소스로부터 직접 생성된 입출력 스트림에 연결해서 사용함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생성자의 매개변수로 </a:t>
            </a:r>
            <a:r>
              <a:rPr lang="ko-KR" altLang="en-US" sz="1600" b="1" dirty="0">
                <a:solidFill>
                  <a:srgbClr val="C00000"/>
                </a:solidFill>
                <a:latin typeface="+mn-ea"/>
              </a:rPr>
              <a:t>기반스트림</a:t>
            </a:r>
            <a:r>
              <a:rPr lang="ko-KR" altLang="en-US" sz="1600" dirty="0">
                <a:latin typeface="+mn-ea"/>
              </a:rPr>
              <a:t>을 가짐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5561455" y="3462454"/>
            <a:ext cx="2520280" cy="1368152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+ </a:t>
            </a:r>
            <a:r>
              <a:rPr lang="ko-KR" altLang="en-US" sz="1600" dirty="0" err="1"/>
              <a:t>버퍼링</a:t>
            </a:r>
            <a:r>
              <a:rPr lang="ko-KR" altLang="en-US" sz="1600" dirty="0"/>
              <a:t> 기능</a:t>
            </a:r>
            <a:endParaRPr lang="en-US" altLang="ko-KR" sz="1600" dirty="0"/>
          </a:p>
          <a:p>
            <a:pPr algn="ctr"/>
            <a:r>
              <a:rPr lang="ko-KR" altLang="en-US" sz="1600" dirty="0"/>
              <a:t>추가</a:t>
            </a:r>
          </a:p>
        </p:txBody>
      </p:sp>
      <p:sp>
        <p:nvSpPr>
          <p:cNvPr id="7" name="타원 6"/>
          <p:cNvSpPr/>
          <p:nvPr/>
        </p:nvSpPr>
        <p:spPr>
          <a:xfrm>
            <a:off x="3512840" y="3462454"/>
            <a:ext cx="2520280" cy="1368152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+ </a:t>
            </a:r>
            <a:r>
              <a:rPr lang="ko-KR" altLang="en-US" sz="1600" dirty="0"/>
              <a:t>문자로 변환</a:t>
            </a:r>
            <a:endParaRPr lang="en-US" altLang="ko-KR" sz="1600" dirty="0"/>
          </a:p>
          <a:p>
            <a:pPr algn="ctr"/>
            <a:r>
              <a:rPr lang="ko-KR" altLang="en-US" sz="1600" dirty="0"/>
              <a:t>기능 추가</a:t>
            </a:r>
          </a:p>
        </p:txBody>
      </p:sp>
      <p:sp>
        <p:nvSpPr>
          <p:cNvPr id="2" name="타원 1"/>
          <p:cNvSpPr/>
          <p:nvPr/>
        </p:nvSpPr>
        <p:spPr>
          <a:xfrm>
            <a:off x="1280591" y="3462454"/>
            <a:ext cx="2520281" cy="1368152"/>
          </a:xfrm>
          <a:prstGeom prst="ellipse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바이트 단위</a:t>
            </a:r>
            <a:endParaRPr lang="en-US" altLang="ko-KR" sz="1600" dirty="0"/>
          </a:p>
          <a:p>
            <a:pPr algn="ctr"/>
            <a:r>
              <a:rPr lang="ko-KR" altLang="en-US" sz="1600" dirty="0"/>
              <a:t>파일 입력 </a:t>
            </a:r>
            <a:r>
              <a:rPr lang="ko-KR" altLang="en-US" sz="1600" dirty="0" err="1"/>
              <a:t>스트림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928664" y="4962654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기반 </a:t>
            </a:r>
            <a:r>
              <a:rPr lang="ko-KR" altLang="en-US" sz="1600" dirty="0" err="1"/>
              <a:t>스트림</a:t>
            </a:r>
            <a:endParaRPr lang="ko-KR" altLang="en-US" sz="1600" dirty="0"/>
          </a:p>
        </p:txBody>
      </p:sp>
      <p:sp>
        <p:nvSpPr>
          <p:cNvPr id="8" name="TextBox 7"/>
          <p:cNvSpPr txBox="1"/>
          <p:nvPr/>
        </p:nvSpPr>
        <p:spPr>
          <a:xfrm>
            <a:off x="4265311" y="4962654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보조 </a:t>
            </a:r>
            <a:r>
              <a:rPr lang="ko-KR" altLang="en-US" sz="1600" dirty="0" err="1"/>
              <a:t>스트림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6249144" y="4962654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보조 </a:t>
            </a:r>
            <a:r>
              <a:rPr lang="ko-KR" altLang="en-US" sz="1600" dirty="0" err="1"/>
              <a:t>스트림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947939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InputStreamReader</a:t>
            </a:r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553287" y="1042358"/>
            <a:ext cx="8720193" cy="17667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+mn-ea"/>
              </a:rPr>
              <a:t> 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InputStreamReader</a:t>
            </a: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와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OutputStreamWriter</a:t>
            </a:r>
            <a:endParaRPr lang="en-US" altLang="ko-KR" sz="18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바이트 자료만 입력되는 </a:t>
            </a:r>
            <a:r>
              <a:rPr lang="ko-KR" altLang="en-US" sz="1600" dirty="0" err="1">
                <a:latin typeface="+mn-ea"/>
              </a:rPr>
              <a:t>스트림에서</a:t>
            </a:r>
            <a:r>
              <a:rPr lang="ko-KR" altLang="en-US" sz="1600" dirty="0">
                <a:latin typeface="+mn-ea"/>
              </a:rPr>
              <a:t> 문자로 변환해 준다</a:t>
            </a:r>
            <a:r>
              <a:rPr lang="en-US" altLang="ko-KR" sz="1600" dirty="0">
                <a:latin typeface="+mn-ea"/>
              </a:rPr>
              <a:t>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dirty="0">
                <a:solidFill>
                  <a:srgbClr val="C00000"/>
                </a:solidFill>
                <a:latin typeface="+mn-ea"/>
              </a:rPr>
              <a:t>System.in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이나 네트워크 </a:t>
            </a:r>
            <a:r>
              <a:rPr lang="en-US" altLang="ko-KR" sz="1600" b="1" dirty="0">
                <a:solidFill>
                  <a:srgbClr val="C00000"/>
                </a:solidFill>
                <a:latin typeface="+mn-ea"/>
              </a:rPr>
              <a:t>socket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통신을 </a:t>
            </a:r>
            <a:r>
              <a:rPr lang="ko-KR" altLang="en-US" sz="1600" dirty="0" err="1">
                <a:latin typeface="+mn-ea"/>
              </a:rPr>
              <a:t>할때</a:t>
            </a:r>
            <a:r>
              <a:rPr lang="ko-KR" altLang="en-US" sz="1600" dirty="0">
                <a:latin typeface="+mn-ea"/>
              </a:rPr>
              <a:t> 쓰인다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+mn-ea"/>
              </a:rPr>
              <a:t>입출력 기능이 없으므로 다른 입출력 </a:t>
            </a:r>
            <a:r>
              <a:rPr lang="ko-KR" altLang="en-US" sz="1600" dirty="0" err="1">
                <a:latin typeface="+mn-ea"/>
              </a:rPr>
              <a:t>스트림을</a:t>
            </a:r>
            <a:r>
              <a:rPr lang="ko-KR" altLang="en-US" sz="1600" dirty="0">
                <a:latin typeface="+mn-ea"/>
              </a:rPr>
              <a:t> 포함한다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6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1064568" y="3097136"/>
          <a:ext cx="7704856" cy="1772023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36304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4968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9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생성자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671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InputStreamReader</a:t>
                      </a:r>
                      <a:endParaRPr lang="en-US" altLang="ko-KR" sz="16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 (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FileInputStream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in)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생성자의 매개변수로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FileInputStream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을 받는다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6710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OutputStreamWriter</a:t>
                      </a:r>
                      <a:endParaRPr lang="en-US" altLang="ko-KR" sz="16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 (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FileOutputStream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out)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생성자의 매개변수로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FileOutputStream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을 받는다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143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481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InputStreamReader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772816"/>
            <a:ext cx="8720193" cy="9290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latin typeface="+mn-ea"/>
              </a:rPr>
              <a:t>    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8544" y="980728"/>
            <a:ext cx="766748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</a:rPr>
              <a:t>OutputStreamWriter</a:t>
            </a:r>
            <a:r>
              <a:rPr lang="en-US" altLang="ko-KR" sz="2000" b="1" dirty="0">
                <a:latin typeface="+mn-ea"/>
              </a:rPr>
              <a:t> &amp; </a:t>
            </a:r>
            <a:r>
              <a:rPr lang="en-US" altLang="ko-KR" sz="2000" b="1" dirty="0" err="1">
                <a:latin typeface="+mn-ea"/>
              </a:rPr>
              <a:t>InputStreamReader</a:t>
            </a:r>
            <a:endParaRPr lang="en-US" altLang="ko-KR" sz="2000" b="1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바이트 자료만 출력되는 스트림에서 문자로 변환해 파일을 생성하고 읽기</a:t>
            </a:r>
            <a:endParaRPr lang="en-US" altLang="ko-KR" sz="16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latin typeface="+mn-ea"/>
              </a:rPr>
              <a:t>파일 쓰기 후 프로젝트 </a:t>
            </a:r>
            <a:r>
              <a:rPr lang="ko-KR" altLang="en-US" sz="1600" dirty="0" err="1">
                <a:latin typeface="+mn-ea"/>
              </a:rPr>
              <a:t>우클릭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-&gt; Refresh(F5)  -&gt; memo.txt </a:t>
            </a:r>
            <a:r>
              <a:rPr lang="ko-KR" altLang="en-US" sz="1600" dirty="0">
                <a:latin typeface="+mn-ea"/>
              </a:rPr>
              <a:t>표시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557" y="2416668"/>
            <a:ext cx="8232156" cy="287497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971" y="4293096"/>
            <a:ext cx="2074114" cy="18087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6619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en-US" altLang="ko-KR" dirty="0" err="1"/>
              <a:t>InputStreamReader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772816"/>
            <a:ext cx="8720193" cy="9290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ko-KR" sz="16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600" dirty="0">
                <a:latin typeface="+mn-ea"/>
              </a:rPr>
              <a:t>    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1800" dirty="0"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lvl="1">
              <a:lnSpc>
                <a:spcPct val="100000"/>
              </a:lnSpc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8544" y="980728"/>
            <a:ext cx="7532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>
                <a:latin typeface="+mn-ea"/>
              </a:rPr>
              <a:t> </a:t>
            </a:r>
            <a:r>
              <a:rPr lang="en-US" altLang="ko-KR" sz="2000" b="1" dirty="0" err="1">
                <a:latin typeface="+mn-ea"/>
              </a:rPr>
              <a:t>OutputStreamWriter</a:t>
            </a:r>
            <a:r>
              <a:rPr lang="en-US" altLang="ko-KR" sz="2000" b="1" dirty="0">
                <a:latin typeface="+mn-ea"/>
              </a:rPr>
              <a:t> &amp; </a:t>
            </a:r>
            <a:r>
              <a:rPr lang="en-US" altLang="ko-KR" sz="2000" b="1" dirty="0" err="1">
                <a:latin typeface="+mn-ea"/>
              </a:rPr>
              <a:t>InputStreamReader</a:t>
            </a:r>
            <a:endParaRPr lang="en-US" altLang="ko-KR" sz="2000" b="1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바이트 자료만 출력되는 스트림에서 문자로 변환해 파일을 생성하고 읽기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67" y="1988841"/>
            <a:ext cx="8359405" cy="30761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66388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Buffered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416496" y="942174"/>
            <a:ext cx="3247585" cy="559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solidFill>
                  <a:srgbClr val="C00000"/>
                </a:solidFill>
                <a:latin typeface="+mn-ea"/>
              </a:rPr>
              <a:t>  </a:t>
            </a:r>
            <a:endParaRPr lang="en-US" altLang="ko-KR" sz="2000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endParaRPr lang="en-US" altLang="ko-KR" sz="2000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C00000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1033982" y="2996952"/>
          <a:ext cx="7996501" cy="245186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711772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5284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3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클래스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14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BufferedInputStream</a:t>
                      </a:r>
                      <a:endParaRPr lang="en-US" altLang="ko-KR" sz="16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InputStream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in)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 단위로 읽는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스트림에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버퍼링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기능을 제공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64677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BufferedOutputStream</a:t>
                      </a:r>
                      <a:endParaRPr lang="en-US" altLang="ko-KR" sz="1600" b="0" baseline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FileOutputStream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out)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 단위로 출력하는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스트림에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버퍼링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기능을 제공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61435050"/>
                  </a:ext>
                </a:extLst>
              </a:tr>
              <a:tr h="414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BufferedReader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문자 단위로 읽는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스트림에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버퍼링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기능을 제공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BufferedWriter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문자 단위로 출력하는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스트림에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버퍼링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기능을 제공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1753" y="1052736"/>
            <a:ext cx="295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Buffered </a:t>
            </a:r>
            <a:r>
              <a:rPr lang="ko-KR" altLang="en-US" sz="2000" b="1" dirty="0" err="1">
                <a:solidFill>
                  <a:srgbClr val="C00000"/>
                </a:solidFill>
                <a:latin typeface="+mn-ea"/>
              </a:rPr>
              <a:t>스트림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5769" y="1484784"/>
            <a:ext cx="8352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입출력이 한 바이트나 문자 단위로 이루어지면 그만큼 프로그램 수행 속도가 느려진다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Buffered </a:t>
            </a:r>
            <a:r>
              <a:rPr lang="ko-KR" altLang="en-US" sz="1600" dirty="0" err="1"/>
              <a:t>스트림은</a:t>
            </a:r>
            <a:r>
              <a:rPr lang="ko-KR" altLang="en-US" sz="1600" dirty="0"/>
              <a:t> 내부적으로 </a:t>
            </a:r>
            <a:r>
              <a:rPr lang="en-US" altLang="ko-KR" sz="1600" dirty="0"/>
              <a:t>8,192</a:t>
            </a:r>
            <a:r>
              <a:rPr lang="ko-KR" altLang="en-US" sz="1600" dirty="0"/>
              <a:t>바이트 크기의 배열을 가지고 있으며 더 빠르게 입출력을 수행하는 </a:t>
            </a:r>
            <a:r>
              <a:rPr lang="ko-KR" altLang="en-US" sz="1600" dirty="0" err="1"/>
              <a:t>버퍼링</a:t>
            </a:r>
            <a:r>
              <a:rPr lang="ko-KR" altLang="en-US" sz="1600" dirty="0"/>
              <a:t> 기능을 제공한다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10857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Buffered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20552" y="980728"/>
            <a:ext cx="8064896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 err="1">
                <a:solidFill>
                  <a:srgbClr val="C00000"/>
                </a:solidFill>
                <a:latin typeface="+mn-ea"/>
              </a:rPr>
              <a:t>BufferedInputStream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과 </a:t>
            </a:r>
            <a:r>
              <a:rPr lang="en-US" altLang="ko-KR" b="1" dirty="0" err="1">
                <a:solidFill>
                  <a:srgbClr val="C00000"/>
                </a:solidFill>
                <a:latin typeface="+mn-ea"/>
              </a:rPr>
              <a:t>BufferedOutputStream</a:t>
            </a:r>
            <a:r>
              <a:rPr lang="ko-KR" altLang="en-US" b="1" dirty="0">
                <a:solidFill>
                  <a:srgbClr val="C00000"/>
                </a:solidFill>
                <a:latin typeface="+mn-ea"/>
              </a:rPr>
              <a:t>으로 파일 복사하기</a:t>
            </a:r>
            <a:endParaRPr lang="en-US" altLang="ko-KR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929" y="1435020"/>
            <a:ext cx="7088142" cy="50160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176" y="5661249"/>
            <a:ext cx="2520280" cy="3100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0448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Buffered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5367"/>
            <a:ext cx="309634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BufferedReader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56" y="3127715"/>
            <a:ext cx="4627572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352600" y="1480197"/>
            <a:ext cx="7920879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문자 입력 스트림 </a:t>
            </a:r>
            <a:r>
              <a:rPr lang="en-US" altLang="ko-KR" sz="1600" dirty="0"/>
              <a:t>Reader</a:t>
            </a:r>
            <a:r>
              <a:rPr lang="ko-KR" altLang="en-US" sz="1600" dirty="0"/>
              <a:t>에 </a:t>
            </a:r>
            <a:r>
              <a:rPr lang="en-US" altLang="ko-KR" sz="1600" dirty="0" err="1"/>
              <a:t>BuffredReader</a:t>
            </a:r>
            <a:r>
              <a:rPr lang="ko-KR" altLang="en-US" sz="1600" dirty="0"/>
              <a:t>를 연결하면 행 단위로 문자열을 읽는 매우 편리한 </a:t>
            </a:r>
            <a:r>
              <a:rPr lang="en-US" altLang="ko-KR" sz="1600" dirty="0" err="1"/>
              <a:t>readLine</a:t>
            </a:r>
            <a:r>
              <a:rPr lang="en-US" altLang="ko-KR" sz="1600" dirty="0"/>
              <a:t>() </a:t>
            </a:r>
            <a:r>
              <a:rPr lang="ko-KR" altLang="en-US" sz="1600" dirty="0" err="1"/>
              <a:t>메소드를</a:t>
            </a:r>
            <a:r>
              <a:rPr lang="ko-KR" altLang="en-US" sz="1600" dirty="0"/>
              <a:t> 제공한다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readLine</a:t>
            </a:r>
            <a:r>
              <a:rPr lang="en-US" altLang="ko-KR" sz="1600" dirty="0"/>
              <a:t>()</a:t>
            </a:r>
            <a:r>
              <a:rPr lang="ko-KR" altLang="en-US" sz="1600" dirty="0"/>
              <a:t>은 </a:t>
            </a:r>
            <a:r>
              <a:rPr lang="en-US" altLang="ko-KR" sz="1600" dirty="0"/>
              <a:t>enter </a:t>
            </a:r>
            <a:r>
              <a:rPr lang="ko-KR" altLang="en-US" sz="1600" dirty="0"/>
              <a:t>키 이전의 모든 문자열을 읽고 </a:t>
            </a:r>
            <a:r>
              <a:rPr lang="ko-KR" altLang="en-US" sz="1600" dirty="0" err="1"/>
              <a:t>리턴한다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200" y="3501008"/>
            <a:ext cx="2304256" cy="8077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1609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Buffered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47206"/>
            <a:ext cx="8513183" cy="43604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5367"/>
            <a:ext cx="309634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BufferedReader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291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Buffered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5367"/>
            <a:ext cx="309634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BufferedReaderTest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514927"/>
            <a:ext cx="6251211" cy="46489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152" y="5013176"/>
            <a:ext cx="2304256" cy="7601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138886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Buffered </a:t>
            </a:r>
            <a:r>
              <a:rPr lang="ko-KR" altLang="en-US" dirty="0" err="1"/>
              <a:t>스트림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85367"/>
            <a:ext cx="309634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BufferedReaderTest</a:t>
            </a: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7" y="1611750"/>
            <a:ext cx="7134198" cy="433753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200" y="4869160"/>
            <a:ext cx="2308491" cy="7200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42515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BufferedReader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80728"/>
            <a:ext cx="8360153" cy="4706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>
                <a:latin typeface="+mn-ea"/>
              </a:rPr>
              <a:t> </a:t>
            </a:r>
            <a:r>
              <a:rPr lang="en-US" altLang="ko-KR" sz="1800" b="1" dirty="0">
                <a:latin typeface="+mn-ea"/>
              </a:rPr>
              <a:t>split()</a:t>
            </a:r>
            <a:r>
              <a:rPr lang="ko-KR" altLang="en-US" sz="1800" b="1" dirty="0">
                <a:latin typeface="+mn-ea"/>
              </a:rPr>
              <a:t>를 함수를 사용하여 문자열 분리하기</a:t>
            </a:r>
            <a:endParaRPr lang="en-US" altLang="ko-KR" sz="18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7" y="1580067"/>
            <a:ext cx="7632847" cy="38123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37620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BufferedReader</a:t>
            </a: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80728"/>
            <a:ext cx="8360153" cy="47060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b="1" dirty="0">
                <a:latin typeface="+mn-ea"/>
              </a:rPr>
              <a:t> </a:t>
            </a:r>
            <a:r>
              <a:rPr lang="en-US" altLang="ko-KR" sz="1800" b="1" dirty="0">
                <a:latin typeface="+mn-ea"/>
              </a:rPr>
              <a:t>split()</a:t>
            </a:r>
            <a:r>
              <a:rPr lang="ko-KR" altLang="en-US" sz="1800" b="1" dirty="0">
                <a:latin typeface="+mn-ea"/>
              </a:rPr>
              <a:t>를 함수를 사용하여 문자열 분리하기</a:t>
            </a:r>
            <a:endParaRPr lang="en-US" altLang="ko-KR" sz="18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32466"/>
            <a:ext cx="7430627" cy="42727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720" y="5661248"/>
            <a:ext cx="6945818" cy="6228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91198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Typing Game</a:t>
            </a:r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97455"/>
            <a:ext cx="5544616" cy="5593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 타자 연습 게임 프로젝트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&gt;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배포하기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600" b="1" dirty="0">
              <a:solidFill>
                <a:srgbClr val="C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26663"/>
            <a:ext cx="2549693" cy="16536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28" y="1742552"/>
            <a:ext cx="5126777" cy="37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68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BufferedReader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980727"/>
            <a:ext cx="6840760" cy="52916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93616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257255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보조 </a:t>
            </a:r>
            <a:r>
              <a:rPr lang="ko-KR" altLang="en-US" dirty="0" err="1"/>
              <a:t>스트림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en-US" altLang="ko-KR" dirty="0" err="1"/>
              <a:t>BufferedReader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052736"/>
            <a:ext cx="6152363" cy="51845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02468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90532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 err="1"/>
              <a:t>보조스트림</a:t>
            </a:r>
            <a:r>
              <a:rPr lang="ko-KR" altLang="en-US" dirty="0"/>
              <a:t> </a:t>
            </a:r>
            <a:r>
              <a:rPr lang="en-US" altLang="ko-KR" dirty="0"/>
              <a:t>- DataStream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885127"/>
            <a:ext cx="5047785" cy="5022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DataInputStream</a:t>
            </a: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과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DataOutputStream</a:t>
            </a:r>
            <a:r>
              <a:rPr lang="en-US" altLang="ko-KR" sz="1600" dirty="0">
                <a:latin typeface="+mn-ea"/>
              </a:rPr>
              <a:t>    </a:t>
            </a:r>
            <a:endParaRPr lang="en-US" altLang="ko-KR" sz="1800" dirty="0">
              <a:latin typeface="+mn-ea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1180356" y="2348880"/>
          <a:ext cx="5544616" cy="18936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3029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메서드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02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byte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readByte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바이트를 읽어 반환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302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char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readChar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한 문자를 읽어 반환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readInt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바이트를 읽어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정수값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반환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double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readDouble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8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바이트를 읽어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실수값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반환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String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readUTF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문자열을 읽어 반환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A3B353D8-504D-48FB-8D5B-CCF4D1513811}"/>
              </a:ext>
            </a:extLst>
          </p:cNvPr>
          <p:cNvGraphicFramePr>
            <a:graphicFrameLocks noGrp="1"/>
          </p:cNvGraphicFramePr>
          <p:nvPr/>
        </p:nvGraphicFramePr>
        <p:xfrm>
          <a:off x="3872880" y="4437112"/>
          <a:ext cx="5376137" cy="187833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855857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1991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메서드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220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void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writeByte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바이트의 자료 쓰기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220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void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writeChar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v)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바이트의 자료 쓰기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void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writeInt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600" b="0" baseline="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1600" b="0" baseline="0" dirty="0">
                          <a:solidFill>
                            <a:schemeClr val="tx1"/>
                          </a:solidFill>
                        </a:rPr>
                        <a:t> v)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4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바이트의 자료 쓰기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void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writeDouble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(double v)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8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바이트의 자료 쓰기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20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void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readUTF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(String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</a:rPr>
                        <a:t>str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marL="74295" marR="74295" marT="37148" marB="37148"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문자열을 쓰기</a:t>
                      </a:r>
                    </a:p>
                  </a:txBody>
                  <a:tcPr marL="74295" marR="74295" marT="37148" marB="37148"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697302" y="1340768"/>
            <a:ext cx="87922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지금까지의 공부한 </a:t>
            </a:r>
            <a:r>
              <a:rPr lang="ko-KR" altLang="en-US" sz="1600" dirty="0" err="1">
                <a:latin typeface="+mn-ea"/>
              </a:rPr>
              <a:t>스트림은</a:t>
            </a:r>
            <a:r>
              <a:rPr lang="ko-KR" altLang="en-US" sz="1600" dirty="0">
                <a:latin typeface="+mn-ea"/>
              </a:rPr>
              <a:t> 사람이 읽고 쓰는 텍스트 또는 이미지 형식의 자료를 다루었으나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DataStream</a:t>
            </a:r>
            <a:r>
              <a:rPr lang="ko-KR" altLang="en-US" sz="1600" dirty="0">
                <a:latin typeface="+mn-ea"/>
              </a:rPr>
              <a:t>은 메모리에 저장된 </a:t>
            </a:r>
            <a:r>
              <a:rPr lang="en-US" altLang="ko-KR" sz="1600" dirty="0">
                <a:latin typeface="+mn-ea"/>
              </a:rPr>
              <a:t>0, 1</a:t>
            </a:r>
            <a:r>
              <a:rPr lang="ko-KR" altLang="en-US" sz="1600" dirty="0">
                <a:latin typeface="+mn-ea"/>
              </a:rPr>
              <a:t>상태를 그대로 읽거나 쓴다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 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즉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자료형의</a:t>
            </a:r>
            <a:r>
              <a:rPr lang="ko-KR" altLang="en-US" sz="1600" dirty="0">
                <a:latin typeface="+mn-ea"/>
              </a:rPr>
              <a:t> 크기가 그대로 보존된다</a:t>
            </a:r>
            <a:r>
              <a:rPr lang="en-US" altLang="ko-KR" sz="1600" dirty="0">
                <a:latin typeface="+mn-ea"/>
              </a:rPr>
              <a:t>.</a:t>
            </a:r>
            <a:endParaRPr lang="en-US" altLang="ko-KR" sz="1400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6881425" y="2996952"/>
            <a:ext cx="2047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latin typeface="+mn-ea"/>
              </a:rPr>
              <a:t>DataInputStream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1568624" y="5229200"/>
            <a:ext cx="22433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>
                <a:latin typeface="+mn-ea"/>
              </a:rPr>
              <a:t>DataOutputStream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23934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90532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DataStream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060" y="1484784"/>
            <a:ext cx="7617372" cy="42630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10558"/>
            <a:ext cx="5047785" cy="5022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DataInputStream</a:t>
            </a: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과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DataOutputStream</a:t>
            </a:r>
            <a:r>
              <a:rPr lang="en-US" altLang="ko-KR" sz="1600" dirty="0">
                <a:latin typeface="+mn-ea"/>
              </a:rPr>
              <a:t>    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68204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790532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DataStream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910558"/>
            <a:ext cx="5047785" cy="50221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DataInputStream</a:t>
            </a:r>
            <a:r>
              <a:rPr lang="ko-KR" altLang="en-US" sz="1800" b="1" dirty="0">
                <a:solidFill>
                  <a:srgbClr val="C00000"/>
                </a:solidFill>
                <a:latin typeface="+mn-ea"/>
              </a:rPr>
              <a:t>과 </a:t>
            </a:r>
            <a:r>
              <a:rPr lang="en-US" altLang="ko-KR" sz="1800" b="1" dirty="0" err="1">
                <a:solidFill>
                  <a:srgbClr val="C00000"/>
                </a:solidFill>
                <a:latin typeface="+mn-ea"/>
              </a:rPr>
              <a:t>DataOutputStream</a:t>
            </a:r>
            <a:r>
              <a:rPr lang="en-US" altLang="ko-KR" sz="1600" dirty="0">
                <a:latin typeface="+mn-ea"/>
              </a:rPr>
              <a:t>    </a:t>
            </a:r>
            <a:endParaRPr lang="en-US" altLang="ko-KR" sz="18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568" y="1495750"/>
            <a:ext cx="8277828" cy="36837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08" y="4912727"/>
            <a:ext cx="1656184" cy="5334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5796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6892</TotalTime>
  <Words>1659</Words>
  <Application>Microsoft Office PowerPoint</Application>
  <PresentationFormat>A4 용지(210x297mm)</PresentationFormat>
  <Paragraphs>400</Paragraphs>
  <Slides>45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2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10장. 파일 입출력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490</cp:revision>
  <dcterms:created xsi:type="dcterms:W3CDTF">2019-03-04T02:36:55Z</dcterms:created>
  <dcterms:modified xsi:type="dcterms:W3CDTF">2026-07-28T06:33:19Z</dcterms:modified>
</cp:coreProperties>
</file>