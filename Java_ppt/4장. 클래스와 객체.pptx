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1"/>
  </p:notesMasterIdLst>
  <p:sldIdLst>
    <p:sldId id="256" r:id="rId2"/>
    <p:sldId id="271" r:id="rId3"/>
    <p:sldId id="294" r:id="rId4"/>
    <p:sldId id="295" r:id="rId5"/>
    <p:sldId id="472" r:id="rId6"/>
    <p:sldId id="321" r:id="rId7"/>
    <p:sldId id="473" r:id="rId8"/>
    <p:sldId id="304" r:id="rId9"/>
    <p:sldId id="305" r:id="rId10"/>
    <p:sldId id="439" r:id="rId11"/>
    <p:sldId id="323" r:id="rId12"/>
    <p:sldId id="399" r:id="rId13"/>
    <p:sldId id="397" r:id="rId14"/>
    <p:sldId id="474" r:id="rId15"/>
    <p:sldId id="475" r:id="rId16"/>
    <p:sldId id="476" r:id="rId17"/>
    <p:sldId id="431" r:id="rId18"/>
    <p:sldId id="435" r:id="rId19"/>
    <p:sldId id="432" r:id="rId20"/>
    <p:sldId id="433" r:id="rId21"/>
    <p:sldId id="434" r:id="rId22"/>
    <p:sldId id="381" r:id="rId23"/>
    <p:sldId id="382" r:id="rId24"/>
    <p:sldId id="383" r:id="rId25"/>
    <p:sldId id="393" r:id="rId26"/>
    <p:sldId id="394" r:id="rId27"/>
    <p:sldId id="458" r:id="rId28"/>
    <p:sldId id="447" r:id="rId29"/>
    <p:sldId id="448" r:id="rId30"/>
    <p:sldId id="449" r:id="rId31"/>
    <p:sldId id="450" r:id="rId32"/>
    <p:sldId id="402" r:id="rId33"/>
    <p:sldId id="403" r:id="rId34"/>
    <p:sldId id="404" r:id="rId35"/>
    <p:sldId id="405" r:id="rId36"/>
    <p:sldId id="464" r:id="rId37"/>
    <p:sldId id="465" r:id="rId38"/>
    <p:sldId id="466" r:id="rId39"/>
    <p:sldId id="467" r:id="rId40"/>
    <p:sldId id="468" r:id="rId41"/>
    <p:sldId id="469" r:id="rId42"/>
    <p:sldId id="470" r:id="rId43"/>
    <p:sldId id="471" r:id="rId44"/>
    <p:sldId id="406" r:id="rId45"/>
    <p:sldId id="407" r:id="rId46"/>
    <p:sldId id="409" r:id="rId47"/>
    <p:sldId id="437" r:id="rId48"/>
    <p:sldId id="438" r:id="rId49"/>
    <p:sldId id="436" r:id="rId50"/>
    <p:sldId id="477" r:id="rId51"/>
    <p:sldId id="478" r:id="rId52"/>
    <p:sldId id="479" r:id="rId53"/>
    <p:sldId id="480" r:id="rId54"/>
    <p:sldId id="481" r:id="rId55"/>
    <p:sldId id="482" r:id="rId56"/>
    <p:sldId id="483" r:id="rId57"/>
    <p:sldId id="484" r:id="rId58"/>
    <p:sldId id="485" r:id="rId59"/>
    <p:sldId id="486" r:id="rId60"/>
    <p:sldId id="487" r:id="rId61"/>
    <p:sldId id="488" r:id="rId62"/>
    <p:sldId id="489" r:id="rId63"/>
    <p:sldId id="490" r:id="rId64"/>
    <p:sldId id="491" r:id="rId65"/>
    <p:sldId id="492" r:id="rId66"/>
    <p:sldId id="493" r:id="rId67"/>
    <p:sldId id="494" r:id="rId68"/>
    <p:sldId id="495" r:id="rId69"/>
    <p:sldId id="496" r:id="rId70"/>
    <p:sldId id="497" r:id="rId71"/>
    <p:sldId id="498" r:id="rId72"/>
    <p:sldId id="499" r:id="rId73"/>
    <p:sldId id="500" r:id="rId74"/>
    <p:sldId id="501" r:id="rId75"/>
    <p:sldId id="502" r:id="rId76"/>
    <p:sldId id="503" r:id="rId77"/>
    <p:sldId id="504" r:id="rId78"/>
    <p:sldId id="505" r:id="rId79"/>
    <p:sldId id="506" r:id="rId80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854" y="6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5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/>
              <a:t> 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-39555" y="6381328"/>
            <a:ext cx="9945555" cy="476672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9906000" cy="836712"/>
          </a:xfrm>
          <a:prstGeom prst="rect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  마스터 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53433" y="6453337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050" name="Picture 2" descr="javaì ëí ì´ë¯¸ì§ ê²ìê²°ê³¼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52" y="5933989"/>
            <a:ext cx="685900" cy="6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7050783" cy="1226567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4</a:t>
            </a:r>
            <a:r>
              <a:rPr lang="ko-KR" altLang="en-US" sz="36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sz="36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sz="36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클래스와 객체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75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000" i="1" dirty="0">
                <a:solidFill>
                  <a:schemeClr val="bg1"/>
                </a:solidFill>
              </a:rPr>
              <a:t>class </a:t>
            </a:r>
            <a:r>
              <a:rPr lang="en-US" altLang="ko-KR" sz="2000" i="1">
                <a:solidFill>
                  <a:schemeClr val="bg1"/>
                </a:solidFill>
              </a:rPr>
              <a:t>&amp; instance</a:t>
            </a:r>
            <a:endParaRPr lang="ko-KR" altLang="en-US" sz="1800" i="1" dirty="0"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" name="Picture 2" descr="javaì ëí ì´ë¯¸ì§ ê²ìê²°ê³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056" y="3645024"/>
            <a:ext cx="4078760" cy="2447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객체 지향 프로그래밍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3472" y="957186"/>
            <a:ext cx="8616032" cy="26350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002060"/>
                </a:solidFill>
              </a:rPr>
              <a:t>객체</a:t>
            </a:r>
            <a:r>
              <a:rPr lang="en-US" altLang="ko-KR" sz="2000" b="1" dirty="0">
                <a:solidFill>
                  <a:srgbClr val="002060"/>
                </a:solidFill>
              </a:rPr>
              <a:t>(Object)</a:t>
            </a:r>
            <a:r>
              <a:rPr lang="ko-KR" altLang="en-US" sz="2000" b="1" dirty="0">
                <a:solidFill>
                  <a:srgbClr val="002060"/>
                </a:solidFill>
              </a:rPr>
              <a:t>란</a:t>
            </a:r>
            <a:r>
              <a:rPr lang="en-US" altLang="ko-KR" sz="2000" b="1" dirty="0">
                <a:solidFill>
                  <a:srgbClr val="002060"/>
                </a:solidFill>
              </a:rPr>
              <a:t>?</a:t>
            </a:r>
          </a:p>
          <a:p>
            <a:pPr lvl="1">
              <a:lnSpc>
                <a:spcPct val="100000"/>
              </a:lnSpc>
            </a:pPr>
            <a:r>
              <a:rPr lang="ko-KR" altLang="en-US" sz="1800" dirty="0"/>
              <a:t>의사나 행위가 미치는 대상</a:t>
            </a:r>
            <a:r>
              <a:rPr lang="en-US" altLang="ko-KR" sz="1800" dirty="0"/>
              <a:t> -&gt; </a:t>
            </a:r>
            <a:r>
              <a:rPr lang="ko-KR" altLang="en-US" sz="1800" dirty="0"/>
              <a:t>사전적 의미</a:t>
            </a:r>
            <a:endParaRPr lang="en-US" altLang="ko-KR" sz="1800" dirty="0"/>
          </a:p>
          <a:p>
            <a:pPr lvl="1">
              <a:lnSpc>
                <a:spcPct val="100000"/>
              </a:lnSpc>
            </a:pPr>
            <a:r>
              <a:rPr lang="ko-KR" altLang="en-US" sz="1800" dirty="0"/>
              <a:t>구체적</a:t>
            </a:r>
            <a:r>
              <a:rPr lang="en-US" altLang="ko-KR" sz="1800" dirty="0"/>
              <a:t>, </a:t>
            </a:r>
            <a:r>
              <a:rPr lang="ko-KR" altLang="en-US" sz="1800" dirty="0"/>
              <a:t>추상적 데이터 단위 </a:t>
            </a:r>
            <a:r>
              <a:rPr lang="en-US" altLang="ko-KR" sz="1800" dirty="0"/>
              <a:t>(</a:t>
            </a:r>
            <a:r>
              <a:rPr lang="ko-KR" altLang="en-US" sz="1800" dirty="0"/>
              <a:t>구체적</a:t>
            </a:r>
            <a:r>
              <a:rPr lang="en-US" altLang="ko-KR" sz="1800" dirty="0"/>
              <a:t>- </a:t>
            </a:r>
            <a:r>
              <a:rPr lang="ko-KR" altLang="en-US" sz="1800" dirty="0"/>
              <a:t>책상</a:t>
            </a:r>
            <a:r>
              <a:rPr lang="en-US" altLang="ko-KR" sz="1800" dirty="0"/>
              <a:t>, </a:t>
            </a:r>
            <a:r>
              <a:rPr lang="ko-KR" altLang="en-US" sz="1800" dirty="0"/>
              <a:t>추상적</a:t>
            </a:r>
            <a:r>
              <a:rPr lang="en-US" altLang="ko-KR" sz="1800" dirty="0"/>
              <a:t>-</a:t>
            </a:r>
            <a:r>
              <a:rPr lang="ko-KR" altLang="en-US" sz="1800" dirty="0"/>
              <a:t>회사</a:t>
            </a:r>
            <a:r>
              <a:rPr lang="en-US" altLang="ko-KR" sz="1800" dirty="0"/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002060"/>
                </a:solidFill>
              </a:rPr>
              <a:t>객체지향 프로그래밍</a:t>
            </a:r>
            <a:r>
              <a:rPr lang="en-US" altLang="ko-KR" sz="2000" b="1" dirty="0">
                <a:solidFill>
                  <a:srgbClr val="002060"/>
                </a:solidFill>
              </a:rPr>
              <a:t>(Objected Oriented Programming, OOP)</a:t>
            </a:r>
          </a:p>
          <a:p>
            <a:pPr lvl="1">
              <a:lnSpc>
                <a:spcPct val="100000"/>
              </a:lnSpc>
            </a:pPr>
            <a:r>
              <a:rPr lang="ko-KR" altLang="en-US" sz="1800" dirty="0"/>
              <a:t>객체를 기반으로 하는 프로그래밍</a:t>
            </a:r>
            <a:endParaRPr lang="en-US" altLang="ko-KR" sz="1800" dirty="0"/>
          </a:p>
          <a:p>
            <a:pPr lvl="1">
              <a:lnSpc>
                <a:spcPct val="100000"/>
              </a:lnSpc>
            </a:pPr>
            <a:r>
              <a:rPr lang="ko-KR" altLang="en-US" sz="1800" dirty="0"/>
              <a:t>먼저 객체를 만들고</a:t>
            </a:r>
            <a:r>
              <a:rPr lang="en-US" altLang="ko-KR" sz="1800" dirty="0"/>
              <a:t>, </a:t>
            </a:r>
            <a:r>
              <a:rPr lang="ko-KR" altLang="en-US" sz="1800" dirty="0"/>
              <a:t>객체 사이에 일어나는 일을 구현함</a:t>
            </a:r>
            <a:r>
              <a:rPr lang="en-US" altLang="ko-KR" sz="1800" dirty="0"/>
              <a:t>.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029008" y="3717124"/>
            <a:ext cx="1649343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일어난다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5552" y="4278134"/>
            <a:ext cx="1649343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씻는다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1239" y="4839145"/>
            <a:ext cx="1649343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밥을 먹는다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69306" y="5438496"/>
            <a:ext cx="1649343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학교에 간다</a:t>
            </a:r>
          </a:p>
        </p:txBody>
      </p:sp>
      <p:sp>
        <p:nvSpPr>
          <p:cNvPr id="4" name="타원 3"/>
          <p:cNvSpPr/>
          <p:nvPr/>
        </p:nvSpPr>
        <p:spPr>
          <a:xfrm>
            <a:off x="5507570" y="3804954"/>
            <a:ext cx="852291" cy="720080"/>
          </a:xfrm>
          <a:prstGeom prst="ellipse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/>
              <a:t>학생</a:t>
            </a:r>
          </a:p>
        </p:txBody>
      </p:sp>
      <p:sp>
        <p:nvSpPr>
          <p:cNvPr id="15" name="타원 14"/>
          <p:cNvSpPr/>
          <p:nvPr/>
        </p:nvSpPr>
        <p:spPr>
          <a:xfrm>
            <a:off x="7456654" y="3804467"/>
            <a:ext cx="852291" cy="720080"/>
          </a:xfrm>
          <a:prstGeom prst="ellipse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밥</a:t>
            </a:r>
          </a:p>
        </p:txBody>
      </p:sp>
      <p:sp>
        <p:nvSpPr>
          <p:cNvPr id="16" name="타원 15"/>
          <p:cNvSpPr/>
          <p:nvPr/>
        </p:nvSpPr>
        <p:spPr>
          <a:xfrm>
            <a:off x="5507570" y="5085184"/>
            <a:ext cx="852291" cy="720080"/>
          </a:xfrm>
          <a:prstGeom prst="ellipse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버스</a:t>
            </a:r>
          </a:p>
        </p:txBody>
      </p:sp>
      <p:sp>
        <p:nvSpPr>
          <p:cNvPr id="17" name="타원 16"/>
          <p:cNvSpPr/>
          <p:nvPr/>
        </p:nvSpPr>
        <p:spPr>
          <a:xfrm>
            <a:off x="7456654" y="5084697"/>
            <a:ext cx="852291" cy="720080"/>
          </a:xfrm>
          <a:prstGeom prst="ellipse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학교</a:t>
            </a:r>
          </a:p>
        </p:txBody>
      </p:sp>
      <p:cxnSp>
        <p:nvCxnSpPr>
          <p:cNvPr id="19" name="직선 연결선 18"/>
          <p:cNvCxnSpPr/>
          <p:nvPr/>
        </p:nvCxnSpPr>
        <p:spPr>
          <a:xfrm>
            <a:off x="6520550" y="4164507"/>
            <a:ext cx="720080" cy="0"/>
          </a:xfrm>
          <a:prstGeom prst="line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>
            <a:stCxn id="4" idx="4"/>
            <a:endCxn id="16" idx="0"/>
          </p:cNvCxnSpPr>
          <p:nvPr/>
        </p:nvCxnSpPr>
        <p:spPr>
          <a:xfrm>
            <a:off x="5933716" y="4525034"/>
            <a:ext cx="0" cy="560150"/>
          </a:xfrm>
          <a:prstGeom prst="line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6511715" y="4692329"/>
            <a:ext cx="720080" cy="388141"/>
          </a:xfrm>
          <a:prstGeom prst="line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287287" y="4629053"/>
            <a:ext cx="571141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탄다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3288" y="3804467"/>
            <a:ext cx="72008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먹는다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5651" y="4498742"/>
            <a:ext cx="542991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간다</a:t>
            </a:r>
          </a:p>
        </p:txBody>
      </p:sp>
      <p:cxnSp>
        <p:nvCxnSpPr>
          <p:cNvPr id="41" name="직선 화살표 연결선 40"/>
          <p:cNvCxnSpPr/>
          <p:nvPr/>
        </p:nvCxnSpPr>
        <p:spPr>
          <a:xfrm>
            <a:off x="2868238" y="4080169"/>
            <a:ext cx="0" cy="1888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/>
          <p:cNvCxnSpPr/>
          <p:nvPr/>
        </p:nvCxnSpPr>
        <p:spPr>
          <a:xfrm>
            <a:off x="2868238" y="4629053"/>
            <a:ext cx="0" cy="1888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/>
          <p:nvPr/>
        </p:nvCxnSpPr>
        <p:spPr>
          <a:xfrm>
            <a:off x="2893105" y="5195509"/>
            <a:ext cx="0" cy="1888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>
            <a:off x="4592960" y="3615531"/>
            <a:ext cx="0" cy="2360259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02787" y="5975790"/>
            <a:ext cx="2088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&lt;</a:t>
            </a:r>
            <a:r>
              <a:rPr lang="ko-KR" altLang="en-US" sz="1600" dirty="0"/>
              <a:t>절차지향 </a:t>
            </a:r>
            <a:r>
              <a:rPr lang="en-US" altLang="ko-KR" sz="1600" dirty="0"/>
              <a:t>–C</a:t>
            </a:r>
            <a:r>
              <a:rPr lang="ko-KR" altLang="en-US" sz="1600" dirty="0"/>
              <a:t>언어</a:t>
            </a:r>
            <a:r>
              <a:rPr lang="en-US" altLang="ko-KR" sz="1600" dirty="0"/>
              <a:t>&gt;</a:t>
            </a:r>
            <a:endParaRPr lang="ko-KR" altLang="en-US" sz="1600" dirty="0"/>
          </a:p>
        </p:txBody>
      </p:sp>
      <p:sp>
        <p:nvSpPr>
          <p:cNvPr id="49" name="TextBox 48"/>
          <p:cNvSpPr txBox="1"/>
          <p:nvPr/>
        </p:nvSpPr>
        <p:spPr>
          <a:xfrm>
            <a:off x="5893469" y="5975790"/>
            <a:ext cx="2088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&lt;</a:t>
            </a:r>
            <a:r>
              <a:rPr lang="ko-KR" altLang="en-US" sz="1600" dirty="0"/>
              <a:t>객체지향 </a:t>
            </a:r>
            <a:r>
              <a:rPr lang="en-US" altLang="ko-KR" sz="1600" dirty="0"/>
              <a:t>–Java&gt;</a:t>
            </a:r>
            <a:endParaRPr lang="ko-KR" alt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8193360" y="4578629"/>
            <a:ext cx="1147763" cy="408623"/>
          </a:xfrm>
          <a:prstGeom prst="wedgeRoundRectCallout">
            <a:avLst>
              <a:gd name="adj1" fmla="val -152820"/>
              <a:gd name="adj2" fmla="val 21720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C00000"/>
                </a:solidFill>
              </a:rPr>
              <a:t>상호작용</a:t>
            </a:r>
            <a:endParaRPr lang="en-US" altLang="ko-KR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428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클래스</a:t>
            </a:r>
            <a:r>
              <a:rPr lang="en-US" altLang="ko-KR" dirty="0"/>
              <a:t>(class)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2" y="980728"/>
            <a:ext cx="7704856" cy="28083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002060"/>
                </a:solidFill>
              </a:rPr>
              <a:t>클래스란</a:t>
            </a:r>
            <a:r>
              <a:rPr lang="en-US" altLang="ko-KR" sz="2000" b="1" dirty="0">
                <a:solidFill>
                  <a:srgbClr val="002060"/>
                </a:solidFill>
              </a:rPr>
              <a:t>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r>
              <a:rPr lang="ko-KR" altLang="en-US" sz="1800" b="1" dirty="0"/>
              <a:t>객체에 대한 속성과 기능을 코드로 구현 </a:t>
            </a:r>
            <a:r>
              <a:rPr lang="ko-KR" altLang="en-US" sz="1800" dirty="0"/>
              <a:t>한 것</a:t>
            </a:r>
            <a:endParaRPr lang="en-US" altLang="ko-KR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b="1" dirty="0"/>
              <a:t>   </a:t>
            </a:r>
            <a:r>
              <a:rPr lang="en-US" altLang="ko-KR" sz="1800" dirty="0"/>
              <a:t>“</a:t>
            </a:r>
            <a:r>
              <a:rPr lang="ko-KR" altLang="en-US" sz="1800" dirty="0"/>
              <a:t>클래스를 정의 한다</a:t>
            </a:r>
            <a:r>
              <a:rPr lang="en-US" altLang="ko-KR" sz="1800" dirty="0"/>
              <a:t>“</a:t>
            </a:r>
            <a:r>
              <a:rPr lang="ko-KR" altLang="en-US" sz="1800" dirty="0"/>
              <a:t>라고 하고</a:t>
            </a:r>
            <a:r>
              <a:rPr lang="en-US" altLang="ko-KR" sz="1800" dirty="0"/>
              <a:t>, </a:t>
            </a:r>
            <a:r>
              <a:rPr lang="ko-KR" altLang="en-US" sz="1800" dirty="0"/>
              <a:t>객체에 대한 설계도 또는 청사진</a:t>
            </a:r>
            <a:r>
              <a:rPr lang="en-US" altLang="ko-KR" sz="1800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002060"/>
                </a:solidFill>
              </a:rPr>
              <a:t>객체의 속성과 기능</a:t>
            </a:r>
            <a:endParaRPr lang="en-US" altLang="ko-KR" sz="2000" b="1" dirty="0">
              <a:solidFill>
                <a:srgbClr val="002060"/>
              </a:solidFill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/>
              <a:t>객체의 특성</a:t>
            </a:r>
            <a:r>
              <a:rPr lang="en-US" altLang="ko-KR" sz="1800" dirty="0"/>
              <a:t>(property), </a:t>
            </a:r>
            <a:r>
              <a:rPr lang="ko-KR" altLang="en-US" sz="1800" dirty="0"/>
              <a:t>속성</a:t>
            </a:r>
            <a:r>
              <a:rPr lang="en-US" altLang="ko-KR" sz="1800" dirty="0"/>
              <a:t>(attribute) -&gt; </a:t>
            </a:r>
            <a:r>
              <a:rPr lang="ko-KR" altLang="en-US" sz="1800" b="1" dirty="0"/>
              <a:t>멤버 변수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/>
              <a:t>객체가 하는 기능 </a:t>
            </a:r>
            <a:r>
              <a:rPr lang="en-US" altLang="ko-KR" sz="1800" dirty="0"/>
              <a:t>-&gt; </a:t>
            </a:r>
            <a:r>
              <a:rPr lang="ko-KR" altLang="en-US" sz="1800" b="1" dirty="0" err="1"/>
              <a:t>메서드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멤버 함수</a:t>
            </a:r>
            <a:r>
              <a:rPr lang="en-US" altLang="ko-KR" sz="1800" b="1" dirty="0"/>
              <a:t>)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1640632" y="3861048"/>
            <a:ext cx="5976665" cy="1368152"/>
          </a:xfrm>
          <a:prstGeom prst="round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latin typeface="+mn-ea"/>
              </a:rPr>
              <a:t>학생 클래스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+mn-ea"/>
              </a:rPr>
              <a:t>속성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멤버변수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이름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나이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학년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사는 곳 등</a:t>
            </a:r>
            <a:r>
              <a:rPr lang="en-US" altLang="ko-KR" dirty="0">
                <a:latin typeface="+mn-ea"/>
              </a:rPr>
              <a:t>..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+mn-ea"/>
              </a:rPr>
              <a:t>기능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메서드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수강신청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수업듣기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시험 보기 등</a:t>
            </a:r>
            <a:r>
              <a:rPr lang="en-US" altLang="ko-KR" dirty="0">
                <a:latin typeface="+mn-ea"/>
              </a:rPr>
              <a:t>..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59505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클래스</a:t>
            </a:r>
            <a:r>
              <a:rPr lang="en-US" altLang="ko-KR" dirty="0"/>
              <a:t>(class)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2" y="980728"/>
            <a:ext cx="7920880" cy="22322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002060"/>
                </a:solidFill>
              </a:rPr>
              <a:t>클래스 정의하기</a:t>
            </a:r>
            <a:endParaRPr lang="en-US" altLang="ko-KR" sz="2000" b="1" dirty="0">
              <a:solidFill>
                <a:srgbClr val="002060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하나의 </a:t>
            </a:r>
            <a:r>
              <a:rPr lang="en-US" altLang="ko-KR" sz="1600" dirty="0"/>
              <a:t>java</a:t>
            </a:r>
            <a:r>
              <a:rPr lang="ko-KR" altLang="en-US" sz="1600" dirty="0"/>
              <a:t>파일에 하나의 클래스를 두는 것이 원칙이나</a:t>
            </a:r>
            <a:r>
              <a:rPr lang="en-US" altLang="ko-KR" sz="1600" dirty="0"/>
              <a:t>, </a:t>
            </a:r>
            <a:r>
              <a:rPr lang="ko-KR" altLang="en-US" sz="1600" dirty="0"/>
              <a:t>여러 개의 클래스가 같이 있는 경우 </a:t>
            </a:r>
            <a:r>
              <a:rPr lang="en-US" altLang="ko-KR" sz="1600" b="1" dirty="0"/>
              <a:t>public</a:t>
            </a:r>
            <a:r>
              <a:rPr lang="en-US" altLang="ko-KR" sz="1600" dirty="0"/>
              <a:t> </a:t>
            </a:r>
            <a:r>
              <a:rPr lang="ko-KR" altLang="en-US" sz="1600" dirty="0"/>
              <a:t>클래스는 단 하나이다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public </a:t>
            </a:r>
            <a:r>
              <a:rPr lang="ko-KR" altLang="en-US" sz="1600" dirty="0"/>
              <a:t>클래스와</a:t>
            </a:r>
            <a:r>
              <a:rPr lang="en-US" altLang="ko-KR" sz="1600" dirty="0"/>
              <a:t> java</a:t>
            </a:r>
            <a:r>
              <a:rPr lang="ko-KR" altLang="en-US" sz="1600" dirty="0"/>
              <a:t>파일의 이름은 </a:t>
            </a:r>
            <a:r>
              <a:rPr lang="ko-KR" altLang="en-US" sz="1600" dirty="0">
                <a:solidFill>
                  <a:srgbClr val="C00000"/>
                </a:solidFill>
              </a:rPr>
              <a:t>동일</a:t>
            </a:r>
            <a:r>
              <a:rPr lang="ko-KR" altLang="en-US" sz="1600" dirty="0"/>
              <a:t>해야 하고</a:t>
            </a:r>
            <a:r>
              <a:rPr lang="en-US" altLang="ko-KR" sz="1600" dirty="0"/>
              <a:t>, </a:t>
            </a:r>
            <a:r>
              <a:rPr lang="ko-KR" altLang="en-US" sz="1600" dirty="0"/>
              <a:t>클래스 이름은 대문자로 시작한다</a:t>
            </a:r>
            <a:r>
              <a:rPr lang="en-US" altLang="ko-KR" sz="1600" dirty="0"/>
              <a:t>.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1712639" y="3315385"/>
            <a:ext cx="4464496" cy="1881721"/>
          </a:xfrm>
          <a:prstGeom prst="round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ko-KR" b="1" dirty="0">
                <a:solidFill>
                  <a:srgbClr val="002060"/>
                </a:solidFill>
              </a:rPr>
              <a:t>(</a:t>
            </a:r>
            <a:r>
              <a:rPr lang="ko-KR" altLang="en-US" b="1" dirty="0">
                <a:solidFill>
                  <a:srgbClr val="002060"/>
                </a:solidFill>
              </a:rPr>
              <a:t>접근제어자</a:t>
            </a:r>
            <a:r>
              <a:rPr lang="en-US" altLang="ko-KR" b="1" dirty="0">
                <a:solidFill>
                  <a:srgbClr val="002060"/>
                </a:solidFill>
              </a:rPr>
              <a:t>) </a:t>
            </a:r>
            <a:r>
              <a:rPr lang="en-US" altLang="ko-KR" b="1" dirty="0">
                <a:solidFill>
                  <a:srgbClr val="C00000"/>
                </a:solidFill>
              </a:rPr>
              <a:t>class</a:t>
            </a:r>
            <a:r>
              <a:rPr lang="en-US" altLang="ko-KR" b="1" dirty="0"/>
              <a:t> </a:t>
            </a:r>
            <a:r>
              <a:rPr lang="ko-KR" altLang="en-US" b="1" dirty="0"/>
              <a:t>클래스 이름</a:t>
            </a:r>
            <a:r>
              <a:rPr lang="en-US" altLang="ko-KR" b="1" dirty="0"/>
              <a:t>{</a:t>
            </a:r>
          </a:p>
          <a:p>
            <a:pPr lvl="1">
              <a:lnSpc>
                <a:spcPct val="150000"/>
              </a:lnSpc>
            </a:pPr>
            <a:r>
              <a:rPr lang="en-US" altLang="ko-KR" b="1" dirty="0">
                <a:solidFill>
                  <a:srgbClr val="C00000"/>
                </a:solidFill>
              </a:rPr>
              <a:t>        </a:t>
            </a:r>
            <a:r>
              <a:rPr lang="ko-KR" altLang="en-US" b="1" dirty="0">
                <a:solidFill>
                  <a:srgbClr val="002060"/>
                </a:solidFill>
              </a:rPr>
              <a:t>멤버 변수</a:t>
            </a:r>
            <a:r>
              <a:rPr lang="en-US" altLang="ko-KR" b="1" dirty="0">
                <a:solidFill>
                  <a:srgbClr val="002060"/>
                </a:solidFill>
              </a:rPr>
              <a:t>;</a:t>
            </a:r>
          </a:p>
          <a:p>
            <a:pPr lvl="1">
              <a:lnSpc>
                <a:spcPct val="150000"/>
              </a:lnSpc>
            </a:pPr>
            <a:r>
              <a:rPr lang="en-US" altLang="ko-KR" b="1" dirty="0">
                <a:solidFill>
                  <a:srgbClr val="002060"/>
                </a:solidFill>
              </a:rPr>
              <a:t>        </a:t>
            </a:r>
            <a:r>
              <a:rPr lang="ko-KR" altLang="en-US" b="1" dirty="0" err="1">
                <a:solidFill>
                  <a:srgbClr val="002060"/>
                </a:solidFill>
              </a:rPr>
              <a:t>메서드</a:t>
            </a:r>
            <a:r>
              <a:rPr lang="en-US" altLang="ko-KR" b="1" dirty="0">
                <a:solidFill>
                  <a:srgbClr val="002060"/>
                </a:solidFill>
              </a:rPr>
              <a:t>;</a:t>
            </a:r>
          </a:p>
          <a:p>
            <a:pPr lvl="1">
              <a:lnSpc>
                <a:spcPct val="150000"/>
              </a:lnSpc>
            </a:pPr>
            <a:r>
              <a:rPr lang="en-US" altLang="ko-KR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08405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클래스의 정의와 사용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2" y="980728"/>
            <a:ext cx="3816424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002060"/>
                </a:solidFill>
              </a:rPr>
              <a:t>학생 클래스 정의</a:t>
            </a:r>
            <a:endParaRPr lang="en-US" altLang="ko-KR" sz="2000" b="1" dirty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884" y="1682512"/>
            <a:ext cx="5907372" cy="33306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16228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클래스의 정의와 사용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3472" y="980728"/>
            <a:ext cx="7751936" cy="19442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002060"/>
                </a:solidFill>
              </a:rPr>
              <a:t>학생 클래스의 사용</a:t>
            </a:r>
            <a:endParaRPr lang="en-US" altLang="ko-KR" sz="2000" b="1" dirty="0">
              <a:solidFill>
                <a:srgbClr val="002060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solidFill>
                  <a:srgbClr val="C00000"/>
                </a:solidFill>
              </a:rPr>
              <a:t>메인 </a:t>
            </a:r>
            <a:r>
              <a:rPr lang="ko-KR" altLang="en-US" sz="1600" dirty="0" err="1">
                <a:solidFill>
                  <a:srgbClr val="C00000"/>
                </a:solidFill>
              </a:rPr>
              <a:t>메소드</a:t>
            </a:r>
            <a:r>
              <a:rPr lang="en-US" altLang="ko-KR" sz="1600" dirty="0">
                <a:solidFill>
                  <a:srgbClr val="C00000"/>
                </a:solidFill>
              </a:rPr>
              <a:t>(</a:t>
            </a:r>
            <a:r>
              <a:rPr lang="ko-KR" altLang="en-US" sz="1600" dirty="0">
                <a:solidFill>
                  <a:srgbClr val="C00000"/>
                </a:solidFill>
              </a:rPr>
              <a:t>함수</a:t>
            </a:r>
            <a:r>
              <a:rPr lang="en-US" altLang="ko-KR" sz="1600" dirty="0">
                <a:solidFill>
                  <a:srgbClr val="C00000"/>
                </a:solidFill>
              </a:rPr>
              <a:t>)</a:t>
            </a:r>
            <a:r>
              <a:rPr lang="ko-KR" altLang="en-US" sz="1600" dirty="0"/>
              <a:t>가 있는 클래스에서 실행 사용할 수 있음</a:t>
            </a:r>
            <a:endParaRPr lang="en-US" altLang="ko-KR" sz="1600" dirty="0"/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클래스에서 </a:t>
            </a:r>
            <a:r>
              <a:rPr lang="en-US" altLang="ko-KR" sz="1600" b="1" dirty="0">
                <a:solidFill>
                  <a:srgbClr val="C00000"/>
                </a:solidFill>
              </a:rPr>
              <a:t>new</a:t>
            </a:r>
            <a:r>
              <a:rPr lang="en-US" altLang="ko-KR" sz="1600" dirty="0"/>
              <a:t> </a:t>
            </a:r>
            <a:r>
              <a:rPr lang="ko-KR" altLang="en-US" sz="1600" dirty="0"/>
              <a:t>연산자를 사용하여 객체를 생성해야 함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객체변수</a:t>
            </a:r>
            <a:r>
              <a:rPr lang="en-US" altLang="ko-KR" sz="1600" dirty="0"/>
              <a:t>.</a:t>
            </a:r>
            <a:r>
              <a:rPr lang="ko-KR" altLang="en-US" sz="1600" dirty="0"/>
              <a:t>멤버변수</a:t>
            </a:r>
            <a:r>
              <a:rPr lang="en-US" altLang="ko-KR" sz="1600" dirty="0"/>
              <a:t>-&gt;</a:t>
            </a:r>
            <a:r>
              <a:rPr lang="ko-KR" altLang="en-US" sz="1600" dirty="0"/>
              <a:t>점</a:t>
            </a:r>
            <a:r>
              <a:rPr lang="en-US" altLang="ko-KR" sz="1600" dirty="0"/>
              <a:t>(.) </a:t>
            </a:r>
            <a:r>
              <a:rPr lang="ko-KR" altLang="en-US" sz="1600" dirty="0"/>
              <a:t>연산자를 사용하여 접근함</a:t>
            </a:r>
            <a:endParaRPr lang="en-US" altLang="ko-KR" sz="1600" dirty="0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1737568" y="3284984"/>
            <a:ext cx="3600399" cy="504056"/>
          </a:xfrm>
          <a:prstGeom prst="round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Student </a:t>
            </a:r>
            <a:r>
              <a:rPr lang="en-US" altLang="ko-KR" sz="1600" dirty="0" err="1"/>
              <a:t>student</a:t>
            </a:r>
            <a:r>
              <a:rPr lang="en-US" altLang="ko-KR" sz="1600" dirty="0"/>
              <a:t> = </a:t>
            </a:r>
            <a:r>
              <a:rPr lang="en-US" altLang="ko-KR" sz="1600" b="1" dirty="0">
                <a:solidFill>
                  <a:srgbClr val="C00000"/>
                </a:solidFill>
              </a:rPr>
              <a:t>new</a:t>
            </a:r>
            <a:r>
              <a:rPr lang="en-US" altLang="ko-KR" sz="1600" b="1" dirty="0"/>
              <a:t> Student();</a:t>
            </a:r>
            <a:endParaRPr lang="ko-KR" altLang="en-US" sz="1600" dirty="0">
              <a:latin typeface="+mn-ea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1737568" y="4077072"/>
            <a:ext cx="864096" cy="288032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>
                <a:solidFill>
                  <a:sysClr val="windowText" lastClr="000000"/>
                </a:solidFill>
              </a:rPr>
              <a:t>클래스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21" name="직선 연결선 20"/>
          <p:cNvCxnSpPr/>
          <p:nvPr/>
        </p:nvCxnSpPr>
        <p:spPr>
          <a:xfrm flipV="1">
            <a:off x="2179269" y="3645024"/>
            <a:ext cx="0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모서리가 둥근 직사각형 22"/>
          <p:cNvSpPr/>
          <p:nvPr/>
        </p:nvSpPr>
        <p:spPr>
          <a:xfrm>
            <a:off x="2673672" y="4077072"/>
            <a:ext cx="1080120" cy="288032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>
                <a:solidFill>
                  <a:sysClr val="windowText" lastClr="000000"/>
                </a:solidFill>
              </a:rPr>
              <a:t>인스턴스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24" name="직선 연결선 23"/>
          <p:cNvCxnSpPr/>
          <p:nvPr/>
        </p:nvCxnSpPr>
        <p:spPr>
          <a:xfrm flipV="1">
            <a:off x="3105720" y="3645024"/>
            <a:ext cx="0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182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클래스의 정의와 사용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2" y="980728"/>
            <a:ext cx="3816424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002060"/>
                </a:solidFill>
              </a:rPr>
              <a:t>학생 클래스 테스트</a:t>
            </a:r>
            <a:endParaRPr lang="en-US" altLang="ko-KR" sz="2000" b="1" dirty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556792"/>
            <a:ext cx="6232693" cy="46805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11385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클래스와 </a:t>
            </a:r>
            <a:r>
              <a:rPr lang="ko-KR" altLang="en-US" dirty="0" err="1"/>
              <a:t>인스턴스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3472" y="980728"/>
            <a:ext cx="8616032" cy="16491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002060"/>
                </a:solidFill>
              </a:rPr>
              <a:t>객체</a:t>
            </a:r>
            <a:r>
              <a:rPr lang="en-US" altLang="ko-KR" sz="2000" b="1" dirty="0">
                <a:solidFill>
                  <a:srgbClr val="002060"/>
                </a:solidFill>
              </a:rPr>
              <a:t>, </a:t>
            </a:r>
            <a:r>
              <a:rPr lang="ko-KR" altLang="en-US" sz="2000" b="1" dirty="0">
                <a:solidFill>
                  <a:srgbClr val="002060"/>
                </a:solidFill>
              </a:rPr>
              <a:t>클래스</a:t>
            </a:r>
            <a:r>
              <a:rPr lang="en-US" altLang="ko-KR" sz="2000" b="1" dirty="0">
                <a:solidFill>
                  <a:srgbClr val="002060"/>
                </a:solidFill>
              </a:rPr>
              <a:t>, </a:t>
            </a:r>
            <a:r>
              <a:rPr lang="ko-KR" altLang="en-US" sz="2000" b="1" dirty="0" err="1">
                <a:solidFill>
                  <a:srgbClr val="002060"/>
                </a:solidFill>
              </a:rPr>
              <a:t>인스턴스</a:t>
            </a:r>
            <a:endParaRPr lang="en-US" altLang="ko-KR" sz="2000" b="1" dirty="0">
              <a:solidFill>
                <a:srgbClr val="002060"/>
              </a:solidFill>
            </a:endParaRPr>
          </a:p>
          <a:p>
            <a:pPr lvl="1">
              <a:lnSpc>
                <a:spcPct val="100000"/>
              </a:lnSpc>
            </a:pPr>
            <a:r>
              <a:rPr lang="ko-KR" altLang="en-US" sz="1600" dirty="0"/>
              <a:t>객체 </a:t>
            </a:r>
            <a:r>
              <a:rPr lang="en-US" altLang="ko-KR" sz="1600" dirty="0"/>
              <a:t>: ‘</a:t>
            </a:r>
            <a:r>
              <a:rPr lang="ko-KR" altLang="en-US" sz="1600" dirty="0"/>
              <a:t>의사나 행위가 미치는 대상</a:t>
            </a:r>
            <a:r>
              <a:rPr lang="en-US" altLang="ko-KR" sz="1600" dirty="0"/>
              <a:t>‘ </a:t>
            </a:r>
          </a:p>
          <a:p>
            <a:pPr lvl="1">
              <a:lnSpc>
                <a:spcPct val="100000"/>
              </a:lnSpc>
            </a:pPr>
            <a:r>
              <a:rPr lang="ko-KR" altLang="en-US" sz="1600" dirty="0"/>
              <a:t>클래스 </a:t>
            </a:r>
            <a:r>
              <a:rPr lang="en-US" altLang="ko-KR" sz="1600" dirty="0"/>
              <a:t>: </a:t>
            </a:r>
            <a:r>
              <a:rPr lang="ko-KR" altLang="en-US" sz="1600" dirty="0"/>
              <a:t>객체를 코드로 구현한 것</a:t>
            </a:r>
            <a:endParaRPr lang="en-US" altLang="ko-KR" sz="1600" dirty="0"/>
          </a:p>
          <a:p>
            <a:pPr lvl="1">
              <a:lnSpc>
                <a:spcPct val="100000"/>
              </a:lnSpc>
            </a:pPr>
            <a:r>
              <a:rPr lang="ko-KR" altLang="en-US" sz="1600" dirty="0" err="1"/>
              <a:t>인스턴스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클래스가 메모리 공간에 생성된 상태</a:t>
            </a:r>
            <a:r>
              <a:rPr lang="en-US" altLang="ko-KR" sz="1600" dirty="0"/>
              <a:t>.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8"/>
          <a:stretch/>
        </p:blipFill>
        <p:spPr>
          <a:xfrm>
            <a:off x="1190838" y="3252835"/>
            <a:ext cx="1106361" cy="13690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4568" y="4798248"/>
            <a:ext cx="1250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학생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객체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3258601" y="3046711"/>
            <a:ext cx="2026540" cy="1781322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dirty="0" err="1">
                <a:latin typeface="+mn-ea"/>
              </a:rPr>
              <a:t>studentID</a:t>
            </a:r>
            <a:endParaRPr lang="en-US" altLang="ko-KR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dirty="0" err="1">
                <a:latin typeface="+mn-ea"/>
              </a:rPr>
              <a:t>studentName</a:t>
            </a:r>
            <a:endParaRPr lang="en-US" altLang="ko-KR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+mn-ea"/>
              </a:rPr>
              <a:t>grade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9192" y="5010940"/>
            <a:ext cx="1805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Student </a:t>
            </a:r>
            <a:r>
              <a:rPr lang="ko-KR" altLang="en-US" dirty="0"/>
              <a:t>클래스</a:t>
            </a:r>
          </a:p>
        </p:txBody>
      </p:sp>
      <p:cxnSp>
        <p:nvCxnSpPr>
          <p:cNvPr id="16" name="직선 화살표 연결선 15"/>
          <p:cNvCxnSpPr/>
          <p:nvPr/>
        </p:nvCxnSpPr>
        <p:spPr>
          <a:xfrm flipV="1">
            <a:off x="5562857" y="3859653"/>
            <a:ext cx="1378468" cy="845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/>
        </p:nvSpPr>
        <p:spPr>
          <a:xfrm>
            <a:off x="5954399" y="3937372"/>
            <a:ext cx="575046" cy="29077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생성</a:t>
            </a:r>
          </a:p>
        </p:txBody>
      </p:sp>
      <p:cxnSp>
        <p:nvCxnSpPr>
          <p:cNvPr id="22" name="직선 화살표 연결선 21"/>
          <p:cNvCxnSpPr/>
          <p:nvPr/>
        </p:nvCxnSpPr>
        <p:spPr>
          <a:xfrm flipV="1">
            <a:off x="5562857" y="3119971"/>
            <a:ext cx="1234452" cy="44891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모서리가 둥근 직사각형 22"/>
          <p:cNvSpPr/>
          <p:nvPr/>
        </p:nvSpPr>
        <p:spPr>
          <a:xfrm>
            <a:off x="5892560" y="2975954"/>
            <a:ext cx="575046" cy="29077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생성</a:t>
            </a:r>
          </a:p>
        </p:txBody>
      </p:sp>
      <p:cxnSp>
        <p:nvCxnSpPr>
          <p:cNvPr id="24" name="직선 화살표 연결선 23"/>
          <p:cNvCxnSpPr/>
          <p:nvPr/>
        </p:nvCxnSpPr>
        <p:spPr>
          <a:xfrm>
            <a:off x="5645181" y="4228144"/>
            <a:ext cx="1368152" cy="5511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모서리가 둥근 직사각형 24"/>
          <p:cNvSpPr/>
          <p:nvPr/>
        </p:nvSpPr>
        <p:spPr>
          <a:xfrm>
            <a:off x="5933213" y="4632567"/>
            <a:ext cx="575046" cy="29077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생성</a:t>
            </a:r>
          </a:p>
        </p:txBody>
      </p:sp>
      <p:cxnSp>
        <p:nvCxnSpPr>
          <p:cNvPr id="30" name="직선 화살표 연결선 29"/>
          <p:cNvCxnSpPr/>
          <p:nvPr/>
        </p:nvCxnSpPr>
        <p:spPr>
          <a:xfrm flipV="1">
            <a:off x="2434943" y="3829359"/>
            <a:ext cx="751650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모서리가 둥근 직사각형 30"/>
          <p:cNvSpPr/>
          <p:nvPr/>
        </p:nvSpPr>
        <p:spPr>
          <a:xfrm>
            <a:off x="2525906" y="3937372"/>
            <a:ext cx="575046" cy="29077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정의</a:t>
            </a:r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848" y="2564904"/>
            <a:ext cx="966117" cy="96611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740055" y="2759651"/>
            <a:ext cx="11202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st1 </a:t>
            </a:r>
          </a:p>
          <a:p>
            <a:r>
              <a:rPr lang="ko-KR" altLang="en-US" sz="1600" dirty="0" err="1"/>
              <a:t>인스턴스</a:t>
            </a:r>
            <a:endParaRPr lang="ko-KR" altLang="en-US" sz="1600" dirty="0"/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528" y="3626508"/>
            <a:ext cx="535508" cy="81972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729544" y="3790370"/>
            <a:ext cx="11202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st2 </a:t>
            </a:r>
          </a:p>
          <a:p>
            <a:r>
              <a:rPr lang="ko-KR" altLang="en-US" sz="1600" dirty="0" err="1"/>
              <a:t>인스턴스</a:t>
            </a:r>
            <a:endParaRPr lang="ko-KR" altLang="en-US" sz="1600" dirty="0"/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717" y="4632567"/>
            <a:ext cx="645624" cy="87320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729544" y="4806338"/>
            <a:ext cx="11202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st3 </a:t>
            </a:r>
          </a:p>
          <a:p>
            <a:r>
              <a:rPr lang="ko-KR" altLang="en-US" sz="1600" dirty="0" err="1"/>
              <a:t>인스턴스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18757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 err="1"/>
              <a:t>인스턴스와</a:t>
            </a:r>
            <a:r>
              <a:rPr lang="ko-KR" altLang="en-US" dirty="0"/>
              <a:t> 참조변수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980728"/>
            <a:ext cx="8616032" cy="18025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>
                <a:solidFill>
                  <a:srgbClr val="002060"/>
                </a:solidFill>
              </a:rPr>
              <a:t>인스턴스와</a:t>
            </a:r>
            <a:r>
              <a:rPr lang="ko-KR" altLang="en-US" sz="2000" b="1" dirty="0">
                <a:solidFill>
                  <a:srgbClr val="002060"/>
                </a:solidFill>
              </a:rPr>
              <a:t> </a:t>
            </a:r>
            <a:r>
              <a:rPr lang="ko-KR" altLang="en-US" sz="2000" b="1" dirty="0" err="1">
                <a:solidFill>
                  <a:srgbClr val="002060"/>
                </a:solidFill>
              </a:rPr>
              <a:t>힙</a:t>
            </a:r>
            <a:r>
              <a:rPr lang="ko-KR" altLang="en-US" sz="2000" b="1" dirty="0">
                <a:solidFill>
                  <a:srgbClr val="002060"/>
                </a:solidFill>
              </a:rPr>
              <a:t> 메모리</a:t>
            </a:r>
            <a:endParaRPr lang="en-US" altLang="ko-KR" sz="2000" b="1" dirty="0">
              <a:solidFill>
                <a:srgbClr val="002060"/>
              </a:solidFill>
            </a:endParaRPr>
          </a:p>
          <a:p>
            <a:pPr lvl="1">
              <a:lnSpc>
                <a:spcPct val="100000"/>
              </a:lnSpc>
            </a:pPr>
            <a:r>
              <a:rPr lang="ko-KR" altLang="en-US" sz="1600" dirty="0"/>
              <a:t>하나의 클래스 코드로부터 여러 개의 </a:t>
            </a:r>
            <a:r>
              <a:rPr lang="ko-KR" altLang="en-US" sz="1600" dirty="0" err="1"/>
              <a:t>인스턴스를</a:t>
            </a:r>
            <a:r>
              <a:rPr lang="ko-KR" altLang="en-US" sz="1600" dirty="0"/>
              <a:t> 생성</a:t>
            </a:r>
            <a:r>
              <a:rPr lang="en-US" altLang="ko-KR" sz="1600" dirty="0"/>
              <a:t> </a:t>
            </a:r>
          </a:p>
          <a:p>
            <a:pPr lvl="1">
              <a:lnSpc>
                <a:spcPct val="100000"/>
              </a:lnSpc>
            </a:pPr>
            <a:r>
              <a:rPr lang="ko-KR" altLang="en-US" sz="1600" dirty="0" err="1"/>
              <a:t>인스턴스는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힙</a:t>
            </a:r>
            <a:r>
              <a:rPr lang="en-US" altLang="ko-KR" sz="1600" dirty="0"/>
              <a:t>(Heap) </a:t>
            </a:r>
            <a:r>
              <a:rPr lang="ko-KR" altLang="en-US" sz="1600" dirty="0"/>
              <a:t>메모리에 생성됨</a:t>
            </a:r>
            <a:endParaRPr lang="en-US" altLang="ko-KR" sz="1600" dirty="0"/>
          </a:p>
          <a:p>
            <a:pPr lvl="1">
              <a:lnSpc>
                <a:spcPct val="100000"/>
              </a:lnSpc>
            </a:pPr>
            <a:r>
              <a:rPr lang="ko-KR" altLang="en-US" sz="1600" dirty="0"/>
              <a:t>각각의 </a:t>
            </a:r>
            <a:r>
              <a:rPr lang="ko-KR" altLang="en-US" sz="1600" dirty="0" err="1"/>
              <a:t>인스턴스는</a:t>
            </a:r>
            <a:r>
              <a:rPr lang="ko-KR" altLang="en-US" sz="1600" dirty="0"/>
              <a:t> 다른 메모리에 다른 </a:t>
            </a:r>
            <a:r>
              <a:rPr lang="ko-KR" altLang="en-US" sz="1600" dirty="0" err="1"/>
              <a:t>참조값을</a:t>
            </a:r>
            <a:r>
              <a:rPr lang="ko-KR" altLang="en-US" sz="1600" dirty="0"/>
              <a:t> 가짐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주소값으로</a:t>
            </a:r>
            <a:r>
              <a:rPr lang="ko-KR" altLang="en-US" sz="1600" dirty="0"/>
              <a:t> 해시 코드</a:t>
            </a:r>
            <a:r>
              <a:rPr lang="en-US" altLang="ko-KR" sz="1600" dirty="0"/>
              <a:t>[hash code]</a:t>
            </a:r>
            <a:r>
              <a:rPr lang="ko-KR" altLang="en-US" sz="1600" dirty="0"/>
              <a:t>값이라고도 한다</a:t>
            </a:r>
            <a:r>
              <a:rPr lang="en-US" altLang="ko-KR" sz="1600" dirty="0"/>
              <a:t>.)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dirty="0"/>
          </a:p>
        </p:txBody>
      </p:sp>
      <p:sp>
        <p:nvSpPr>
          <p:cNvPr id="14" name="직사각형 13"/>
          <p:cNvSpPr/>
          <p:nvPr/>
        </p:nvSpPr>
        <p:spPr>
          <a:xfrm>
            <a:off x="1871661" y="3332604"/>
            <a:ext cx="2330816" cy="2330967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ko-KR" altLang="en-US" dirty="0"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71661" y="2853220"/>
            <a:ext cx="2219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Stack</a:t>
            </a:r>
            <a:r>
              <a:rPr lang="en-US" altLang="ko-KR" dirty="0"/>
              <a:t>(</a:t>
            </a:r>
            <a:r>
              <a:rPr lang="ko-KR" altLang="en-US" dirty="0"/>
              <a:t>메모리 공간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모서리가 둥근 직사각형 1"/>
          <p:cNvSpPr/>
          <p:nvPr/>
        </p:nvSpPr>
        <p:spPr>
          <a:xfrm>
            <a:off x="2186996" y="3825815"/>
            <a:ext cx="1469860" cy="456249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0xFE00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2180460" y="4632928"/>
            <a:ext cx="1469860" cy="456249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0xBB0A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896041" y="3332604"/>
            <a:ext cx="2774814" cy="2330968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ko-KR" altLang="en-US" sz="1400" dirty="0"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949600" y="2864721"/>
            <a:ext cx="2667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Heap</a:t>
            </a:r>
            <a:r>
              <a:rPr lang="en-US" altLang="ko-KR" dirty="0"/>
              <a:t>(</a:t>
            </a:r>
            <a:r>
              <a:rPr lang="ko-KR" altLang="en-US" dirty="0"/>
              <a:t>동적 메모리 공간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5073407" y="3726903"/>
            <a:ext cx="1102775" cy="72702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name</a:t>
            </a: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id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5097016" y="4643475"/>
            <a:ext cx="1102775" cy="81373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name</a:t>
            </a: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id</a:t>
            </a:r>
          </a:p>
        </p:txBody>
      </p:sp>
      <p:cxnSp>
        <p:nvCxnSpPr>
          <p:cNvPr id="39" name="직선 화살표 연결선 38"/>
          <p:cNvCxnSpPr>
            <a:endCxn id="3" idx="1"/>
          </p:cNvCxnSpPr>
          <p:nvPr/>
        </p:nvCxnSpPr>
        <p:spPr>
          <a:xfrm flipV="1">
            <a:off x="1380734" y="3671367"/>
            <a:ext cx="750056" cy="610698"/>
          </a:xfrm>
          <a:prstGeom prst="straightConnector1">
            <a:avLst/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76419" y="4128816"/>
            <a:ext cx="11049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지역변수</a:t>
            </a:r>
            <a:endParaRPr lang="en-US" altLang="ko-KR" sz="1600" dirty="0"/>
          </a:p>
          <a:p>
            <a:r>
              <a:rPr lang="en-US" altLang="ko-KR" sz="1600" dirty="0"/>
              <a:t>(</a:t>
            </a:r>
            <a:r>
              <a:rPr lang="ko-KR" altLang="en-US" sz="1600" dirty="0" err="1"/>
              <a:t>인스턴스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cxnSp>
        <p:nvCxnSpPr>
          <p:cNvPr id="42" name="직선 화살표 연결선 41"/>
          <p:cNvCxnSpPr>
            <a:endCxn id="23" idx="1"/>
          </p:cNvCxnSpPr>
          <p:nvPr/>
        </p:nvCxnSpPr>
        <p:spPr>
          <a:xfrm>
            <a:off x="1396376" y="4434394"/>
            <a:ext cx="734414" cy="21302"/>
          </a:xfrm>
          <a:prstGeom prst="straightConnector1">
            <a:avLst/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>
            <a:off x="6897216" y="4204420"/>
            <a:ext cx="2592289" cy="779271"/>
            <a:chOff x="6897216" y="4346112"/>
            <a:chExt cx="2592289" cy="779271"/>
          </a:xfrm>
        </p:grpSpPr>
        <p:sp>
          <p:nvSpPr>
            <p:cNvPr id="45" name="TextBox 44"/>
            <p:cNvSpPr txBox="1"/>
            <p:nvPr/>
          </p:nvSpPr>
          <p:spPr>
            <a:xfrm>
              <a:off x="7463881" y="4386719"/>
              <a:ext cx="2025624" cy="738664"/>
            </a:xfrm>
            <a:prstGeom prst="rect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ko-KR" altLang="en-US" sz="1400" b="1" dirty="0" err="1"/>
                <a:t>가비지</a:t>
              </a:r>
              <a:r>
                <a:rPr lang="ko-KR" altLang="en-US" sz="1400" b="1" dirty="0"/>
                <a:t> </a:t>
              </a:r>
              <a:r>
                <a:rPr lang="ko-KR" altLang="en-US" sz="1400" b="1" dirty="0" err="1"/>
                <a:t>컬렉터</a:t>
              </a:r>
              <a:r>
                <a:rPr lang="en-US" altLang="ko-KR" sz="1400" dirty="0"/>
                <a:t>(Garbage Collector)</a:t>
              </a:r>
              <a:r>
                <a:rPr lang="ko-KR" altLang="en-US" sz="1400" dirty="0"/>
                <a:t>가</a:t>
              </a:r>
              <a:endParaRPr lang="en-US" altLang="ko-KR" sz="1400" dirty="0"/>
            </a:p>
            <a:p>
              <a:r>
                <a:rPr lang="ko-KR" altLang="en-US" sz="1400" dirty="0"/>
                <a:t>쓰지 않는 메모리 삭제 </a:t>
              </a:r>
            </a:p>
          </p:txBody>
        </p:sp>
        <p:cxnSp>
          <p:nvCxnSpPr>
            <p:cNvPr id="46" name="직선 연결선 45"/>
            <p:cNvCxnSpPr/>
            <p:nvPr/>
          </p:nvCxnSpPr>
          <p:spPr>
            <a:xfrm>
              <a:off x="6897216" y="4346112"/>
              <a:ext cx="566664" cy="251276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/>
          <p:cNvSpPr txBox="1"/>
          <p:nvPr/>
        </p:nvSpPr>
        <p:spPr>
          <a:xfrm>
            <a:off x="2130790" y="3486701"/>
            <a:ext cx="1382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s1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2130790" y="4271030"/>
            <a:ext cx="1382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s2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4949600" y="3423602"/>
            <a:ext cx="83067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0xFE00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060617" y="5385025"/>
            <a:ext cx="88357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0xBB0A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11" name="구부러진 연결선 10"/>
          <p:cNvCxnSpPr/>
          <p:nvPr/>
        </p:nvCxnSpPr>
        <p:spPr>
          <a:xfrm flipV="1">
            <a:off x="3663392" y="3616851"/>
            <a:ext cx="1286208" cy="397026"/>
          </a:xfrm>
          <a:prstGeom prst="curved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구부러진 연결선 30"/>
          <p:cNvCxnSpPr/>
          <p:nvPr/>
        </p:nvCxnSpPr>
        <p:spPr>
          <a:xfrm>
            <a:off x="3650320" y="4895113"/>
            <a:ext cx="1446696" cy="677957"/>
          </a:xfrm>
          <a:prstGeom prst="curved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152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객체 </a:t>
            </a:r>
            <a:r>
              <a:rPr lang="ko-KR" altLang="en-US" dirty="0" err="1"/>
              <a:t>자료형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980728"/>
            <a:ext cx="2710177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002060"/>
                </a:solidFill>
              </a:rPr>
              <a:t>변수의 </a:t>
            </a:r>
            <a:r>
              <a:rPr lang="ko-KR" altLang="en-US" sz="2000" b="1" dirty="0" err="1">
                <a:solidFill>
                  <a:srgbClr val="002060"/>
                </a:solidFill>
              </a:rPr>
              <a:t>자료형</a:t>
            </a:r>
            <a:endParaRPr lang="en-US" altLang="ko-KR" sz="2000" b="1" dirty="0">
              <a:solidFill>
                <a:srgbClr val="00206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80592" y="1484784"/>
            <a:ext cx="78488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/>
              <a:t>기본 </a:t>
            </a:r>
            <a:r>
              <a:rPr lang="ko-KR" altLang="en-US" sz="2000" b="1" dirty="0" err="1"/>
              <a:t>자료형</a:t>
            </a:r>
            <a:r>
              <a:rPr lang="en-US" altLang="ko-KR" sz="2000" b="1" dirty="0"/>
              <a:t>(Primitive)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Java </a:t>
            </a:r>
            <a:r>
              <a:rPr lang="ko-KR" altLang="en-US" dirty="0"/>
              <a:t>언어에 이미 존재하고 있는 데이터 타입</a:t>
            </a:r>
            <a:r>
              <a:rPr lang="en-US" altLang="ko-KR" dirty="0"/>
              <a:t>, </a:t>
            </a:r>
            <a:r>
              <a:rPr lang="ko-KR" altLang="en-US" dirty="0"/>
              <a:t>주로 간단한 데이터들이다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(</a:t>
            </a:r>
            <a:r>
              <a:rPr lang="en-US" altLang="ko-KR" dirty="0" err="1"/>
              <a:t>int</a:t>
            </a:r>
            <a:r>
              <a:rPr lang="en-US" altLang="ko-KR" dirty="0"/>
              <a:t>, double, </a:t>
            </a:r>
            <a:r>
              <a:rPr lang="en-US" altLang="ko-KR" dirty="0" err="1"/>
              <a:t>boolean</a:t>
            </a:r>
            <a:r>
              <a:rPr lang="en-US" altLang="ko-KR" dirty="0"/>
              <a:t>, char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592" y="2954268"/>
            <a:ext cx="78488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/>
              <a:t>객체 </a:t>
            </a:r>
            <a:r>
              <a:rPr lang="ko-KR" altLang="en-US" sz="2000" b="1" dirty="0" err="1"/>
              <a:t>자료형</a:t>
            </a:r>
            <a:r>
              <a:rPr lang="en-US" altLang="ko-KR" sz="2000" b="1" dirty="0"/>
              <a:t>(Object)</a:t>
            </a:r>
          </a:p>
          <a:p>
            <a:pPr>
              <a:lnSpc>
                <a:spcPct val="150000"/>
              </a:lnSpc>
            </a:pPr>
            <a:r>
              <a:rPr lang="ko-KR" altLang="en-US" dirty="0" err="1"/>
              <a:t>여러가지</a:t>
            </a:r>
            <a:r>
              <a:rPr lang="ko-KR" altLang="en-US" dirty="0"/>
              <a:t> 데이터 타입으로 구성된 </a:t>
            </a:r>
            <a:r>
              <a:rPr lang="ko-KR" altLang="en-US" dirty="0" err="1"/>
              <a:t>자료형</a:t>
            </a:r>
            <a:r>
              <a:rPr lang="en-US" altLang="ko-KR" dirty="0"/>
              <a:t>(</a:t>
            </a:r>
            <a:r>
              <a:rPr lang="ko-KR" altLang="en-US" dirty="0"/>
              <a:t>클래스</a:t>
            </a:r>
            <a:r>
              <a:rPr lang="en-US" altLang="ko-KR" dirty="0"/>
              <a:t>)</a:t>
            </a:r>
            <a:r>
              <a:rPr lang="ko-KR" altLang="en-US" dirty="0"/>
              <a:t>으로 기본 </a:t>
            </a:r>
            <a:r>
              <a:rPr lang="ko-KR" altLang="en-US" dirty="0" err="1"/>
              <a:t>자료형에</a:t>
            </a:r>
            <a:r>
              <a:rPr lang="ko-KR" altLang="en-US" dirty="0"/>
              <a:t> 비해 크기가 크다</a:t>
            </a:r>
            <a:r>
              <a:rPr lang="en-US" altLang="ko-KR" dirty="0"/>
              <a:t>.(String, System, </a:t>
            </a:r>
            <a:r>
              <a:rPr lang="en-US" altLang="ko-KR" dirty="0" err="1"/>
              <a:t>ArrayList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4608" y="4538126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int</a:t>
            </a:r>
            <a:r>
              <a:rPr lang="en-US" altLang="ko-KR" dirty="0"/>
              <a:t> n = 10;</a:t>
            </a:r>
            <a:endParaRPr lang="ko-KR" altLang="en-US" dirty="0"/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110098"/>
              </p:ext>
            </p:extLst>
          </p:nvPr>
        </p:nvGraphicFramePr>
        <p:xfrm>
          <a:off x="1424608" y="5042182"/>
          <a:ext cx="2664300" cy="396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4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64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64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64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64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664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6912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직사각형 11"/>
          <p:cNvSpPr/>
          <p:nvPr/>
        </p:nvSpPr>
        <p:spPr>
          <a:xfrm>
            <a:off x="3008784" y="4970174"/>
            <a:ext cx="1080120" cy="51805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14" name="구부러진 연결선 13"/>
          <p:cNvCxnSpPr/>
          <p:nvPr/>
        </p:nvCxnSpPr>
        <p:spPr>
          <a:xfrm>
            <a:off x="2612740" y="4722792"/>
            <a:ext cx="1044116" cy="319390"/>
          </a:xfrm>
          <a:prstGeom prst="curvedConnector2">
            <a:avLst/>
          </a:prstGeom>
          <a:ln w="127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241032" y="4538126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String </a:t>
            </a:r>
            <a:r>
              <a:rPr lang="en-US" altLang="ko-KR" dirty="0" err="1"/>
              <a:t>str</a:t>
            </a:r>
            <a:r>
              <a:rPr lang="en-US" altLang="ko-KR" dirty="0"/>
              <a:t> = “hello”;</a:t>
            </a:r>
            <a:endParaRPr lang="ko-KR" altLang="en-US" dirty="0"/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449081"/>
              </p:ext>
            </p:extLst>
          </p:nvPr>
        </p:nvGraphicFramePr>
        <p:xfrm>
          <a:off x="5097016" y="5042182"/>
          <a:ext cx="2664300" cy="396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4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64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64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64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64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664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6912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직사각형 24"/>
          <p:cNvSpPr/>
          <p:nvPr/>
        </p:nvSpPr>
        <p:spPr>
          <a:xfrm>
            <a:off x="6276153" y="4986969"/>
            <a:ext cx="1728192" cy="4750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Hello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26" name="구부러진 연결선 25"/>
          <p:cNvCxnSpPr/>
          <p:nvPr/>
        </p:nvCxnSpPr>
        <p:spPr>
          <a:xfrm>
            <a:off x="6231142" y="4810479"/>
            <a:ext cx="1044116" cy="319390"/>
          </a:xfrm>
          <a:prstGeom prst="curvedConnector2">
            <a:avLst/>
          </a:prstGeom>
          <a:ln w="127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018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011" y="2689962"/>
            <a:ext cx="5685244" cy="231909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패키지</a:t>
            </a:r>
            <a:r>
              <a:rPr lang="en-US" altLang="ko-KR" dirty="0"/>
              <a:t>(package)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980728"/>
            <a:ext cx="8856984" cy="16937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002060"/>
                </a:solidFill>
              </a:rPr>
              <a:t>패키지란</a:t>
            </a:r>
            <a:r>
              <a:rPr lang="en-US" altLang="ko-KR" sz="2000" b="1" dirty="0">
                <a:solidFill>
                  <a:srgbClr val="002060"/>
                </a:solidFill>
              </a:rPr>
              <a:t>?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/>
              <a:t>클래스 파일의 묶음이다</a:t>
            </a:r>
            <a:r>
              <a:rPr lang="en-US" altLang="ko-KR" sz="1600" dirty="0"/>
              <a:t>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/>
              <a:t>패키지를 만들면 프로젝트 하위에 물리적으로 디렉터리가 생성된다</a:t>
            </a:r>
            <a:r>
              <a:rPr lang="en-US" altLang="ko-KR" sz="1600" dirty="0"/>
              <a:t>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/>
              <a:t>클래스의 실제 이름은 패키지이름</a:t>
            </a:r>
            <a:r>
              <a:rPr lang="en-US" altLang="ko-KR" sz="1600" dirty="0"/>
              <a:t>.</a:t>
            </a:r>
            <a:r>
              <a:rPr lang="ko-KR" altLang="en-US" sz="1600" dirty="0"/>
              <a:t>클래스이름 이다</a:t>
            </a:r>
            <a:r>
              <a:rPr lang="en-US" altLang="ko-KR" sz="1600" dirty="0"/>
              <a:t>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8944" y="2623008"/>
            <a:ext cx="1634635" cy="338554"/>
          </a:xfrm>
          <a:prstGeom prst="rect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패키지 이름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3563299" y="2776897"/>
            <a:ext cx="860334" cy="0"/>
          </a:xfrm>
          <a:prstGeom prst="line">
            <a:avLst/>
          </a:prstGeom>
          <a:ln w="19050">
            <a:solidFill>
              <a:srgbClr val="00206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9842" y="5229200"/>
            <a:ext cx="3296413" cy="34603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753200" y="4690584"/>
            <a:ext cx="1634635" cy="338554"/>
          </a:xfrm>
          <a:prstGeom prst="rect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클래스 이름</a:t>
            </a:r>
          </a:p>
        </p:txBody>
      </p:sp>
      <p:cxnSp>
        <p:nvCxnSpPr>
          <p:cNvPr id="16" name="직선 연결선 15"/>
          <p:cNvCxnSpPr>
            <a:stCxn id="3" idx="3"/>
            <a:endCxn id="14" idx="2"/>
          </p:cNvCxnSpPr>
          <p:nvPr/>
        </p:nvCxnSpPr>
        <p:spPr>
          <a:xfrm flipV="1">
            <a:off x="7266255" y="5029138"/>
            <a:ext cx="304263" cy="373079"/>
          </a:xfrm>
          <a:prstGeom prst="line">
            <a:avLst/>
          </a:prstGeom>
          <a:ln w="19050">
            <a:solidFill>
              <a:srgbClr val="00206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08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  </a:t>
            </a:r>
            <a:r>
              <a:rPr lang="ko-KR" altLang="en-US" dirty="0" err="1"/>
              <a:t>생성자</a:t>
            </a:r>
            <a:r>
              <a:rPr lang="en-US" altLang="ko-KR" b="1" dirty="0"/>
              <a:t>(constructor)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3472" y="908720"/>
            <a:ext cx="8616032" cy="33634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200" b="1" dirty="0">
                <a:solidFill>
                  <a:srgbClr val="C00000"/>
                </a:solidFill>
              </a:rPr>
              <a:t>  </a:t>
            </a:r>
            <a:r>
              <a:rPr lang="ko-KR" altLang="en-US" sz="2000" b="1" dirty="0" err="1">
                <a:solidFill>
                  <a:srgbClr val="C00000"/>
                </a:solidFill>
              </a:rPr>
              <a:t>생성자</a:t>
            </a:r>
            <a:r>
              <a:rPr lang="en-US" altLang="ko-KR" sz="2000" b="1" dirty="0">
                <a:solidFill>
                  <a:srgbClr val="C00000"/>
                </a:solidFill>
              </a:rPr>
              <a:t>(Constructor)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err="1"/>
              <a:t>생성자는</a:t>
            </a:r>
            <a:r>
              <a:rPr lang="ko-KR" altLang="en-US" sz="1600" dirty="0"/>
              <a:t> 클래스를 생성할 때만 호출한다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err="1"/>
              <a:t>생성자</a:t>
            </a:r>
            <a:r>
              <a:rPr lang="ko-KR" altLang="en-US" sz="1600" dirty="0"/>
              <a:t> 이름은 클래스 이름과 같고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생성자는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반환값</a:t>
            </a:r>
            <a:r>
              <a:rPr lang="en-US" altLang="ko-KR" sz="1600" dirty="0"/>
              <a:t>(return)</a:t>
            </a:r>
            <a:r>
              <a:rPr lang="ko-KR" altLang="en-US" sz="1600" dirty="0"/>
              <a:t>이 없다</a:t>
            </a:r>
            <a:r>
              <a:rPr lang="en-US" altLang="ko-KR" sz="1600" dirty="0"/>
              <a:t>.</a:t>
            </a:r>
            <a:endParaRPr lang="en-US" altLang="ko-KR" sz="2000" b="1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/>
              <a:t>매개변수가 없는 </a:t>
            </a:r>
            <a:r>
              <a:rPr lang="ko-KR" altLang="en-US" sz="1600" dirty="0" err="1"/>
              <a:t>생성자를</a:t>
            </a:r>
            <a:r>
              <a:rPr lang="ko-KR" altLang="en-US" sz="1600" dirty="0"/>
              <a:t> </a:t>
            </a:r>
            <a:r>
              <a:rPr lang="ko-KR" altLang="en-US" sz="1600" b="1" i="1" dirty="0"/>
              <a:t>기본 생성자</a:t>
            </a:r>
            <a:r>
              <a:rPr lang="ko-KR" altLang="en-US" sz="1600" dirty="0"/>
              <a:t>라 하며</a:t>
            </a:r>
            <a:r>
              <a:rPr lang="en-US" altLang="ko-KR" sz="1600" dirty="0"/>
              <a:t>, </a:t>
            </a:r>
            <a:r>
              <a:rPr lang="ko-KR" altLang="en-US" sz="1600" dirty="0"/>
              <a:t>생략할 수 있다</a:t>
            </a:r>
            <a:r>
              <a:rPr lang="en-US" altLang="ko-KR" sz="1800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1600" dirty="0"/>
              <a:t>   생략하여도 컴파일러가 자동으로 생성해 준다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r>
              <a:rPr lang="en-US" altLang="ko-KR" sz="2200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/>
          <a:srcRect r="22027" b="47282"/>
          <a:stretch/>
        </p:blipFill>
        <p:spPr>
          <a:xfrm>
            <a:off x="1640632" y="3298279"/>
            <a:ext cx="5112568" cy="194786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57253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 err="1"/>
              <a:t>생성자</a:t>
            </a:r>
            <a:r>
              <a:rPr lang="en-US" altLang="ko-KR" b="1" dirty="0"/>
              <a:t>(constructor)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3472" y="908721"/>
            <a:ext cx="7607920" cy="17281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200" b="1" dirty="0">
                <a:solidFill>
                  <a:srgbClr val="C00000"/>
                </a:solidFill>
              </a:rPr>
              <a:t>  </a:t>
            </a:r>
            <a:r>
              <a:rPr lang="ko-KR" altLang="en-US" sz="2000" b="1" dirty="0" err="1">
                <a:solidFill>
                  <a:srgbClr val="C00000"/>
                </a:solidFill>
              </a:rPr>
              <a:t>생성자</a:t>
            </a:r>
            <a:r>
              <a:rPr lang="ko-KR" altLang="en-US" sz="2000" b="1" dirty="0">
                <a:solidFill>
                  <a:srgbClr val="C00000"/>
                </a:solidFill>
              </a:rPr>
              <a:t> 오버로딩</a:t>
            </a:r>
            <a:r>
              <a:rPr lang="en-US" altLang="ko-KR" sz="2000" b="1" dirty="0">
                <a:solidFill>
                  <a:srgbClr val="C00000"/>
                </a:solidFill>
              </a:rPr>
              <a:t>(overloading)</a:t>
            </a:r>
            <a:endParaRPr lang="en-US" altLang="ko-KR" sz="22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/>
              <a:t>클래스에 생성자가 두 개 이상 제공되는 경우를 말한다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/>
              <a:t>이름은 같고</a:t>
            </a:r>
            <a:r>
              <a:rPr lang="en-US" altLang="ko-KR" sz="1600" dirty="0"/>
              <a:t>, </a:t>
            </a:r>
            <a:r>
              <a:rPr lang="ko-KR" altLang="en-US" sz="1600" dirty="0"/>
              <a:t>매개 변수가 다른 </a:t>
            </a:r>
            <a:r>
              <a:rPr lang="ko-KR" altLang="en-US" sz="1600" dirty="0" err="1"/>
              <a:t>생성자를</a:t>
            </a:r>
            <a:r>
              <a:rPr lang="ko-KR" altLang="en-US" sz="1600" dirty="0"/>
              <a:t> 여러 개 </a:t>
            </a:r>
            <a:r>
              <a:rPr lang="ko-KR" altLang="en-US" sz="1600" dirty="0" err="1"/>
              <a:t>만들수</a:t>
            </a:r>
            <a:r>
              <a:rPr lang="ko-KR" altLang="en-US" sz="1600" dirty="0"/>
              <a:t> 있다</a:t>
            </a:r>
            <a:r>
              <a:rPr lang="en-US" altLang="ko-KR" sz="1600" dirty="0"/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640" y="2564904"/>
            <a:ext cx="6339770" cy="31698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7" name="모서리가 둥근 직사각형 16"/>
          <p:cNvSpPr/>
          <p:nvPr/>
        </p:nvSpPr>
        <p:spPr>
          <a:xfrm>
            <a:off x="1256384" y="3717032"/>
            <a:ext cx="7369024" cy="2160240"/>
          </a:xfrm>
          <a:prstGeom prst="roundRect">
            <a:avLst>
              <a:gd name="adj" fmla="val 13110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726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 err="1"/>
              <a:t>생성자</a:t>
            </a:r>
            <a:r>
              <a:rPr lang="en-US" altLang="ko-KR" b="1" dirty="0"/>
              <a:t>(constructor)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3472" y="908721"/>
            <a:ext cx="7607920" cy="5760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200" b="1" dirty="0">
                <a:solidFill>
                  <a:srgbClr val="C00000"/>
                </a:solidFill>
              </a:rPr>
              <a:t>  </a:t>
            </a:r>
            <a:r>
              <a:rPr lang="ko-KR" altLang="en-US" sz="2000" b="1" dirty="0" err="1">
                <a:solidFill>
                  <a:srgbClr val="C00000"/>
                </a:solidFill>
              </a:rPr>
              <a:t>생성자</a:t>
            </a:r>
            <a:r>
              <a:rPr lang="ko-KR" altLang="en-US" sz="2000" b="1" dirty="0">
                <a:solidFill>
                  <a:srgbClr val="C00000"/>
                </a:solidFill>
              </a:rPr>
              <a:t> 오버로딩</a:t>
            </a:r>
            <a:r>
              <a:rPr lang="en-US" altLang="ko-KR" sz="2000" b="1" dirty="0">
                <a:solidFill>
                  <a:srgbClr val="C00000"/>
                </a:solidFill>
              </a:rPr>
              <a:t>(overloading)</a:t>
            </a:r>
            <a:endParaRPr lang="en-US" altLang="ko-KR" sz="16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556793"/>
            <a:ext cx="6144488" cy="418870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49952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회원 로그인 서비스 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776536" y="1052736"/>
            <a:ext cx="5976664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로그인</a:t>
            </a:r>
            <a:r>
              <a:rPr lang="en-US" altLang="ko-KR" sz="2000" b="1" dirty="0">
                <a:solidFill>
                  <a:srgbClr val="C00000"/>
                </a:solidFill>
              </a:rPr>
              <a:t>/</a:t>
            </a:r>
            <a:r>
              <a:rPr lang="ko-KR" altLang="en-US" sz="2000" b="1" dirty="0">
                <a:solidFill>
                  <a:srgbClr val="C00000"/>
                </a:solidFill>
              </a:rPr>
              <a:t>로그아웃을 서비스하는 클래스 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ko-KR" sz="2200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838874"/>
            <a:ext cx="7081992" cy="33735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2802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회원 로그인 서비스 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776536" y="1052736"/>
            <a:ext cx="5976664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로그인</a:t>
            </a:r>
            <a:r>
              <a:rPr lang="en-US" altLang="ko-KR" sz="2000" b="1" dirty="0">
                <a:solidFill>
                  <a:srgbClr val="C00000"/>
                </a:solidFill>
              </a:rPr>
              <a:t>/</a:t>
            </a:r>
            <a:r>
              <a:rPr lang="ko-KR" altLang="en-US" sz="2000" b="1" dirty="0">
                <a:solidFill>
                  <a:srgbClr val="C00000"/>
                </a:solidFill>
              </a:rPr>
              <a:t>로그아웃을 서비스하는 클래스 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ko-KR" sz="2200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27" y="1772816"/>
            <a:ext cx="7640967" cy="38164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56777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this </a:t>
            </a:r>
            <a:r>
              <a:rPr lang="ko-KR" altLang="en-US" dirty="0" err="1"/>
              <a:t>예약어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1124743"/>
            <a:ext cx="7323521" cy="7920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자신의 메모리를 가리키는 </a:t>
            </a:r>
            <a:r>
              <a:rPr lang="en-US" altLang="ko-KR" sz="2000" b="1" dirty="0">
                <a:solidFill>
                  <a:srgbClr val="C00000"/>
                </a:solidFill>
              </a:rPr>
              <a:t>this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000" b="1" dirty="0">
                <a:solidFill>
                  <a:srgbClr val="FF0000"/>
                </a:solidFill>
              </a:rPr>
              <a:t>   </a:t>
            </a:r>
            <a:r>
              <a:rPr lang="ko-KR" altLang="en-US" sz="1800" dirty="0"/>
              <a:t>생성된 </a:t>
            </a:r>
            <a:r>
              <a:rPr lang="ko-KR" altLang="en-US" sz="1800" dirty="0" err="1"/>
              <a:t>인스턴스</a:t>
            </a:r>
            <a:r>
              <a:rPr lang="ko-KR" altLang="en-US" sz="1800" dirty="0"/>
              <a:t> 스스로를 가리키는 </a:t>
            </a:r>
            <a:r>
              <a:rPr lang="ko-KR" altLang="en-US" sz="1800" dirty="0" err="1"/>
              <a:t>예약어</a:t>
            </a:r>
            <a:r>
              <a:rPr lang="en-US" altLang="ko-KR" sz="1800" dirty="0"/>
              <a:t>  </a:t>
            </a:r>
            <a:endParaRPr lang="en-US" altLang="ko-KR" sz="14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616" y="2132856"/>
            <a:ext cx="4559321" cy="345638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877824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this </a:t>
            </a:r>
            <a:r>
              <a:rPr lang="ko-KR" altLang="en-US" dirty="0" err="1"/>
              <a:t>예약어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1124745"/>
            <a:ext cx="7323521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자신의 메모리를 가리키는 </a:t>
            </a:r>
            <a:r>
              <a:rPr lang="en-US" altLang="ko-KR" sz="2000" b="1" dirty="0">
                <a:solidFill>
                  <a:srgbClr val="C00000"/>
                </a:solidFill>
              </a:rPr>
              <a:t>this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935" y="1745188"/>
            <a:ext cx="5559221" cy="30519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874" y="5072608"/>
            <a:ext cx="3330229" cy="5410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4" name="직사각형 13"/>
          <p:cNvSpPr/>
          <p:nvPr/>
        </p:nvSpPr>
        <p:spPr>
          <a:xfrm>
            <a:off x="1514935" y="5085184"/>
            <a:ext cx="3041348" cy="52849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클래스이름</a:t>
            </a:r>
            <a:r>
              <a:rPr lang="en-US" altLang="ko-KR" sz="1600" dirty="0">
                <a:solidFill>
                  <a:sysClr val="windowText" lastClr="000000"/>
                </a:solidFill>
              </a:rPr>
              <a:t>@</a:t>
            </a:r>
            <a:r>
              <a:rPr lang="ko-KR" altLang="en-US" sz="1600" dirty="0">
                <a:solidFill>
                  <a:sysClr val="windowText" lastClr="000000"/>
                </a:solidFill>
              </a:rPr>
              <a:t>메모리 주소</a:t>
            </a:r>
          </a:p>
        </p:txBody>
      </p:sp>
      <p:cxnSp>
        <p:nvCxnSpPr>
          <p:cNvPr id="15" name="직선 화살표 연결선 14"/>
          <p:cNvCxnSpPr/>
          <p:nvPr/>
        </p:nvCxnSpPr>
        <p:spPr>
          <a:xfrm rot="16200000">
            <a:off x="4726948" y="5172476"/>
            <a:ext cx="0" cy="34133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4430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1217415" y="1796421"/>
            <a:ext cx="7200800" cy="28803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ko-KR" sz="1600" dirty="0">
              <a:latin typeface="+mn-ea"/>
            </a:endParaRPr>
          </a:p>
          <a:p>
            <a:endParaRPr lang="en-US" altLang="ko-KR" sz="1600" dirty="0">
              <a:latin typeface="+mn-ea"/>
            </a:endParaRPr>
          </a:p>
          <a:p>
            <a:endParaRPr lang="en-US" altLang="ko-KR" sz="1600" dirty="0">
              <a:latin typeface="+mn-ea"/>
            </a:endParaRPr>
          </a:p>
          <a:p>
            <a:endParaRPr lang="ko-KR" altLang="en-US" sz="1600" dirty="0">
              <a:latin typeface="+mn-ea"/>
            </a:endParaRPr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this </a:t>
            </a:r>
            <a:r>
              <a:rPr lang="ko-KR" altLang="en-US" dirty="0" err="1"/>
              <a:t>예약어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2098032" y="3680381"/>
            <a:ext cx="1944217" cy="4313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+mn-ea"/>
              </a:rPr>
              <a:t>args</a:t>
            </a:r>
            <a:endParaRPr lang="ko-KR" altLang="en-US" dirty="0">
              <a:latin typeface="+mn-ea"/>
            </a:endParaRPr>
          </a:p>
        </p:txBody>
      </p:sp>
      <p:sp>
        <p:nvSpPr>
          <p:cNvPr id="12" name="자유형 11"/>
          <p:cNvSpPr/>
          <p:nvPr/>
        </p:nvSpPr>
        <p:spPr>
          <a:xfrm>
            <a:off x="2098032" y="2511473"/>
            <a:ext cx="1944218" cy="1593669"/>
          </a:xfrm>
          <a:custGeom>
            <a:avLst/>
            <a:gdLst>
              <a:gd name="connsiteX0" fmla="*/ 0 w 1994263"/>
              <a:gd name="connsiteY0" fmla="*/ 17417 h 1593669"/>
              <a:gd name="connsiteX1" fmla="*/ 0 w 1994263"/>
              <a:gd name="connsiteY1" fmla="*/ 1593669 h 1593669"/>
              <a:gd name="connsiteX2" fmla="*/ 1994263 w 1994263"/>
              <a:gd name="connsiteY2" fmla="*/ 1593669 h 1593669"/>
              <a:gd name="connsiteX3" fmla="*/ 1994263 w 1994263"/>
              <a:gd name="connsiteY3" fmla="*/ 0 h 1593669"/>
              <a:gd name="connsiteX4" fmla="*/ 1994263 w 1994263"/>
              <a:gd name="connsiteY4" fmla="*/ 0 h 1593669"/>
              <a:gd name="connsiteX5" fmla="*/ 1994263 w 1994263"/>
              <a:gd name="connsiteY5" fmla="*/ 17417 h 159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4263" h="1593669">
                <a:moveTo>
                  <a:pt x="0" y="17417"/>
                </a:moveTo>
                <a:lnTo>
                  <a:pt x="0" y="1593669"/>
                </a:lnTo>
                <a:lnTo>
                  <a:pt x="1994263" y="1593669"/>
                </a:lnTo>
                <a:lnTo>
                  <a:pt x="1994263" y="0"/>
                </a:lnTo>
                <a:lnTo>
                  <a:pt x="1994263" y="0"/>
                </a:lnTo>
                <a:lnTo>
                  <a:pt x="1994263" y="17417"/>
                </a:lnTo>
              </a:path>
            </a:pathLst>
          </a:cu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2098032" y="3236582"/>
            <a:ext cx="1944217" cy="43131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+mn-ea"/>
              </a:rPr>
              <a:t>bDay</a:t>
            </a:r>
            <a:endParaRPr lang="ko-KR" altLang="en-US" dirty="0">
              <a:latin typeface="+mn-ea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2098033" y="2810385"/>
            <a:ext cx="1944216" cy="43131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this</a:t>
            </a:r>
            <a:endParaRPr lang="ko-KR" altLang="en-US" dirty="0"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720753" y="2034129"/>
            <a:ext cx="777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Stack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4872056" y="2511473"/>
            <a:ext cx="2723280" cy="1656184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>
              <a:latin typeface="+mn-ea"/>
            </a:endParaRP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5369600" y="3131082"/>
            <a:ext cx="1728192" cy="85849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year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month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day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45564" y="2636612"/>
            <a:ext cx="24057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/>
              <a:t>BirthDay</a:t>
            </a:r>
            <a:r>
              <a:rPr lang="en-US" altLang="ko-KR" sz="1600" dirty="0"/>
              <a:t> </a:t>
            </a:r>
            <a:r>
              <a:rPr lang="ko-KR" altLang="en-US" sz="1600" dirty="0"/>
              <a:t>클래스 생성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75154" y="1945561"/>
            <a:ext cx="151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Heap </a:t>
            </a:r>
            <a:r>
              <a:rPr lang="ko-KR" altLang="en-US" dirty="0"/>
              <a:t>메모리</a:t>
            </a:r>
          </a:p>
        </p:txBody>
      </p:sp>
      <p:cxnSp>
        <p:nvCxnSpPr>
          <p:cNvPr id="25" name="직선 화살표 연결선 24"/>
          <p:cNvCxnSpPr>
            <a:stCxn id="19" idx="3"/>
          </p:cNvCxnSpPr>
          <p:nvPr/>
        </p:nvCxnSpPr>
        <p:spPr>
          <a:xfrm>
            <a:off x="4042249" y="3026045"/>
            <a:ext cx="1352703" cy="31352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>
            <a:off x="4089163" y="3498751"/>
            <a:ext cx="1280437" cy="61577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20552" y="2830405"/>
            <a:ext cx="1150502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setYear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943819" y="3452241"/>
            <a:ext cx="912837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main()</a:t>
            </a:r>
            <a:endParaRPr lang="ko-KR" altLang="en-US" dirty="0"/>
          </a:p>
        </p:txBody>
      </p:sp>
      <p:cxnSp>
        <p:nvCxnSpPr>
          <p:cNvPr id="33" name="꺾인 연결선 32"/>
          <p:cNvCxnSpPr>
            <a:stCxn id="17" idx="1"/>
            <a:endCxn id="10" idx="1"/>
          </p:cNvCxnSpPr>
          <p:nvPr/>
        </p:nvCxnSpPr>
        <p:spPr>
          <a:xfrm rot="10800000" flipV="1">
            <a:off x="2098032" y="3452241"/>
            <a:ext cx="12700" cy="443799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1684257" y="3680381"/>
            <a:ext cx="172399" cy="0"/>
          </a:xfrm>
          <a:prstGeom prst="line">
            <a:avLst/>
          </a:prstGeom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325427" y="4830251"/>
            <a:ext cx="69847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main() </a:t>
            </a:r>
            <a:r>
              <a:rPr lang="ko-KR" altLang="en-US" sz="1600" dirty="0"/>
              <a:t>함수에서 </a:t>
            </a:r>
            <a:r>
              <a:rPr lang="en-US" altLang="ko-KR" sz="1600" dirty="0" err="1"/>
              <a:t>bDay</a:t>
            </a:r>
            <a:r>
              <a:rPr lang="en-US" altLang="ko-KR" sz="1600" dirty="0"/>
              <a:t> </a:t>
            </a:r>
            <a:r>
              <a:rPr lang="ko-KR" altLang="en-US" sz="1600" dirty="0"/>
              <a:t>변수가 가리키는 </a:t>
            </a:r>
            <a:r>
              <a:rPr lang="ko-KR" altLang="en-US" sz="1600" dirty="0" err="1"/>
              <a:t>인스턴스와</a:t>
            </a:r>
            <a:r>
              <a:rPr lang="ko-KR" altLang="en-US" sz="1600" dirty="0"/>
              <a:t> </a:t>
            </a:r>
            <a:r>
              <a:rPr lang="en-US" altLang="ko-KR" sz="1600" dirty="0"/>
              <a:t>Birthday </a:t>
            </a:r>
            <a:r>
              <a:rPr lang="ko-KR" altLang="en-US" sz="1600" dirty="0"/>
              <a:t>클래스의 </a:t>
            </a:r>
            <a:r>
              <a:rPr lang="en-US" altLang="ko-KR" sz="1600" dirty="0" err="1"/>
              <a:t>setYear</a:t>
            </a:r>
            <a:r>
              <a:rPr lang="en-US" altLang="ko-KR" sz="1600" dirty="0"/>
              <a:t>() </a:t>
            </a:r>
            <a:r>
              <a:rPr lang="ko-KR" altLang="en-US" sz="1600" dirty="0" err="1"/>
              <a:t>메서드에서</a:t>
            </a:r>
            <a:r>
              <a:rPr lang="ko-KR" altLang="en-US" sz="1600" dirty="0"/>
              <a:t> </a:t>
            </a:r>
            <a:r>
              <a:rPr lang="en-US" altLang="ko-KR" sz="1600" dirty="0"/>
              <a:t>this</a:t>
            </a:r>
            <a:r>
              <a:rPr lang="ko-KR" altLang="en-US" sz="1600" dirty="0"/>
              <a:t>가 가리키는 </a:t>
            </a:r>
            <a:r>
              <a:rPr lang="ko-KR" altLang="en-US" sz="1600" dirty="0" err="1"/>
              <a:t>인스턴스가</a:t>
            </a:r>
            <a:r>
              <a:rPr lang="ko-KR" altLang="en-US" sz="1600" dirty="0"/>
              <a:t> 같은 곳에 있음을 알 수 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2" y="1052736"/>
            <a:ext cx="3678913" cy="5161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this </a:t>
            </a:r>
            <a:r>
              <a:rPr lang="ko-KR" altLang="en-US" sz="2000" b="1" dirty="0">
                <a:solidFill>
                  <a:srgbClr val="C00000"/>
                </a:solidFill>
              </a:rPr>
              <a:t>주소</a:t>
            </a:r>
            <a:r>
              <a:rPr lang="en-US" altLang="ko-KR" sz="2000" b="1" dirty="0">
                <a:solidFill>
                  <a:srgbClr val="C00000"/>
                </a:solidFill>
              </a:rPr>
              <a:t>(</a:t>
            </a:r>
            <a:r>
              <a:rPr lang="ko-KR" altLang="en-US" sz="2000" b="1" dirty="0" err="1">
                <a:solidFill>
                  <a:srgbClr val="C00000"/>
                </a:solidFill>
              </a:rPr>
              <a:t>참조값</a:t>
            </a:r>
            <a:r>
              <a:rPr lang="en-US" altLang="ko-KR" sz="2000" b="1" dirty="0">
                <a:solidFill>
                  <a:srgbClr val="C00000"/>
                </a:solidFill>
              </a:rPr>
              <a:t>)</a:t>
            </a:r>
            <a:r>
              <a:rPr lang="ko-KR" altLang="en-US" sz="2000" b="1" dirty="0">
                <a:solidFill>
                  <a:srgbClr val="C00000"/>
                </a:solidFill>
              </a:rPr>
              <a:t> 확인</a:t>
            </a:r>
            <a:endParaRPr lang="en-US" altLang="ko-KR" sz="1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182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2" y="1052736"/>
            <a:ext cx="5328592" cy="5161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>
                <a:solidFill>
                  <a:srgbClr val="C00000"/>
                </a:solidFill>
              </a:rPr>
              <a:t>생성자에서</a:t>
            </a:r>
            <a:r>
              <a:rPr lang="ko-KR" altLang="en-US" sz="2000" b="1" dirty="0">
                <a:solidFill>
                  <a:srgbClr val="C00000"/>
                </a:solidFill>
              </a:rPr>
              <a:t> 다른 </a:t>
            </a:r>
            <a:r>
              <a:rPr lang="ko-KR" altLang="en-US" sz="2000" b="1" dirty="0" err="1">
                <a:solidFill>
                  <a:srgbClr val="C00000"/>
                </a:solidFill>
              </a:rPr>
              <a:t>생성자를</a:t>
            </a:r>
            <a:r>
              <a:rPr lang="ko-KR" altLang="en-US" sz="2000" b="1" dirty="0">
                <a:solidFill>
                  <a:srgbClr val="C00000"/>
                </a:solidFill>
              </a:rPr>
              <a:t> 호출하는 </a:t>
            </a:r>
            <a:r>
              <a:rPr lang="en-US" altLang="ko-KR" sz="2000" b="1" dirty="0">
                <a:solidFill>
                  <a:srgbClr val="C00000"/>
                </a:solidFill>
              </a:rPr>
              <a:t>this   </a:t>
            </a:r>
            <a:endParaRPr lang="en-US" altLang="ko-KR" sz="1800" dirty="0">
              <a:solidFill>
                <a:srgbClr val="C00000"/>
              </a:solidFill>
            </a:endParaRPr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this </a:t>
            </a:r>
            <a:r>
              <a:rPr lang="ko-KR" altLang="en-US" dirty="0" err="1"/>
              <a:t>예약어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24" y="1700808"/>
            <a:ext cx="6576630" cy="439712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69312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2" y="1052736"/>
            <a:ext cx="5328592" cy="5161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>
                <a:solidFill>
                  <a:srgbClr val="C00000"/>
                </a:solidFill>
              </a:rPr>
              <a:t>생성자에서</a:t>
            </a:r>
            <a:r>
              <a:rPr lang="ko-KR" altLang="en-US" sz="2000" b="1" dirty="0">
                <a:solidFill>
                  <a:srgbClr val="C00000"/>
                </a:solidFill>
              </a:rPr>
              <a:t> 다른 </a:t>
            </a:r>
            <a:r>
              <a:rPr lang="ko-KR" altLang="en-US" sz="2000" b="1" dirty="0" err="1">
                <a:solidFill>
                  <a:srgbClr val="C00000"/>
                </a:solidFill>
              </a:rPr>
              <a:t>생성자를</a:t>
            </a:r>
            <a:r>
              <a:rPr lang="ko-KR" altLang="en-US" sz="2000" b="1" dirty="0">
                <a:solidFill>
                  <a:srgbClr val="C00000"/>
                </a:solidFill>
              </a:rPr>
              <a:t> 호출하는 </a:t>
            </a:r>
            <a:r>
              <a:rPr lang="en-US" altLang="ko-KR" sz="2000" b="1" dirty="0">
                <a:solidFill>
                  <a:srgbClr val="C00000"/>
                </a:solidFill>
              </a:rPr>
              <a:t>this   </a:t>
            </a:r>
            <a:endParaRPr lang="en-US" altLang="ko-KR" sz="1800" dirty="0">
              <a:solidFill>
                <a:srgbClr val="C00000"/>
              </a:solidFill>
            </a:endParaRPr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this </a:t>
            </a:r>
            <a:r>
              <a:rPr lang="ko-KR" altLang="en-US" dirty="0" err="1"/>
              <a:t>예약어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24" y="1772816"/>
            <a:ext cx="5753599" cy="313209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579" y="5026767"/>
            <a:ext cx="3040644" cy="102116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31930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정보 은닉</a:t>
            </a:r>
            <a:r>
              <a:rPr lang="en-US" altLang="ko-KR" dirty="0"/>
              <a:t>(</a:t>
            </a:r>
            <a:r>
              <a:rPr lang="ko-KR" altLang="en-US" dirty="0"/>
              <a:t>캡슐화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01464" y="980728"/>
            <a:ext cx="8616032" cy="23390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 정보 은닉</a:t>
            </a:r>
            <a:r>
              <a:rPr lang="en-US" altLang="ko-KR" sz="2000" b="1" dirty="0">
                <a:solidFill>
                  <a:srgbClr val="C00000"/>
                </a:solidFill>
              </a:rPr>
              <a:t>(Information Hiding)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800" b="1" dirty="0">
                <a:solidFill>
                  <a:srgbClr val="002060"/>
                </a:solidFill>
              </a:rPr>
              <a:t>접근 제어자 </a:t>
            </a:r>
            <a:r>
              <a:rPr lang="en-US" altLang="ko-KR" sz="1800" b="1" dirty="0">
                <a:solidFill>
                  <a:srgbClr val="002060"/>
                </a:solidFill>
              </a:rPr>
              <a:t>: </a:t>
            </a:r>
            <a:r>
              <a:rPr lang="ko-KR" altLang="en-US" sz="1800" b="1" dirty="0">
                <a:solidFill>
                  <a:srgbClr val="002060"/>
                </a:solidFill>
              </a:rPr>
              <a:t>접근 권한 지정</a:t>
            </a:r>
            <a:endParaRPr lang="en-US" altLang="ko-KR" sz="1800" b="1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ko-KR" altLang="en-US" sz="1800" b="1" dirty="0">
                <a:solidFill>
                  <a:srgbClr val="002060"/>
                </a:solidFill>
              </a:rPr>
              <a:t>   </a:t>
            </a:r>
            <a:r>
              <a:rPr lang="en-US" altLang="ko-KR" sz="1800" b="1" dirty="0">
                <a:solidFill>
                  <a:srgbClr val="002060"/>
                </a:solidFill>
              </a:rPr>
              <a:t>- public : </a:t>
            </a:r>
            <a:r>
              <a:rPr lang="ko-KR" altLang="en-US" sz="1800" b="1" dirty="0">
                <a:solidFill>
                  <a:srgbClr val="002060"/>
                </a:solidFill>
              </a:rPr>
              <a:t>외부 클래스에서 접근 가능</a:t>
            </a:r>
            <a:endParaRPr lang="en-US" altLang="ko-KR" sz="1800" b="1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800" b="1" dirty="0">
                <a:solidFill>
                  <a:srgbClr val="002060"/>
                </a:solidFill>
              </a:rPr>
              <a:t>   - private : </a:t>
            </a:r>
            <a:r>
              <a:rPr lang="ko-KR" altLang="en-US" sz="1800" b="1" dirty="0">
                <a:solidFill>
                  <a:srgbClr val="002060"/>
                </a:solidFill>
              </a:rPr>
              <a:t>클래스의 외부에서 클래스 내부의 멤버 변수나 </a:t>
            </a:r>
            <a:r>
              <a:rPr lang="ko-KR" altLang="en-US" sz="1800" b="1" dirty="0" err="1">
                <a:solidFill>
                  <a:srgbClr val="002060"/>
                </a:solidFill>
              </a:rPr>
              <a:t>메서드에</a:t>
            </a:r>
            <a:r>
              <a:rPr lang="ko-KR" altLang="en-US" sz="1800" b="1" dirty="0">
                <a:solidFill>
                  <a:srgbClr val="002060"/>
                </a:solidFill>
              </a:rPr>
              <a:t> 접근</a:t>
            </a:r>
            <a:r>
              <a:rPr lang="en-US" altLang="ko-KR" sz="1800" b="1" dirty="0">
                <a:solidFill>
                  <a:srgbClr val="002060"/>
                </a:solidFill>
              </a:rPr>
              <a:t>  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800" b="1" dirty="0">
                <a:solidFill>
                  <a:srgbClr val="002060"/>
                </a:solidFill>
              </a:rPr>
              <a:t>                 </a:t>
            </a:r>
            <a:r>
              <a:rPr lang="ko-KR" altLang="en-US" sz="1800" b="1" dirty="0">
                <a:solidFill>
                  <a:srgbClr val="002060"/>
                </a:solidFill>
              </a:rPr>
              <a:t>못하게 하는 경우 사용</a:t>
            </a:r>
            <a:endParaRPr lang="en-US" altLang="ko-KR" sz="1800" b="1" dirty="0">
              <a:solidFill>
                <a:srgbClr val="002060"/>
              </a:solidFill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800" b="1" dirty="0">
                <a:solidFill>
                  <a:srgbClr val="002060"/>
                </a:solidFill>
              </a:rPr>
              <a:t>변수에 대해서는 필요한 경우 </a:t>
            </a:r>
            <a:r>
              <a:rPr lang="en-US" altLang="ko-KR" sz="1800" b="1" dirty="0">
                <a:solidFill>
                  <a:srgbClr val="C00000"/>
                </a:solidFill>
              </a:rPr>
              <a:t>get(), set() </a:t>
            </a:r>
            <a:r>
              <a:rPr lang="ko-KR" altLang="en-US" sz="1800" b="1" dirty="0" err="1">
                <a:solidFill>
                  <a:srgbClr val="002060"/>
                </a:solidFill>
              </a:rPr>
              <a:t>메서드를</a:t>
            </a:r>
            <a:r>
              <a:rPr lang="ko-KR" altLang="en-US" sz="1800" b="1" dirty="0">
                <a:solidFill>
                  <a:srgbClr val="002060"/>
                </a:solidFill>
              </a:rPr>
              <a:t> 제공</a:t>
            </a:r>
            <a:endParaRPr lang="en-US" altLang="ko-KR" sz="1800" b="1" dirty="0">
              <a:solidFill>
                <a:srgbClr val="00206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8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altLang="ko-KR" sz="2200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endParaRPr lang="en-US" altLang="ko-KR" sz="2000" dirty="0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552428"/>
              </p:ext>
            </p:extLst>
          </p:nvPr>
        </p:nvGraphicFramePr>
        <p:xfrm>
          <a:off x="1352600" y="3450158"/>
          <a:ext cx="7500833" cy="21334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43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7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3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접근 제어자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설 명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5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public</a:t>
                      </a:r>
                      <a:endParaRPr lang="ko-KR" alt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외부 클래스 어디에서나 접근 </a:t>
                      </a:r>
                      <a:r>
                        <a:rPr lang="ko-KR" altLang="en-US" sz="1800" dirty="0" err="1"/>
                        <a:t>할수</a:t>
                      </a:r>
                      <a:r>
                        <a:rPr lang="ko-KR" altLang="en-US" sz="1800" dirty="0"/>
                        <a:t> 있다</a:t>
                      </a:r>
                      <a:r>
                        <a:rPr lang="en-US" altLang="ko-KR" sz="1800" dirty="0"/>
                        <a:t>.</a:t>
                      </a:r>
                      <a:endParaRPr lang="ko-KR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3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</a:rPr>
                        <a:t>private</a:t>
                      </a:r>
                      <a:endParaRPr lang="ko-KR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같은 클래스 내부 가능</a:t>
                      </a:r>
                      <a:r>
                        <a:rPr lang="en-US" altLang="ko-KR" sz="1800" dirty="0"/>
                        <a:t>, </a:t>
                      </a:r>
                      <a:r>
                        <a:rPr lang="ko-KR" altLang="en-US" sz="1800" dirty="0"/>
                        <a:t>그 외 접근 불가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3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protected</a:t>
                      </a:r>
                      <a:endParaRPr lang="ko-KR" alt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같은 패키지 내부와 상속 관계의 클래스에서만 </a:t>
                      </a:r>
                      <a:endParaRPr lang="en-US" altLang="ko-KR" sz="18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접근</a:t>
                      </a:r>
                      <a:r>
                        <a:rPr lang="en-US" altLang="ko-KR" sz="1800" dirty="0"/>
                        <a:t>(</a:t>
                      </a:r>
                      <a:r>
                        <a:rPr lang="ko-KR" altLang="en-US" sz="1800" dirty="0"/>
                        <a:t>다른 패키지에서도 가능</a:t>
                      </a:r>
                      <a:r>
                        <a:rPr lang="en-US" altLang="ko-KR" sz="1800" dirty="0"/>
                        <a:t>)</a:t>
                      </a:r>
                      <a:endParaRPr lang="ko-KR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703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8909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정보 은닉</a:t>
            </a:r>
            <a:r>
              <a:rPr lang="en-US" altLang="ko-KR" dirty="0"/>
              <a:t>(</a:t>
            </a:r>
            <a:r>
              <a:rPr lang="ko-KR" altLang="en-US" dirty="0"/>
              <a:t>캡슐화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2" y="980728"/>
            <a:ext cx="3060340" cy="5161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private </a:t>
            </a:r>
            <a:r>
              <a:rPr lang="ko-KR" altLang="en-US" sz="2000" b="1" dirty="0">
                <a:solidFill>
                  <a:srgbClr val="C00000"/>
                </a:solidFill>
              </a:rPr>
              <a:t>접근 </a:t>
            </a:r>
            <a:r>
              <a:rPr lang="ko-KR" altLang="en-US" sz="2000" b="1" dirty="0" err="1">
                <a:solidFill>
                  <a:srgbClr val="C00000"/>
                </a:solidFill>
              </a:rPr>
              <a:t>제한자</a:t>
            </a: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r>
              <a:rPr lang="en-US" altLang="ko-KR" sz="2000" b="1" dirty="0">
                <a:solidFill>
                  <a:srgbClr val="C00000"/>
                </a:solidFill>
              </a:rPr>
              <a:t>   </a:t>
            </a:r>
            <a:endParaRPr lang="en-US" altLang="ko-KR" sz="1800" dirty="0">
              <a:solidFill>
                <a:srgbClr val="C00000"/>
              </a:solidFill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371" y="1853289"/>
            <a:ext cx="4462466" cy="115212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371" y="3369108"/>
            <a:ext cx="5500895" cy="165618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8" name="모서리가 둥근 직사각형 17"/>
          <p:cNvSpPr/>
          <p:nvPr/>
        </p:nvSpPr>
        <p:spPr>
          <a:xfrm>
            <a:off x="2486725" y="4449228"/>
            <a:ext cx="3512111" cy="792088"/>
          </a:xfrm>
          <a:prstGeom prst="roundRect">
            <a:avLst>
              <a:gd name="adj" fmla="val 13110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1096715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정보 은닉</a:t>
            </a:r>
            <a:r>
              <a:rPr lang="en-US" altLang="ko-KR" dirty="0"/>
              <a:t>(</a:t>
            </a:r>
            <a:r>
              <a:rPr lang="ko-KR" altLang="en-US" dirty="0"/>
              <a:t>캡슐화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17488" y="1052736"/>
            <a:ext cx="7535912" cy="5161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get(), set() </a:t>
            </a:r>
            <a:r>
              <a:rPr lang="ko-KR" altLang="en-US" sz="2000" b="1" dirty="0" err="1">
                <a:solidFill>
                  <a:srgbClr val="C00000"/>
                </a:solidFill>
              </a:rPr>
              <a:t>메서드</a:t>
            </a:r>
            <a:r>
              <a:rPr lang="ko-KR" altLang="en-US" sz="2000" b="1" dirty="0">
                <a:solidFill>
                  <a:srgbClr val="C00000"/>
                </a:solidFill>
              </a:rPr>
              <a:t> 사용하여 </a:t>
            </a:r>
            <a:r>
              <a:rPr lang="en-US" altLang="ko-KR" sz="2000" b="1" dirty="0">
                <a:solidFill>
                  <a:srgbClr val="C00000"/>
                </a:solidFill>
              </a:rPr>
              <a:t>private </a:t>
            </a:r>
            <a:r>
              <a:rPr lang="ko-KR" altLang="en-US" sz="2000" b="1" dirty="0">
                <a:solidFill>
                  <a:srgbClr val="C00000"/>
                </a:solidFill>
              </a:rPr>
              <a:t>변수에 접근가능</a:t>
            </a:r>
            <a:r>
              <a:rPr lang="en-US" altLang="ko-KR" sz="2000" b="1" dirty="0">
                <a:solidFill>
                  <a:srgbClr val="C00000"/>
                </a:solidFill>
              </a:rPr>
              <a:t>   </a:t>
            </a:r>
            <a:endParaRPr lang="en-US" altLang="ko-KR" sz="1800" dirty="0">
              <a:solidFill>
                <a:srgbClr val="C00000"/>
              </a:solidFill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441511" y="1772816"/>
            <a:ext cx="3223457" cy="1000641"/>
          </a:xfrm>
          <a:prstGeom prst="round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 dirty="0"/>
              <a:t>set + </a:t>
            </a:r>
            <a:r>
              <a:rPr lang="ko-KR" altLang="en-US" b="1" dirty="0"/>
              <a:t>멤버변수이름</a:t>
            </a:r>
            <a:r>
              <a:rPr lang="en-US" altLang="ko-KR" b="1" dirty="0"/>
              <a:t>(){ }</a:t>
            </a:r>
          </a:p>
          <a:p>
            <a:pPr algn="ctr">
              <a:lnSpc>
                <a:spcPct val="150000"/>
              </a:lnSpc>
            </a:pPr>
            <a:r>
              <a:rPr lang="en-US" altLang="ko-KR" b="1" dirty="0"/>
              <a:t> get + </a:t>
            </a:r>
            <a:r>
              <a:rPr lang="ko-KR" altLang="en-US" b="1" dirty="0"/>
              <a:t>멤버변수이름</a:t>
            </a:r>
            <a:r>
              <a:rPr lang="en-US" altLang="ko-KR" b="1" dirty="0"/>
              <a:t>(){ };</a:t>
            </a:r>
            <a:endParaRPr lang="ko-KR" altLang="en-US" dirty="0">
              <a:latin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298" y="1744216"/>
            <a:ext cx="3936133" cy="446662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47434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정보 은닉</a:t>
            </a:r>
            <a:r>
              <a:rPr lang="en-US" altLang="ko-KR" dirty="0"/>
              <a:t>(</a:t>
            </a:r>
            <a:r>
              <a:rPr lang="ko-KR" altLang="en-US" dirty="0"/>
              <a:t>캡슐화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17488" y="1052736"/>
            <a:ext cx="7535912" cy="5161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Account </a:t>
            </a:r>
            <a:r>
              <a:rPr lang="ko-KR" altLang="en-US" sz="2000" b="1" dirty="0">
                <a:solidFill>
                  <a:srgbClr val="C00000"/>
                </a:solidFill>
              </a:rPr>
              <a:t>객체 생성</a:t>
            </a:r>
            <a:endParaRPr lang="en-US" altLang="ko-KR" sz="1800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712924"/>
            <a:ext cx="6624736" cy="35709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806019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정보 은닉</a:t>
            </a:r>
            <a:r>
              <a:rPr lang="en-US" altLang="ko-KR" dirty="0"/>
              <a:t>(</a:t>
            </a:r>
            <a:r>
              <a:rPr lang="ko-KR" altLang="en-US" dirty="0"/>
              <a:t>캡슐화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17488" y="1184636"/>
            <a:ext cx="7535912" cy="10922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매개변수 있는 </a:t>
            </a:r>
            <a:r>
              <a:rPr lang="ko-KR" altLang="en-US" sz="2000" b="1" dirty="0" err="1">
                <a:solidFill>
                  <a:srgbClr val="C00000"/>
                </a:solidFill>
              </a:rPr>
              <a:t>생성자</a:t>
            </a:r>
            <a:r>
              <a:rPr lang="ko-KR" altLang="en-US" sz="2000" b="1" dirty="0">
                <a:solidFill>
                  <a:srgbClr val="C00000"/>
                </a:solidFill>
              </a:rPr>
              <a:t> 만들기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000" b="1" dirty="0">
                <a:solidFill>
                  <a:srgbClr val="FF0000"/>
                </a:solidFill>
              </a:rPr>
              <a:t>   </a:t>
            </a:r>
            <a:r>
              <a:rPr lang="ko-KR" altLang="en-US" sz="1600" b="1" dirty="0"/>
              <a:t>매개변수 이름과 </a:t>
            </a:r>
            <a:r>
              <a:rPr lang="en-US" altLang="ko-KR" sz="1600" b="1" dirty="0"/>
              <a:t>this </a:t>
            </a:r>
            <a:r>
              <a:rPr lang="ko-KR" altLang="en-US" sz="1600" b="1" dirty="0"/>
              <a:t>멤버 이름이 같아야 한다</a:t>
            </a:r>
            <a:r>
              <a:rPr lang="en-US" altLang="ko-KR" sz="1600" b="1" dirty="0"/>
              <a:t>.   </a:t>
            </a:r>
            <a:endParaRPr lang="en-US" altLang="ko-KR" sz="14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2132856"/>
            <a:ext cx="6886141" cy="32997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016456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정보 은닉</a:t>
            </a:r>
            <a:r>
              <a:rPr lang="en-US" altLang="ko-KR" dirty="0"/>
              <a:t>(</a:t>
            </a:r>
            <a:r>
              <a:rPr lang="ko-KR" altLang="en-US" dirty="0"/>
              <a:t>캡슐화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17488" y="1112628"/>
            <a:ext cx="7535912" cy="54611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Account </a:t>
            </a:r>
            <a:r>
              <a:rPr lang="ko-KR" altLang="en-US" sz="2000" b="1" dirty="0">
                <a:solidFill>
                  <a:srgbClr val="C00000"/>
                </a:solidFill>
              </a:rPr>
              <a:t>클래스 테스트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844824"/>
            <a:ext cx="7128792" cy="214863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166" y="4199317"/>
            <a:ext cx="2552027" cy="171856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370391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객체 배열 만들기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7255" y="1039736"/>
            <a:ext cx="2059521" cy="4320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객체 배열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36576" y="1497558"/>
            <a:ext cx="7848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동일한 기본 </a:t>
            </a:r>
            <a:r>
              <a:rPr lang="ko-KR" altLang="en-US" dirty="0" err="1"/>
              <a:t>자료형</a:t>
            </a:r>
            <a:r>
              <a:rPr lang="en-US" altLang="ko-KR" dirty="0"/>
              <a:t>(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) </a:t>
            </a:r>
            <a:r>
              <a:rPr lang="ko-KR" altLang="en-US" dirty="0"/>
              <a:t>변수 여러 개를 배열로 사용할 수 있듯이 참조 </a:t>
            </a:r>
            <a:r>
              <a:rPr lang="ko-KR" altLang="en-US" dirty="0" err="1"/>
              <a:t>자료형</a:t>
            </a:r>
            <a:r>
              <a:rPr lang="ko-KR" altLang="en-US" dirty="0"/>
              <a:t> 변수도 여러 개를 배열로 사용할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956" y="2492896"/>
            <a:ext cx="7630477" cy="36004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428370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객체 배열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14194" y="1052736"/>
            <a:ext cx="7855230" cy="10081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객체 배열 만들기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ko-KR" altLang="en-US" sz="1800" dirty="0"/>
              <a:t>배열만 생성한 경우 요소는 </a:t>
            </a:r>
            <a:r>
              <a:rPr lang="en-US" altLang="ko-KR" sz="1800" dirty="0"/>
              <a:t>null</a:t>
            </a:r>
            <a:r>
              <a:rPr lang="ko-KR" altLang="en-US" sz="1800" dirty="0"/>
              <a:t>로 초기화 됨</a:t>
            </a:r>
            <a:endParaRPr lang="en-US" altLang="ko-KR" sz="1800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1741733" y="5118912"/>
          <a:ext cx="4147371" cy="5423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2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2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2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002060"/>
                          </a:solidFill>
                        </a:rPr>
                        <a:t>null</a:t>
                      </a:r>
                      <a:endParaRPr lang="ko-KR" altLang="en-US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null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null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736520" y="4725144"/>
            <a:ext cx="1300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books[0]</a:t>
            </a:r>
            <a:endParaRPr lang="ko-KR" altLang="en-US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3179552" y="4725144"/>
            <a:ext cx="1300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books[1]</a:t>
            </a:r>
            <a:endParaRPr lang="ko-KR" altLang="en-US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4515854" y="4725144"/>
            <a:ext cx="1300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books[2]</a:t>
            </a:r>
            <a:endParaRPr lang="ko-KR" altLang="en-US" sz="16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779" y="2102960"/>
            <a:ext cx="6206549" cy="23341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49062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객체 배열 만들기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30</a:t>
            </a:fld>
            <a:endParaRPr lang="ko-KR" altLang="en-US"/>
          </a:p>
        </p:txBody>
      </p:sp>
      <p:graphicFrame>
        <p:nvGraphicFramePr>
          <p:cNvPr id="41" name="표 40"/>
          <p:cNvGraphicFramePr>
            <a:graphicFrameLocks noGrp="1"/>
          </p:cNvGraphicFramePr>
          <p:nvPr/>
        </p:nvGraphicFramePr>
        <p:xfrm>
          <a:off x="1928664" y="5059278"/>
          <a:ext cx="6336705" cy="396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12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2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912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2289658" y="4594004"/>
            <a:ext cx="13337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books[0]</a:t>
            </a:r>
            <a:endParaRPr lang="ko-KR" altLang="en-US" sz="1600" dirty="0"/>
          </a:p>
        </p:txBody>
      </p:sp>
      <p:sp>
        <p:nvSpPr>
          <p:cNvPr id="47" name="모서리가 둥근 직사각형 46"/>
          <p:cNvSpPr/>
          <p:nvPr/>
        </p:nvSpPr>
        <p:spPr>
          <a:xfrm>
            <a:off x="2154696" y="5650414"/>
            <a:ext cx="1507228" cy="658906"/>
          </a:xfrm>
          <a:prstGeom prst="roundRect">
            <a:avLst>
              <a:gd name="adj" fmla="val 13110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채식주의자</a:t>
            </a:r>
            <a:endParaRPr lang="en-US" altLang="ko-KR" sz="1600" dirty="0"/>
          </a:p>
          <a:p>
            <a:pPr algn="ctr"/>
            <a:r>
              <a:rPr lang="ko-KR" altLang="en-US" sz="1600" dirty="0"/>
              <a:t>한강</a:t>
            </a:r>
          </a:p>
        </p:txBody>
      </p:sp>
      <p:sp>
        <p:nvSpPr>
          <p:cNvPr id="48" name="모서리가 둥근 직사각형 47"/>
          <p:cNvSpPr/>
          <p:nvPr/>
        </p:nvSpPr>
        <p:spPr>
          <a:xfrm>
            <a:off x="4183611" y="5650414"/>
            <a:ext cx="1826810" cy="658906"/>
          </a:xfrm>
          <a:prstGeom prst="roundRect">
            <a:avLst>
              <a:gd name="adj" fmla="val 13110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자바프로그래밍</a:t>
            </a:r>
            <a:endParaRPr lang="en-US" altLang="ko-KR" sz="1600" dirty="0"/>
          </a:p>
          <a:p>
            <a:pPr algn="ctr"/>
            <a:r>
              <a:rPr lang="ko-KR" altLang="en-US" sz="1600" dirty="0"/>
              <a:t>박응용</a:t>
            </a:r>
          </a:p>
        </p:txBody>
      </p:sp>
      <p:sp>
        <p:nvSpPr>
          <p:cNvPr id="49" name="모서리가 둥근 직사각형 48"/>
          <p:cNvSpPr/>
          <p:nvPr/>
        </p:nvSpPr>
        <p:spPr>
          <a:xfrm>
            <a:off x="6393160" y="5636798"/>
            <a:ext cx="1740191" cy="658906"/>
          </a:xfrm>
          <a:prstGeom prst="roundRect">
            <a:avLst>
              <a:gd name="adj" fmla="val 13110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모두의 </a:t>
            </a:r>
            <a:r>
              <a:rPr lang="ko-KR" altLang="en-US" sz="1600" dirty="0" err="1"/>
              <a:t>파이썬</a:t>
            </a:r>
            <a:endParaRPr lang="en-US" altLang="ko-KR" sz="1600" dirty="0"/>
          </a:p>
          <a:p>
            <a:pPr algn="ctr"/>
            <a:r>
              <a:rPr lang="ko-KR" altLang="en-US" sz="1600" dirty="0" err="1"/>
              <a:t>이승찬</a:t>
            </a:r>
            <a:endParaRPr lang="ko-KR" altLang="en-US" sz="1600" dirty="0"/>
          </a:p>
        </p:txBody>
      </p:sp>
      <p:cxnSp>
        <p:nvCxnSpPr>
          <p:cNvPr id="52" name="직선 화살표 연결선 51"/>
          <p:cNvCxnSpPr/>
          <p:nvPr/>
        </p:nvCxnSpPr>
        <p:spPr>
          <a:xfrm>
            <a:off x="2908310" y="5345496"/>
            <a:ext cx="0" cy="286944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/>
          <p:nvPr/>
        </p:nvCxnSpPr>
        <p:spPr>
          <a:xfrm>
            <a:off x="5097016" y="5312718"/>
            <a:ext cx="0" cy="286944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/>
          <p:nvPr/>
        </p:nvCxnSpPr>
        <p:spPr>
          <a:xfrm>
            <a:off x="7257256" y="5312718"/>
            <a:ext cx="0" cy="286944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430121" y="4594004"/>
            <a:ext cx="13337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books[1]</a:t>
            </a:r>
            <a:endParaRPr lang="ko-KR" altLang="en-US" sz="1600" dirty="0"/>
          </a:p>
        </p:txBody>
      </p:sp>
      <p:sp>
        <p:nvSpPr>
          <p:cNvPr id="58" name="TextBox 57"/>
          <p:cNvSpPr txBox="1"/>
          <p:nvPr/>
        </p:nvSpPr>
        <p:spPr>
          <a:xfrm>
            <a:off x="6590361" y="4594004"/>
            <a:ext cx="13337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books[2]</a:t>
            </a:r>
            <a:endParaRPr lang="ko-KR" altLang="en-US" sz="16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080" y="1160649"/>
            <a:ext cx="5378070" cy="326355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7255" y="1039736"/>
            <a:ext cx="2059521" cy="4320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객체 배열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643" y="3759297"/>
            <a:ext cx="3097781" cy="76202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229549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객체 배열 만들기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7255" y="1039736"/>
            <a:ext cx="2059521" cy="4320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객체 배열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674808"/>
            <a:ext cx="6041744" cy="18262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584" y="3861048"/>
            <a:ext cx="6041744" cy="16719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452286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클래스</a:t>
            </a:r>
            <a:r>
              <a:rPr lang="en-US" altLang="ko-KR" dirty="0"/>
              <a:t>(</a:t>
            </a:r>
            <a:r>
              <a:rPr lang="ko-KR" altLang="en-US" dirty="0"/>
              <a:t>객체</a:t>
            </a:r>
            <a:r>
              <a:rPr lang="en-US" altLang="ko-KR" dirty="0"/>
              <a:t>)</a:t>
            </a:r>
            <a:r>
              <a:rPr lang="ko-KR" altLang="en-US" dirty="0"/>
              <a:t>간 참조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1052736"/>
            <a:ext cx="2708774" cy="5868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클래스 간 참조</a:t>
            </a:r>
            <a:endParaRPr lang="en-US" altLang="ko-KR" sz="20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altLang="ko-KR" sz="2200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endParaRPr lang="en-US" altLang="ko-KR" sz="2000" dirty="0"/>
          </a:p>
        </p:txBody>
      </p:sp>
      <p:sp>
        <p:nvSpPr>
          <p:cNvPr id="8" name="직사각형 7"/>
          <p:cNvSpPr/>
          <p:nvPr/>
        </p:nvSpPr>
        <p:spPr>
          <a:xfrm>
            <a:off x="1352600" y="1841112"/>
            <a:ext cx="3123874" cy="24627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b="1" dirty="0">
                <a:latin typeface="+mn-ea"/>
              </a:rPr>
              <a:t> Point </a:t>
            </a:r>
            <a:r>
              <a:rPr lang="ko-KR" altLang="en-US" b="1" dirty="0">
                <a:latin typeface="+mn-ea"/>
              </a:rPr>
              <a:t>클래스</a:t>
            </a:r>
            <a:endParaRPr lang="en-US" altLang="ko-KR" b="1" dirty="0"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 public class Point { </a:t>
            </a:r>
            <a:r>
              <a:rPr lang="en-US" altLang="ko-KR" dirty="0">
                <a:solidFill>
                  <a:srgbClr val="00B050"/>
                </a:solidFill>
                <a:latin typeface="+mn-ea"/>
              </a:rPr>
              <a:t>//</a:t>
            </a:r>
            <a:r>
              <a:rPr lang="ko-KR" altLang="en-US" dirty="0">
                <a:solidFill>
                  <a:srgbClr val="00B050"/>
                </a:solidFill>
                <a:latin typeface="+mn-ea"/>
              </a:rPr>
              <a:t>점</a:t>
            </a:r>
            <a:endParaRPr lang="en-US" altLang="ko-KR" dirty="0">
              <a:solidFill>
                <a:srgbClr val="00B050"/>
              </a:solidFill>
              <a:latin typeface="+mn-ea"/>
            </a:endParaRPr>
          </a:p>
          <a:p>
            <a:r>
              <a:rPr lang="en-US" altLang="ko-KR" dirty="0">
                <a:latin typeface="+mn-ea"/>
              </a:rPr>
              <a:t>     </a:t>
            </a:r>
            <a:r>
              <a:rPr lang="en-US" altLang="ko-KR" dirty="0" err="1">
                <a:latin typeface="+mn-ea"/>
              </a:rPr>
              <a:t>int</a:t>
            </a:r>
            <a:r>
              <a:rPr lang="en-US" altLang="ko-KR" dirty="0">
                <a:latin typeface="+mn-ea"/>
              </a:rPr>
              <a:t> x;</a:t>
            </a:r>
          </a:p>
          <a:p>
            <a:r>
              <a:rPr lang="en-US" altLang="ko-KR" dirty="0">
                <a:latin typeface="+mn-ea"/>
              </a:rPr>
              <a:t>     </a:t>
            </a:r>
            <a:r>
              <a:rPr lang="en-US" altLang="ko-KR" dirty="0" err="1">
                <a:latin typeface="+mn-ea"/>
              </a:rPr>
              <a:t>int</a:t>
            </a:r>
            <a:r>
              <a:rPr lang="en-US" altLang="ko-KR" dirty="0">
                <a:latin typeface="+mn-ea"/>
              </a:rPr>
              <a:t> y;</a:t>
            </a:r>
          </a:p>
          <a:p>
            <a:r>
              <a:rPr lang="en-US" altLang="ko-KR" dirty="0">
                <a:latin typeface="+mn-ea"/>
              </a:rPr>
              <a:t> }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5157864" y="1840098"/>
            <a:ext cx="3251520" cy="24637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b="1" dirty="0">
                <a:latin typeface="+mn-ea"/>
              </a:rPr>
              <a:t> Circle</a:t>
            </a:r>
            <a:r>
              <a:rPr lang="ko-KR" altLang="en-US" b="1" dirty="0">
                <a:latin typeface="+mn-ea"/>
              </a:rPr>
              <a:t> 클래스</a:t>
            </a:r>
            <a:endParaRPr lang="en-US" altLang="ko-KR" b="1" dirty="0"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 public class Circle { </a:t>
            </a:r>
            <a:r>
              <a:rPr lang="en-US" altLang="ko-KR" dirty="0">
                <a:solidFill>
                  <a:srgbClr val="00B050"/>
                </a:solidFill>
                <a:latin typeface="+mn-ea"/>
              </a:rPr>
              <a:t>//</a:t>
            </a:r>
            <a:r>
              <a:rPr lang="ko-KR" altLang="en-US" dirty="0">
                <a:solidFill>
                  <a:srgbClr val="00B050"/>
                </a:solidFill>
                <a:latin typeface="+mn-ea"/>
              </a:rPr>
              <a:t>원</a:t>
            </a:r>
            <a:endParaRPr lang="en-US" altLang="ko-KR" dirty="0">
              <a:solidFill>
                <a:srgbClr val="00B050"/>
              </a:solidFill>
              <a:latin typeface="+mn-ea"/>
            </a:endParaRPr>
          </a:p>
          <a:p>
            <a:r>
              <a:rPr lang="en-US" altLang="ko-KR" dirty="0">
                <a:latin typeface="+mn-ea"/>
              </a:rPr>
              <a:t>     </a:t>
            </a:r>
            <a:r>
              <a:rPr lang="en-US" altLang="ko-KR" b="1" dirty="0">
                <a:latin typeface="+mn-ea"/>
              </a:rPr>
              <a:t>Point</a:t>
            </a:r>
            <a:r>
              <a:rPr lang="en-US" altLang="ko-KR" dirty="0">
                <a:latin typeface="+mn-ea"/>
              </a:rPr>
              <a:t> center;  </a:t>
            </a:r>
            <a:r>
              <a:rPr lang="en-US" altLang="ko-KR" dirty="0">
                <a:solidFill>
                  <a:srgbClr val="00B050"/>
                </a:solidFill>
                <a:latin typeface="+mn-ea"/>
              </a:rPr>
              <a:t>//</a:t>
            </a:r>
            <a:r>
              <a:rPr lang="ko-KR" altLang="en-US" dirty="0">
                <a:solidFill>
                  <a:srgbClr val="00B050"/>
                </a:solidFill>
                <a:latin typeface="+mn-ea"/>
              </a:rPr>
              <a:t>중심점</a:t>
            </a:r>
            <a:endParaRPr lang="en-US" altLang="ko-KR" dirty="0">
              <a:solidFill>
                <a:srgbClr val="00B050"/>
              </a:solidFill>
              <a:latin typeface="+mn-ea"/>
            </a:endParaRPr>
          </a:p>
          <a:p>
            <a:r>
              <a:rPr lang="en-US" altLang="ko-KR" dirty="0">
                <a:latin typeface="+mn-ea"/>
              </a:rPr>
              <a:t>     </a:t>
            </a:r>
            <a:r>
              <a:rPr lang="en-US" altLang="ko-KR" dirty="0" err="1">
                <a:latin typeface="+mn-ea"/>
              </a:rPr>
              <a:t>int</a:t>
            </a:r>
            <a:r>
              <a:rPr lang="en-US" altLang="ko-KR" dirty="0">
                <a:latin typeface="+mn-ea"/>
              </a:rPr>
              <a:t> radius;     </a:t>
            </a:r>
            <a:r>
              <a:rPr lang="en-US" altLang="ko-KR" dirty="0">
                <a:solidFill>
                  <a:srgbClr val="00B050"/>
                </a:solidFill>
                <a:latin typeface="+mn-ea"/>
              </a:rPr>
              <a:t>//</a:t>
            </a:r>
            <a:r>
              <a:rPr lang="ko-KR" altLang="en-US" dirty="0">
                <a:solidFill>
                  <a:srgbClr val="00B050"/>
                </a:solidFill>
                <a:latin typeface="+mn-ea"/>
              </a:rPr>
              <a:t>반지름</a:t>
            </a:r>
            <a:endParaRPr lang="en-US" altLang="ko-KR" dirty="0">
              <a:solidFill>
                <a:srgbClr val="00B050"/>
              </a:solidFill>
              <a:latin typeface="+mn-ea"/>
            </a:endParaRPr>
          </a:p>
          <a:p>
            <a:r>
              <a:rPr lang="en-US" altLang="ko-KR" dirty="0">
                <a:latin typeface="+mn-ea"/>
              </a:rPr>
              <a:t> }</a:t>
            </a:r>
            <a:endParaRPr lang="ko-KR" altLang="en-US" dirty="0">
              <a:latin typeface="+mn-ea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5472663" y="3032186"/>
            <a:ext cx="848489" cy="335568"/>
          </a:xfrm>
          <a:prstGeom prst="roundRect">
            <a:avLst>
              <a:gd name="adj" fmla="val 13110"/>
            </a:avLst>
          </a:prstGeom>
          <a:noFill/>
          <a:ln w="28575">
            <a:solidFill>
              <a:srgbClr val="E46C0A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296816" y="4527856"/>
            <a:ext cx="3368770" cy="374571"/>
          </a:xfrm>
          <a:prstGeom prst="roundRect">
            <a:avLst/>
          </a:prstGeom>
          <a:ln>
            <a:solidFill>
              <a:srgbClr val="E46C0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Point </a:t>
            </a:r>
            <a:r>
              <a:rPr lang="ko-KR" altLang="en-US" sz="1600" dirty="0"/>
              <a:t>클래스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자료형</a:t>
            </a:r>
            <a:r>
              <a:rPr lang="en-US" altLang="ko-KR" sz="1600" dirty="0"/>
              <a:t>)</a:t>
            </a:r>
            <a:r>
              <a:rPr lang="ko-KR" altLang="en-US" sz="1600" dirty="0"/>
              <a:t>를 참조</a:t>
            </a:r>
          </a:p>
        </p:txBody>
      </p:sp>
      <p:cxnSp>
        <p:nvCxnSpPr>
          <p:cNvPr id="3" name="직선 화살표 연결선 2"/>
          <p:cNvCxnSpPr/>
          <p:nvPr/>
        </p:nvCxnSpPr>
        <p:spPr>
          <a:xfrm>
            <a:off x="4160912" y="3221709"/>
            <a:ext cx="1311751" cy="0"/>
          </a:xfrm>
          <a:prstGeom prst="straightConnector1">
            <a:avLst/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2930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클래스</a:t>
            </a:r>
            <a:r>
              <a:rPr lang="en-US" altLang="ko-KR" dirty="0"/>
              <a:t>(</a:t>
            </a:r>
            <a:r>
              <a:rPr lang="ko-KR" altLang="en-US" dirty="0"/>
              <a:t>객체</a:t>
            </a:r>
            <a:r>
              <a:rPr lang="en-US" altLang="ko-KR" dirty="0"/>
              <a:t>)</a:t>
            </a:r>
            <a:r>
              <a:rPr lang="ko-KR" altLang="en-US" dirty="0"/>
              <a:t>간 참조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980728"/>
            <a:ext cx="2291792" cy="5969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002060"/>
                </a:solidFill>
              </a:rPr>
              <a:t>Point </a:t>
            </a:r>
            <a:r>
              <a:rPr lang="ko-KR" altLang="en-US" sz="2000" b="1" dirty="0">
                <a:solidFill>
                  <a:srgbClr val="002060"/>
                </a:solidFill>
              </a:rPr>
              <a:t>클래스</a:t>
            </a:r>
            <a:endParaRPr lang="en-US" altLang="ko-KR" sz="2200" b="1" dirty="0">
              <a:solidFill>
                <a:srgbClr val="00206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577680"/>
            <a:ext cx="4104456" cy="437003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750251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클래스</a:t>
            </a:r>
            <a:r>
              <a:rPr lang="en-US" altLang="ko-KR" dirty="0"/>
              <a:t>(</a:t>
            </a:r>
            <a:r>
              <a:rPr lang="ko-KR" altLang="en-US" dirty="0"/>
              <a:t>객체</a:t>
            </a:r>
            <a:r>
              <a:rPr lang="en-US" altLang="ko-KR" dirty="0"/>
              <a:t>)</a:t>
            </a:r>
            <a:r>
              <a:rPr lang="ko-KR" altLang="en-US" dirty="0"/>
              <a:t>간 참조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980728"/>
            <a:ext cx="2291792" cy="5969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002060"/>
                </a:solidFill>
              </a:rPr>
              <a:t>Circle </a:t>
            </a:r>
            <a:r>
              <a:rPr lang="ko-KR" altLang="en-US" sz="2000" b="1" dirty="0">
                <a:solidFill>
                  <a:srgbClr val="002060"/>
                </a:solidFill>
              </a:rPr>
              <a:t>클래스</a:t>
            </a:r>
            <a:endParaRPr lang="en-US" altLang="ko-KR" sz="2200" b="1" dirty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196" y="1628800"/>
            <a:ext cx="7685244" cy="329252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423217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클래스</a:t>
            </a:r>
            <a:r>
              <a:rPr lang="en-US" altLang="ko-KR" dirty="0"/>
              <a:t>(</a:t>
            </a:r>
            <a:r>
              <a:rPr lang="ko-KR" altLang="en-US" dirty="0"/>
              <a:t>객체</a:t>
            </a:r>
            <a:r>
              <a:rPr lang="en-US" altLang="ko-KR" dirty="0"/>
              <a:t>)</a:t>
            </a:r>
            <a:r>
              <a:rPr lang="ko-KR" altLang="en-US" dirty="0"/>
              <a:t>간 참조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980728"/>
            <a:ext cx="4032448" cy="5969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>
                <a:solidFill>
                  <a:srgbClr val="002060"/>
                </a:solidFill>
              </a:rPr>
              <a:t>Circle </a:t>
            </a:r>
            <a:r>
              <a:rPr lang="ko-KR" altLang="en-US" sz="2000" b="1" dirty="0">
                <a:solidFill>
                  <a:srgbClr val="002060"/>
                </a:solidFill>
              </a:rPr>
              <a:t>테스트</a:t>
            </a:r>
            <a:endParaRPr lang="en-US" altLang="ko-KR" sz="2200" b="1" dirty="0">
              <a:solidFill>
                <a:srgbClr val="00206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581223"/>
            <a:ext cx="7701764" cy="27842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600" y="4447241"/>
            <a:ext cx="4752528" cy="8695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768904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 클래스</a:t>
            </a:r>
            <a:r>
              <a:rPr lang="en-US" altLang="ko-KR" dirty="0"/>
              <a:t>(</a:t>
            </a:r>
            <a:r>
              <a:rPr lang="ko-KR" altLang="en-US" dirty="0" err="1"/>
              <a:t>자료형</a:t>
            </a:r>
            <a:r>
              <a:rPr lang="en-US" altLang="ko-KR" dirty="0"/>
              <a:t>)</a:t>
            </a:r>
            <a:r>
              <a:rPr lang="ko-KR" altLang="en-US" dirty="0"/>
              <a:t> 참조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1013641" y="1549818"/>
            <a:ext cx="2160240" cy="1443222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600" dirty="0">
                <a:latin typeface="+mn-ea"/>
              </a:rPr>
              <a:t> 학번</a:t>
            </a:r>
            <a:endParaRPr lang="en-US" altLang="ko-KR" sz="1600" dirty="0">
              <a:latin typeface="+mn-ea"/>
            </a:endParaRPr>
          </a:p>
          <a:p>
            <a:r>
              <a:rPr lang="ko-KR" altLang="en-US" sz="1600" dirty="0">
                <a:latin typeface="+mn-ea"/>
              </a:rPr>
              <a:t> 학생 이름</a:t>
            </a:r>
            <a:endParaRPr lang="en-US" altLang="ko-KR" sz="1600" dirty="0">
              <a:latin typeface="+mn-ea"/>
            </a:endParaRPr>
          </a:p>
          <a:p>
            <a:r>
              <a:rPr lang="ko-KR" altLang="en-US" sz="1600" dirty="0">
                <a:latin typeface="+mn-ea"/>
              </a:rPr>
              <a:t> 국어 성적</a:t>
            </a:r>
            <a:endParaRPr lang="en-US" altLang="ko-KR" sz="1600" dirty="0">
              <a:latin typeface="+mn-ea"/>
            </a:endParaRPr>
          </a:p>
          <a:p>
            <a:r>
              <a:rPr lang="ko-KR" altLang="en-US" sz="1600" dirty="0">
                <a:latin typeface="+mn-ea"/>
              </a:rPr>
              <a:t> 수학 성적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528299" y="1180486"/>
            <a:ext cx="781486" cy="33855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학생</a:t>
            </a:r>
            <a:endParaRPr lang="en-US" altLang="ko-KR" sz="1600" dirty="0"/>
          </a:p>
        </p:txBody>
      </p:sp>
      <p:sp>
        <p:nvSpPr>
          <p:cNvPr id="24" name="직사각형 23"/>
          <p:cNvSpPr/>
          <p:nvPr/>
        </p:nvSpPr>
        <p:spPr>
          <a:xfrm>
            <a:off x="3749945" y="1549818"/>
            <a:ext cx="2160240" cy="1443222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600" dirty="0">
                <a:latin typeface="+mn-ea"/>
              </a:rPr>
              <a:t> 학번</a:t>
            </a:r>
            <a:endParaRPr lang="en-US" altLang="ko-KR" sz="1600" dirty="0">
              <a:latin typeface="+mn-ea"/>
            </a:endParaRPr>
          </a:p>
          <a:p>
            <a:r>
              <a:rPr lang="ko-KR" altLang="en-US" sz="1600" dirty="0">
                <a:latin typeface="+mn-ea"/>
              </a:rPr>
              <a:t> 학생 이름</a:t>
            </a:r>
            <a:endParaRPr lang="en-US" altLang="ko-KR" sz="1600" dirty="0">
              <a:latin typeface="+mn-ea"/>
            </a:endParaRPr>
          </a:p>
          <a:p>
            <a:r>
              <a:rPr lang="ko-KR" altLang="en-US" sz="1600" dirty="0">
                <a:latin typeface="+mn-ea"/>
              </a:rPr>
              <a:t> 국어 과목</a:t>
            </a:r>
            <a:endParaRPr lang="en-US" altLang="ko-KR" sz="1600" dirty="0">
              <a:latin typeface="+mn-ea"/>
            </a:endParaRPr>
          </a:p>
          <a:p>
            <a:r>
              <a:rPr lang="ko-KR" altLang="en-US" sz="1600" dirty="0">
                <a:latin typeface="+mn-ea"/>
              </a:rPr>
              <a:t> 수학 과목</a:t>
            </a:r>
            <a:endParaRPr lang="en-US" altLang="ko-KR" sz="1600" dirty="0">
              <a:latin typeface="+mn-ea"/>
            </a:endParaRPr>
          </a:p>
          <a:p>
            <a:endParaRPr lang="en-US" altLang="ko-KR" sz="1600" dirty="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64603" y="1180486"/>
            <a:ext cx="781486" cy="33855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학생</a:t>
            </a:r>
            <a:endParaRPr lang="en-US" altLang="ko-KR" sz="1600" dirty="0"/>
          </a:p>
        </p:txBody>
      </p:sp>
      <p:sp>
        <p:nvSpPr>
          <p:cNvPr id="26" name="직사각형 25"/>
          <p:cNvSpPr/>
          <p:nvPr/>
        </p:nvSpPr>
        <p:spPr>
          <a:xfrm>
            <a:off x="6393160" y="1549818"/>
            <a:ext cx="2160240" cy="1443222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600" dirty="0">
                <a:latin typeface="+mn-ea"/>
              </a:rPr>
              <a:t> 과목 이름</a:t>
            </a:r>
            <a:endParaRPr lang="en-US" altLang="ko-KR" sz="1600" dirty="0">
              <a:latin typeface="+mn-ea"/>
            </a:endParaRPr>
          </a:p>
          <a:p>
            <a:r>
              <a:rPr lang="ko-KR" altLang="en-US" sz="1600" dirty="0">
                <a:latin typeface="+mn-ea"/>
              </a:rPr>
              <a:t> 과목 점수</a:t>
            </a:r>
            <a:endParaRPr lang="en-US" altLang="ko-KR" sz="1600" dirty="0">
              <a:latin typeface="+mn-ea"/>
            </a:endParaRPr>
          </a:p>
          <a:p>
            <a:endParaRPr lang="en-US" altLang="ko-KR" sz="1600" dirty="0">
              <a:latin typeface="+mn-ea"/>
            </a:endParaRPr>
          </a:p>
          <a:p>
            <a:endParaRPr lang="en-US" altLang="ko-KR" sz="1600" dirty="0">
              <a:latin typeface="+mn-ea"/>
            </a:endParaRPr>
          </a:p>
          <a:p>
            <a:endParaRPr lang="ko-KR" altLang="en-US" sz="1600" dirty="0">
              <a:latin typeface="+mn-ea"/>
            </a:endParaRPr>
          </a:p>
        </p:txBody>
      </p:sp>
      <p:sp>
        <p:nvSpPr>
          <p:cNvPr id="28" name="아래쪽 화살표 27"/>
          <p:cNvSpPr/>
          <p:nvPr/>
        </p:nvSpPr>
        <p:spPr>
          <a:xfrm rot="16200000">
            <a:off x="3384736" y="2046375"/>
            <a:ext cx="192406" cy="434585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9" name="TextBox 28"/>
          <p:cNvSpPr txBox="1"/>
          <p:nvPr/>
        </p:nvSpPr>
        <p:spPr>
          <a:xfrm>
            <a:off x="5971143" y="2079001"/>
            <a:ext cx="365279" cy="33855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+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761613" y="5157192"/>
            <a:ext cx="856895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rgbClr val="002060"/>
                </a:solidFill>
              </a:rPr>
              <a:t>     </a:t>
            </a:r>
            <a:r>
              <a:rPr lang="ko-KR" altLang="en-US" b="1" dirty="0">
                <a:solidFill>
                  <a:srgbClr val="002060"/>
                </a:solidFill>
              </a:rPr>
              <a:t>문제점 </a:t>
            </a:r>
            <a:r>
              <a:rPr lang="en-US" altLang="ko-KR" b="1" dirty="0">
                <a:solidFill>
                  <a:srgbClr val="002060"/>
                </a:solidFill>
              </a:rPr>
              <a:t>: </a:t>
            </a:r>
            <a:r>
              <a:rPr lang="ko-KR" altLang="en-US" b="1" dirty="0">
                <a:solidFill>
                  <a:srgbClr val="002060"/>
                </a:solidFill>
              </a:rPr>
              <a:t>이 클래스는 학생에 대한 클래스인데 과목 변수가 계속 늘어남</a:t>
            </a:r>
            <a:endParaRPr lang="en-US" altLang="ko-KR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rgbClr val="002060"/>
                </a:solidFill>
              </a:rPr>
              <a:t>     </a:t>
            </a:r>
            <a:r>
              <a:rPr lang="ko-KR" altLang="en-US" b="1" dirty="0">
                <a:solidFill>
                  <a:srgbClr val="002060"/>
                </a:solidFill>
              </a:rPr>
              <a:t>해결책 </a:t>
            </a:r>
            <a:r>
              <a:rPr lang="en-US" altLang="ko-KR" b="1" dirty="0">
                <a:solidFill>
                  <a:srgbClr val="002060"/>
                </a:solidFill>
              </a:rPr>
              <a:t>: </a:t>
            </a:r>
            <a:r>
              <a:rPr lang="ko-KR" altLang="en-US" b="1" dirty="0">
                <a:solidFill>
                  <a:srgbClr val="002060"/>
                </a:solidFill>
              </a:rPr>
              <a:t>과목이름과 성적을 과목</a:t>
            </a:r>
            <a:r>
              <a:rPr lang="en-US" altLang="ko-KR" b="1" dirty="0">
                <a:solidFill>
                  <a:srgbClr val="002060"/>
                </a:solidFill>
              </a:rPr>
              <a:t>(Subject) </a:t>
            </a:r>
            <a:r>
              <a:rPr lang="ko-KR" altLang="en-US" b="1" dirty="0">
                <a:solidFill>
                  <a:srgbClr val="002060"/>
                </a:solidFill>
              </a:rPr>
              <a:t>클래스로 분리함</a:t>
            </a:r>
            <a:r>
              <a:rPr lang="en-US" altLang="ko-KR" b="1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3749945" y="3569954"/>
            <a:ext cx="2160240" cy="1443222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600" dirty="0">
                <a:latin typeface="+mn-ea"/>
              </a:rPr>
              <a:t> </a:t>
            </a:r>
            <a:r>
              <a:rPr lang="en-US" altLang="ko-KR" sz="1600" dirty="0" err="1">
                <a:latin typeface="+mn-ea"/>
              </a:rPr>
              <a:t>int</a:t>
            </a:r>
            <a:r>
              <a:rPr lang="en-US" altLang="ko-KR" sz="1600" dirty="0">
                <a:latin typeface="+mn-ea"/>
              </a:rPr>
              <a:t> </a:t>
            </a:r>
            <a:r>
              <a:rPr lang="en-US" altLang="ko-KR" sz="1600" dirty="0" err="1">
                <a:latin typeface="+mn-ea"/>
              </a:rPr>
              <a:t>studentID</a:t>
            </a:r>
            <a:endParaRPr lang="en-US" altLang="ko-KR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 String </a:t>
            </a:r>
            <a:r>
              <a:rPr lang="en-US" altLang="ko-KR" sz="1600" dirty="0" err="1">
                <a:latin typeface="+mn-ea"/>
              </a:rPr>
              <a:t>studentName</a:t>
            </a:r>
            <a:endParaRPr lang="en-US" altLang="ko-KR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 Subject Korean</a:t>
            </a:r>
          </a:p>
          <a:p>
            <a:r>
              <a:rPr lang="en-US" altLang="ko-KR" sz="1600" dirty="0">
                <a:latin typeface="+mn-ea"/>
              </a:rPr>
              <a:t> Subject math</a:t>
            </a:r>
          </a:p>
          <a:p>
            <a:endParaRPr lang="en-US" altLang="ko-KR" sz="1600" dirty="0">
              <a:latin typeface="+mn-ea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264603" y="3200622"/>
            <a:ext cx="976430" cy="33855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Student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6393160" y="3569954"/>
            <a:ext cx="2160240" cy="1443222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600" dirty="0">
                <a:latin typeface="+mn-ea"/>
              </a:rPr>
              <a:t> String </a:t>
            </a:r>
            <a:r>
              <a:rPr lang="en-US" altLang="ko-KR" sz="1600" dirty="0" err="1">
                <a:latin typeface="+mn-ea"/>
              </a:rPr>
              <a:t>subjectName</a:t>
            </a:r>
            <a:endParaRPr lang="en-US" altLang="ko-KR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 </a:t>
            </a:r>
            <a:r>
              <a:rPr lang="en-US" altLang="ko-KR" sz="1600" dirty="0" err="1">
                <a:latin typeface="+mn-ea"/>
              </a:rPr>
              <a:t>int</a:t>
            </a:r>
            <a:r>
              <a:rPr lang="en-US" altLang="ko-KR" sz="1600" dirty="0">
                <a:latin typeface="+mn-ea"/>
              </a:rPr>
              <a:t> </a:t>
            </a:r>
            <a:r>
              <a:rPr lang="en-US" altLang="ko-KR" sz="1600" dirty="0" err="1">
                <a:latin typeface="+mn-ea"/>
              </a:rPr>
              <a:t>scorePoint</a:t>
            </a:r>
            <a:endParaRPr lang="en-US" altLang="ko-KR" sz="1600" dirty="0">
              <a:latin typeface="+mn-ea"/>
            </a:endParaRPr>
          </a:p>
          <a:p>
            <a:endParaRPr lang="en-US" altLang="ko-KR" sz="1600" dirty="0">
              <a:latin typeface="+mn-ea"/>
            </a:endParaRPr>
          </a:p>
          <a:p>
            <a:endParaRPr lang="en-US" altLang="ko-KR" sz="1600" dirty="0">
              <a:latin typeface="+mn-ea"/>
            </a:endParaRPr>
          </a:p>
          <a:p>
            <a:endParaRPr lang="ko-KR" altLang="en-US" sz="1600" dirty="0"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971143" y="4099137"/>
            <a:ext cx="365279" cy="33855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+</a:t>
            </a:r>
          </a:p>
        </p:txBody>
      </p:sp>
      <p:cxnSp>
        <p:nvCxnSpPr>
          <p:cNvPr id="44" name="직선 화살표 연결선 43"/>
          <p:cNvCxnSpPr/>
          <p:nvPr/>
        </p:nvCxnSpPr>
        <p:spPr>
          <a:xfrm flipH="1">
            <a:off x="5536276" y="3381457"/>
            <a:ext cx="1356933" cy="970345"/>
          </a:xfrm>
          <a:prstGeom prst="straightConnector1">
            <a:avLst/>
          </a:prstGeom>
          <a:ln w="19050">
            <a:solidFill>
              <a:srgbClr val="E46C0A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846290" y="3200622"/>
            <a:ext cx="976430" cy="33855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Subject</a:t>
            </a:r>
          </a:p>
        </p:txBody>
      </p:sp>
      <p:sp>
        <p:nvSpPr>
          <p:cNvPr id="46" name="모서리가 둥근 직사각형 45"/>
          <p:cNvSpPr/>
          <p:nvPr/>
        </p:nvSpPr>
        <p:spPr>
          <a:xfrm>
            <a:off x="3847586" y="4175708"/>
            <a:ext cx="1631952" cy="617943"/>
          </a:xfrm>
          <a:prstGeom prst="roundRect">
            <a:avLst>
              <a:gd name="adj" fmla="val 13110"/>
            </a:avLst>
          </a:prstGeom>
          <a:noFill/>
          <a:ln w="19050">
            <a:solidFill>
              <a:srgbClr val="E46C0A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6943762" y="1180486"/>
            <a:ext cx="781486" cy="33855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과목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9080307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클래스</a:t>
            </a:r>
            <a:r>
              <a:rPr lang="en-US" altLang="ko-KR" dirty="0"/>
              <a:t>(</a:t>
            </a:r>
            <a:r>
              <a:rPr lang="ko-KR" altLang="en-US" dirty="0" err="1"/>
              <a:t>자료형</a:t>
            </a:r>
            <a:r>
              <a:rPr lang="en-US" altLang="ko-KR" dirty="0"/>
              <a:t>)</a:t>
            </a:r>
            <a:r>
              <a:rPr lang="ko-KR" altLang="en-US" dirty="0"/>
              <a:t> 참조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908720"/>
            <a:ext cx="2075768" cy="5969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2060"/>
                </a:solidFill>
              </a:rPr>
              <a:t>과목 클래스</a:t>
            </a:r>
            <a:endParaRPr lang="en-US" altLang="ko-KR" sz="2000" dirty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433664"/>
            <a:ext cx="5643159" cy="475252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631938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클래스</a:t>
            </a:r>
            <a:r>
              <a:rPr lang="en-US" altLang="ko-KR" dirty="0"/>
              <a:t>(</a:t>
            </a:r>
            <a:r>
              <a:rPr lang="ko-KR" altLang="en-US" dirty="0" err="1"/>
              <a:t>자료형</a:t>
            </a:r>
            <a:r>
              <a:rPr lang="en-US" altLang="ko-KR" dirty="0"/>
              <a:t>)</a:t>
            </a:r>
            <a:r>
              <a:rPr lang="ko-KR" altLang="en-US" dirty="0"/>
              <a:t> 참조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908720"/>
            <a:ext cx="1800200" cy="5969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2060"/>
                </a:solidFill>
              </a:rPr>
              <a:t>학생 클래스</a:t>
            </a:r>
            <a:endParaRPr lang="en-US" altLang="ko-KR" sz="2000" dirty="0">
              <a:solidFill>
                <a:srgbClr val="002060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505672"/>
            <a:ext cx="6699171" cy="43204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936457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클래스</a:t>
            </a:r>
            <a:r>
              <a:rPr lang="en-US" altLang="ko-KR" dirty="0"/>
              <a:t>(</a:t>
            </a:r>
            <a:r>
              <a:rPr lang="ko-KR" altLang="en-US" dirty="0" err="1"/>
              <a:t>자료형</a:t>
            </a:r>
            <a:r>
              <a:rPr lang="en-US" altLang="ko-KR" dirty="0"/>
              <a:t>)</a:t>
            </a:r>
            <a:r>
              <a:rPr lang="ko-KR" altLang="en-US" dirty="0"/>
              <a:t> 참조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908720"/>
            <a:ext cx="1800200" cy="5969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2060"/>
                </a:solidFill>
              </a:rPr>
              <a:t>학생 클래스</a:t>
            </a:r>
            <a:endParaRPr lang="en-US" altLang="ko-KR" sz="2000" dirty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412777"/>
            <a:ext cx="7240976" cy="39604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898589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클래스</a:t>
            </a:r>
            <a:r>
              <a:rPr lang="en-US" altLang="ko-KR" dirty="0"/>
              <a:t>(</a:t>
            </a:r>
            <a:r>
              <a:rPr lang="ko-KR" altLang="en-US" dirty="0" err="1"/>
              <a:t>자료형</a:t>
            </a:r>
            <a:r>
              <a:rPr lang="en-US" altLang="ko-KR" dirty="0"/>
              <a:t>)</a:t>
            </a:r>
            <a:r>
              <a:rPr lang="ko-KR" altLang="en-US" dirty="0"/>
              <a:t> 참조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908720"/>
            <a:ext cx="2952328" cy="5969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solidFill>
                  <a:srgbClr val="002060"/>
                </a:solidFill>
              </a:rPr>
              <a:t>ScoreMain</a:t>
            </a:r>
            <a:r>
              <a:rPr lang="en-US" altLang="ko-KR" sz="2000" dirty="0">
                <a:solidFill>
                  <a:srgbClr val="002060"/>
                </a:solidFill>
              </a:rPr>
              <a:t> </a:t>
            </a:r>
            <a:r>
              <a:rPr lang="ko-KR" altLang="en-US" sz="2000" dirty="0">
                <a:solidFill>
                  <a:srgbClr val="002060"/>
                </a:solidFill>
              </a:rPr>
              <a:t>테스트</a:t>
            </a:r>
            <a:endParaRPr lang="en-US" altLang="ko-KR" sz="2000" dirty="0">
              <a:solidFill>
                <a:srgbClr val="00206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505672"/>
            <a:ext cx="6120680" cy="373233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467" y="4075747"/>
            <a:ext cx="2438981" cy="208955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427924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배열로 성적 관리하기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980728"/>
            <a:ext cx="6192688" cy="5388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학생 성적 출력 프로그램</a:t>
            </a:r>
            <a:r>
              <a:rPr lang="en-US" altLang="ko-KR" sz="2000" b="1" dirty="0">
                <a:solidFill>
                  <a:srgbClr val="C00000"/>
                </a:solidFill>
              </a:rPr>
              <a:t>(</a:t>
            </a:r>
            <a:r>
              <a:rPr lang="ko-KR" altLang="en-US" sz="2000" b="1" dirty="0">
                <a:solidFill>
                  <a:srgbClr val="C00000"/>
                </a:solidFill>
              </a:rPr>
              <a:t>배열로 구현 </a:t>
            </a:r>
            <a:r>
              <a:rPr lang="en-US" altLang="ko-KR" sz="2000" b="1" dirty="0">
                <a:solidFill>
                  <a:srgbClr val="C00000"/>
                </a:solidFill>
              </a:rPr>
              <a:t>)</a:t>
            </a:r>
            <a:endParaRPr lang="en-US" altLang="ko-KR" sz="20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altLang="ko-KR" sz="2000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endParaRPr lang="en-US" altLang="ko-KR" sz="18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519546"/>
            <a:ext cx="5572620" cy="500579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368253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배열로 성적 관리하기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980728"/>
            <a:ext cx="6192688" cy="5388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학생 성적 출력 프로그램</a:t>
            </a:r>
            <a:r>
              <a:rPr lang="en-US" altLang="ko-KR" sz="2000" b="1" dirty="0">
                <a:solidFill>
                  <a:srgbClr val="C00000"/>
                </a:solidFill>
              </a:rPr>
              <a:t>(</a:t>
            </a:r>
            <a:r>
              <a:rPr lang="ko-KR" altLang="en-US" sz="2000" b="1" dirty="0">
                <a:solidFill>
                  <a:srgbClr val="C00000"/>
                </a:solidFill>
              </a:rPr>
              <a:t>배열로 구현 </a:t>
            </a:r>
            <a:r>
              <a:rPr lang="en-US" altLang="ko-KR" sz="2000" b="1" dirty="0">
                <a:solidFill>
                  <a:srgbClr val="C00000"/>
                </a:solidFill>
              </a:rPr>
              <a:t>)</a:t>
            </a:r>
            <a:endParaRPr lang="en-US" altLang="ko-KR" sz="20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altLang="ko-KR" sz="2000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endParaRPr lang="en-US" altLang="ko-KR" sz="18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547782"/>
            <a:ext cx="6386101" cy="493378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055849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배열로 성적 관리하기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980728"/>
            <a:ext cx="6192688" cy="5388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>
                <a:solidFill>
                  <a:srgbClr val="C00000"/>
                </a:solidFill>
              </a:rPr>
              <a:t>ScoreMain</a:t>
            </a: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테스트</a:t>
            </a:r>
            <a:endParaRPr lang="en-US" altLang="ko-KR" sz="20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altLang="ko-KR" sz="2000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endParaRPr lang="en-US" altLang="ko-KR" sz="18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978" y="1519547"/>
            <a:ext cx="5773278" cy="479291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240" y="3429000"/>
            <a:ext cx="2422067" cy="26825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318946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729456" y="1124744"/>
            <a:ext cx="8616032" cy="5311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사람이 버스나 지하철을 타는 상황을 객체 지향으로 프로그래밍하기</a:t>
            </a:r>
            <a:endParaRPr lang="en-US" altLang="ko-KR" sz="2000" b="1" dirty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객체 간 협력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776304" y="3033300"/>
            <a:ext cx="1296144" cy="122413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이름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가진 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5417" y="2591960"/>
            <a:ext cx="777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사람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5160680" y="2097196"/>
            <a:ext cx="1296144" cy="122413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버스번호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승객 수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수입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9793" y="1655856"/>
            <a:ext cx="777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버스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5160680" y="4449228"/>
            <a:ext cx="1296144" cy="122413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노선번호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승객 수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수입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7785" y="4007888"/>
            <a:ext cx="893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지하철</a:t>
            </a:r>
            <a:endParaRPr lang="ko-KR" altLang="en-US" dirty="0"/>
          </a:p>
        </p:txBody>
      </p:sp>
      <p:cxnSp>
        <p:nvCxnSpPr>
          <p:cNvPr id="4" name="직선 화살표 연결선 3"/>
          <p:cNvCxnSpPr/>
          <p:nvPr/>
        </p:nvCxnSpPr>
        <p:spPr>
          <a:xfrm flipV="1">
            <a:off x="3216464" y="2745268"/>
            <a:ext cx="1872208" cy="756084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>
            <a:off x="3216464" y="3873336"/>
            <a:ext cx="1859744" cy="118796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504496" y="2494652"/>
            <a:ext cx="936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버스를</a:t>
            </a:r>
            <a:endParaRPr lang="en-US" altLang="ko-KR" sz="1600" dirty="0"/>
          </a:p>
          <a:p>
            <a:pPr algn="ctr"/>
            <a:r>
              <a:rPr lang="ko-KR" altLang="en-US" sz="1600" dirty="0"/>
              <a:t>탄다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6504" y="4641127"/>
            <a:ext cx="1080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지하철을</a:t>
            </a:r>
            <a:endParaRPr lang="en-US" altLang="ko-KR" sz="1600" dirty="0"/>
          </a:p>
          <a:p>
            <a:pPr algn="ctr"/>
            <a:r>
              <a:rPr lang="ko-KR" altLang="en-US" sz="1600" dirty="0"/>
              <a:t>탄다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776305" y="4252471"/>
            <a:ext cx="1296144" cy="7250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+mn-ea"/>
              </a:rPr>
              <a:t>탄다</a:t>
            </a:r>
            <a:endParaRPr lang="en-US" altLang="ko-KR" dirty="0">
              <a:latin typeface="+mn-ea"/>
            </a:endParaRPr>
          </a:p>
          <a:p>
            <a:pPr algn="ctr"/>
            <a:r>
              <a:rPr lang="ko-KR" altLang="en-US" dirty="0">
                <a:latin typeface="+mn-ea"/>
              </a:rPr>
              <a:t>정보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6456824" y="2580554"/>
            <a:ext cx="1296144" cy="7250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+mn-ea"/>
              </a:rPr>
              <a:t>태우다</a:t>
            </a:r>
            <a:endParaRPr lang="en-US" altLang="ko-KR" dirty="0">
              <a:latin typeface="+mn-ea"/>
            </a:endParaRPr>
          </a:p>
          <a:p>
            <a:pPr algn="ctr"/>
            <a:r>
              <a:rPr lang="ko-KR" altLang="en-US" dirty="0">
                <a:latin typeface="+mn-ea"/>
              </a:rPr>
              <a:t>정보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6465168" y="4948319"/>
            <a:ext cx="1296144" cy="7250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+mn-ea"/>
              </a:rPr>
              <a:t>태우다</a:t>
            </a:r>
            <a:endParaRPr lang="en-US" altLang="ko-KR">
              <a:latin typeface="+mn-ea"/>
            </a:endParaRPr>
          </a:p>
          <a:p>
            <a:pPr algn="ctr"/>
            <a:r>
              <a:rPr lang="ko-KR" altLang="en-US">
                <a:latin typeface="+mn-ea"/>
              </a:rPr>
              <a:t>정보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62310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객체 간 협력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1017973"/>
            <a:ext cx="3888432" cy="55841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클래스 다이어그램</a:t>
            </a:r>
            <a:endParaRPr lang="en-US" altLang="ko-KR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altLang="ko-KR" sz="2200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endParaRPr lang="en-US" altLang="ko-KR" sz="2000" dirty="0"/>
          </a:p>
        </p:txBody>
      </p:sp>
      <p:sp>
        <p:nvSpPr>
          <p:cNvPr id="2" name="직사각형 1"/>
          <p:cNvSpPr/>
          <p:nvPr/>
        </p:nvSpPr>
        <p:spPr>
          <a:xfrm>
            <a:off x="5385048" y="1826271"/>
            <a:ext cx="2160240" cy="50405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Bus</a:t>
            </a:r>
            <a:endParaRPr lang="ko-KR" altLang="en-US" dirty="0"/>
          </a:p>
        </p:txBody>
      </p:sp>
      <p:sp>
        <p:nvSpPr>
          <p:cNvPr id="19" name="직사각형 18"/>
          <p:cNvSpPr/>
          <p:nvPr/>
        </p:nvSpPr>
        <p:spPr>
          <a:xfrm>
            <a:off x="5385048" y="2330327"/>
            <a:ext cx="2160240" cy="136815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 err="1"/>
              <a:t>busNumber</a:t>
            </a:r>
            <a:endParaRPr lang="en-US" altLang="ko-KR" dirty="0"/>
          </a:p>
          <a:p>
            <a:r>
              <a:rPr lang="en-US" altLang="ko-KR" dirty="0"/>
              <a:t>passenger</a:t>
            </a:r>
          </a:p>
          <a:p>
            <a:r>
              <a:rPr lang="en-US" altLang="ko-KR" dirty="0"/>
              <a:t>money</a:t>
            </a:r>
          </a:p>
          <a:p>
            <a:r>
              <a:rPr lang="en-US" altLang="ko-KR" dirty="0"/>
              <a:t>Fee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5385048" y="3698479"/>
            <a:ext cx="2160240" cy="109867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/>
              <a:t>take()</a:t>
            </a:r>
          </a:p>
          <a:p>
            <a:r>
              <a:rPr lang="en-US" altLang="ko-KR" dirty="0" err="1"/>
              <a:t>getFee</a:t>
            </a:r>
            <a:r>
              <a:rPr lang="en-US" altLang="ko-KR" dirty="0"/>
              <a:t>()</a:t>
            </a:r>
          </a:p>
          <a:p>
            <a:r>
              <a:rPr lang="en-US" altLang="ko-KR" dirty="0" err="1"/>
              <a:t>displayInfo</a:t>
            </a:r>
            <a:r>
              <a:rPr lang="en-US" altLang="ko-KR" dirty="0"/>
              <a:t>()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1568624" y="1970287"/>
            <a:ext cx="2160240" cy="50405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Person</a:t>
            </a:r>
            <a:endParaRPr lang="ko-KR" altLang="en-US" dirty="0"/>
          </a:p>
        </p:txBody>
      </p:sp>
      <p:sp>
        <p:nvSpPr>
          <p:cNvPr id="25" name="직사각형 24"/>
          <p:cNvSpPr/>
          <p:nvPr/>
        </p:nvSpPr>
        <p:spPr>
          <a:xfrm>
            <a:off x="1568624" y="2474343"/>
            <a:ext cx="2160240" cy="100811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/>
              <a:t>name</a:t>
            </a:r>
          </a:p>
          <a:p>
            <a:r>
              <a:rPr lang="en-US" altLang="ko-KR" dirty="0"/>
              <a:t>money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1568624" y="3463902"/>
            <a:ext cx="2160240" cy="98601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 err="1"/>
              <a:t>takeBus</a:t>
            </a:r>
            <a:r>
              <a:rPr lang="en-US" altLang="ko-KR" dirty="0"/>
              <a:t>()</a:t>
            </a:r>
          </a:p>
          <a:p>
            <a:r>
              <a:rPr lang="en-US" altLang="ko-KR" dirty="0" err="1"/>
              <a:t>displayInfo</a:t>
            </a:r>
            <a:r>
              <a:rPr lang="en-US" altLang="ko-KR" dirty="0"/>
              <a:t>()</a:t>
            </a:r>
          </a:p>
        </p:txBody>
      </p:sp>
      <p:cxnSp>
        <p:nvCxnSpPr>
          <p:cNvPr id="27" name="직선 화살표 연결선 26"/>
          <p:cNvCxnSpPr/>
          <p:nvPr/>
        </p:nvCxnSpPr>
        <p:spPr>
          <a:xfrm flipV="1">
            <a:off x="3944888" y="3338439"/>
            <a:ext cx="1296144" cy="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960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객체 간 협력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48082" y="980728"/>
            <a:ext cx="2636766" cy="55841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버스 클래스</a:t>
            </a:r>
            <a:endParaRPr lang="en-US" altLang="ko-KR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altLang="ko-KR" sz="2200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514346"/>
            <a:ext cx="6242992" cy="493899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882450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객체 간 협력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48082" y="980728"/>
            <a:ext cx="2636766" cy="55841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Person</a:t>
            </a:r>
            <a:r>
              <a:rPr lang="ko-KR" altLang="en-US" sz="2000" b="1" dirty="0">
                <a:solidFill>
                  <a:srgbClr val="C00000"/>
                </a:solidFill>
              </a:rPr>
              <a:t> 클래스</a:t>
            </a:r>
            <a:endParaRPr lang="en-US" altLang="ko-KR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altLang="ko-KR" sz="2200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539145"/>
            <a:ext cx="6144496" cy="491419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365176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객체 간 협력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48082" y="908720"/>
            <a:ext cx="2636766" cy="55841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Main</a:t>
            </a:r>
            <a:r>
              <a:rPr lang="ko-KR" altLang="en-US" sz="2000" b="1" dirty="0">
                <a:solidFill>
                  <a:srgbClr val="C00000"/>
                </a:solidFill>
              </a:rPr>
              <a:t> 클래스 </a:t>
            </a:r>
            <a:r>
              <a:rPr lang="en-US" altLang="ko-KR" sz="2200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539146"/>
            <a:ext cx="5766172" cy="44821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4725144"/>
            <a:ext cx="4245103" cy="94882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959647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/>
              <a:t>실습 문제</a:t>
            </a:r>
            <a:r>
              <a:rPr lang="en-US" altLang="ko-KR"/>
              <a:t> </a:t>
            </a:r>
            <a:r>
              <a:rPr lang="en-US" altLang="ko-KR" dirty="0"/>
              <a:t>– </a:t>
            </a:r>
            <a:r>
              <a:rPr lang="ko-KR" altLang="en-US" dirty="0"/>
              <a:t>클래스 구현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49</a:t>
            </a:fld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704528" y="1052736"/>
            <a:ext cx="841531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-------------------------------------------------------------------------------------</a:t>
            </a:r>
            <a:r>
              <a:rPr lang="ko-KR" altLang="en-US" dirty="0"/>
              <a:t>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 </a:t>
            </a:r>
            <a:r>
              <a:rPr lang="ko-KR" altLang="en-US" dirty="0"/>
              <a:t>회원</a:t>
            </a:r>
            <a:r>
              <a:rPr lang="en-US" altLang="ko-KR" dirty="0"/>
              <a:t>(Member) </a:t>
            </a:r>
            <a:r>
              <a:rPr lang="ko-KR" altLang="en-US" dirty="0"/>
              <a:t>클래스를 정의하고 배열로 객체를 생성하여</a:t>
            </a:r>
            <a:r>
              <a:rPr lang="en-US" altLang="ko-KR" dirty="0"/>
              <a:t>  </a:t>
            </a:r>
            <a:r>
              <a:rPr lang="ko-KR" altLang="en-US" dirty="0"/>
              <a:t>테스트하세요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   </a:t>
            </a:r>
            <a:r>
              <a:rPr lang="en-US" altLang="ko-KR" sz="1600" dirty="0"/>
              <a:t>[</a:t>
            </a:r>
            <a:r>
              <a:rPr lang="ko-KR" altLang="en-US" sz="1600" dirty="0"/>
              <a:t>파일이름</a:t>
            </a:r>
            <a:r>
              <a:rPr lang="en-US" altLang="ko-KR" sz="1600" dirty="0"/>
              <a:t>: Member.java, MemberTest.java]</a:t>
            </a:r>
          </a:p>
          <a:p>
            <a:r>
              <a:rPr lang="en-US" altLang="ko-KR" dirty="0"/>
              <a:t>-------------------------------------------------------------------------------------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640632" y="4077072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☞ 실행 결과</a:t>
            </a: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484517"/>
              </p:ext>
            </p:extLst>
          </p:nvPr>
        </p:nvGraphicFramePr>
        <p:xfrm>
          <a:off x="1424607" y="2636912"/>
          <a:ext cx="648072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0180">
                  <a:extLst>
                    <a:ext uri="{9D8B030D-6E8A-4147-A177-3AD203B41FA5}">
                      <a16:colId xmlns:a16="http://schemas.microsoft.com/office/drawing/2014/main" val="1361332930"/>
                    </a:ext>
                  </a:extLst>
                </a:gridCol>
                <a:gridCol w="1620180">
                  <a:extLst>
                    <a:ext uri="{9D8B030D-6E8A-4147-A177-3AD203B41FA5}">
                      <a16:colId xmlns:a16="http://schemas.microsoft.com/office/drawing/2014/main" val="3543913914"/>
                    </a:ext>
                  </a:extLst>
                </a:gridCol>
                <a:gridCol w="1620180">
                  <a:extLst>
                    <a:ext uri="{9D8B030D-6E8A-4147-A177-3AD203B41FA5}">
                      <a16:colId xmlns:a16="http://schemas.microsoft.com/office/drawing/2014/main" val="2147039417"/>
                    </a:ext>
                  </a:extLst>
                </a:gridCol>
                <a:gridCol w="1620180">
                  <a:extLst>
                    <a:ext uri="{9D8B030D-6E8A-4147-A177-3AD203B41FA5}">
                      <a16:colId xmlns:a16="http://schemas.microsoft.com/office/drawing/2014/main" val="2767748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데이터 이름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필드 이름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타입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접근 제어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177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아이디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id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문자열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private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766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패스워드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password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문자열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private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5280239"/>
                  </a:ext>
                </a:extLst>
              </a:tr>
            </a:tbl>
          </a:graphicData>
        </a:graphic>
      </p:graphicFrame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680" y="4581128"/>
            <a:ext cx="4001058" cy="108600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834630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static </a:t>
            </a:r>
            <a:r>
              <a:rPr lang="ko-KR" altLang="en-US" dirty="0"/>
              <a:t>변수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734" y="1017973"/>
            <a:ext cx="4220282" cy="5934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static </a:t>
            </a:r>
            <a:r>
              <a:rPr lang="ko-KR" altLang="en-US" sz="2000" b="1" dirty="0">
                <a:solidFill>
                  <a:srgbClr val="C00000"/>
                </a:solidFill>
              </a:rPr>
              <a:t>변수의 정의와 사용 방법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altLang="ko-KR" sz="2200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endParaRPr lang="en-US" altLang="ko-KR" sz="2000" dirty="0"/>
          </a:p>
        </p:txBody>
      </p:sp>
      <p:sp>
        <p:nvSpPr>
          <p:cNvPr id="8" name="직사각형 7"/>
          <p:cNvSpPr/>
          <p:nvPr/>
        </p:nvSpPr>
        <p:spPr>
          <a:xfrm>
            <a:off x="2171390" y="3467558"/>
            <a:ext cx="2723280" cy="10801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>
              <a:latin typeface="+mn-ea"/>
            </a:endParaRP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615361" y="3883953"/>
            <a:ext cx="1728192" cy="39617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static </a:t>
            </a:r>
            <a:r>
              <a:rPr lang="ko-KR" altLang="en-US" dirty="0">
                <a:solidFill>
                  <a:schemeClr val="tx1"/>
                </a:solidFill>
              </a:rPr>
              <a:t>변수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8674" y="3068960"/>
            <a:ext cx="2334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 영역</a:t>
            </a:r>
            <a:r>
              <a:rPr lang="en-US" altLang="ko-KR" dirty="0"/>
              <a:t> </a:t>
            </a:r>
            <a:r>
              <a:rPr lang="ko-KR" altLang="en-US" dirty="0"/>
              <a:t>메모리</a:t>
            </a:r>
          </a:p>
        </p:txBody>
      </p:sp>
      <p:sp>
        <p:nvSpPr>
          <p:cNvPr id="3" name="타원 2"/>
          <p:cNvSpPr/>
          <p:nvPr/>
        </p:nvSpPr>
        <p:spPr>
          <a:xfrm>
            <a:off x="1424608" y="4441051"/>
            <a:ext cx="1346242" cy="1076181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</a:rPr>
              <a:t>인스턴스</a:t>
            </a:r>
            <a:endParaRPr lang="en-US" altLang="ko-K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>
                <a:solidFill>
                  <a:sysClr val="windowText" lastClr="000000"/>
                </a:solidFill>
              </a:rPr>
              <a:t>A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2936775" y="4746949"/>
            <a:ext cx="1278776" cy="9863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</a:rPr>
              <a:t>인스턴스</a:t>
            </a:r>
            <a:endParaRPr lang="en-US" altLang="ko-K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>
                <a:solidFill>
                  <a:sysClr val="windowText" lastClr="000000"/>
                </a:solidFill>
              </a:rPr>
              <a:t>B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4520291" y="4412259"/>
            <a:ext cx="1296804" cy="103296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</a:rPr>
              <a:t>인스턴스</a:t>
            </a:r>
            <a:endParaRPr lang="en-US" altLang="ko-K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>
                <a:solidFill>
                  <a:sysClr val="windowText" lastClr="000000"/>
                </a:solidFill>
              </a:rPr>
              <a:t>C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cxnSp>
        <p:nvCxnSpPr>
          <p:cNvPr id="15" name="구부러진 연결선 14"/>
          <p:cNvCxnSpPr>
            <a:stCxn id="3" idx="0"/>
            <a:endCxn id="10" idx="1"/>
          </p:cNvCxnSpPr>
          <p:nvPr/>
        </p:nvCxnSpPr>
        <p:spPr>
          <a:xfrm rot="5400000" flipH="1" flipV="1">
            <a:off x="2177041" y="4002731"/>
            <a:ext cx="359009" cy="51763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stCxn id="13" idx="0"/>
          </p:cNvCxnSpPr>
          <p:nvPr/>
        </p:nvCxnSpPr>
        <p:spPr>
          <a:xfrm flipV="1">
            <a:off x="3576163" y="4348407"/>
            <a:ext cx="0" cy="398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구부러진 연결선 22"/>
          <p:cNvCxnSpPr>
            <a:stCxn id="14" idx="0"/>
          </p:cNvCxnSpPr>
          <p:nvPr/>
        </p:nvCxnSpPr>
        <p:spPr>
          <a:xfrm rot="16200000" flipV="1">
            <a:off x="4605762" y="3849328"/>
            <a:ext cx="330216" cy="79564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5782627" y="3198881"/>
            <a:ext cx="2907992" cy="11495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rgbClr val="C00000"/>
                </a:solidFill>
                <a:latin typeface="+mn-ea"/>
              </a:rPr>
              <a:t> </a:t>
            </a:r>
          </a:p>
          <a:p>
            <a:r>
              <a:rPr lang="en-US" altLang="ko-KR" b="1" dirty="0">
                <a:solidFill>
                  <a:srgbClr val="C00000"/>
                </a:solidFill>
                <a:latin typeface="+mn-ea"/>
              </a:rPr>
              <a:t>static</a:t>
            </a:r>
            <a:r>
              <a:rPr lang="en-US" altLang="ko-KR" dirty="0">
                <a:solidFill>
                  <a:srgbClr val="C00000"/>
                </a:solidFill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int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serialNum</a:t>
            </a:r>
            <a:r>
              <a:rPr lang="en-US" altLang="ko-KR" dirty="0">
                <a:latin typeface="+mn-ea"/>
              </a:rPr>
              <a:t>=1000;</a:t>
            </a:r>
            <a:endParaRPr lang="ko-KR" altLang="en-US" dirty="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39766" y="3271556"/>
            <a:ext cx="1593714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static </a:t>
            </a:r>
            <a:r>
              <a:rPr lang="ko-KR" altLang="en-US" dirty="0" err="1"/>
              <a:t>예약어</a:t>
            </a:r>
            <a:endParaRPr lang="ko-KR" altLang="en-US" dirty="0"/>
          </a:p>
        </p:txBody>
      </p:sp>
      <p:cxnSp>
        <p:nvCxnSpPr>
          <p:cNvPr id="27" name="꺾인 연결선 26"/>
          <p:cNvCxnSpPr>
            <a:stCxn id="25" idx="1"/>
          </p:cNvCxnSpPr>
          <p:nvPr/>
        </p:nvCxnSpPr>
        <p:spPr>
          <a:xfrm rot="10800000" flipV="1">
            <a:off x="6105132" y="3456222"/>
            <a:ext cx="334635" cy="4191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/>
          <p:cNvSpPr/>
          <p:nvPr/>
        </p:nvSpPr>
        <p:spPr>
          <a:xfrm>
            <a:off x="762605" y="1556792"/>
            <a:ext cx="79474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다른 멤버변수처럼 </a:t>
            </a:r>
            <a:r>
              <a:rPr lang="ko-KR" altLang="en-US" sz="1600" dirty="0" err="1"/>
              <a:t>인스턴스가</a:t>
            </a:r>
            <a:r>
              <a:rPr lang="ko-KR" altLang="en-US" sz="1600" dirty="0"/>
              <a:t> 생성될 때마다 새로 생성되는 변수가 아니다</a:t>
            </a:r>
            <a:r>
              <a:rPr lang="en-US" altLang="ko-KR" sz="1600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프로그램이 실행되어 </a:t>
            </a:r>
            <a:r>
              <a:rPr lang="ko-KR" altLang="en-US" sz="1600" b="1" dirty="0"/>
              <a:t>메모리에 적재</a:t>
            </a:r>
            <a:r>
              <a:rPr lang="en-US" altLang="ko-KR" sz="1600" b="1" dirty="0"/>
              <a:t>(load)</a:t>
            </a:r>
            <a:r>
              <a:rPr lang="ko-KR" altLang="en-US" sz="1600" dirty="0" err="1"/>
              <a:t>될때</a:t>
            </a:r>
            <a:r>
              <a:rPr lang="ko-KR" altLang="en-US" sz="1600" dirty="0"/>
              <a:t> 메모리 공간이 할당된다</a:t>
            </a:r>
            <a:r>
              <a:rPr lang="en-US" altLang="ko-KR" sz="1600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여러 개의 </a:t>
            </a:r>
            <a:r>
              <a:rPr lang="ko-KR" altLang="en-US" sz="1600" dirty="0" err="1"/>
              <a:t>인스턴스가</a:t>
            </a:r>
            <a:r>
              <a:rPr lang="ko-KR" altLang="en-US" sz="1600" dirty="0"/>
              <a:t> 같은 </a:t>
            </a:r>
            <a:r>
              <a:rPr lang="ko-KR" altLang="en-US" sz="1600" b="1" dirty="0"/>
              <a:t>메모리의 값을 공유</a:t>
            </a:r>
            <a:r>
              <a:rPr lang="ko-KR" altLang="en-US" sz="1600" dirty="0"/>
              <a:t>하기 위해 사용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1084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static </a:t>
            </a:r>
            <a:r>
              <a:rPr lang="ko-KR" altLang="en-US" dirty="0"/>
              <a:t>변수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734" y="1017973"/>
            <a:ext cx="4220282" cy="5934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차량번호 자동 부여</a:t>
            </a:r>
            <a:endParaRPr lang="en-US" altLang="ko-KR" sz="2000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b="1" dirty="0"/>
          </a:p>
          <a:p>
            <a:pPr marL="0" indent="0">
              <a:buNone/>
            </a:pPr>
            <a:r>
              <a:rPr lang="en-US" altLang="ko-KR" sz="2200" b="1" dirty="0"/>
              <a:t>   </a:t>
            </a:r>
            <a:endParaRPr lang="en-US" altLang="ko-KR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700808"/>
            <a:ext cx="5853749" cy="331112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64436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static </a:t>
            </a:r>
            <a:r>
              <a:rPr lang="ko-KR" altLang="en-US" dirty="0"/>
              <a:t>변수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734" y="1017973"/>
            <a:ext cx="4220282" cy="5934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차량번호 자동 부여</a:t>
            </a:r>
            <a:endParaRPr lang="en-US" altLang="ko-KR" sz="2000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b="1" dirty="0"/>
          </a:p>
          <a:p>
            <a:pPr marL="0" indent="0">
              <a:buNone/>
            </a:pPr>
            <a:r>
              <a:rPr lang="en-US" altLang="ko-KR" sz="2200" b="1" dirty="0"/>
              <a:t>   </a:t>
            </a:r>
            <a:endParaRPr lang="en-US" altLang="ko-KR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764375"/>
            <a:ext cx="6840760" cy="27866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161" y="4722638"/>
            <a:ext cx="1728192" cy="85093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264439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인스턴스와</a:t>
            </a:r>
            <a:r>
              <a:rPr lang="ko-KR" altLang="en-US" dirty="0"/>
              <a:t> 참조변수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01464" y="980728"/>
            <a:ext cx="8616032" cy="13681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>
                <a:solidFill>
                  <a:srgbClr val="002060"/>
                </a:solidFill>
              </a:rPr>
              <a:t> 차량번호 자동 부여</a:t>
            </a:r>
            <a:endParaRPr lang="en-US" altLang="ko-KR" sz="2000" b="1" dirty="0">
              <a:solidFill>
                <a:srgbClr val="002060"/>
              </a:solidFill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/>
              <a:t>차가 생성될 때마다 </a:t>
            </a:r>
            <a:r>
              <a:rPr lang="ko-KR" altLang="en-US" sz="1800" dirty="0" err="1"/>
              <a:t>차량번호가</a:t>
            </a:r>
            <a:r>
              <a:rPr lang="ko-KR" altLang="en-US" sz="1800" dirty="0"/>
              <a:t> 증가해야 하는 경우</a:t>
            </a:r>
            <a:r>
              <a:rPr lang="en-US" altLang="ko-KR" sz="1800" dirty="0"/>
              <a:t>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/>
              <a:t>기준이 되는 값은 </a:t>
            </a:r>
            <a:r>
              <a:rPr lang="en-US" altLang="ko-KR" sz="1800" dirty="0"/>
              <a:t>static </a:t>
            </a:r>
            <a:r>
              <a:rPr lang="ko-KR" altLang="en-US" sz="1800" dirty="0"/>
              <a:t>변수로 생성하여 유지 함</a:t>
            </a:r>
            <a:r>
              <a:rPr lang="en-US" altLang="ko-KR" sz="1800" dirty="0"/>
              <a:t>.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dirty="0"/>
          </a:p>
        </p:txBody>
      </p:sp>
      <p:sp>
        <p:nvSpPr>
          <p:cNvPr id="14" name="직사각형 13"/>
          <p:cNvSpPr/>
          <p:nvPr/>
        </p:nvSpPr>
        <p:spPr>
          <a:xfrm>
            <a:off x="3740687" y="2925804"/>
            <a:ext cx="2098548" cy="1781322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ko-KR" altLang="en-US" dirty="0"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16896" y="2477652"/>
            <a:ext cx="1458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err="1"/>
              <a:t>스택</a:t>
            </a:r>
            <a:r>
              <a:rPr lang="ko-KR" altLang="en-US" b="1" dirty="0"/>
              <a:t> 메모리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4016896" y="3207886"/>
            <a:ext cx="1469860" cy="456249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car1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4016896" y="4014999"/>
            <a:ext cx="1469860" cy="456249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car2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6718380" y="2925804"/>
            <a:ext cx="2433223" cy="1814927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ko-KR" altLang="en-US" sz="1400" dirty="0"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99197" y="2477652"/>
            <a:ext cx="1251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err="1"/>
              <a:t>힙</a:t>
            </a:r>
            <a:r>
              <a:rPr lang="ko-KR" altLang="en-US" b="1" dirty="0"/>
              <a:t> 메모리</a:t>
            </a:r>
          </a:p>
        </p:txBody>
      </p:sp>
      <p:cxnSp>
        <p:nvCxnSpPr>
          <p:cNvPr id="16" name="직선 화살표 연결선 15"/>
          <p:cNvCxnSpPr>
            <a:endCxn id="23" idx="1"/>
          </p:cNvCxnSpPr>
          <p:nvPr/>
        </p:nvCxnSpPr>
        <p:spPr>
          <a:xfrm flipV="1">
            <a:off x="5508622" y="3366548"/>
            <a:ext cx="1371989" cy="793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>
            <a:stCxn id="26" idx="3"/>
            <a:endCxn id="25" idx="1"/>
          </p:cNvCxnSpPr>
          <p:nvPr/>
        </p:nvCxnSpPr>
        <p:spPr>
          <a:xfrm>
            <a:off x="5486756" y="4243124"/>
            <a:ext cx="1393854" cy="423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모서리가 둥근 직사각형 22"/>
          <p:cNvSpPr/>
          <p:nvPr/>
        </p:nvSpPr>
        <p:spPr>
          <a:xfrm>
            <a:off x="6880611" y="3068960"/>
            <a:ext cx="2138976" cy="595175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car1 </a:t>
            </a:r>
            <a:r>
              <a:rPr lang="ko-KR" altLang="en-US" sz="1600" dirty="0" err="1">
                <a:solidFill>
                  <a:sysClr val="windowText" lastClr="000000"/>
                </a:solidFill>
              </a:rPr>
              <a:t>인스턴스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600" dirty="0" err="1">
                <a:solidFill>
                  <a:sysClr val="windowText" lastClr="000000"/>
                </a:solidFill>
              </a:rPr>
              <a:t>carNumber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6880610" y="3989820"/>
            <a:ext cx="2138977" cy="591308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car2 </a:t>
            </a:r>
            <a:r>
              <a:rPr lang="ko-KR" altLang="en-US" sz="1600" dirty="0" err="1">
                <a:solidFill>
                  <a:sysClr val="windowText" lastClr="000000"/>
                </a:solidFill>
              </a:rPr>
              <a:t>인스턴스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600" dirty="0" err="1">
                <a:solidFill>
                  <a:sysClr val="windowText" lastClr="000000"/>
                </a:solidFill>
              </a:rPr>
              <a:t>carNumber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027419" y="2928246"/>
            <a:ext cx="2026540" cy="1781322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ko-KR" altLang="en-US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7540" y="2474466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/>
              <a:t>데이터 영역 메모리 </a:t>
            </a:r>
            <a:endParaRPr lang="ko-KR" altLang="en-US" b="1" dirty="0"/>
          </a:p>
        </p:txBody>
      </p:sp>
      <p:sp>
        <p:nvSpPr>
          <p:cNvPr id="34" name="모서리가 둥근 직사각형 33"/>
          <p:cNvSpPr/>
          <p:nvPr/>
        </p:nvSpPr>
        <p:spPr>
          <a:xfrm>
            <a:off x="1318502" y="3772151"/>
            <a:ext cx="1469860" cy="456249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1001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23965" y="3268100"/>
            <a:ext cx="1367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/>
              <a:t>serialNum</a:t>
            </a:r>
            <a:endParaRPr lang="ko-KR" altLang="en-US" sz="1600" dirty="0"/>
          </a:p>
        </p:txBody>
      </p:sp>
      <p:cxnSp>
        <p:nvCxnSpPr>
          <p:cNvPr id="39" name="직선 화살표 연결선 38"/>
          <p:cNvCxnSpPr/>
          <p:nvPr/>
        </p:nvCxnSpPr>
        <p:spPr>
          <a:xfrm flipV="1">
            <a:off x="2850500" y="3485764"/>
            <a:ext cx="1166396" cy="376149"/>
          </a:xfrm>
          <a:prstGeom prst="straightConnector1">
            <a:avLst/>
          </a:prstGeom>
          <a:ln w="12700"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>
            <a:endCxn id="26" idx="1"/>
          </p:cNvCxnSpPr>
          <p:nvPr/>
        </p:nvCxnSpPr>
        <p:spPr>
          <a:xfrm>
            <a:off x="2863604" y="4097554"/>
            <a:ext cx="1153292" cy="145570"/>
          </a:xfrm>
          <a:prstGeom prst="straightConnector1">
            <a:avLst/>
          </a:prstGeom>
          <a:ln w="12700"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64569" y="5085184"/>
            <a:ext cx="7955018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C00000"/>
                </a:solidFill>
              </a:rPr>
              <a:t>static</a:t>
            </a:r>
            <a:r>
              <a:rPr lang="ko-KR" altLang="en-US" sz="1600" dirty="0">
                <a:solidFill>
                  <a:srgbClr val="C00000"/>
                </a:solidFill>
              </a:rPr>
              <a:t>으로 선언한 </a:t>
            </a:r>
            <a:r>
              <a:rPr lang="en-US" altLang="ko-KR" sz="1600" dirty="0" err="1">
                <a:solidFill>
                  <a:srgbClr val="C00000"/>
                </a:solidFill>
              </a:rPr>
              <a:t>serialNum</a:t>
            </a:r>
            <a:r>
              <a:rPr lang="en-US" altLang="ko-KR" sz="1600" dirty="0">
                <a:solidFill>
                  <a:srgbClr val="C00000"/>
                </a:solidFill>
              </a:rPr>
              <a:t> </a:t>
            </a:r>
            <a:r>
              <a:rPr lang="ko-KR" altLang="en-US" sz="1600" dirty="0">
                <a:solidFill>
                  <a:srgbClr val="C00000"/>
                </a:solidFill>
              </a:rPr>
              <a:t>변수는 모든 </a:t>
            </a:r>
            <a:r>
              <a:rPr lang="ko-KR" altLang="en-US" sz="1600" dirty="0" err="1">
                <a:solidFill>
                  <a:srgbClr val="C00000"/>
                </a:solidFill>
              </a:rPr>
              <a:t>인스턴스가</a:t>
            </a:r>
            <a:r>
              <a:rPr lang="ko-KR" altLang="en-US" sz="1600" dirty="0">
                <a:solidFill>
                  <a:srgbClr val="C00000"/>
                </a:solidFill>
              </a:rPr>
              <a:t> 공유한다 </a:t>
            </a:r>
            <a:r>
              <a:rPr lang="en-US" altLang="ko-KR" sz="1600" dirty="0">
                <a:solidFill>
                  <a:srgbClr val="C00000"/>
                </a:solidFill>
              </a:rPr>
              <a:t>. </a:t>
            </a:r>
            <a:r>
              <a:rPr lang="ko-KR" altLang="en-US" sz="1600" dirty="0">
                <a:solidFill>
                  <a:srgbClr val="C00000"/>
                </a:solidFill>
              </a:rPr>
              <a:t>즉 두 개의 참조변수가 동일한 변수의 메모리를 가리키고 있다</a:t>
            </a:r>
            <a:r>
              <a:rPr lang="en-US" altLang="ko-KR" sz="1600" dirty="0">
                <a:solidFill>
                  <a:srgbClr val="C00000"/>
                </a:solidFill>
              </a:rPr>
              <a:t>.</a:t>
            </a:r>
            <a:endParaRPr lang="ko-KR" alt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9699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static</a:t>
            </a:r>
            <a:r>
              <a:rPr lang="ko-KR" altLang="en-US" dirty="0"/>
              <a:t> 변수 사용하기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1124744"/>
            <a:ext cx="6840760" cy="4680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002060"/>
                </a:solidFill>
              </a:rPr>
              <a:t>static</a:t>
            </a:r>
            <a:r>
              <a:rPr lang="ko-KR" altLang="en-US" sz="2000" b="1" dirty="0">
                <a:solidFill>
                  <a:srgbClr val="002060"/>
                </a:solidFill>
              </a:rPr>
              <a:t> 변수 사용하기</a:t>
            </a:r>
            <a:endParaRPr lang="en-US" altLang="ko-KR" sz="2000" b="1" dirty="0">
              <a:solidFill>
                <a:srgbClr val="00206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7" y="1700808"/>
            <a:ext cx="5528339" cy="43924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594549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static</a:t>
            </a:r>
            <a:r>
              <a:rPr lang="ko-KR" altLang="en-US" dirty="0"/>
              <a:t> 메서드 만들기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55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1124744"/>
            <a:ext cx="6840760" cy="4680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002060"/>
                </a:solidFill>
              </a:rPr>
              <a:t>static</a:t>
            </a:r>
            <a:r>
              <a:rPr lang="ko-KR" altLang="en-US" sz="2000" b="1" dirty="0">
                <a:solidFill>
                  <a:srgbClr val="002060"/>
                </a:solidFill>
              </a:rPr>
              <a:t> 메서드 정의하기</a:t>
            </a:r>
            <a:endParaRPr lang="en-US" altLang="ko-KR" sz="2000" b="1" dirty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592795"/>
            <a:ext cx="5400600" cy="467479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863943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static</a:t>
            </a:r>
            <a:r>
              <a:rPr lang="ko-KR" altLang="en-US" dirty="0"/>
              <a:t> 클래스 만들기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1124744"/>
            <a:ext cx="6840760" cy="4680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002060"/>
                </a:solidFill>
              </a:rPr>
              <a:t>Math </a:t>
            </a:r>
            <a:r>
              <a:rPr lang="ko-KR" altLang="en-US" sz="2000" b="1" dirty="0">
                <a:solidFill>
                  <a:srgbClr val="002060"/>
                </a:solidFill>
              </a:rPr>
              <a:t>클래스 만들기</a:t>
            </a:r>
            <a:endParaRPr lang="en-US" altLang="ko-KR" sz="2000" b="1" dirty="0">
              <a:solidFill>
                <a:srgbClr val="00206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640" y="1592796"/>
            <a:ext cx="4828822" cy="47165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5618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static</a:t>
            </a:r>
            <a:r>
              <a:rPr lang="ko-KR" altLang="en-US" dirty="0"/>
              <a:t> 클래스 만들기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57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1124744"/>
            <a:ext cx="6840760" cy="4680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002060"/>
                </a:solidFill>
              </a:rPr>
              <a:t>Math </a:t>
            </a:r>
            <a:r>
              <a:rPr lang="ko-KR" altLang="en-US" sz="2000" b="1" dirty="0">
                <a:solidFill>
                  <a:srgbClr val="002060"/>
                </a:solidFill>
              </a:rPr>
              <a:t>클래스 만들기</a:t>
            </a:r>
            <a:endParaRPr lang="en-US" altLang="ko-KR" sz="2000" b="1" dirty="0">
              <a:solidFill>
                <a:srgbClr val="00206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7" y="1700808"/>
            <a:ext cx="5522176" cy="42484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19224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static </a:t>
            </a:r>
            <a:r>
              <a:rPr lang="ko-KR" altLang="en-US" dirty="0"/>
              <a:t>응용 </a:t>
            </a:r>
            <a:r>
              <a:rPr lang="en-US" altLang="ko-KR" dirty="0"/>
              <a:t>: </a:t>
            </a:r>
            <a:r>
              <a:rPr lang="ko-KR" altLang="en-US" dirty="0" err="1"/>
              <a:t>싱글톤</a:t>
            </a:r>
            <a:r>
              <a:rPr lang="ko-KR" altLang="en-US" dirty="0"/>
              <a:t> 패턴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58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074" y="1089981"/>
            <a:ext cx="8037366" cy="1762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Single </a:t>
            </a:r>
            <a:r>
              <a:rPr lang="ko-KR" altLang="en-US" sz="2000" b="1" dirty="0">
                <a:solidFill>
                  <a:srgbClr val="C00000"/>
                </a:solidFill>
              </a:rPr>
              <a:t>패턴이란</a:t>
            </a:r>
            <a:r>
              <a:rPr lang="en-US" altLang="ko-KR" sz="2000" b="1" dirty="0">
                <a:solidFill>
                  <a:srgbClr val="C00000"/>
                </a:solidFill>
              </a:rPr>
              <a:t>?</a:t>
            </a:r>
          </a:p>
          <a:p>
            <a:pPr lvl="1">
              <a:lnSpc>
                <a:spcPct val="100000"/>
              </a:lnSpc>
            </a:pPr>
            <a:r>
              <a:rPr lang="ko-KR" altLang="en-US" sz="1800" dirty="0">
                <a:solidFill>
                  <a:srgbClr val="002060"/>
                </a:solidFill>
              </a:rPr>
              <a:t>객체지향 프로그램에서 </a:t>
            </a:r>
            <a:r>
              <a:rPr lang="ko-KR" altLang="en-US" sz="1800" dirty="0" err="1">
                <a:solidFill>
                  <a:srgbClr val="002060"/>
                </a:solidFill>
              </a:rPr>
              <a:t>인스턴스를</a:t>
            </a:r>
            <a:r>
              <a:rPr lang="ko-KR" altLang="en-US" sz="1800" dirty="0">
                <a:solidFill>
                  <a:srgbClr val="002060"/>
                </a:solidFill>
              </a:rPr>
              <a:t> 단 하나만 생성하는 디자인 패턴</a:t>
            </a:r>
            <a:endParaRPr lang="en-US" altLang="ko-KR" sz="1800" dirty="0">
              <a:solidFill>
                <a:srgbClr val="00206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altLang="ko-KR" sz="1800" dirty="0">
                <a:solidFill>
                  <a:srgbClr val="C00000"/>
                </a:solidFill>
              </a:rPr>
              <a:t>static</a:t>
            </a:r>
            <a:r>
              <a:rPr lang="ko-KR" altLang="en-US" sz="1800" dirty="0">
                <a:solidFill>
                  <a:srgbClr val="C00000"/>
                </a:solidFill>
              </a:rPr>
              <a:t>을 응용</a:t>
            </a:r>
            <a:r>
              <a:rPr lang="ko-KR" altLang="en-US" sz="1800" dirty="0">
                <a:solidFill>
                  <a:srgbClr val="002060"/>
                </a:solidFill>
              </a:rPr>
              <a:t>하여 프로그램 전반에서 사용하는 </a:t>
            </a:r>
            <a:r>
              <a:rPr lang="ko-KR" altLang="en-US" sz="1800" dirty="0" err="1">
                <a:solidFill>
                  <a:srgbClr val="002060"/>
                </a:solidFill>
              </a:rPr>
              <a:t>인스턴스를</a:t>
            </a:r>
            <a:r>
              <a:rPr lang="ko-KR" altLang="en-US" sz="1800" dirty="0">
                <a:solidFill>
                  <a:srgbClr val="002060"/>
                </a:solidFill>
              </a:rPr>
              <a:t> 하나만 </a:t>
            </a:r>
            <a:endParaRPr lang="en-US" altLang="ko-KR" sz="1800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800" dirty="0">
                <a:solidFill>
                  <a:srgbClr val="002060"/>
                </a:solidFill>
              </a:rPr>
              <a:t>   </a:t>
            </a:r>
            <a:r>
              <a:rPr lang="ko-KR" altLang="en-US" sz="1800" dirty="0">
                <a:solidFill>
                  <a:srgbClr val="002060"/>
                </a:solidFill>
              </a:rPr>
              <a:t>구현하는 방식</a:t>
            </a:r>
            <a:endParaRPr lang="en-US" altLang="ko-KR" sz="1800" dirty="0">
              <a:solidFill>
                <a:srgbClr val="002060"/>
              </a:solidFill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3440832" y="2917561"/>
            <a:ext cx="1025480" cy="70711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회사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2101310" y="3966857"/>
            <a:ext cx="936104" cy="88443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직원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1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3558838" y="4272755"/>
            <a:ext cx="936104" cy="88443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직원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2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5052978" y="3938065"/>
            <a:ext cx="936104" cy="88443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직원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3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cxnSp>
        <p:nvCxnSpPr>
          <p:cNvPr id="15" name="구부러진 연결선 14"/>
          <p:cNvCxnSpPr>
            <a:stCxn id="12" idx="0"/>
          </p:cNvCxnSpPr>
          <p:nvPr/>
        </p:nvCxnSpPr>
        <p:spPr>
          <a:xfrm rot="5400000" flipH="1" flipV="1">
            <a:off x="2679201" y="3498010"/>
            <a:ext cx="359009" cy="57868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13" idx="0"/>
          </p:cNvCxnSpPr>
          <p:nvPr/>
        </p:nvCxnSpPr>
        <p:spPr>
          <a:xfrm flipV="1">
            <a:off x="4026890" y="3805937"/>
            <a:ext cx="0" cy="466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구부러진 연결선 20"/>
          <p:cNvCxnSpPr>
            <a:stCxn id="14" idx="0"/>
          </p:cNvCxnSpPr>
          <p:nvPr/>
        </p:nvCxnSpPr>
        <p:spPr>
          <a:xfrm rot="16200000" flipV="1">
            <a:off x="5048273" y="3465308"/>
            <a:ext cx="330217" cy="61529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사각형 설명선 1"/>
          <p:cNvSpPr/>
          <p:nvPr/>
        </p:nvSpPr>
        <p:spPr>
          <a:xfrm>
            <a:off x="6576148" y="3557754"/>
            <a:ext cx="2376264" cy="1512168"/>
          </a:xfrm>
          <a:prstGeom prst="wedgeRoundRectCallout">
            <a:avLst>
              <a:gd name="adj1" fmla="val -60570"/>
              <a:gd name="adj2" fmla="val -26890"/>
              <a:gd name="adj3" fmla="val 16667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600" dirty="0"/>
              <a:t>직원 </a:t>
            </a:r>
            <a:r>
              <a:rPr lang="ko-KR" altLang="en-US" sz="1600" dirty="0" err="1"/>
              <a:t>인스턴스는</a:t>
            </a:r>
            <a:r>
              <a:rPr lang="ko-KR" altLang="en-US" sz="1600" dirty="0"/>
              <a:t> 여러 개를 생성하는 것이 당연하지만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회사 객체는 하나만 생성해야 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0311811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static </a:t>
            </a:r>
            <a:r>
              <a:rPr lang="ko-KR" altLang="en-US" dirty="0"/>
              <a:t>응용 </a:t>
            </a:r>
            <a:r>
              <a:rPr lang="en-US" altLang="ko-KR" dirty="0"/>
              <a:t>: </a:t>
            </a:r>
            <a:r>
              <a:rPr lang="ko-KR" altLang="en-US" dirty="0" err="1"/>
              <a:t>싱글톤</a:t>
            </a:r>
            <a:r>
              <a:rPr lang="ko-KR" altLang="en-US" dirty="0"/>
              <a:t> 패턴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59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074" y="1017973"/>
            <a:ext cx="7677326" cy="16909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Singleton </a:t>
            </a:r>
            <a:r>
              <a:rPr lang="ko-KR" altLang="en-US" sz="2000" b="1" dirty="0">
                <a:solidFill>
                  <a:srgbClr val="C00000"/>
                </a:solidFill>
              </a:rPr>
              <a:t>패턴으로 회사</a:t>
            </a: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클래스 구현하기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800" dirty="0" err="1"/>
              <a:t>생성자를</a:t>
            </a:r>
            <a:r>
              <a:rPr lang="ko-KR" altLang="en-US" sz="1800" dirty="0"/>
              <a:t> </a:t>
            </a:r>
            <a:r>
              <a:rPr lang="en-US" altLang="ko-KR" sz="1800" dirty="0"/>
              <a:t>private</a:t>
            </a:r>
            <a:r>
              <a:rPr lang="ko-KR" altLang="en-US" sz="1800" dirty="0"/>
              <a:t>으로 만들기 </a:t>
            </a:r>
            <a:endParaRPr lang="en-US" altLang="ko-KR" sz="1800" dirty="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800" dirty="0"/>
              <a:t>static</a:t>
            </a:r>
            <a:r>
              <a:rPr lang="ko-KR" altLang="en-US" sz="1800" dirty="0"/>
              <a:t>으로 유일한 </a:t>
            </a:r>
            <a:r>
              <a:rPr lang="ko-KR" altLang="en-US" sz="1800" dirty="0" err="1"/>
              <a:t>인스턴스</a:t>
            </a:r>
            <a:r>
              <a:rPr lang="ko-KR" altLang="en-US" sz="1800" dirty="0"/>
              <a:t> 생성하기 </a:t>
            </a:r>
            <a:r>
              <a:rPr lang="en-US" altLang="ko-KR" sz="1800" dirty="0"/>
              <a:t>– </a:t>
            </a:r>
            <a:r>
              <a:rPr lang="en-US" altLang="ko-KR" sz="1800" dirty="0" err="1"/>
              <a:t>getInstance</a:t>
            </a:r>
            <a:r>
              <a:rPr lang="en-US" altLang="ko-KR" sz="1800" dirty="0"/>
              <a:t>() </a:t>
            </a:r>
            <a:r>
              <a:rPr lang="ko-KR" altLang="en-US" sz="1800" dirty="0" err="1"/>
              <a:t>메서드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2200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125" y="2708920"/>
            <a:ext cx="7511308" cy="291508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016042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static </a:t>
            </a:r>
            <a:r>
              <a:rPr lang="ko-KR" altLang="en-US" dirty="0"/>
              <a:t>응용 </a:t>
            </a:r>
            <a:r>
              <a:rPr lang="en-US" altLang="ko-KR" dirty="0"/>
              <a:t>: </a:t>
            </a:r>
            <a:r>
              <a:rPr lang="ko-KR" altLang="en-US" dirty="0" err="1"/>
              <a:t>싱글톤</a:t>
            </a:r>
            <a:r>
              <a:rPr lang="ko-KR" altLang="en-US" dirty="0"/>
              <a:t> 패턴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60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074" y="1052736"/>
            <a:ext cx="5373070" cy="6108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Singleton </a:t>
            </a:r>
            <a:r>
              <a:rPr lang="ko-KR" altLang="en-US" sz="2000" b="1" dirty="0">
                <a:solidFill>
                  <a:srgbClr val="C00000"/>
                </a:solidFill>
              </a:rPr>
              <a:t>패턴으로 회사</a:t>
            </a: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클래스 구현하기</a:t>
            </a:r>
            <a:r>
              <a:rPr lang="en-US" altLang="ko-KR" sz="2000" b="1" dirty="0">
                <a:solidFill>
                  <a:srgbClr val="002060"/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ko-KR" sz="2200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08" y="1772816"/>
            <a:ext cx="6005081" cy="337595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128" y="4581128"/>
            <a:ext cx="3147333" cy="85351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31294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static </a:t>
            </a:r>
            <a:r>
              <a:rPr lang="ko-KR" altLang="en-US" dirty="0"/>
              <a:t>응용 </a:t>
            </a:r>
            <a:r>
              <a:rPr lang="en-US" altLang="ko-KR" dirty="0"/>
              <a:t>: </a:t>
            </a:r>
            <a:r>
              <a:rPr lang="ko-KR" altLang="en-US" dirty="0" err="1"/>
              <a:t>싱글톤</a:t>
            </a:r>
            <a:r>
              <a:rPr lang="ko-KR" altLang="en-US" dirty="0"/>
              <a:t> 패턴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61</a:t>
            </a:fld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858166" y="980728"/>
            <a:ext cx="841531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-------------------------------------------------------------------------------------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자동차 공장이 </a:t>
            </a:r>
            <a:r>
              <a:rPr lang="en-US" altLang="ko-KR" dirty="0"/>
              <a:t>1</a:t>
            </a:r>
            <a:r>
              <a:rPr lang="ko-KR" altLang="en-US" dirty="0"/>
              <a:t>개 있고</a:t>
            </a:r>
            <a:r>
              <a:rPr lang="en-US" altLang="ko-KR" dirty="0"/>
              <a:t>, </a:t>
            </a:r>
            <a:r>
              <a:rPr lang="ko-KR" altLang="en-US" dirty="0"/>
              <a:t>이 공장에서 생산되는 자동차는 제작될 때마다 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고유 번호가 부여된다</a:t>
            </a:r>
            <a:r>
              <a:rPr lang="en-US" altLang="ko-KR" dirty="0"/>
              <a:t>. </a:t>
            </a:r>
            <a:r>
              <a:rPr lang="ko-KR" altLang="en-US" dirty="0"/>
              <a:t>자동차번호가 </a:t>
            </a:r>
            <a:r>
              <a:rPr lang="en-US" altLang="ko-KR" dirty="0"/>
              <a:t>1001</a:t>
            </a:r>
            <a:r>
              <a:rPr lang="ko-KR" altLang="en-US" dirty="0"/>
              <a:t>부터 시작되어 </a:t>
            </a:r>
            <a:r>
              <a:rPr lang="en-US" altLang="ko-KR" dirty="0"/>
              <a:t>1002, 1003</a:t>
            </a:r>
            <a:r>
              <a:rPr lang="ko-KR" altLang="en-US" dirty="0"/>
              <a:t>으로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붙도록 자동차 공장 클래스</a:t>
            </a:r>
            <a:r>
              <a:rPr lang="en-US" altLang="ko-KR" dirty="0"/>
              <a:t>, </a:t>
            </a:r>
            <a:r>
              <a:rPr lang="ko-KR" altLang="en-US" dirty="0"/>
              <a:t>자동차 클래스를 만들어 본다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-------------------------------------------------------------------------------------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2447685"/>
            <a:ext cx="6388743" cy="377925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280" y="4653136"/>
            <a:ext cx="1698521" cy="87196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520085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static </a:t>
            </a:r>
            <a:r>
              <a:rPr lang="ko-KR" altLang="en-US" dirty="0"/>
              <a:t>응용 </a:t>
            </a:r>
            <a:r>
              <a:rPr lang="en-US" altLang="ko-KR" dirty="0"/>
              <a:t>: </a:t>
            </a:r>
            <a:r>
              <a:rPr lang="ko-KR" altLang="en-US" dirty="0" err="1"/>
              <a:t>싱글톤</a:t>
            </a:r>
            <a:r>
              <a:rPr lang="ko-KR" altLang="en-US" dirty="0"/>
              <a:t> 패턴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62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236114" y="1017973"/>
            <a:ext cx="5373070" cy="6108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002060"/>
                </a:solidFill>
              </a:rPr>
              <a:t>Car </a:t>
            </a:r>
            <a:r>
              <a:rPr lang="ko-KR" altLang="en-US" sz="2000" b="1" dirty="0">
                <a:solidFill>
                  <a:srgbClr val="002060"/>
                </a:solidFill>
              </a:rPr>
              <a:t>클래스</a:t>
            </a:r>
            <a:r>
              <a:rPr lang="en-US" altLang="ko-KR" sz="2000" b="1" dirty="0">
                <a:solidFill>
                  <a:srgbClr val="002060"/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ko-KR" sz="2200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641443"/>
            <a:ext cx="5853749" cy="331112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253005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static </a:t>
            </a:r>
            <a:r>
              <a:rPr lang="ko-KR" altLang="en-US" dirty="0"/>
              <a:t>응용 </a:t>
            </a:r>
            <a:r>
              <a:rPr lang="en-US" altLang="ko-KR" dirty="0"/>
              <a:t>: </a:t>
            </a:r>
            <a:r>
              <a:rPr lang="ko-KR" altLang="en-US" dirty="0" err="1"/>
              <a:t>싱글톤</a:t>
            </a:r>
            <a:r>
              <a:rPr lang="ko-KR" altLang="en-US" dirty="0"/>
              <a:t> 패턴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63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25" y="1690107"/>
            <a:ext cx="6552728" cy="39847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236114" y="1017973"/>
            <a:ext cx="5373070" cy="6108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>
                <a:solidFill>
                  <a:srgbClr val="002060"/>
                </a:solidFill>
              </a:rPr>
              <a:t>CarFactory</a:t>
            </a:r>
            <a:r>
              <a:rPr lang="en-US" altLang="ko-KR" sz="2000" b="1" dirty="0">
                <a:solidFill>
                  <a:srgbClr val="002060"/>
                </a:solidFill>
              </a:rPr>
              <a:t> </a:t>
            </a:r>
            <a:r>
              <a:rPr lang="ko-KR" altLang="en-US" sz="2000" b="1" dirty="0">
                <a:solidFill>
                  <a:srgbClr val="002060"/>
                </a:solidFill>
              </a:rPr>
              <a:t>클래스</a:t>
            </a:r>
            <a:r>
              <a:rPr lang="en-US" altLang="ko-KR" sz="2000" b="1" dirty="0">
                <a:solidFill>
                  <a:srgbClr val="002060"/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ko-KR" sz="2200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8901734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실습 문제 </a:t>
            </a:r>
            <a:r>
              <a:rPr lang="en-US" altLang="ko-KR" dirty="0"/>
              <a:t>1 - </a:t>
            </a:r>
            <a:r>
              <a:rPr lang="ko-KR" altLang="en-US" dirty="0" err="1"/>
              <a:t>싱글톤</a:t>
            </a:r>
            <a:r>
              <a:rPr lang="ko-KR" altLang="en-US" dirty="0"/>
              <a:t> 패턴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64</a:t>
            </a:fld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858168" y="978940"/>
            <a:ext cx="819928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-------------------------------------------------------------------------------------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카드 회사에서 카드를 발급할 때마다 카드 고유 번호를 부여해줍니다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   </a:t>
            </a:r>
            <a:r>
              <a:rPr lang="ko-KR" altLang="en-US" dirty="0"/>
              <a:t>카드 클래스를 만들고</a:t>
            </a:r>
            <a:r>
              <a:rPr lang="en-US" altLang="ko-KR" dirty="0"/>
              <a:t>, </a:t>
            </a:r>
            <a:r>
              <a:rPr lang="ko-KR" altLang="en-US" dirty="0"/>
              <a:t>카드 회사 클래스 </a:t>
            </a:r>
            <a:r>
              <a:rPr lang="en-US" altLang="ko-KR" dirty="0" err="1"/>
              <a:t>CardCompany</a:t>
            </a:r>
            <a:r>
              <a:rPr lang="ko-KR" altLang="en-US" dirty="0"/>
              <a:t>를 </a:t>
            </a:r>
            <a:r>
              <a:rPr lang="ko-KR" altLang="en-US" dirty="0" err="1"/>
              <a:t>싱글톤</a:t>
            </a:r>
            <a:r>
              <a:rPr lang="ko-KR" altLang="en-US" dirty="0"/>
              <a:t>  패턴을 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사용하여 구현해 보세요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-------------------------------------------------------------------------------------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496616" y="2565122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☞ 실행 결과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664" y="3195799"/>
            <a:ext cx="1667108" cy="83831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146521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 열거 타입</a:t>
            </a:r>
            <a:r>
              <a:rPr lang="en-US" altLang="ko-KR" dirty="0"/>
              <a:t>(</a:t>
            </a:r>
            <a:r>
              <a:rPr lang="en-US" altLang="ko-KR" dirty="0" err="1"/>
              <a:t>enum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65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1052736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열거 타입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52600" y="1624484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한정된 값인 열거 상수 중에서 하나의 상수를 저장하는 타입이다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24" y="2272556"/>
            <a:ext cx="2480275" cy="14401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448944" y="2704604"/>
            <a:ext cx="3456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Season </a:t>
            </a:r>
            <a:r>
              <a:rPr lang="en-US" altLang="ko-KR" dirty="0" err="1"/>
              <a:t>season</a:t>
            </a:r>
            <a:r>
              <a:rPr lang="en-US" altLang="ko-KR" dirty="0"/>
              <a:t> = null;</a:t>
            </a:r>
          </a:p>
          <a:p>
            <a:endParaRPr lang="en-US" altLang="ko-KR" dirty="0"/>
          </a:p>
          <a:p>
            <a:r>
              <a:rPr lang="en-US" altLang="ko-KR" dirty="0"/>
              <a:t>season = Season.</a:t>
            </a:r>
            <a:r>
              <a:rPr lang="ko-KR" altLang="en-US" dirty="0"/>
              <a:t>여름</a:t>
            </a:r>
          </a:p>
        </p:txBody>
      </p:sp>
    </p:spTree>
    <p:extLst>
      <p:ext uri="{BB962C8B-B14F-4D97-AF65-F5344CB8AC3E}">
        <p14:creationId xmlns:p14="http://schemas.microsoft.com/office/powerpoint/2010/main" val="42103935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 열거 타입</a:t>
            </a:r>
            <a:r>
              <a:rPr lang="en-US" altLang="ko-KR" dirty="0"/>
              <a:t>(</a:t>
            </a:r>
            <a:r>
              <a:rPr lang="en-US" altLang="ko-KR" dirty="0" err="1"/>
              <a:t>enum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66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1124744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열거 타입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760" y="980728"/>
            <a:ext cx="5357202" cy="532859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0533615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1" y="-27384"/>
            <a:ext cx="3800872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열거 타입</a:t>
            </a:r>
            <a:r>
              <a:rPr lang="en-US" altLang="ko-KR" dirty="0"/>
              <a:t>(</a:t>
            </a:r>
            <a:r>
              <a:rPr lang="en-US" altLang="ko-KR" dirty="0" err="1"/>
              <a:t>enum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478" y="1925081"/>
            <a:ext cx="2604289" cy="22322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b="16667"/>
          <a:stretch/>
        </p:blipFill>
        <p:spPr>
          <a:xfrm>
            <a:off x="3872880" y="1196752"/>
            <a:ext cx="5745070" cy="45365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1052736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열거 타입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930034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1" y="-27384"/>
            <a:ext cx="3800872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열거 타입</a:t>
            </a:r>
            <a:r>
              <a:rPr lang="en-US" altLang="ko-KR" dirty="0"/>
              <a:t>(</a:t>
            </a:r>
            <a:r>
              <a:rPr lang="en-US" altLang="ko-KR" dirty="0" err="1"/>
              <a:t>enum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648" y="1893319"/>
            <a:ext cx="5619419" cy="23737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166" y="4547269"/>
            <a:ext cx="2448272" cy="75393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1052736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열거 타입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987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88910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은행 거래 프로젝트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496616" y="1853952"/>
            <a:ext cx="2880320" cy="50405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BankAccount</a:t>
            </a:r>
            <a:r>
              <a:rPr lang="en-US" altLang="ko-KR" dirty="0"/>
              <a:t>(</a:t>
            </a:r>
            <a:r>
              <a:rPr lang="ko-KR" altLang="en-US" dirty="0"/>
              <a:t>클래스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496616" y="2339034"/>
            <a:ext cx="2880320" cy="13759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/>
              <a:t> </a:t>
            </a:r>
            <a:r>
              <a:rPr lang="en-US" altLang="ko-KR" dirty="0" err="1"/>
              <a:t>accountNumber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 owner</a:t>
            </a:r>
          </a:p>
          <a:p>
            <a:r>
              <a:rPr lang="en-US" altLang="ko-KR" dirty="0"/>
              <a:t> balance</a:t>
            </a:r>
          </a:p>
          <a:p>
            <a:r>
              <a:rPr lang="en-US" altLang="ko-KR" dirty="0"/>
              <a:t> transactions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496616" y="3707186"/>
            <a:ext cx="2880320" cy="12765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/>
              <a:t> deposit(amount)</a:t>
            </a:r>
          </a:p>
          <a:p>
            <a:r>
              <a:rPr lang="en-US" altLang="ko-KR" dirty="0"/>
              <a:t> withdraw(amount)</a:t>
            </a:r>
          </a:p>
          <a:p>
            <a:r>
              <a:rPr lang="en-US" altLang="ko-KR" dirty="0"/>
              <a:t> </a:t>
            </a:r>
            <a:r>
              <a:rPr lang="en-US" altLang="ko-KR" dirty="0" err="1"/>
              <a:t>displayInfo</a:t>
            </a:r>
            <a:r>
              <a:rPr lang="en-US" altLang="ko-KR" dirty="0"/>
              <a:t>()</a:t>
            </a:r>
          </a:p>
          <a:p>
            <a:r>
              <a:rPr lang="en-US" altLang="ko-KR" dirty="0"/>
              <a:t> </a:t>
            </a:r>
            <a:r>
              <a:rPr lang="en-US" altLang="ko-KR" dirty="0" err="1"/>
              <a:t>getTransactionHistory</a:t>
            </a:r>
            <a:r>
              <a:rPr lang="en-US" altLang="ko-KR" dirty="0"/>
              <a:t>()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5385048" y="3594281"/>
            <a:ext cx="2880320" cy="50405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TransactionType</a:t>
            </a:r>
            <a:r>
              <a:rPr lang="en-US" altLang="ko-KR" dirty="0"/>
              <a:t>(</a:t>
            </a:r>
            <a:r>
              <a:rPr lang="en-US" altLang="ko-KR" dirty="0" err="1"/>
              <a:t>enum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5385048" y="4079364"/>
            <a:ext cx="2880320" cy="76033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/>
              <a:t> </a:t>
            </a:r>
            <a:r>
              <a:rPr lang="ko-KR" altLang="en-US" dirty="0"/>
              <a:t>입금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출금</a:t>
            </a:r>
            <a:endParaRPr lang="en-US" altLang="ko-KR" dirty="0"/>
          </a:p>
        </p:txBody>
      </p:sp>
      <p:sp>
        <p:nvSpPr>
          <p:cNvPr id="10" name="직사각형 9"/>
          <p:cNvSpPr/>
          <p:nvPr/>
        </p:nvSpPr>
        <p:spPr>
          <a:xfrm>
            <a:off x="5385048" y="1859375"/>
            <a:ext cx="2880320" cy="50405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Transaction(</a:t>
            </a:r>
            <a:r>
              <a:rPr lang="ko-KR" altLang="en-US" dirty="0"/>
              <a:t>클래스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5385048" y="2344458"/>
            <a:ext cx="2880320" cy="76705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/>
              <a:t> </a:t>
            </a:r>
            <a:r>
              <a:rPr lang="en-US" altLang="ko-KR" dirty="0" err="1"/>
              <a:t>TransactionType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 amount</a:t>
            </a:r>
          </a:p>
        </p:txBody>
      </p:sp>
      <p:cxnSp>
        <p:nvCxnSpPr>
          <p:cNvPr id="12" name="직선 화살표 연결선 11"/>
          <p:cNvCxnSpPr/>
          <p:nvPr/>
        </p:nvCxnSpPr>
        <p:spPr>
          <a:xfrm flipV="1">
            <a:off x="3152800" y="2247413"/>
            <a:ext cx="2088232" cy="11521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>
            <a:off x="6757268" y="2751469"/>
            <a:ext cx="211956" cy="9557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80728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>
                <a:solidFill>
                  <a:srgbClr val="C00000"/>
                </a:solidFill>
              </a:rPr>
              <a:t>BankProject</a:t>
            </a:r>
            <a:r>
              <a:rPr lang="en-US" altLang="ko-KR" sz="2000" b="1" dirty="0">
                <a:solidFill>
                  <a:srgbClr val="C00000"/>
                </a:solidFill>
              </a:rPr>
              <a:t> &gt; </a:t>
            </a:r>
            <a:r>
              <a:rPr lang="ko-KR" altLang="en-US" sz="2000" b="1" dirty="0">
                <a:solidFill>
                  <a:srgbClr val="C00000"/>
                </a:solidFill>
              </a:rPr>
              <a:t>클래스 다이어그램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65964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88910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은행 거래 프로젝트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80728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은행 거래 내역 테스트 출력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31" y="1628800"/>
            <a:ext cx="4037125" cy="44644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580370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88910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은행 거래 프로젝트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80728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거래</a:t>
            </a:r>
            <a:r>
              <a:rPr lang="en-US" altLang="ko-KR" sz="2000" b="1" dirty="0">
                <a:solidFill>
                  <a:srgbClr val="C00000"/>
                </a:solidFill>
              </a:rPr>
              <a:t>(</a:t>
            </a:r>
            <a:r>
              <a:rPr lang="ko-KR" altLang="en-US" sz="2000" b="1" dirty="0">
                <a:solidFill>
                  <a:srgbClr val="C00000"/>
                </a:solidFill>
              </a:rPr>
              <a:t>트랜잭션</a:t>
            </a:r>
            <a:r>
              <a:rPr lang="en-US" altLang="ko-KR" sz="2000" b="1" dirty="0">
                <a:solidFill>
                  <a:srgbClr val="C00000"/>
                </a:solidFill>
              </a:rPr>
              <a:t>)</a:t>
            </a:r>
            <a:r>
              <a:rPr lang="ko-KR" altLang="en-US" sz="2000" b="1" dirty="0">
                <a:solidFill>
                  <a:srgbClr val="C00000"/>
                </a:solidFill>
              </a:rPr>
              <a:t> 유형  </a:t>
            </a:r>
            <a:r>
              <a:rPr lang="en-US" altLang="ko-KR" sz="2000" b="1" dirty="0">
                <a:solidFill>
                  <a:srgbClr val="C00000"/>
                </a:solidFill>
              </a:rPr>
              <a:t>- </a:t>
            </a:r>
            <a:r>
              <a:rPr lang="en-US" altLang="ko-KR" sz="2000" b="1" dirty="0" err="1">
                <a:solidFill>
                  <a:srgbClr val="C00000"/>
                </a:solidFill>
              </a:rPr>
              <a:t>enum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663" y="1700808"/>
            <a:ext cx="4110409" cy="152697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6416931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88910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은행 거래 프로젝트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80728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거래</a:t>
            </a:r>
            <a:r>
              <a:rPr lang="en-US" altLang="ko-KR" sz="2000" b="1" dirty="0">
                <a:solidFill>
                  <a:srgbClr val="C00000"/>
                </a:solidFill>
              </a:rPr>
              <a:t>(</a:t>
            </a:r>
            <a:r>
              <a:rPr lang="ko-KR" altLang="en-US" sz="2000" b="1" dirty="0">
                <a:solidFill>
                  <a:srgbClr val="C00000"/>
                </a:solidFill>
              </a:rPr>
              <a:t>트랜잭션</a:t>
            </a:r>
            <a:r>
              <a:rPr lang="en-US" altLang="ko-KR" sz="2000" b="1" dirty="0">
                <a:solidFill>
                  <a:srgbClr val="C00000"/>
                </a:solidFill>
              </a:rPr>
              <a:t>)</a:t>
            </a:r>
            <a:r>
              <a:rPr lang="ko-KR" altLang="en-US" sz="2000" b="1" dirty="0">
                <a:solidFill>
                  <a:srgbClr val="C00000"/>
                </a:solidFill>
              </a:rPr>
              <a:t>  </a:t>
            </a:r>
            <a:r>
              <a:rPr lang="en-US" altLang="ko-KR" sz="2000" b="1" dirty="0">
                <a:solidFill>
                  <a:srgbClr val="C00000"/>
                </a:solidFill>
              </a:rPr>
              <a:t>- </a:t>
            </a:r>
            <a:r>
              <a:rPr lang="ko-KR" altLang="en-US" sz="2000" b="1" dirty="0">
                <a:solidFill>
                  <a:srgbClr val="C00000"/>
                </a:solidFill>
              </a:rPr>
              <a:t>클래스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628800"/>
            <a:ext cx="7285408" cy="235730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9085865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88910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은행 거래 프로젝트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80728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은행계좌</a:t>
            </a:r>
            <a:r>
              <a:rPr lang="en-US" altLang="ko-KR" sz="2000" b="1" dirty="0">
                <a:solidFill>
                  <a:srgbClr val="C00000"/>
                </a:solidFill>
              </a:rPr>
              <a:t>(</a:t>
            </a:r>
            <a:r>
              <a:rPr lang="en-US" altLang="ko-KR" sz="2000" b="1" dirty="0" err="1">
                <a:solidFill>
                  <a:srgbClr val="C00000"/>
                </a:solidFill>
              </a:rPr>
              <a:t>BankAccount</a:t>
            </a:r>
            <a:r>
              <a:rPr lang="en-US" altLang="ko-KR" sz="2000" b="1" dirty="0">
                <a:solidFill>
                  <a:srgbClr val="C00000"/>
                </a:solidFill>
              </a:rPr>
              <a:t>)</a:t>
            </a:r>
            <a:r>
              <a:rPr lang="ko-KR" altLang="en-US" sz="2000" b="1" dirty="0">
                <a:solidFill>
                  <a:srgbClr val="C00000"/>
                </a:solidFill>
              </a:rPr>
              <a:t>  </a:t>
            </a:r>
            <a:r>
              <a:rPr lang="en-US" altLang="ko-KR" sz="2000" b="1" dirty="0">
                <a:solidFill>
                  <a:srgbClr val="C00000"/>
                </a:solidFill>
              </a:rPr>
              <a:t>- </a:t>
            </a:r>
            <a:r>
              <a:rPr lang="ko-KR" altLang="en-US" sz="2000" b="1" dirty="0">
                <a:solidFill>
                  <a:srgbClr val="C00000"/>
                </a:solidFill>
              </a:rPr>
              <a:t>클래스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631559"/>
            <a:ext cx="7126252" cy="32146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7096909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88910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은행 거래 프로젝트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80728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거래</a:t>
            </a:r>
            <a:r>
              <a:rPr lang="en-US" altLang="ko-KR" sz="2000" b="1" dirty="0">
                <a:solidFill>
                  <a:srgbClr val="C00000"/>
                </a:solidFill>
              </a:rPr>
              <a:t>(transaction)</a:t>
            </a:r>
            <a:r>
              <a:rPr lang="ko-KR" altLang="en-US" sz="2000" b="1" dirty="0">
                <a:solidFill>
                  <a:srgbClr val="C00000"/>
                </a:solidFill>
              </a:rPr>
              <a:t> 추가하기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t="56722"/>
          <a:stretch/>
        </p:blipFill>
        <p:spPr>
          <a:xfrm>
            <a:off x="848544" y="1628800"/>
            <a:ext cx="8689606" cy="25202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034840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88910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은행 거래 프로젝트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80728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거래 내역</a:t>
            </a:r>
            <a:r>
              <a:rPr lang="en-US" altLang="ko-KR" sz="2000" b="1" dirty="0">
                <a:solidFill>
                  <a:srgbClr val="C00000"/>
                </a:solidFill>
              </a:rPr>
              <a:t>(history)</a:t>
            </a:r>
            <a:r>
              <a:rPr lang="ko-KR" altLang="en-US" sz="2000" b="1" dirty="0">
                <a:solidFill>
                  <a:srgbClr val="C00000"/>
                </a:solidFill>
              </a:rPr>
              <a:t> 조회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20" y="1662890"/>
            <a:ext cx="9019200" cy="32630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325680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88910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은행 거래 프로젝트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80728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입금</a:t>
            </a:r>
            <a:r>
              <a:rPr lang="en-US" altLang="ko-KR" sz="2000" b="1" dirty="0">
                <a:solidFill>
                  <a:srgbClr val="C00000"/>
                </a:solidFill>
              </a:rPr>
              <a:t>(deposit)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134" y="1652357"/>
            <a:ext cx="8268840" cy="31930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110796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88910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은행 거래 프로젝트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80728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출금</a:t>
            </a:r>
            <a:r>
              <a:rPr lang="en-US" altLang="ko-KR" sz="2000" b="1" dirty="0">
                <a:solidFill>
                  <a:srgbClr val="C00000"/>
                </a:solidFill>
              </a:rPr>
              <a:t>(withdraw)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110" y="1628800"/>
            <a:ext cx="8176098" cy="331236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7173949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88910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은행 거래 프로젝트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80728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계좌 정보 출력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628800"/>
            <a:ext cx="7632848" cy="178312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2317620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88910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은행 거래 프로젝트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80728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Main </a:t>
            </a:r>
            <a:r>
              <a:rPr lang="ko-KR" altLang="en-US" sz="2000" b="1" dirty="0">
                <a:solidFill>
                  <a:srgbClr val="C00000"/>
                </a:solidFill>
              </a:rPr>
              <a:t>테스트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07773"/>
            <a:ext cx="5563660" cy="45586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70037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5068</TotalTime>
  <Words>1944</Words>
  <Application>Microsoft Office PowerPoint</Application>
  <PresentationFormat>A4 용지(210x297mm)</PresentationFormat>
  <Paragraphs>548</Paragraphs>
  <Slides>79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79</vt:i4>
      </vt:variant>
    </vt:vector>
  </HeadingPairs>
  <TitlesOfParts>
    <vt:vector size="86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4장. 클래스와 객체</vt:lpstr>
      <vt:lpstr>  객체 지향 프로그래밍</vt:lpstr>
      <vt:lpstr>  클래스(class)</vt:lpstr>
      <vt:lpstr>  클래스(class)</vt:lpstr>
      <vt:lpstr>  클래스의 정의와 사용</vt:lpstr>
      <vt:lpstr>  클래스의 정의와 사용</vt:lpstr>
      <vt:lpstr>  클래스의 정의와 사용</vt:lpstr>
      <vt:lpstr>  클래스와 인스턴스</vt:lpstr>
      <vt:lpstr>  인스턴스와 참조변수</vt:lpstr>
      <vt:lpstr>  객체 자료형</vt:lpstr>
      <vt:lpstr>  패키지(package)</vt:lpstr>
      <vt:lpstr>  생성자(constructor)</vt:lpstr>
      <vt:lpstr>  생성자(constructor)</vt:lpstr>
      <vt:lpstr>  생성자(constructor)</vt:lpstr>
      <vt:lpstr>  회원 로그인 서비스 클래스</vt:lpstr>
      <vt:lpstr>  회원 로그인 서비스 클래스</vt:lpstr>
      <vt:lpstr>  this 예약어</vt:lpstr>
      <vt:lpstr>  this 예약어</vt:lpstr>
      <vt:lpstr>  this 예약어</vt:lpstr>
      <vt:lpstr>  this 예약어</vt:lpstr>
      <vt:lpstr>  this 예약어</vt:lpstr>
      <vt:lpstr>  정보 은닉(캡슐화)</vt:lpstr>
      <vt:lpstr>  정보 은닉(캡슐화)</vt:lpstr>
      <vt:lpstr>  정보 은닉(캡슐화)</vt:lpstr>
      <vt:lpstr>  정보 은닉(캡슐화)</vt:lpstr>
      <vt:lpstr>  정보 은닉(캡슐화)</vt:lpstr>
      <vt:lpstr>  정보 은닉(캡슐화)</vt:lpstr>
      <vt:lpstr>  객체 배열 만들기</vt:lpstr>
      <vt:lpstr>  객체 배열</vt:lpstr>
      <vt:lpstr>  객체 배열 만들기</vt:lpstr>
      <vt:lpstr>  객체 배열 만들기</vt:lpstr>
      <vt:lpstr>  클래스(객체)간 참조</vt:lpstr>
      <vt:lpstr>  클래스(객체)간 참조</vt:lpstr>
      <vt:lpstr>  클래스(객체)간 참조</vt:lpstr>
      <vt:lpstr>  클래스(객체)간 참조</vt:lpstr>
      <vt:lpstr>  클래스(자료형) 참조</vt:lpstr>
      <vt:lpstr>  클래스(자료형) 참조</vt:lpstr>
      <vt:lpstr>  클래스(자료형) 참조</vt:lpstr>
      <vt:lpstr>  클래스(자료형) 참조</vt:lpstr>
      <vt:lpstr>  클래스(자료형) 참조</vt:lpstr>
      <vt:lpstr>  배열로 성적 관리하기</vt:lpstr>
      <vt:lpstr>  배열로 성적 관리하기</vt:lpstr>
      <vt:lpstr>  배열로 성적 관리하기</vt:lpstr>
      <vt:lpstr>  객체 간 협력</vt:lpstr>
      <vt:lpstr>  객체 간 협력</vt:lpstr>
      <vt:lpstr>  객체 간 협력</vt:lpstr>
      <vt:lpstr>  객체 간 협력</vt:lpstr>
      <vt:lpstr>  객체 간 협력</vt:lpstr>
      <vt:lpstr>  실습 문제 – 클래스 구현</vt:lpstr>
      <vt:lpstr> static 변수</vt:lpstr>
      <vt:lpstr> static 변수</vt:lpstr>
      <vt:lpstr> static 변수</vt:lpstr>
      <vt:lpstr> 인스턴스와 참조변수</vt:lpstr>
      <vt:lpstr> static 변수 사용하기</vt:lpstr>
      <vt:lpstr> static 메서드 만들기</vt:lpstr>
      <vt:lpstr> static 클래스 만들기</vt:lpstr>
      <vt:lpstr> static 클래스 만들기</vt:lpstr>
      <vt:lpstr> static 응용 : 싱글톤 패턴</vt:lpstr>
      <vt:lpstr> static 응용 : 싱글톤 패턴</vt:lpstr>
      <vt:lpstr> static 응용 : 싱글톤 패턴</vt:lpstr>
      <vt:lpstr> static 응용 : 싱글톤 패턴</vt:lpstr>
      <vt:lpstr> static 응용 : 싱글톤 패턴</vt:lpstr>
      <vt:lpstr> static 응용 : 싱글톤 패턴</vt:lpstr>
      <vt:lpstr>  실습 문제 1 - 싱글톤 패턴</vt:lpstr>
      <vt:lpstr>  열거 타입(enum)</vt:lpstr>
      <vt:lpstr>  열거 타입(enum)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giyong kim</cp:lastModifiedBy>
  <cp:revision>397</cp:revision>
  <dcterms:created xsi:type="dcterms:W3CDTF">2019-03-04T02:36:55Z</dcterms:created>
  <dcterms:modified xsi:type="dcterms:W3CDTF">2026-07-30T06:19:55Z</dcterms:modified>
</cp:coreProperties>
</file>