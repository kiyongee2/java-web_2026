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9"/>
  </p:notesMasterIdLst>
  <p:sldIdLst>
    <p:sldId id="256" r:id="rId2"/>
    <p:sldId id="321" r:id="rId3"/>
    <p:sldId id="313" r:id="rId4"/>
    <p:sldId id="363" r:id="rId5"/>
    <p:sldId id="315" r:id="rId6"/>
    <p:sldId id="369" r:id="rId7"/>
    <p:sldId id="370" r:id="rId8"/>
    <p:sldId id="376" r:id="rId9"/>
    <p:sldId id="364" r:id="rId10"/>
    <p:sldId id="314" r:id="rId11"/>
    <p:sldId id="316" r:id="rId12"/>
    <p:sldId id="318" r:id="rId13"/>
    <p:sldId id="317" r:id="rId14"/>
    <p:sldId id="298" r:id="rId15"/>
    <p:sldId id="299" r:id="rId16"/>
    <p:sldId id="367" r:id="rId17"/>
    <p:sldId id="333" r:id="rId18"/>
    <p:sldId id="366" r:id="rId19"/>
    <p:sldId id="372" r:id="rId20"/>
    <p:sldId id="301" r:id="rId21"/>
    <p:sldId id="353" r:id="rId22"/>
    <p:sldId id="354" r:id="rId23"/>
    <p:sldId id="302" r:id="rId24"/>
    <p:sldId id="308" r:id="rId25"/>
    <p:sldId id="322" r:id="rId26"/>
    <p:sldId id="323" r:id="rId27"/>
    <p:sldId id="328" r:id="rId28"/>
    <p:sldId id="304" r:id="rId29"/>
    <p:sldId id="334" r:id="rId30"/>
    <p:sldId id="352" r:id="rId31"/>
    <p:sldId id="377" r:id="rId32"/>
    <p:sldId id="305" r:id="rId33"/>
    <p:sldId id="356" r:id="rId34"/>
    <p:sldId id="341" r:id="rId35"/>
    <p:sldId id="349" r:id="rId36"/>
    <p:sldId id="371" r:id="rId37"/>
    <p:sldId id="368" r:id="rId38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48235"/>
    <a:srgbClr val="E46C0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854" y="77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65CDAC-D627-4E87-877A-1B781DD4CADC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DDD8A-FD4C-4C63-90D4-202AFE8080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64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863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6862345" cy="1226567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6" y="2667615"/>
            <a:ext cx="7683303" cy="478904"/>
          </a:xfrm>
          <a:solidFill>
            <a:schemeClr val="accent5">
              <a:lumMod val="50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81B4-D91A-4578-85B3-829E63FCFE17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2144688" cy="685800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2691044"/>
            <a:ext cx="2144688" cy="486181"/>
          </a:xfrm>
          <a:prstGeom prst="rect">
            <a:avLst/>
          </a:prstGeom>
          <a:solidFill>
            <a:srgbClr val="00206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이등변 삼각형 8"/>
          <p:cNvSpPr/>
          <p:nvPr userDrawn="1"/>
        </p:nvSpPr>
        <p:spPr>
          <a:xfrm rot="5400000">
            <a:off x="1333915" y="2721729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이등변 삼각형 9"/>
          <p:cNvSpPr/>
          <p:nvPr userDrawn="1"/>
        </p:nvSpPr>
        <p:spPr>
          <a:xfrm rot="5400000">
            <a:off x="1704594" y="2721730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718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 dirty="0"/>
              <a:t> 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FDEC8-1339-42E8-9704-2977280C2FD3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342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8DC76-A282-4817-B790-197F054E1215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474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AA6C-13D8-43E4-90F0-E6C88A2B9F16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685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B03B-20CC-436E-8601-C933C6C1F4A6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14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5A15D-8B08-482F-AB47-E416EC355EB6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06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7D7F8-7B64-44F8-A411-CBD22F28CBFF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332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DBD9B-2BB6-4D1F-BCB4-1E48829C93C3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044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4C48-0CD7-40EB-BE64-BBF4DB8C56AF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273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77542-37E5-48F2-BAE7-80CC6B0EB6A3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806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CF174-B5AC-4A98-B673-0BE8126D3F27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854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124744"/>
            <a:ext cx="8915400" cy="504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6BCB4-B68B-4638-8167-F4BDC0A30DA1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-39555" y="6381328"/>
            <a:ext cx="9945555" cy="476672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9906000" cy="836712"/>
          </a:xfrm>
          <a:prstGeom prst="rect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0" y="-18256"/>
            <a:ext cx="6201139" cy="854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  마스터 제목 스타일 편집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853433" y="6453337"/>
            <a:ext cx="5572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BDE3FE7-3AEA-4B05-AC5A-802D1816ACF0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2050" name="Picture 2" descr="javaì ëí ì´ë¯¸ì§ ê²ìê²°ê³¼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652" y="5933989"/>
            <a:ext cx="685900" cy="68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125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3200" kern="1200">
          <a:solidFill>
            <a:schemeClr val="bg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7050783" cy="1226567"/>
          </a:xfrm>
        </p:spPr>
        <p:txBody>
          <a:bodyPr>
            <a:normAutofit/>
          </a:bodyPr>
          <a:lstStyle/>
          <a:p>
            <a:pPr algn="l"/>
            <a:r>
              <a:rPr lang="en-US" altLang="ko-KR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2</a:t>
            </a:r>
            <a:r>
              <a:rPr lang="ko-KR" altLang="en-US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장</a:t>
            </a:r>
            <a:r>
              <a:rPr lang="en-US" altLang="ko-KR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. </a:t>
            </a:r>
            <a:r>
              <a:rPr lang="ko-KR" altLang="en-US" b="1" dirty="0" err="1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제어문</a:t>
            </a:r>
            <a:r>
              <a:rPr lang="en-US" altLang="ko-KR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(</a:t>
            </a:r>
            <a:r>
              <a:rPr lang="ko-KR" altLang="en-US" b="1" dirty="0" err="1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조건문</a:t>
            </a:r>
            <a:r>
              <a:rPr lang="en-US" altLang="ko-KR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, </a:t>
            </a:r>
            <a:r>
              <a:rPr lang="ko-KR" altLang="en-US" b="1" dirty="0" err="1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반복문</a:t>
            </a:r>
            <a:r>
              <a:rPr lang="en-US" altLang="ko-KR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)</a:t>
            </a:r>
            <a:endParaRPr lang="ko-KR" altLang="en-US" b="1" dirty="0">
              <a:solidFill>
                <a:schemeClr val="tx1"/>
              </a:solidFill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7" y="2670822"/>
            <a:ext cx="7683303" cy="504055"/>
          </a:xfrm>
          <a:solidFill>
            <a:schemeClr val="accent5">
              <a:lumMod val="75000"/>
            </a:schemeClr>
          </a:solidFill>
        </p:spPr>
        <p:txBody>
          <a:bodyPr anchor="ctr" anchorCtr="0">
            <a:noAutofit/>
          </a:bodyPr>
          <a:lstStyle/>
          <a:p>
            <a:pPr algn="l"/>
            <a:r>
              <a:rPr lang="en-US" altLang="ko-KR" sz="2400" dirty="0">
                <a:solidFill>
                  <a:schemeClr val="bg1"/>
                </a:solidFill>
              </a:rPr>
              <a:t> </a:t>
            </a:r>
            <a:r>
              <a:rPr lang="en-US" altLang="ko-KR" sz="2000" i="1" dirty="0">
                <a:solidFill>
                  <a:schemeClr val="bg1"/>
                </a:solidFill>
              </a:rPr>
              <a:t>if / loop</a:t>
            </a:r>
            <a:endParaRPr lang="ko-KR" altLang="en-US" sz="1800" i="1" dirty="0">
              <a:solidFill>
                <a:schemeClr val="bg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" name="AutoShape 5" descr="C++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182298" y="-144463"/>
            <a:ext cx="3302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5" name="Picture 2" descr="javaì ëí ì´ë¯¸ì§ ê²ìê²°ê³¼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7056" y="3645024"/>
            <a:ext cx="4078760" cy="2447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75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조건문</a:t>
            </a:r>
            <a:r>
              <a:rPr lang="en-US" altLang="ko-KR" dirty="0"/>
              <a:t>(if</a:t>
            </a:r>
            <a:r>
              <a:rPr lang="ko-KR" altLang="en-US" dirty="0"/>
              <a:t>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20550" y="1196752"/>
            <a:ext cx="8064897" cy="15789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ko-KR" altLang="en-US" sz="2000" b="1" dirty="0">
                <a:solidFill>
                  <a:srgbClr val="C00000"/>
                </a:solidFill>
              </a:rPr>
              <a:t> </a:t>
            </a:r>
            <a:r>
              <a:rPr lang="ko-KR" altLang="en-US" sz="2000" b="1" dirty="0" err="1">
                <a:solidFill>
                  <a:srgbClr val="C00000"/>
                </a:solidFill>
              </a:rPr>
              <a:t>조건문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/>
              <a:t>주어진 조건에 따라 다른 </a:t>
            </a:r>
            <a:r>
              <a:rPr lang="ko-KR" altLang="en-US" sz="1800" dirty="0" err="1"/>
              <a:t>수행문이</a:t>
            </a:r>
            <a:r>
              <a:rPr lang="ko-KR" altLang="en-US" sz="1800" dirty="0"/>
              <a:t> 실행되도록 한 프로그래밍 구문</a:t>
            </a:r>
            <a:endParaRPr lang="en-US" altLang="ko-KR" sz="18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if</a:t>
            </a:r>
            <a:r>
              <a:rPr lang="ko-KR" altLang="en-US" sz="2000" dirty="0"/>
              <a:t>문</a:t>
            </a:r>
            <a:r>
              <a:rPr lang="en-US" altLang="ko-KR" sz="2000" dirty="0"/>
              <a:t>, switch </a:t>
            </a:r>
            <a:r>
              <a:rPr lang="ko-KR" altLang="en-US" sz="2000" dirty="0"/>
              <a:t>문이 대표적이다</a:t>
            </a:r>
            <a:r>
              <a:rPr lang="en-US" altLang="ko-KR" sz="2000" dirty="0"/>
              <a:t>.</a:t>
            </a:r>
          </a:p>
          <a:p>
            <a:pPr marL="914400" lvl="2" indent="0">
              <a:buNone/>
            </a:pPr>
            <a:endParaRPr lang="en-US" altLang="ko-KR" sz="1800" dirty="0">
              <a:latin typeface="+mn-ea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2200" b="1" dirty="0"/>
          </a:p>
        </p:txBody>
      </p:sp>
      <p:sp>
        <p:nvSpPr>
          <p:cNvPr id="23" name="모서리가 둥근 직사각형 22"/>
          <p:cNvSpPr/>
          <p:nvPr/>
        </p:nvSpPr>
        <p:spPr>
          <a:xfrm>
            <a:off x="3656855" y="2636912"/>
            <a:ext cx="1224136" cy="50405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시작</a:t>
            </a:r>
          </a:p>
        </p:txBody>
      </p:sp>
      <p:sp>
        <p:nvSpPr>
          <p:cNvPr id="25" name="모서리가 둥근 직사각형 24"/>
          <p:cNvSpPr/>
          <p:nvPr/>
        </p:nvSpPr>
        <p:spPr>
          <a:xfrm>
            <a:off x="3656855" y="5530588"/>
            <a:ext cx="1224136" cy="50405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끝</a:t>
            </a:r>
          </a:p>
        </p:txBody>
      </p:sp>
      <p:sp>
        <p:nvSpPr>
          <p:cNvPr id="27" name="다이아몬드 26"/>
          <p:cNvSpPr/>
          <p:nvPr/>
        </p:nvSpPr>
        <p:spPr>
          <a:xfrm>
            <a:off x="3584847" y="3406352"/>
            <a:ext cx="1368152" cy="792088"/>
          </a:xfrm>
          <a:prstGeom prst="diamond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조건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2432719" y="4558480"/>
            <a:ext cx="1368152" cy="50405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실행</a:t>
            </a:r>
            <a:r>
              <a:rPr lang="en-US" altLang="ko-KR" dirty="0">
                <a:solidFill>
                  <a:sysClr val="windowText" lastClr="000000"/>
                </a:solidFill>
              </a:rPr>
              <a:t>A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4808983" y="4558480"/>
            <a:ext cx="1368152" cy="50405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실행</a:t>
            </a:r>
            <a:r>
              <a:rPr lang="en-US" altLang="ko-KR" dirty="0">
                <a:solidFill>
                  <a:sysClr val="windowText" lastClr="000000"/>
                </a:solidFill>
              </a:rPr>
              <a:t>B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38" name="꺾인 연결선 37"/>
          <p:cNvCxnSpPr>
            <a:stCxn id="27" idx="1"/>
            <a:endCxn id="28" idx="0"/>
          </p:cNvCxnSpPr>
          <p:nvPr/>
        </p:nvCxnSpPr>
        <p:spPr>
          <a:xfrm rot="10800000" flipV="1">
            <a:off x="3116795" y="3802396"/>
            <a:ext cx="468052" cy="75608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꺾인 연결선 38"/>
          <p:cNvCxnSpPr>
            <a:stCxn id="27" idx="3"/>
            <a:endCxn id="29" idx="0"/>
          </p:cNvCxnSpPr>
          <p:nvPr/>
        </p:nvCxnSpPr>
        <p:spPr>
          <a:xfrm>
            <a:off x="4952999" y="3802396"/>
            <a:ext cx="540060" cy="75608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꺾인 연결선 39"/>
          <p:cNvCxnSpPr>
            <a:stCxn id="28" idx="2"/>
            <a:endCxn id="25" idx="1"/>
          </p:cNvCxnSpPr>
          <p:nvPr/>
        </p:nvCxnSpPr>
        <p:spPr>
          <a:xfrm rot="16200000" flipH="1">
            <a:off x="3026785" y="5152546"/>
            <a:ext cx="720080" cy="54006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/>
          <p:cNvCxnSpPr>
            <a:stCxn id="23" idx="2"/>
            <a:endCxn id="27" idx="0"/>
          </p:cNvCxnSpPr>
          <p:nvPr/>
        </p:nvCxnSpPr>
        <p:spPr>
          <a:xfrm>
            <a:off x="4268923" y="3140968"/>
            <a:ext cx="0" cy="2653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꺾인 연결선 41"/>
          <p:cNvCxnSpPr>
            <a:stCxn id="29" idx="2"/>
            <a:endCxn id="25" idx="3"/>
          </p:cNvCxnSpPr>
          <p:nvPr/>
        </p:nvCxnSpPr>
        <p:spPr>
          <a:xfrm rot="5400000">
            <a:off x="4826985" y="5116542"/>
            <a:ext cx="720080" cy="61206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116794" y="3982416"/>
            <a:ext cx="684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0070C0"/>
                </a:solidFill>
              </a:rPr>
              <a:t>true</a:t>
            </a:r>
            <a:endParaRPr lang="ko-KR" altLang="en-US" b="1" dirty="0">
              <a:solidFill>
                <a:srgbClr val="0070C0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808982" y="3982416"/>
            <a:ext cx="792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</a:rPr>
              <a:t>false</a:t>
            </a:r>
            <a:endParaRPr lang="ko-KR" altLang="en-US" b="1" dirty="0">
              <a:solidFill>
                <a:srgbClr val="C00000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953000" y="3338432"/>
            <a:ext cx="1512168" cy="408623"/>
          </a:xfrm>
          <a:prstGeom prst="roundRect">
            <a:avLst/>
          </a:prstGeom>
          <a:ln w="63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dirty="0"/>
              <a:t>age &gt;= 15</a:t>
            </a:r>
            <a:endParaRPr lang="ko-KR" altLang="en-US" dirty="0"/>
          </a:p>
        </p:txBody>
      </p:sp>
      <p:cxnSp>
        <p:nvCxnSpPr>
          <p:cNvPr id="46" name="직선 화살표 연결선 45"/>
          <p:cNvCxnSpPr/>
          <p:nvPr/>
        </p:nvCxnSpPr>
        <p:spPr>
          <a:xfrm flipH="1">
            <a:off x="4588890" y="3557919"/>
            <a:ext cx="364109" cy="187888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4917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조건문</a:t>
            </a:r>
            <a:r>
              <a:rPr lang="en-US" altLang="ko-KR" dirty="0"/>
              <a:t>(if</a:t>
            </a:r>
            <a:r>
              <a:rPr lang="ko-KR" altLang="en-US" dirty="0"/>
              <a:t>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928664" y="1035005"/>
            <a:ext cx="4680520" cy="280320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C00000"/>
                </a:solidFill>
              </a:rPr>
              <a:t>if</a:t>
            </a:r>
            <a:r>
              <a:rPr lang="ko-KR" altLang="en-US" sz="2000" b="1" dirty="0">
                <a:solidFill>
                  <a:srgbClr val="C00000"/>
                </a:solidFill>
              </a:rPr>
              <a:t>문</a:t>
            </a:r>
            <a:endParaRPr lang="en-US" altLang="ko-KR" sz="2000" dirty="0">
              <a:solidFill>
                <a:srgbClr val="C00000"/>
              </a:solidFill>
            </a:endParaRPr>
          </a:p>
          <a:p>
            <a:pPr marL="457200" lvl="1" indent="0">
              <a:buNone/>
            </a:pPr>
            <a:endParaRPr lang="en-US" altLang="ko-KR" sz="1800" dirty="0"/>
          </a:p>
          <a:p>
            <a:pPr marL="457200" lvl="1" indent="0">
              <a:buNone/>
            </a:pPr>
            <a:endParaRPr lang="en-US" altLang="ko-KR" sz="1800" dirty="0"/>
          </a:p>
          <a:p>
            <a:pPr marL="457200" lvl="1" indent="0">
              <a:buNone/>
            </a:pPr>
            <a:endParaRPr lang="en-US" altLang="ko-KR" sz="1800" dirty="0"/>
          </a:p>
          <a:p>
            <a:pPr marL="457200" lvl="1" indent="0">
              <a:buNone/>
            </a:pPr>
            <a:endParaRPr lang="en-US" altLang="ko-KR" sz="1800" dirty="0"/>
          </a:p>
          <a:p>
            <a:pPr marL="457200" lvl="1" indent="0">
              <a:buNone/>
            </a:pPr>
            <a:endParaRPr lang="en-US" altLang="ko-KR" sz="1800" dirty="0"/>
          </a:p>
          <a:p>
            <a:pPr marL="457200" lvl="1" indent="0">
              <a:buNone/>
            </a:pPr>
            <a:endParaRPr lang="en-US" altLang="ko-KR" sz="1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200" b="1" dirty="0">
                <a:solidFill>
                  <a:srgbClr val="C00000"/>
                </a:solidFill>
              </a:rPr>
              <a:t>if-else </a:t>
            </a:r>
            <a:r>
              <a:rPr lang="ko-KR" altLang="en-US" sz="2200" b="1" dirty="0">
                <a:solidFill>
                  <a:srgbClr val="C00000"/>
                </a:solidFill>
              </a:rPr>
              <a:t>문</a:t>
            </a:r>
            <a:endParaRPr lang="en-US" altLang="ko-KR" sz="2200" b="1" dirty="0">
              <a:solidFill>
                <a:srgbClr val="C00000"/>
              </a:solidFill>
            </a:endParaRPr>
          </a:p>
          <a:p>
            <a:pPr marL="457200" lvl="1" indent="0">
              <a:buNone/>
            </a:pPr>
            <a:endParaRPr lang="en-US" altLang="ko-KR" sz="2000" dirty="0"/>
          </a:p>
        </p:txBody>
      </p:sp>
      <p:sp>
        <p:nvSpPr>
          <p:cNvPr id="8" name="모서리가 둥근 직사각형 7"/>
          <p:cNvSpPr/>
          <p:nvPr/>
        </p:nvSpPr>
        <p:spPr>
          <a:xfrm>
            <a:off x="2648744" y="1539060"/>
            <a:ext cx="2304257" cy="108012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r>
              <a:rPr lang="en-US" altLang="ko-KR" dirty="0"/>
              <a:t>if(</a:t>
            </a:r>
            <a:r>
              <a:rPr lang="ko-KR" altLang="en-US" dirty="0"/>
              <a:t>조건식</a:t>
            </a:r>
            <a:r>
              <a:rPr lang="en-US" altLang="ko-KR" dirty="0"/>
              <a:t>){</a:t>
            </a:r>
          </a:p>
          <a:p>
            <a:pPr lvl="1"/>
            <a:r>
              <a:rPr lang="en-US" altLang="ko-KR" dirty="0"/>
              <a:t>    </a:t>
            </a:r>
            <a:r>
              <a:rPr lang="ko-KR" altLang="en-US" dirty="0" err="1"/>
              <a:t>수행문</a:t>
            </a:r>
            <a:r>
              <a:rPr lang="en-US" altLang="ko-KR" dirty="0"/>
              <a:t>;</a:t>
            </a:r>
          </a:p>
          <a:p>
            <a:pPr lvl="1"/>
            <a:r>
              <a:rPr lang="en-US" altLang="ko-KR" dirty="0"/>
              <a:t>}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2144688" y="2732403"/>
            <a:ext cx="38443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조건식이 참이면 </a:t>
            </a:r>
            <a:r>
              <a:rPr lang="ko-KR" alt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수행문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실행</a:t>
            </a:r>
            <a:endParaRPr lang="en-US" altLang="ko-K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2648744" y="3771308"/>
            <a:ext cx="2304257" cy="1820835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r>
              <a:rPr lang="en-US" altLang="ko-KR" dirty="0"/>
              <a:t>if(</a:t>
            </a:r>
            <a:r>
              <a:rPr lang="ko-KR" altLang="en-US" dirty="0"/>
              <a:t>조건식</a:t>
            </a:r>
            <a:r>
              <a:rPr lang="en-US" altLang="ko-KR" dirty="0"/>
              <a:t>){</a:t>
            </a:r>
          </a:p>
          <a:p>
            <a:pPr lvl="1"/>
            <a:r>
              <a:rPr lang="en-US" altLang="ko-KR" dirty="0"/>
              <a:t>    </a:t>
            </a:r>
            <a:r>
              <a:rPr lang="ko-KR" altLang="en-US" dirty="0" err="1"/>
              <a:t>수행문</a:t>
            </a:r>
            <a:r>
              <a:rPr lang="en-US" altLang="ko-KR" dirty="0"/>
              <a:t>1;</a:t>
            </a:r>
          </a:p>
          <a:p>
            <a:pPr lvl="1"/>
            <a:r>
              <a:rPr lang="en-US" altLang="ko-KR" dirty="0"/>
              <a:t>}else{</a:t>
            </a:r>
          </a:p>
          <a:p>
            <a:pPr lvl="1"/>
            <a:r>
              <a:rPr lang="en-US" altLang="ko-KR" dirty="0"/>
              <a:t>    </a:t>
            </a:r>
            <a:r>
              <a:rPr lang="ko-KR" altLang="en-US" dirty="0" err="1"/>
              <a:t>수행문</a:t>
            </a:r>
            <a:r>
              <a:rPr lang="en-US" altLang="ko-KR" dirty="0"/>
              <a:t>2</a:t>
            </a:r>
          </a:p>
          <a:p>
            <a:pPr lvl="1"/>
            <a:r>
              <a:rPr lang="en-US" altLang="ko-KR" dirty="0"/>
              <a:t>}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2118590" y="5499500"/>
            <a:ext cx="420256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조건식이 참이면 </a:t>
            </a:r>
            <a:r>
              <a:rPr lang="ko-KR" alt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수행문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실행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 </a:t>
            </a:r>
          </a:p>
          <a:p>
            <a:pPr lvl="1">
              <a:lnSpc>
                <a:spcPct val="150000"/>
              </a:lnSpc>
            </a:pP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아니면 </a:t>
            </a:r>
            <a:r>
              <a:rPr lang="ko-KR" alt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수행문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 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실행</a:t>
            </a:r>
            <a:endParaRPr lang="en-US" altLang="ko-K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9919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조건문</a:t>
            </a:r>
            <a:r>
              <a:rPr lang="en-US" altLang="ko-KR" dirty="0"/>
              <a:t>(if</a:t>
            </a:r>
            <a:r>
              <a:rPr lang="ko-KR" altLang="en-US" dirty="0"/>
              <a:t>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8744" y="1083446"/>
            <a:ext cx="5580898" cy="525658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20552" y="1052736"/>
            <a:ext cx="2520280" cy="4320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altLang="ko-KR" sz="2000" b="1" dirty="0"/>
              <a:t>if</a:t>
            </a:r>
            <a:r>
              <a:rPr lang="ko-KR" altLang="en-US" sz="2000" b="1" dirty="0"/>
              <a:t>문 예제 </a:t>
            </a:r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67559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조건문</a:t>
            </a:r>
            <a:r>
              <a:rPr lang="en-US" altLang="ko-KR" dirty="0"/>
              <a:t>(if</a:t>
            </a:r>
            <a:r>
              <a:rPr lang="ko-KR" altLang="en-US" dirty="0"/>
              <a:t>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20552" y="1052736"/>
            <a:ext cx="7632848" cy="12241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조건문과 조건 연산자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ko-KR" altLang="en-US" sz="1800" dirty="0"/>
              <a:t>간단한 </a:t>
            </a:r>
            <a:r>
              <a:rPr lang="en-US" altLang="ko-KR" sz="1800" dirty="0"/>
              <a:t>if ~ else </a:t>
            </a:r>
            <a:r>
              <a:rPr lang="ko-KR" altLang="en-US" sz="1800" dirty="0" err="1"/>
              <a:t>조건문은</a:t>
            </a:r>
            <a:r>
              <a:rPr lang="ko-KR" altLang="en-US" sz="1800" dirty="0"/>
              <a:t> 조건 연산자로 구현할 수 있음</a:t>
            </a:r>
            <a:endParaRPr lang="en-US" altLang="ko-KR" sz="1800" dirty="0"/>
          </a:p>
          <a:p>
            <a:pPr lvl="1">
              <a:lnSpc>
                <a:spcPct val="150000"/>
              </a:lnSpc>
            </a:pPr>
            <a:r>
              <a:rPr lang="ko-KR" altLang="en-US" sz="1800" dirty="0"/>
              <a:t>두 수 중 큰 값을 출력하는 프로그램</a:t>
            </a:r>
            <a:endParaRPr lang="en-US" altLang="ko-KR" sz="1800" dirty="0"/>
          </a:p>
          <a:p>
            <a:pPr marL="457200" lvl="1" indent="0">
              <a:buNone/>
            </a:pPr>
            <a:r>
              <a:rPr lang="ko-KR" altLang="en-US" sz="2000" b="1" dirty="0"/>
              <a:t> </a:t>
            </a:r>
            <a:endParaRPr lang="en-US" altLang="ko-KR" sz="2000" b="1" dirty="0"/>
          </a:p>
        </p:txBody>
      </p:sp>
      <p:sp>
        <p:nvSpPr>
          <p:cNvPr id="8" name="직사각형 7"/>
          <p:cNvSpPr/>
          <p:nvPr/>
        </p:nvSpPr>
        <p:spPr>
          <a:xfrm>
            <a:off x="1640632" y="2636780"/>
            <a:ext cx="2736304" cy="1925921"/>
          </a:xfrm>
          <a:prstGeom prst="rect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dirty="0">
                <a:latin typeface="+mn-ea"/>
              </a:rPr>
              <a:t>  if(a &gt; b) {</a:t>
            </a:r>
          </a:p>
          <a:p>
            <a:r>
              <a:rPr lang="en-US" altLang="ko-KR" dirty="0">
                <a:latin typeface="+mn-ea"/>
              </a:rPr>
              <a:t>     max = a;</a:t>
            </a:r>
          </a:p>
          <a:p>
            <a:r>
              <a:rPr lang="en-US" altLang="ko-KR" dirty="0">
                <a:latin typeface="+mn-ea"/>
              </a:rPr>
              <a:t>  }</a:t>
            </a:r>
          </a:p>
          <a:p>
            <a:r>
              <a:rPr lang="en-US" altLang="ko-KR" dirty="0">
                <a:latin typeface="+mn-ea"/>
              </a:rPr>
              <a:t>  else {</a:t>
            </a:r>
          </a:p>
          <a:p>
            <a:r>
              <a:rPr lang="en-US" altLang="ko-KR" dirty="0">
                <a:latin typeface="+mn-ea"/>
              </a:rPr>
              <a:t>     max = b;</a:t>
            </a:r>
          </a:p>
          <a:p>
            <a:r>
              <a:rPr lang="en-US" altLang="ko-KR" dirty="0">
                <a:latin typeface="+mn-ea"/>
              </a:rPr>
              <a:t>  }</a:t>
            </a:r>
            <a:endParaRPr lang="ko-KR" altLang="en-US" dirty="0">
              <a:latin typeface="+mn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5097016" y="2636780"/>
            <a:ext cx="2736304" cy="1925921"/>
          </a:xfrm>
          <a:prstGeom prst="rect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altLang="ko-KR" dirty="0">
                <a:latin typeface="+mn-ea"/>
              </a:rPr>
              <a:t> max = (a &gt; b) ? a : b;</a:t>
            </a:r>
            <a:endParaRPr lang="ko-KR" altLang="en-US" dirty="0">
              <a:latin typeface="+mn-ea"/>
            </a:endParaRPr>
          </a:p>
        </p:txBody>
      </p:sp>
      <p:sp>
        <p:nvSpPr>
          <p:cNvPr id="2" name="오른쪽 화살표 1"/>
          <p:cNvSpPr/>
          <p:nvPr/>
        </p:nvSpPr>
        <p:spPr>
          <a:xfrm>
            <a:off x="4472484" y="3428868"/>
            <a:ext cx="504056" cy="170872"/>
          </a:xfrm>
          <a:prstGeom prst="rightArrow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2288704" y="4715852"/>
            <a:ext cx="1296144" cy="369332"/>
          </a:xfrm>
          <a:prstGeom prst="rect">
            <a:avLst/>
          </a:prstGeom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dirty="0" err="1"/>
              <a:t>If~else</a:t>
            </a:r>
            <a:r>
              <a:rPr lang="en-US" altLang="ko-KR" dirty="0"/>
              <a:t> </a:t>
            </a:r>
            <a:r>
              <a:rPr lang="ko-KR" altLang="en-US" dirty="0"/>
              <a:t>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7096" y="4715852"/>
            <a:ext cx="1440160" cy="369332"/>
          </a:xfrm>
          <a:prstGeom prst="rect">
            <a:avLst/>
          </a:prstGeom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/>
              <a:t>조건 연산자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4303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조건문</a:t>
            </a:r>
            <a:r>
              <a:rPr lang="en-US" altLang="ko-KR" dirty="0"/>
              <a:t>(if</a:t>
            </a:r>
            <a:r>
              <a:rPr lang="ko-KR" altLang="en-US" dirty="0"/>
              <a:t>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20552" y="1052736"/>
            <a:ext cx="3096344" cy="4320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조건문과 조건 연산자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457200" lvl="1" indent="0">
              <a:buNone/>
            </a:pPr>
            <a:r>
              <a:rPr lang="ko-KR" altLang="en-US" sz="2000" b="1" dirty="0"/>
              <a:t> </a:t>
            </a:r>
            <a:endParaRPr lang="en-US" altLang="ko-KR" sz="20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624" y="1556792"/>
            <a:ext cx="6025470" cy="4715585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55640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조건문</a:t>
            </a:r>
            <a:r>
              <a:rPr lang="en-US" altLang="ko-KR" dirty="0"/>
              <a:t>(if</a:t>
            </a:r>
            <a:r>
              <a:rPr lang="ko-KR" altLang="en-US" dirty="0"/>
              <a:t>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20552" y="1052736"/>
            <a:ext cx="3096344" cy="4320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숫자와 문자 비교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457200" lvl="1" indent="0">
              <a:buNone/>
            </a:pPr>
            <a:r>
              <a:rPr lang="ko-KR" altLang="en-US" sz="2000" b="1" dirty="0"/>
              <a:t> </a:t>
            </a:r>
            <a:endParaRPr lang="en-US" altLang="ko-KR" sz="2000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556792"/>
            <a:ext cx="6026066" cy="468052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89385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조건문</a:t>
            </a:r>
            <a:r>
              <a:rPr lang="en-US" altLang="ko-KR" dirty="0"/>
              <a:t>(if</a:t>
            </a:r>
            <a:r>
              <a:rPr lang="ko-KR" altLang="en-US" dirty="0"/>
              <a:t>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20552" y="1052736"/>
            <a:ext cx="3960440" cy="4320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중첩 </a:t>
            </a:r>
            <a:r>
              <a:rPr lang="en-US" altLang="ko-KR" sz="2000" b="1" dirty="0">
                <a:solidFill>
                  <a:srgbClr val="C00000"/>
                </a:solidFill>
              </a:rPr>
              <a:t>if</a:t>
            </a:r>
            <a:r>
              <a:rPr lang="ko-KR" altLang="en-US" sz="2000" b="1" dirty="0">
                <a:solidFill>
                  <a:srgbClr val="C00000"/>
                </a:solidFill>
              </a:rPr>
              <a:t>문 </a:t>
            </a:r>
            <a:r>
              <a:rPr lang="en-US" altLang="ko-KR" sz="2000" b="1" dirty="0">
                <a:solidFill>
                  <a:srgbClr val="C00000"/>
                </a:solidFill>
              </a:rPr>
              <a:t>: if ~ if ~ else </a:t>
            </a:r>
            <a:r>
              <a:rPr lang="ko-KR" altLang="en-US" sz="2000" b="1" dirty="0">
                <a:solidFill>
                  <a:srgbClr val="C00000"/>
                </a:solidFill>
              </a:rPr>
              <a:t>구문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457200" lvl="1" indent="0">
              <a:buNone/>
            </a:pPr>
            <a:r>
              <a:rPr lang="ko-KR" altLang="en-US" sz="2000" b="1" dirty="0"/>
              <a:t> </a:t>
            </a:r>
            <a:endParaRPr lang="en-US" altLang="ko-KR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489882"/>
            <a:ext cx="5998790" cy="485894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28903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조건문</a:t>
            </a:r>
            <a:r>
              <a:rPr lang="en-US" altLang="ko-KR" dirty="0"/>
              <a:t>(if</a:t>
            </a:r>
            <a:r>
              <a:rPr lang="ko-KR" altLang="en-US" dirty="0"/>
              <a:t>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280592" y="1124744"/>
            <a:ext cx="6552728" cy="49685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altLang="ko-KR" sz="2200" b="1" dirty="0">
                <a:solidFill>
                  <a:srgbClr val="C00000"/>
                </a:solidFill>
              </a:rPr>
              <a:t>if - else if – else </a:t>
            </a:r>
            <a:r>
              <a:rPr lang="ko-KR" altLang="en-US" sz="2200" b="1" dirty="0">
                <a:solidFill>
                  <a:srgbClr val="C00000"/>
                </a:solidFill>
              </a:rPr>
              <a:t>문</a:t>
            </a:r>
            <a:endParaRPr lang="en-US" altLang="ko-KR" sz="2200" b="1" dirty="0">
              <a:solidFill>
                <a:srgbClr val="C00000"/>
              </a:solidFill>
            </a:endParaRPr>
          </a:p>
          <a:p>
            <a:pPr marL="457200" lvl="1" indent="0">
              <a:buNone/>
            </a:pPr>
            <a:r>
              <a:rPr lang="ko-KR" altLang="en-US" sz="2000" b="1" dirty="0"/>
              <a:t> </a:t>
            </a:r>
            <a:endParaRPr lang="en-US" altLang="ko-KR" sz="2000" b="1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</a:t>
            </a:r>
            <a:r>
              <a:rPr lang="ko-KR" alt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조건 </a:t>
            </a:r>
            <a:r>
              <a:rPr lang="en-US" altLang="ko-KR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r>
              <a:rPr lang="ko-KR" alt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이 참이면 </a:t>
            </a:r>
            <a:r>
              <a:rPr lang="ko-KR" altLang="en-US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수행문</a:t>
            </a:r>
            <a:r>
              <a:rPr lang="en-US" altLang="ko-KR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r>
              <a:rPr lang="ko-KR" alt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실행</a:t>
            </a:r>
            <a:r>
              <a:rPr lang="en-US" altLang="ko-KR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조건</a:t>
            </a:r>
            <a:r>
              <a:rPr lang="en-US" altLang="ko-KR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  <a:r>
              <a:rPr lang="ko-KR" alt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가 참이면 </a:t>
            </a:r>
            <a:r>
              <a:rPr lang="ko-KR" altLang="en-US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수행문</a:t>
            </a:r>
            <a:r>
              <a:rPr lang="en-US" altLang="ko-KR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 </a:t>
            </a:r>
            <a:r>
              <a:rPr lang="ko-KR" alt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실행</a:t>
            </a:r>
            <a:r>
              <a:rPr lang="en-US" altLang="ko-KR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조건</a:t>
            </a:r>
            <a:r>
              <a:rPr lang="en-US" altLang="ko-KR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1,2</a:t>
            </a:r>
            <a:r>
              <a:rPr lang="ko-KR" alt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가 모두 거짓이면 </a:t>
            </a:r>
            <a:r>
              <a:rPr lang="ko-KR" altLang="en-US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수행문</a:t>
            </a:r>
            <a:r>
              <a:rPr lang="en-US" altLang="ko-KR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 </a:t>
            </a:r>
            <a:r>
              <a:rPr lang="ko-KR" alt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실행</a:t>
            </a:r>
            <a:endParaRPr lang="en-US" altLang="ko-KR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457200" lvl="1" indent="0">
              <a:buNone/>
            </a:pPr>
            <a:endParaRPr lang="en-US" altLang="ko-KR" sz="2000" dirty="0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2360712" y="1700808"/>
            <a:ext cx="2952328" cy="3024336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r>
              <a:rPr lang="en-US" altLang="ko-KR" sz="2000" dirty="0"/>
              <a:t>If(</a:t>
            </a:r>
            <a:r>
              <a:rPr lang="ko-KR" altLang="en-US" sz="2000" dirty="0"/>
              <a:t>조건 </a:t>
            </a:r>
            <a:r>
              <a:rPr lang="en-US" altLang="ko-KR" sz="2000" dirty="0"/>
              <a:t>1){</a:t>
            </a:r>
          </a:p>
          <a:p>
            <a:pPr lvl="1"/>
            <a:r>
              <a:rPr lang="en-US" altLang="ko-KR" sz="2000" dirty="0"/>
              <a:t>    </a:t>
            </a:r>
            <a:r>
              <a:rPr lang="ko-KR" altLang="en-US" sz="2000" dirty="0" err="1"/>
              <a:t>수행문</a:t>
            </a:r>
            <a:r>
              <a:rPr lang="en-US" altLang="ko-KR" sz="2000" dirty="0"/>
              <a:t>1;</a:t>
            </a:r>
          </a:p>
          <a:p>
            <a:pPr lvl="1"/>
            <a:r>
              <a:rPr lang="en-US" altLang="ko-KR" sz="2000" dirty="0"/>
              <a:t>}</a:t>
            </a:r>
          </a:p>
          <a:p>
            <a:pPr lvl="1"/>
            <a:r>
              <a:rPr lang="en-US" altLang="ko-KR" sz="2000" dirty="0"/>
              <a:t>else if(</a:t>
            </a:r>
            <a:r>
              <a:rPr lang="ko-KR" altLang="en-US" sz="2000" dirty="0"/>
              <a:t>조건 </a:t>
            </a:r>
            <a:r>
              <a:rPr lang="en-US" altLang="ko-KR" sz="2000" dirty="0"/>
              <a:t>2)</a:t>
            </a:r>
          </a:p>
          <a:p>
            <a:pPr lvl="1"/>
            <a:r>
              <a:rPr lang="en-US" altLang="ko-KR" sz="2000" dirty="0"/>
              <a:t>    </a:t>
            </a:r>
            <a:r>
              <a:rPr lang="ko-KR" altLang="en-US" sz="2000" dirty="0" err="1"/>
              <a:t>수행문</a:t>
            </a:r>
            <a:r>
              <a:rPr lang="en-US" altLang="ko-KR" sz="2000" dirty="0"/>
              <a:t>2</a:t>
            </a:r>
          </a:p>
          <a:p>
            <a:pPr lvl="1"/>
            <a:r>
              <a:rPr lang="en-US" altLang="ko-KR" sz="2000" dirty="0"/>
              <a:t>}</a:t>
            </a:r>
          </a:p>
          <a:p>
            <a:pPr lvl="1"/>
            <a:r>
              <a:rPr lang="en-US" altLang="ko-KR" sz="2000" dirty="0"/>
              <a:t>else{</a:t>
            </a:r>
          </a:p>
          <a:p>
            <a:pPr lvl="1"/>
            <a:r>
              <a:rPr lang="en-US" altLang="ko-KR" sz="2000" dirty="0"/>
              <a:t>    </a:t>
            </a:r>
            <a:r>
              <a:rPr lang="ko-KR" altLang="en-US" sz="2000" dirty="0" err="1"/>
              <a:t>수행문</a:t>
            </a:r>
            <a:r>
              <a:rPr lang="en-US" altLang="ko-KR" sz="2000" dirty="0"/>
              <a:t>3</a:t>
            </a:r>
          </a:p>
          <a:p>
            <a:pPr lvl="1"/>
            <a:r>
              <a:rPr lang="en-US" altLang="ko-KR" sz="2000" dirty="0"/>
              <a:t>}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1730018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조건문</a:t>
            </a:r>
            <a:r>
              <a:rPr lang="en-US" altLang="ko-KR" dirty="0"/>
              <a:t>(if</a:t>
            </a:r>
            <a:r>
              <a:rPr lang="ko-KR" altLang="en-US" dirty="0"/>
              <a:t> </a:t>
            </a:r>
            <a:r>
              <a:rPr lang="en-US" altLang="ko-KR" dirty="0"/>
              <a:t>~ else if ~ else)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10</a:t>
            </a:fld>
            <a:endParaRPr lang="ko-KR" altLang="en-US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6961844"/>
              </p:ext>
            </p:extLst>
          </p:nvPr>
        </p:nvGraphicFramePr>
        <p:xfrm>
          <a:off x="1172580" y="1700808"/>
          <a:ext cx="2448272" cy="19442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88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점수</a:t>
                      </a:r>
                    </a:p>
                  </a:txBody>
                  <a:tcPr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학점</a:t>
                      </a:r>
                    </a:p>
                  </a:txBody>
                  <a:tcPr anchor="ctr">
                    <a:lnR w="12700" cmpd="sng">
                      <a:noFill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8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90 ~ 100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A</a:t>
                      </a:r>
                      <a:endParaRPr lang="ko-KR" altLang="en-US" sz="1600" dirty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8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80</a:t>
                      </a:r>
                      <a:r>
                        <a:rPr lang="en-US" altLang="ko-KR" sz="1600" baseline="0" dirty="0"/>
                        <a:t> ~ 89</a:t>
                      </a:r>
                      <a:endParaRPr lang="en-US" altLang="ko-KR" sz="1600" dirty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B</a:t>
                      </a:r>
                      <a:endParaRPr lang="ko-KR" altLang="en-US" sz="1600" dirty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8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70</a:t>
                      </a:r>
                      <a:r>
                        <a:rPr lang="en-US" altLang="ko-KR" sz="1600" baseline="0" dirty="0"/>
                        <a:t> ~ 79</a:t>
                      </a:r>
                      <a:endParaRPr lang="en-US" altLang="ko-KR" sz="1600" dirty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C</a:t>
                      </a:r>
                      <a:endParaRPr lang="ko-KR" altLang="en-US" sz="1600" dirty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8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70</a:t>
                      </a:r>
                      <a:r>
                        <a:rPr lang="en-US" altLang="ko-KR" sz="1600" baseline="0" dirty="0"/>
                        <a:t> </a:t>
                      </a:r>
                      <a:r>
                        <a:rPr lang="ko-KR" altLang="en-US" sz="1600" baseline="0" dirty="0"/>
                        <a:t>미만</a:t>
                      </a:r>
                      <a:endParaRPr lang="en-US" altLang="ko-KR" sz="1600" dirty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F</a:t>
                      </a:r>
                      <a:endParaRPr lang="ko-KR" altLang="en-US" sz="1600" dirty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20552" y="1052736"/>
            <a:ext cx="2520280" cy="4320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2000" b="1" dirty="0"/>
              <a:t>다중 </a:t>
            </a:r>
            <a:r>
              <a:rPr lang="en-US" altLang="ko-KR" sz="2000" b="1" dirty="0"/>
              <a:t>if</a:t>
            </a:r>
            <a:r>
              <a:rPr lang="ko-KR" altLang="en-US" sz="2000" b="1" dirty="0"/>
              <a:t>문 예제 </a:t>
            </a:r>
            <a:endParaRPr lang="en-US" altLang="ko-KR" sz="2000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2880" y="1002403"/>
            <a:ext cx="5465812" cy="528523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29234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조건문</a:t>
            </a:r>
            <a:r>
              <a:rPr lang="en-US" altLang="ko-KR" dirty="0"/>
              <a:t>(SWITCH - CASE)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73472" y="1052605"/>
            <a:ext cx="7247880" cy="108025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altLang="ko-KR" sz="2000" b="1" dirty="0" err="1">
                <a:solidFill>
                  <a:srgbClr val="C00000"/>
                </a:solidFill>
              </a:rPr>
              <a:t>swtich</a:t>
            </a:r>
            <a:r>
              <a:rPr lang="en-US" altLang="ko-KR" sz="2000" b="1" dirty="0">
                <a:solidFill>
                  <a:srgbClr val="C00000"/>
                </a:solidFill>
              </a:rPr>
              <a:t> ~ case</a:t>
            </a:r>
            <a:r>
              <a:rPr lang="ko-KR" altLang="en-US" sz="2000" b="1" dirty="0">
                <a:solidFill>
                  <a:srgbClr val="C00000"/>
                </a:solidFill>
              </a:rPr>
              <a:t>문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altLang="ko-KR" sz="2000" b="1" dirty="0">
                <a:solidFill>
                  <a:srgbClr val="C00000"/>
                </a:solidFill>
              </a:rPr>
              <a:t>  </a:t>
            </a:r>
            <a:r>
              <a:rPr lang="ko-KR" altLang="en-US" sz="1800" dirty="0"/>
              <a:t>조건식의 결과가 정수 또는 문자열의 값이고 그 값에 따라 </a:t>
            </a:r>
            <a:r>
              <a:rPr lang="ko-KR" altLang="en-US" sz="1800" dirty="0" err="1"/>
              <a:t>수행문</a:t>
            </a: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  </a:t>
            </a:r>
            <a:r>
              <a:rPr lang="ko-KR" altLang="en-US" sz="1800" dirty="0"/>
              <a:t>이 </a:t>
            </a:r>
            <a:r>
              <a:rPr lang="ko-KR" altLang="en-US" sz="1800" dirty="0" err="1"/>
              <a:t>결정될때</a:t>
            </a:r>
            <a:r>
              <a:rPr lang="ko-KR" altLang="en-US" sz="1800" dirty="0"/>
              <a:t> 사용되는 구문</a:t>
            </a:r>
            <a:endParaRPr lang="en-US" altLang="ko-KR" sz="2000" b="1" dirty="0"/>
          </a:p>
        </p:txBody>
      </p:sp>
      <p:sp>
        <p:nvSpPr>
          <p:cNvPr id="8" name="모서리가 둥근 직사각형 7"/>
          <p:cNvSpPr/>
          <p:nvPr/>
        </p:nvSpPr>
        <p:spPr>
          <a:xfrm>
            <a:off x="2504728" y="2420888"/>
            <a:ext cx="2952328" cy="3672539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r>
              <a:rPr lang="en-US" altLang="ko-KR" sz="2000" dirty="0"/>
              <a:t>switch(</a:t>
            </a:r>
            <a:r>
              <a:rPr lang="ko-KR" altLang="en-US" sz="2000" dirty="0"/>
              <a:t>변수</a:t>
            </a:r>
            <a:r>
              <a:rPr lang="en-US" altLang="ko-KR" sz="2000" dirty="0"/>
              <a:t>){</a:t>
            </a:r>
          </a:p>
          <a:p>
            <a:pPr lvl="1"/>
            <a:r>
              <a:rPr lang="en-US" altLang="ko-KR" sz="2000" dirty="0"/>
              <a:t>  </a:t>
            </a:r>
            <a:r>
              <a:rPr lang="en-US" altLang="ko-KR" sz="2000" dirty="0">
                <a:solidFill>
                  <a:srgbClr val="C00000"/>
                </a:solidFill>
              </a:rPr>
              <a:t>case</a:t>
            </a:r>
            <a:r>
              <a:rPr lang="en-US" altLang="ko-KR" sz="2000" dirty="0"/>
              <a:t> </a:t>
            </a:r>
            <a:r>
              <a:rPr lang="ko-KR" altLang="en-US" sz="2000" dirty="0" err="1"/>
              <a:t>변수값</a:t>
            </a:r>
            <a:r>
              <a:rPr lang="en-US" altLang="ko-KR" sz="2000" dirty="0"/>
              <a:t>:</a:t>
            </a:r>
          </a:p>
          <a:p>
            <a:pPr lvl="1"/>
            <a:r>
              <a:rPr lang="en-US" altLang="ko-KR" sz="2000" dirty="0"/>
              <a:t>     </a:t>
            </a:r>
            <a:r>
              <a:rPr lang="ko-KR" altLang="en-US" sz="2000" dirty="0" err="1"/>
              <a:t>실행문</a:t>
            </a:r>
            <a:endParaRPr lang="en-US" altLang="ko-KR" sz="2000" dirty="0"/>
          </a:p>
          <a:p>
            <a:pPr lvl="1"/>
            <a:r>
              <a:rPr lang="en-US" altLang="ko-KR" sz="2000" dirty="0"/>
              <a:t>     break;</a:t>
            </a:r>
          </a:p>
          <a:p>
            <a:pPr lvl="1"/>
            <a:r>
              <a:rPr lang="en-US" altLang="ko-KR" sz="2000" dirty="0"/>
              <a:t>  …</a:t>
            </a:r>
          </a:p>
          <a:p>
            <a:pPr lvl="1"/>
            <a:r>
              <a:rPr lang="en-US" altLang="ko-KR" sz="2000" dirty="0"/>
              <a:t>  </a:t>
            </a:r>
            <a:r>
              <a:rPr lang="en-US" altLang="ko-KR" sz="2000" dirty="0">
                <a:solidFill>
                  <a:srgbClr val="C00000"/>
                </a:solidFill>
              </a:rPr>
              <a:t>default:</a:t>
            </a:r>
          </a:p>
          <a:p>
            <a:pPr lvl="1"/>
            <a:r>
              <a:rPr lang="en-US" altLang="ko-KR" sz="2000" dirty="0"/>
              <a:t>     </a:t>
            </a:r>
            <a:r>
              <a:rPr lang="ko-KR" altLang="en-US" sz="2000" dirty="0" err="1"/>
              <a:t>실행문</a:t>
            </a:r>
            <a:endParaRPr lang="en-US" altLang="ko-KR" sz="2000" dirty="0"/>
          </a:p>
          <a:p>
            <a:pPr lvl="1"/>
            <a:r>
              <a:rPr lang="en-US" altLang="ko-KR" sz="2000" dirty="0"/>
              <a:t>     break;</a:t>
            </a:r>
          </a:p>
          <a:p>
            <a:pPr lvl="1"/>
            <a:r>
              <a:rPr lang="en-US" altLang="ko-KR" sz="2000" dirty="0"/>
              <a:t>}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1753352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조건문</a:t>
            </a:r>
            <a:r>
              <a:rPr lang="en-US" altLang="ko-KR" dirty="0"/>
              <a:t>(SWITCH - CASE)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20552" y="1052736"/>
            <a:ext cx="5328592" cy="4320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altLang="ko-KR" sz="2000" b="1" dirty="0" err="1">
                <a:solidFill>
                  <a:srgbClr val="C00000"/>
                </a:solidFill>
              </a:rPr>
              <a:t>swtich</a:t>
            </a:r>
            <a:r>
              <a:rPr lang="en-US" altLang="ko-KR" sz="2000" b="1" dirty="0">
                <a:solidFill>
                  <a:srgbClr val="C00000"/>
                </a:solidFill>
              </a:rPr>
              <a:t> ~ case</a:t>
            </a:r>
            <a:r>
              <a:rPr lang="ko-KR" altLang="en-US" sz="2000" b="1" dirty="0">
                <a:solidFill>
                  <a:srgbClr val="C00000"/>
                </a:solidFill>
              </a:rPr>
              <a:t>문에 문자열 사용하기</a:t>
            </a:r>
            <a:r>
              <a:rPr lang="ko-KR" altLang="en-US" sz="2000" b="1" dirty="0"/>
              <a:t> </a:t>
            </a:r>
            <a:endParaRPr lang="en-US" altLang="ko-KR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608" y="1484784"/>
            <a:ext cx="5469052" cy="460851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15516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조건문</a:t>
            </a:r>
            <a:r>
              <a:rPr lang="en-US" altLang="ko-KR" dirty="0"/>
              <a:t>(SWITCH - CASE)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2" name="직사각형 1"/>
          <p:cNvSpPr/>
          <p:nvPr/>
        </p:nvSpPr>
        <p:spPr>
          <a:xfrm>
            <a:off x="1049387" y="1052736"/>
            <a:ext cx="555979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C00000"/>
                </a:solidFill>
              </a:rPr>
              <a:t> case</a:t>
            </a:r>
            <a:r>
              <a:rPr lang="ko-KR" altLang="en-US" sz="2000" b="1" dirty="0">
                <a:solidFill>
                  <a:srgbClr val="C00000"/>
                </a:solidFill>
              </a:rPr>
              <a:t>문 동시에 사용하기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624" y="1566084"/>
            <a:ext cx="6439458" cy="422946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298187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반복문</a:t>
            </a:r>
            <a:r>
              <a:rPr lang="en-US" altLang="ko-KR" dirty="0"/>
              <a:t>(while</a:t>
            </a:r>
            <a:r>
              <a:rPr lang="ko-KR" altLang="en-US" dirty="0"/>
              <a:t>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776536" y="1052736"/>
            <a:ext cx="8208913" cy="49685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l"/>
            </a:pPr>
            <a:r>
              <a:rPr lang="ko-KR" altLang="en-US" sz="2000" b="1" dirty="0">
                <a:solidFill>
                  <a:srgbClr val="C00000"/>
                </a:solidFill>
              </a:rPr>
              <a:t> </a:t>
            </a:r>
            <a:r>
              <a:rPr lang="ko-KR" altLang="en-US" sz="2000" b="1" dirty="0" err="1">
                <a:solidFill>
                  <a:srgbClr val="C00000"/>
                </a:solidFill>
              </a:rPr>
              <a:t>반복문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주어진 조건이 만족할 때까지 </a:t>
            </a:r>
            <a:r>
              <a:rPr lang="ko-KR" altLang="en-US" sz="2000" dirty="0" err="1"/>
              <a:t>수행문을</a:t>
            </a:r>
            <a:r>
              <a:rPr lang="ko-KR" altLang="en-US" sz="2000" dirty="0"/>
              <a:t> 반복적으로 수행함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while, for </a:t>
            </a:r>
            <a:r>
              <a:rPr lang="ko-KR" altLang="en-US" sz="2000" dirty="0"/>
              <a:t>문이 있음</a:t>
            </a:r>
            <a:endParaRPr lang="en-US" altLang="ko-KR" sz="20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1600" b="1" dirty="0"/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C00000"/>
                </a:solidFill>
              </a:rPr>
              <a:t> while </a:t>
            </a:r>
            <a:r>
              <a:rPr lang="ko-KR" altLang="en-US" sz="2000" b="1" dirty="0">
                <a:solidFill>
                  <a:srgbClr val="C00000"/>
                </a:solidFill>
              </a:rPr>
              <a:t>문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/>
              <a:t>조건식이 참인 동안 반복 수행</a:t>
            </a:r>
            <a:endParaRPr lang="en-US" altLang="ko-KR" sz="18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1800" dirty="0">
                <a:latin typeface="+mn-ea"/>
              </a:rPr>
              <a:t>   while(</a:t>
            </a:r>
            <a:r>
              <a:rPr lang="ko-KR" altLang="en-US" sz="1800" dirty="0" err="1">
                <a:latin typeface="+mn-ea"/>
              </a:rPr>
              <a:t>조건식</a:t>
            </a:r>
            <a:r>
              <a:rPr lang="en-US" altLang="ko-KR" sz="1800" dirty="0">
                <a:latin typeface="+mn-ea"/>
              </a:rPr>
              <a:t>){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1800" dirty="0">
                <a:latin typeface="+mn-ea"/>
              </a:rPr>
              <a:t>      </a:t>
            </a:r>
            <a:r>
              <a:rPr lang="ko-KR" altLang="en-US" sz="1800" dirty="0" err="1">
                <a:latin typeface="+mn-ea"/>
              </a:rPr>
              <a:t>수행문</a:t>
            </a:r>
            <a:r>
              <a:rPr lang="en-US" altLang="ko-KR" sz="1800" dirty="0">
                <a:latin typeface="+mn-ea"/>
              </a:rPr>
              <a:t>1;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1800" dirty="0">
                <a:latin typeface="+mn-ea"/>
              </a:rPr>
              <a:t>   }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1800" dirty="0">
                <a:latin typeface="+mn-ea"/>
              </a:rPr>
              <a:t>      </a:t>
            </a:r>
            <a:r>
              <a:rPr lang="ko-KR" altLang="en-US" sz="1800" dirty="0" err="1">
                <a:latin typeface="+mn-ea"/>
              </a:rPr>
              <a:t>수행문</a:t>
            </a:r>
            <a:r>
              <a:rPr lang="en-US" altLang="ko-KR" sz="1800" dirty="0">
                <a:latin typeface="+mn-ea"/>
              </a:rPr>
              <a:t>2;</a:t>
            </a:r>
          </a:p>
          <a:p>
            <a:pPr marL="457200" lvl="1" indent="0">
              <a:buNone/>
            </a:pPr>
            <a:endParaRPr lang="en-US" altLang="ko-KR" sz="1800" dirty="0">
              <a:latin typeface="+mn-ea"/>
            </a:endParaRPr>
          </a:p>
          <a:p>
            <a:pPr marL="457200" lvl="1" indent="0">
              <a:buNone/>
            </a:pPr>
            <a:r>
              <a:rPr lang="en-US" altLang="ko-KR" sz="1800" dirty="0">
                <a:latin typeface="+mn-ea"/>
              </a:rPr>
              <a:t>      …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altLang="ko-KR" sz="2200" b="1" dirty="0"/>
          </a:p>
        </p:txBody>
      </p:sp>
      <p:sp>
        <p:nvSpPr>
          <p:cNvPr id="23" name="모서리가 둥근 직사각형 22"/>
          <p:cNvSpPr/>
          <p:nvPr/>
        </p:nvSpPr>
        <p:spPr>
          <a:xfrm>
            <a:off x="6321152" y="2276872"/>
            <a:ext cx="1224136" cy="50405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시작</a:t>
            </a:r>
          </a:p>
        </p:txBody>
      </p:sp>
      <p:sp>
        <p:nvSpPr>
          <p:cNvPr id="24" name="모서리가 둥근 직사각형 23"/>
          <p:cNvSpPr/>
          <p:nvPr/>
        </p:nvSpPr>
        <p:spPr>
          <a:xfrm>
            <a:off x="6265332" y="5229200"/>
            <a:ext cx="1224136" cy="50405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끝</a:t>
            </a:r>
          </a:p>
        </p:txBody>
      </p:sp>
      <p:sp>
        <p:nvSpPr>
          <p:cNvPr id="25" name="다이아몬드 24"/>
          <p:cNvSpPr/>
          <p:nvPr/>
        </p:nvSpPr>
        <p:spPr>
          <a:xfrm>
            <a:off x="6249144" y="3140968"/>
            <a:ext cx="1368152" cy="792088"/>
          </a:xfrm>
          <a:prstGeom prst="diamond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조건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5097016" y="4293096"/>
            <a:ext cx="1368152" cy="50405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실행</a:t>
            </a:r>
            <a:r>
              <a:rPr lang="en-US" altLang="ko-KR" dirty="0">
                <a:solidFill>
                  <a:sysClr val="windowText" lastClr="000000"/>
                </a:solidFill>
              </a:rPr>
              <a:t>A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7473280" y="4293096"/>
            <a:ext cx="1368152" cy="50405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실행</a:t>
            </a:r>
            <a:r>
              <a:rPr lang="en-US" altLang="ko-KR" dirty="0">
                <a:solidFill>
                  <a:sysClr val="windowText" lastClr="000000"/>
                </a:solidFill>
              </a:rPr>
              <a:t>B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29" name="꺾인 연결선 28"/>
          <p:cNvCxnSpPr>
            <a:stCxn id="25" idx="1"/>
            <a:endCxn id="26" idx="0"/>
          </p:cNvCxnSpPr>
          <p:nvPr/>
        </p:nvCxnSpPr>
        <p:spPr>
          <a:xfrm rot="10800000" flipV="1">
            <a:off x="5781092" y="3537012"/>
            <a:ext cx="468052" cy="756084"/>
          </a:xfrm>
          <a:prstGeom prst="bentConnector2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꺾인 연결선 38"/>
          <p:cNvCxnSpPr>
            <a:stCxn id="25" idx="3"/>
            <a:endCxn id="28" idx="0"/>
          </p:cNvCxnSpPr>
          <p:nvPr/>
        </p:nvCxnSpPr>
        <p:spPr>
          <a:xfrm>
            <a:off x="7617296" y="3537012"/>
            <a:ext cx="540060" cy="75608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/>
          <p:cNvCxnSpPr>
            <a:stCxn id="23" idx="2"/>
            <a:endCxn id="25" idx="0"/>
          </p:cNvCxnSpPr>
          <p:nvPr/>
        </p:nvCxnSpPr>
        <p:spPr>
          <a:xfrm>
            <a:off x="6933220" y="2780928"/>
            <a:ext cx="0" cy="360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꺾인 연결선 40"/>
          <p:cNvCxnSpPr>
            <a:stCxn id="28" idx="2"/>
            <a:endCxn id="24" idx="3"/>
          </p:cNvCxnSpPr>
          <p:nvPr/>
        </p:nvCxnSpPr>
        <p:spPr>
          <a:xfrm rot="5400000">
            <a:off x="7481374" y="4805246"/>
            <a:ext cx="684076" cy="66788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447164" y="3995772"/>
            <a:ext cx="684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0070C0"/>
                </a:solidFill>
              </a:rPr>
              <a:t>true</a:t>
            </a:r>
            <a:endParaRPr lang="ko-KR" altLang="en-US" b="1" dirty="0">
              <a:solidFill>
                <a:srgbClr val="0070C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473279" y="3717032"/>
            <a:ext cx="792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</a:rPr>
              <a:t>false</a:t>
            </a:r>
            <a:endParaRPr lang="ko-KR" altLang="en-US" b="1" dirty="0">
              <a:solidFill>
                <a:srgbClr val="C00000"/>
              </a:solidFill>
            </a:endParaRPr>
          </a:p>
        </p:txBody>
      </p:sp>
      <p:cxnSp>
        <p:nvCxnSpPr>
          <p:cNvPr id="44" name="꺾인 연결선 43"/>
          <p:cNvCxnSpPr>
            <a:stCxn id="25" idx="2"/>
            <a:endCxn id="26" idx="3"/>
          </p:cNvCxnSpPr>
          <p:nvPr/>
        </p:nvCxnSpPr>
        <p:spPr>
          <a:xfrm rot="5400000">
            <a:off x="6393160" y="4005064"/>
            <a:ext cx="612068" cy="46805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097016" y="3717032"/>
            <a:ext cx="11161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/>
              <a:t>반복구간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91338" y="2948369"/>
            <a:ext cx="1150094" cy="408623"/>
          </a:xfrm>
          <a:prstGeom prst="roundRect">
            <a:avLst/>
          </a:prstGeom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dirty="0"/>
              <a:t>n &lt; 11</a:t>
            </a:r>
            <a:endParaRPr lang="ko-KR" altLang="en-US" dirty="0"/>
          </a:p>
        </p:txBody>
      </p:sp>
      <p:cxnSp>
        <p:nvCxnSpPr>
          <p:cNvPr id="47" name="직선 화살표 연결선 46"/>
          <p:cNvCxnSpPr/>
          <p:nvPr/>
        </p:nvCxnSpPr>
        <p:spPr>
          <a:xfrm flipH="1">
            <a:off x="7327230" y="3167856"/>
            <a:ext cx="364109" cy="187888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82871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반복문</a:t>
            </a:r>
            <a:r>
              <a:rPr lang="en-US" altLang="ko-KR" dirty="0"/>
              <a:t>(while</a:t>
            </a:r>
            <a:r>
              <a:rPr lang="ko-KR" altLang="en-US" dirty="0"/>
              <a:t>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20552" y="1124744"/>
            <a:ext cx="4392488" cy="40854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2000" b="1" dirty="0" err="1"/>
              <a:t>반복문</a:t>
            </a:r>
            <a:r>
              <a:rPr lang="ko-KR" altLang="en-US" sz="2000" b="1" dirty="0"/>
              <a:t> 예제</a:t>
            </a:r>
            <a:endParaRPr lang="en-US" altLang="ko-KR" sz="2000" b="1" dirty="0"/>
          </a:p>
          <a:p>
            <a:pPr marL="457200" lvl="1" indent="0">
              <a:buNone/>
            </a:pPr>
            <a:r>
              <a:rPr lang="ko-KR" altLang="en-US" sz="2000" b="1" dirty="0"/>
              <a:t> </a:t>
            </a:r>
            <a:endParaRPr lang="en-US" altLang="ko-KR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628800"/>
            <a:ext cx="5706050" cy="345638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72615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반복문</a:t>
            </a:r>
            <a:r>
              <a:rPr lang="en-US" altLang="ko-KR" dirty="0"/>
              <a:t>(while</a:t>
            </a:r>
            <a:r>
              <a:rPr lang="ko-KR" altLang="en-US" dirty="0"/>
              <a:t>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20552" y="1124744"/>
            <a:ext cx="4392488" cy="40854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2000" b="1" dirty="0" err="1"/>
              <a:t>반복문</a:t>
            </a:r>
            <a:r>
              <a:rPr lang="ko-KR" altLang="en-US" sz="2000" b="1" dirty="0"/>
              <a:t> 예제</a:t>
            </a:r>
            <a:endParaRPr lang="en-US" altLang="ko-KR" sz="2000" b="1" dirty="0"/>
          </a:p>
          <a:p>
            <a:pPr marL="457200" lvl="1" indent="0">
              <a:buNone/>
            </a:pPr>
            <a:r>
              <a:rPr lang="ko-KR" altLang="en-US" sz="2000" b="1" dirty="0"/>
              <a:t> </a:t>
            </a:r>
            <a:endParaRPr lang="en-US" altLang="ko-KR" sz="2000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628800"/>
            <a:ext cx="7059431" cy="331236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87691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무한반복 </a:t>
            </a:r>
            <a:r>
              <a:rPr lang="en-US" altLang="ko-KR" dirty="0"/>
              <a:t>- break </a:t>
            </a:r>
            <a:r>
              <a:rPr lang="ko-KR" altLang="en-US" dirty="0"/>
              <a:t>문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704528" y="1124744"/>
            <a:ext cx="8352928" cy="12241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무한 </a:t>
            </a:r>
            <a:r>
              <a:rPr lang="ko-KR" altLang="en-US" sz="2000" b="1" dirty="0" err="1">
                <a:solidFill>
                  <a:srgbClr val="C00000"/>
                </a:solidFill>
              </a:rPr>
              <a:t>반복문</a:t>
            </a:r>
            <a:r>
              <a:rPr lang="en-US" altLang="ko-KR" sz="2000" b="1" dirty="0">
                <a:solidFill>
                  <a:srgbClr val="C00000"/>
                </a:solidFill>
              </a:rPr>
              <a:t> - break </a:t>
            </a:r>
            <a:r>
              <a:rPr lang="ko-KR" altLang="en-US" sz="2000" b="1" dirty="0">
                <a:solidFill>
                  <a:srgbClr val="C00000"/>
                </a:solidFill>
              </a:rPr>
              <a:t>문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altLang="ko-KR" sz="2200" b="1" dirty="0">
                <a:solidFill>
                  <a:srgbClr val="C00000"/>
                </a:solidFill>
              </a:rPr>
              <a:t>   </a:t>
            </a:r>
            <a:r>
              <a:rPr lang="ko-KR" altLang="en-US" sz="1800" dirty="0" err="1"/>
              <a:t>반복문에서</a:t>
            </a:r>
            <a:r>
              <a:rPr lang="ko-KR" altLang="en-US" sz="1800" dirty="0"/>
              <a:t> </a:t>
            </a:r>
            <a:r>
              <a:rPr lang="en-US" altLang="ko-KR" sz="1800" dirty="0"/>
              <a:t>break </a:t>
            </a:r>
            <a:r>
              <a:rPr lang="ko-KR" altLang="en-US" sz="1800" dirty="0"/>
              <a:t>문을 만나면 더 이상 반복을 수행하지 않고 </a:t>
            </a:r>
            <a:r>
              <a:rPr lang="ko-KR" altLang="en-US" sz="1800" dirty="0" err="1"/>
              <a:t>반복문</a:t>
            </a: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  </a:t>
            </a:r>
            <a:r>
              <a:rPr lang="ko-KR" altLang="en-US" sz="1800" dirty="0"/>
              <a:t> 빠져 나옴 </a:t>
            </a:r>
            <a:endParaRPr lang="en-US" altLang="ko-KR" sz="1800" dirty="0"/>
          </a:p>
        </p:txBody>
      </p:sp>
      <p:sp>
        <p:nvSpPr>
          <p:cNvPr id="15" name="모서리가 둥근 직사각형 14"/>
          <p:cNvSpPr/>
          <p:nvPr/>
        </p:nvSpPr>
        <p:spPr>
          <a:xfrm>
            <a:off x="2576736" y="2492896"/>
            <a:ext cx="2880320" cy="2736304"/>
          </a:xfrm>
          <a:prstGeom prst="roundRect">
            <a:avLst>
              <a:gd name="adj" fmla="val 11893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+mn-ea"/>
              </a:rPr>
              <a:t> while(</a:t>
            </a:r>
            <a:r>
              <a:rPr lang="en-US" altLang="ko-KR" b="1" dirty="0">
                <a:solidFill>
                  <a:srgbClr val="C00000"/>
                </a:solidFill>
                <a:latin typeface="+mn-ea"/>
              </a:rPr>
              <a:t>true</a:t>
            </a:r>
            <a:r>
              <a:rPr lang="en-US" altLang="ko-KR" dirty="0">
                <a:latin typeface="+mn-ea"/>
              </a:rPr>
              <a:t>){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+mn-ea"/>
              </a:rPr>
              <a:t>     if(</a:t>
            </a:r>
            <a:r>
              <a:rPr lang="ko-KR" altLang="en-US" dirty="0">
                <a:latin typeface="+mn-ea"/>
              </a:rPr>
              <a:t>조건식</a:t>
            </a:r>
            <a:r>
              <a:rPr lang="en-US" altLang="ko-KR" dirty="0">
                <a:latin typeface="+mn-ea"/>
              </a:rPr>
              <a:t>){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rgbClr val="C00000"/>
                </a:solidFill>
                <a:latin typeface="+mn-ea"/>
              </a:rPr>
              <a:t>          break;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rgbClr val="C00000"/>
                </a:solidFill>
                <a:latin typeface="+mn-ea"/>
              </a:rPr>
              <a:t>    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}</a:t>
            </a:r>
            <a:r>
              <a:rPr lang="en-US" altLang="ko-KR" dirty="0">
                <a:latin typeface="+mn-ea"/>
              </a:rPr>
              <a:t>  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+mn-ea"/>
              </a:rPr>
              <a:t>     </a:t>
            </a:r>
            <a:r>
              <a:rPr lang="ko-KR" altLang="en-US" dirty="0" err="1">
                <a:latin typeface="+mn-ea"/>
              </a:rPr>
              <a:t>실행문</a:t>
            </a:r>
            <a:r>
              <a:rPr lang="en-US" altLang="ko-KR" dirty="0">
                <a:latin typeface="+mn-ea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+mn-ea"/>
              </a:rPr>
              <a:t>}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210056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무한반복 </a:t>
            </a:r>
            <a:r>
              <a:rPr lang="en-US" altLang="ko-KR" dirty="0"/>
              <a:t>- break </a:t>
            </a:r>
            <a:r>
              <a:rPr lang="ko-KR" altLang="en-US" dirty="0"/>
              <a:t>문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18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700808"/>
            <a:ext cx="5531736" cy="331236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48544" y="1124744"/>
            <a:ext cx="5400600" cy="40854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2000" b="1" dirty="0"/>
              <a:t>반복 </a:t>
            </a:r>
            <a:r>
              <a:rPr lang="ko-KR" altLang="en-US" sz="2000" b="1" dirty="0" err="1"/>
              <a:t>조건문</a:t>
            </a:r>
            <a:r>
              <a:rPr lang="ko-KR" altLang="en-US" sz="2000" b="1" dirty="0"/>
              <a:t> 예제    </a:t>
            </a:r>
            <a:endParaRPr lang="en-US" altLang="ko-KR" sz="2000" b="1" dirty="0"/>
          </a:p>
          <a:p>
            <a:pPr marL="457200" lvl="1" indent="0">
              <a:buNone/>
            </a:pPr>
            <a:r>
              <a:rPr lang="ko-KR" altLang="en-US" sz="2000" b="1" dirty="0"/>
              <a:t> </a:t>
            </a:r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5713044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무한반복 </a:t>
            </a:r>
            <a:r>
              <a:rPr lang="en-US" altLang="ko-KR" dirty="0"/>
              <a:t>- break </a:t>
            </a:r>
            <a:r>
              <a:rPr lang="ko-KR" altLang="en-US" dirty="0"/>
              <a:t>문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48544" y="1124744"/>
            <a:ext cx="5400600" cy="40854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2000" b="1" dirty="0"/>
              <a:t>반복 </a:t>
            </a:r>
            <a:r>
              <a:rPr lang="ko-KR" altLang="en-US" sz="2000" b="1" dirty="0" err="1"/>
              <a:t>조건문</a:t>
            </a:r>
            <a:r>
              <a:rPr lang="ko-KR" altLang="en-US" sz="2000" b="1" dirty="0"/>
              <a:t> 예제    </a:t>
            </a:r>
            <a:endParaRPr lang="en-US" altLang="ko-KR" sz="2000" b="1" dirty="0"/>
          </a:p>
          <a:p>
            <a:pPr marL="457200" lvl="1" indent="0">
              <a:buNone/>
            </a:pPr>
            <a:r>
              <a:rPr lang="ko-KR" altLang="en-US" sz="2000" b="1" dirty="0"/>
              <a:t> </a:t>
            </a:r>
            <a:endParaRPr lang="en-US" altLang="ko-KR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1" y="1700808"/>
            <a:ext cx="6760558" cy="338437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230687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무한반복 </a:t>
            </a:r>
            <a:r>
              <a:rPr lang="en-US" altLang="ko-KR" dirty="0"/>
              <a:t>- break </a:t>
            </a:r>
            <a:r>
              <a:rPr lang="ko-KR" altLang="en-US" dirty="0"/>
              <a:t>문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608" y="1544760"/>
            <a:ext cx="6552728" cy="486381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48544" y="1124744"/>
            <a:ext cx="3096344" cy="40854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2000" b="1" dirty="0"/>
              <a:t>반복 </a:t>
            </a:r>
            <a:r>
              <a:rPr lang="ko-KR" altLang="en-US" sz="2000" b="1" dirty="0" err="1"/>
              <a:t>조건문</a:t>
            </a:r>
            <a:r>
              <a:rPr lang="ko-KR" altLang="en-US" sz="2000" b="1" dirty="0"/>
              <a:t> 예제    </a:t>
            </a:r>
            <a:endParaRPr lang="en-US" altLang="ko-KR" sz="2000" b="1" dirty="0"/>
          </a:p>
          <a:p>
            <a:pPr marL="457200" lvl="1" indent="0">
              <a:buNone/>
            </a:pPr>
            <a:r>
              <a:rPr lang="ko-KR" altLang="en-US" sz="2000" b="1" dirty="0"/>
              <a:t> </a:t>
            </a:r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4492158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커피 자동판매기 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48544" y="1052736"/>
            <a:ext cx="5040560" cy="41927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2000" dirty="0"/>
              <a:t>커피 자동판매기 프로그램  </a:t>
            </a:r>
            <a:endParaRPr lang="en-US" altLang="ko-KR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8621" y="2564904"/>
            <a:ext cx="2930669" cy="331236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136576" y="1514122"/>
            <a:ext cx="604867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- </a:t>
            </a:r>
            <a:r>
              <a:rPr lang="ko-KR" altLang="en-US" dirty="0"/>
              <a:t>동전 </a:t>
            </a:r>
            <a:r>
              <a:rPr lang="en-US" altLang="ko-KR" dirty="0"/>
              <a:t>500</a:t>
            </a:r>
            <a:r>
              <a:rPr lang="ko-KR" altLang="en-US" dirty="0"/>
              <a:t>원을 넣으면 커피가 나온다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- 500</a:t>
            </a:r>
            <a:r>
              <a:rPr lang="ko-KR" altLang="en-US" dirty="0"/>
              <a:t>원을 초과하면 거스름돈이 나오고 커피가 나온다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- 500</a:t>
            </a:r>
            <a:r>
              <a:rPr lang="ko-KR" altLang="en-US" dirty="0"/>
              <a:t>원보다 작으면 커피가 나오지 않음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- </a:t>
            </a:r>
            <a:r>
              <a:rPr lang="ko-KR" altLang="en-US" dirty="0"/>
              <a:t>커피는 총 </a:t>
            </a:r>
            <a:r>
              <a:rPr lang="en-US" altLang="ko-KR" dirty="0"/>
              <a:t>5</a:t>
            </a:r>
            <a:r>
              <a:rPr lang="ko-KR" altLang="en-US" dirty="0"/>
              <a:t>개이고 모두 소진되면 판매를 중지한다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05655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커피 자동판매기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22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568" y="980728"/>
            <a:ext cx="7707660" cy="532859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231515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반복문</a:t>
            </a:r>
            <a:r>
              <a:rPr lang="en-US" altLang="ko-KR" dirty="0"/>
              <a:t>(for</a:t>
            </a:r>
            <a:r>
              <a:rPr lang="ko-KR" altLang="en-US" dirty="0"/>
              <a:t>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85130" y="1052737"/>
            <a:ext cx="5508030" cy="136815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C00000"/>
                </a:solidFill>
              </a:rPr>
              <a:t>for </a:t>
            </a:r>
            <a:r>
              <a:rPr lang="ko-KR" altLang="en-US" sz="2000" b="1" dirty="0">
                <a:solidFill>
                  <a:srgbClr val="C00000"/>
                </a:solidFill>
              </a:rPr>
              <a:t>문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ko-KR" altLang="en-US" sz="1800" dirty="0">
                <a:latin typeface="+mn-ea"/>
              </a:rPr>
              <a:t>주로 조건이 횟수인 경우에 사용</a:t>
            </a:r>
            <a:endParaRPr lang="en-US" altLang="ko-KR" sz="18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1800" dirty="0">
                <a:latin typeface="+mn-ea"/>
              </a:rPr>
              <a:t>초기화식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 err="1">
                <a:latin typeface="+mn-ea"/>
              </a:rPr>
              <a:t>조건식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 err="1">
                <a:latin typeface="+mn-ea"/>
              </a:rPr>
              <a:t>증감식을</a:t>
            </a:r>
            <a:r>
              <a:rPr lang="ko-KR" altLang="en-US" sz="1800" dirty="0">
                <a:latin typeface="+mn-ea"/>
              </a:rPr>
              <a:t> 한꺼번에 작성</a:t>
            </a:r>
            <a:endParaRPr lang="en-US" altLang="ko-KR" sz="1800" dirty="0">
              <a:latin typeface="+mn-ea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1870520" y="3554248"/>
            <a:ext cx="4392488" cy="2160240"/>
            <a:chOff x="1640632" y="3284984"/>
            <a:chExt cx="4392488" cy="2160240"/>
          </a:xfrm>
        </p:grpSpPr>
        <p:sp>
          <p:nvSpPr>
            <p:cNvPr id="18" name="직사각형 17"/>
            <p:cNvSpPr/>
            <p:nvPr/>
          </p:nvSpPr>
          <p:spPr>
            <a:xfrm>
              <a:off x="1640632" y="3284984"/>
              <a:ext cx="4392488" cy="2160240"/>
            </a:xfrm>
            <a:prstGeom prst="rect">
              <a:avLst/>
            </a:prstGeom>
            <a:ln>
              <a:solidFill>
                <a:schemeClr val="accent3">
                  <a:lumMod val="20000"/>
                  <a:lumOff val="80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pt-BR" altLang="ko-KR" dirty="0">
                <a:latin typeface="+mn-ea"/>
              </a:endParaRPr>
            </a:p>
            <a:p>
              <a:r>
                <a:rPr lang="pt-BR" altLang="ko-KR" dirty="0">
                  <a:latin typeface="+mn-ea"/>
                </a:rPr>
                <a:t>}</a:t>
              </a:r>
            </a:p>
            <a:p>
              <a:r>
                <a:rPr lang="pt-BR" altLang="ko-KR" dirty="0">
                  <a:latin typeface="+mn-ea"/>
                </a:rPr>
                <a:t> </a:t>
              </a:r>
            </a:p>
            <a:p>
              <a:r>
                <a:rPr lang="pt-BR" altLang="ko-KR" dirty="0">
                  <a:latin typeface="+mn-ea"/>
                </a:rPr>
                <a:t> int n;</a:t>
              </a:r>
            </a:p>
            <a:p>
              <a:endParaRPr lang="pt-BR" altLang="ko-KR" dirty="0">
                <a:latin typeface="+mn-ea"/>
              </a:endParaRPr>
            </a:p>
            <a:p>
              <a:r>
                <a:rPr lang="pt-BR" altLang="ko-KR" dirty="0">
                  <a:latin typeface="+mn-ea"/>
                </a:rPr>
                <a:t> for(n = 1; n &lt;= 5; n++) {</a:t>
              </a:r>
            </a:p>
            <a:p>
              <a:endParaRPr lang="pt-BR" altLang="ko-KR" dirty="0">
                <a:latin typeface="+mn-ea"/>
              </a:endParaRPr>
            </a:p>
            <a:p>
              <a:r>
                <a:rPr lang="pt-BR" altLang="ko-KR" dirty="0">
                  <a:latin typeface="+mn-ea"/>
                </a:rPr>
                <a:t>    System.out.println(n);</a:t>
              </a:r>
            </a:p>
            <a:p>
              <a:endParaRPr lang="pt-BR" altLang="ko-KR" dirty="0">
                <a:latin typeface="+mn-ea"/>
              </a:endParaRPr>
            </a:p>
            <a:p>
              <a:r>
                <a:rPr lang="pt-BR" altLang="ko-KR" dirty="0">
                  <a:latin typeface="+mn-ea"/>
                </a:rPr>
                <a:t> }</a:t>
              </a:r>
            </a:p>
            <a:p>
              <a:endParaRPr lang="pt-BR" altLang="ko-KR" dirty="0">
                <a:latin typeface="+mn-ea"/>
              </a:endParaRPr>
            </a:p>
            <a:p>
              <a:endParaRPr lang="pt-BR" altLang="ko-KR" dirty="0">
                <a:latin typeface="+mn-ea"/>
              </a:endParaRPr>
            </a:p>
            <a:p>
              <a:endParaRPr lang="ko-KR" altLang="en-US" dirty="0">
                <a:latin typeface="+mn-ea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216696" y="3696637"/>
              <a:ext cx="391082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C00000"/>
                  </a:solidFill>
                </a:rPr>
                <a:t>①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088365" y="3696637"/>
              <a:ext cx="391082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C00000"/>
                  </a:solidFill>
                </a:rPr>
                <a:t>②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245421" y="4273351"/>
              <a:ext cx="391082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C00000"/>
                  </a:solidFill>
                </a:rPr>
                <a:t>③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913846" y="3696637"/>
              <a:ext cx="391082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C00000"/>
                  </a:solidFill>
                </a:rPr>
                <a:t>④</a:t>
              </a:r>
            </a:p>
          </p:txBody>
        </p:sp>
        <p:cxnSp>
          <p:nvCxnSpPr>
            <p:cNvPr id="4" name="직선 화살표 연결선 3"/>
            <p:cNvCxnSpPr>
              <a:endCxn id="21" idx="1"/>
            </p:cNvCxnSpPr>
            <p:nvPr/>
          </p:nvCxnSpPr>
          <p:spPr>
            <a:xfrm>
              <a:off x="2607778" y="3850525"/>
              <a:ext cx="480587" cy="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화살표 연결선 25"/>
            <p:cNvCxnSpPr/>
            <p:nvPr/>
          </p:nvCxnSpPr>
          <p:spPr>
            <a:xfrm flipH="1">
              <a:off x="3453150" y="3850525"/>
              <a:ext cx="480587" cy="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화살표 연결선 29"/>
            <p:cNvCxnSpPr/>
            <p:nvPr/>
          </p:nvCxnSpPr>
          <p:spPr>
            <a:xfrm>
              <a:off x="3479447" y="4250713"/>
              <a:ext cx="357429" cy="326505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화살표 연결선 30"/>
            <p:cNvCxnSpPr/>
            <p:nvPr/>
          </p:nvCxnSpPr>
          <p:spPr>
            <a:xfrm flipV="1">
              <a:off x="3913846" y="4210566"/>
              <a:ext cx="88006" cy="366652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4" name="그림 3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9332" y="3554248"/>
            <a:ext cx="1467879" cy="1858182"/>
          </a:xfrm>
          <a:prstGeom prst="rect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</p:pic>
      <p:sp>
        <p:nvSpPr>
          <p:cNvPr id="2" name="직사각형 1"/>
          <p:cNvSpPr/>
          <p:nvPr/>
        </p:nvSpPr>
        <p:spPr>
          <a:xfrm>
            <a:off x="1002947" y="2492896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lvl="1"/>
            <a:r>
              <a:rPr lang="en-US" altLang="ko-KR" dirty="0">
                <a:latin typeface="+mn-ea"/>
              </a:rPr>
              <a:t> </a:t>
            </a:r>
            <a:r>
              <a:rPr lang="en-US" altLang="ko-KR" b="1" dirty="0">
                <a:latin typeface="+mn-ea"/>
              </a:rPr>
              <a:t>for(</a:t>
            </a:r>
            <a:r>
              <a:rPr lang="ko-KR" altLang="en-US" b="1" dirty="0">
                <a:latin typeface="+mn-ea"/>
              </a:rPr>
              <a:t>초기화식</a:t>
            </a:r>
            <a:r>
              <a:rPr lang="en-US" altLang="ko-KR" b="1" dirty="0">
                <a:latin typeface="+mn-ea"/>
              </a:rPr>
              <a:t>; </a:t>
            </a:r>
            <a:r>
              <a:rPr lang="ko-KR" altLang="en-US" b="1" dirty="0" err="1">
                <a:latin typeface="+mn-ea"/>
              </a:rPr>
              <a:t>조건식</a:t>
            </a:r>
            <a:r>
              <a:rPr lang="en-US" altLang="ko-KR" b="1" dirty="0">
                <a:latin typeface="+mn-ea"/>
              </a:rPr>
              <a:t>; </a:t>
            </a:r>
            <a:r>
              <a:rPr lang="ko-KR" altLang="en-US" b="1" dirty="0" err="1">
                <a:latin typeface="+mn-ea"/>
              </a:rPr>
              <a:t>증감식</a:t>
            </a:r>
            <a:r>
              <a:rPr lang="en-US" altLang="ko-KR" b="1" dirty="0">
                <a:latin typeface="+mn-ea"/>
              </a:rPr>
              <a:t>){</a:t>
            </a:r>
          </a:p>
          <a:p>
            <a:pPr lvl="1"/>
            <a:r>
              <a:rPr lang="en-US" altLang="ko-KR" b="1" dirty="0">
                <a:latin typeface="+mn-ea"/>
              </a:rPr>
              <a:t>        </a:t>
            </a:r>
            <a:r>
              <a:rPr lang="ko-KR" altLang="en-US" b="1" dirty="0" err="1">
                <a:latin typeface="+mn-ea"/>
              </a:rPr>
              <a:t>수행문</a:t>
            </a:r>
            <a:r>
              <a:rPr lang="en-US" altLang="ko-KR" b="1" dirty="0">
                <a:latin typeface="+mn-ea"/>
              </a:rPr>
              <a:t>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87958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반복문</a:t>
            </a:r>
            <a:r>
              <a:rPr lang="en-US" altLang="ko-KR" dirty="0"/>
              <a:t>(for</a:t>
            </a:r>
            <a:r>
              <a:rPr lang="ko-KR" altLang="en-US" dirty="0"/>
              <a:t>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776536" y="1148243"/>
            <a:ext cx="2376264" cy="40854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altLang="ko-KR" sz="2000" b="1" dirty="0"/>
              <a:t>for</a:t>
            </a:r>
            <a:r>
              <a:rPr lang="ko-KR" altLang="en-US" sz="2000" b="1" dirty="0"/>
              <a:t>문    </a:t>
            </a:r>
            <a:endParaRPr lang="en-US" altLang="ko-KR" sz="2000" b="1" dirty="0"/>
          </a:p>
          <a:p>
            <a:pPr marL="457200" lvl="1" indent="0">
              <a:buNone/>
            </a:pPr>
            <a:r>
              <a:rPr lang="ko-KR" altLang="en-US" sz="2000" b="1" dirty="0"/>
              <a:t> </a:t>
            </a:r>
            <a:endParaRPr lang="en-US" altLang="ko-KR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584" y="1700808"/>
            <a:ext cx="6408712" cy="394790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247491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문자 세트 반복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139640" y="1124744"/>
            <a:ext cx="6837696" cy="7962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2000" dirty="0"/>
              <a:t>문자 세트</a:t>
            </a:r>
            <a:r>
              <a:rPr lang="en-US" altLang="ko-KR" sz="2000" dirty="0"/>
              <a:t>(</a:t>
            </a:r>
            <a:r>
              <a:rPr lang="ko-KR" altLang="en-US" sz="2000" dirty="0"/>
              <a:t>유니코드</a:t>
            </a:r>
            <a:r>
              <a:rPr lang="en-US" altLang="ko-KR" sz="2000" dirty="0"/>
              <a:t>)</a:t>
            </a:r>
          </a:p>
          <a:p>
            <a:pPr marL="0" indent="0">
              <a:buNone/>
            </a:pPr>
            <a:r>
              <a:rPr lang="en-US" altLang="ko-KR" sz="2000" dirty="0"/>
              <a:t>   - </a:t>
            </a:r>
            <a:r>
              <a:rPr lang="ko-KR" altLang="en-US" sz="1800" dirty="0"/>
              <a:t>알파벳과 한글 자음</a:t>
            </a:r>
            <a:r>
              <a:rPr lang="en-US" altLang="ko-KR" sz="1800" dirty="0"/>
              <a:t>, </a:t>
            </a:r>
            <a:r>
              <a:rPr lang="ko-KR" altLang="en-US" sz="1800" dirty="0"/>
              <a:t>모음 출력하기  </a:t>
            </a:r>
            <a:r>
              <a:rPr lang="en-US" altLang="ko-KR" sz="1800" dirty="0"/>
              <a:t> </a:t>
            </a:r>
            <a:endParaRPr lang="en-US" altLang="ko-KR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632" y="2137013"/>
            <a:ext cx="4259949" cy="2514818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451" y="4965699"/>
            <a:ext cx="9073008" cy="423597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78236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구구단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64568" y="1196752"/>
            <a:ext cx="2736305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구구단 프로그램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8745" y="2322665"/>
            <a:ext cx="6408712" cy="157346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593" y="2034633"/>
            <a:ext cx="974474" cy="236488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929642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2675" y="4149080"/>
            <a:ext cx="3688400" cy="1729890"/>
          </a:xfrm>
          <a:prstGeom prst="rect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</p:pic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반복문</a:t>
            </a:r>
            <a:r>
              <a:rPr lang="en-US" altLang="ko-KR" dirty="0"/>
              <a:t>(</a:t>
            </a:r>
            <a:r>
              <a:rPr lang="ko-KR" altLang="en-US" dirty="0"/>
              <a:t>중첩 </a:t>
            </a:r>
            <a:r>
              <a:rPr lang="en-US" altLang="ko-KR" dirty="0"/>
              <a:t>for</a:t>
            </a:r>
            <a:r>
              <a:rPr lang="ko-KR" altLang="en-US" dirty="0"/>
              <a:t>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5032675" y="2416477"/>
            <a:ext cx="2376264" cy="1548852"/>
          </a:xfrm>
          <a:prstGeom prst="rect">
            <a:avLst/>
          </a:prstGeom>
          <a:ln w="1270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altLang="ko-KR" sz="2000" dirty="0">
                <a:latin typeface="+mn-ea"/>
              </a:rPr>
              <a:t>       *****</a:t>
            </a:r>
          </a:p>
          <a:p>
            <a:r>
              <a:rPr lang="pt-BR" altLang="ko-KR" sz="2000" dirty="0">
                <a:latin typeface="+mn-ea"/>
              </a:rPr>
              <a:t>       *****</a:t>
            </a:r>
          </a:p>
          <a:p>
            <a:r>
              <a:rPr lang="pt-BR" altLang="ko-KR" sz="2000" dirty="0">
                <a:latin typeface="+mn-ea"/>
              </a:rPr>
              <a:t>       *****</a:t>
            </a:r>
          </a:p>
          <a:p>
            <a:r>
              <a:rPr lang="pt-BR" altLang="ko-KR" sz="2000" dirty="0">
                <a:latin typeface="+mn-ea"/>
              </a:rPr>
              <a:t>       *****</a:t>
            </a:r>
          </a:p>
          <a:p>
            <a:r>
              <a:rPr lang="pt-BR" altLang="ko-KR" sz="2000" dirty="0">
                <a:latin typeface="+mn-ea"/>
              </a:rPr>
              <a:t>       *****</a:t>
            </a:r>
            <a:endParaRPr lang="ko-KR" altLang="en-US" sz="2000" dirty="0">
              <a:latin typeface="+mn-ea"/>
            </a:endParaRPr>
          </a:p>
        </p:txBody>
      </p:sp>
      <p:sp>
        <p:nvSpPr>
          <p:cNvPr id="2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85130" y="1052736"/>
            <a:ext cx="5508030" cy="151216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200" b="1" dirty="0">
                <a:solidFill>
                  <a:srgbClr val="C00000"/>
                </a:solidFill>
              </a:rPr>
              <a:t>중첩된 </a:t>
            </a:r>
            <a:r>
              <a:rPr lang="ko-KR" altLang="en-US" sz="2200" b="1" dirty="0" err="1">
                <a:solidFill>
                  <a:srgbClr val="C00000"/>
                </a:solidFill>
              </a:rPr>
              <a:t>반복문</a:t>
            </a:r>
            <a:r>
              <a:rPr lang="en-US" altLang="ko-KR" sz="2200" b="1" dirty="0">
                <a:solidFill>
                  <a:srgbClr val="C00000"/>
                </a:solidFill>
              </a:rPr>
              <a:t>(Nested Loop)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1800" dirty="0"/>
              <a:t>  </a:t>
            </a:r>
            <a:r>
              <a:rPr lang="ko-KR" altLang="en-US" sz="1800" dirty="0" err="1"/>
              <a:t>반복문</a:t>
            </a:r>
            <a:r>
              <a:rPr lang="ko-KR" altLang="en-US" sz="1800" dirty="0"/>
              <a:t> 내부에 또 </a:t>
            </a:r>
            <a:r>
              <a:rPr lang="ko-KR" altLang="en-US" sz="1800" dirty="0" err="1"/>
              <a:t>반복문이</a:t>
            </a:r>
            <a:r>
              <a:rPr lang="ko-KR" altLang="en-US" sz="1800" dirty="0"/>
              <a:t> 사용됨 </a:t>
            </a:r>
            <a:endParaRPr lang="en-US" altLang="ko-KR" sz="1800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3781931"/>
              </p:ext>
            </p:extLst>
          </p:nvPr>
        </p:nvGraphicFramePr>
        <p:xfrm>
          <a:off x="2139143" y="2532934"/>
          <a:ext cx="2357429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50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0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0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641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41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41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41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41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모서리가 둥근 직사각형 10"/>
          <p:cNvSpPr/>
          <p:nvPr/>
        </p:nvSpPr>
        <p:spPr>
          <a:xfrm>
            <a:off x="5896771" y="4798850"/>
            <a:ext cx="2736304" cy="360040"/>
          </a:xfrm>
          <a:prstGeom prst="roundRect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그룹 6"/>
          <p:cNvGrpSpPr/>
          <p:nvPr/>
        </p:nvGrpSpPr>
        <p:grpSpPr>
          <a:xfrm>
            <a:off x="2093306" y="2155779"/>
            <a:ext cx="2439271" cy="307777"/>
            <a:chOff x="6150133" y="4031357"/>
            <a:chExt cx="2439271" cy="307777"/>
          </a:xfrm>
        </p:grpSpPr>
        <p:sp>
          <p:nvSpPr>
            <p:cNvPr id="4" name="TextBox 3"/>
            <p:cNvSpPr txBox="1"/>
            <p:nvPr/>
          </p:nvSpPr>
          <p:spPr>
            <a:xfrm>
              <a:off x="6150133" y="4031357"/>
              <a:ext cx="4860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열</a:t>
              </a:r>
              <a:r>
                <a:rPr lang="en-US" altLang="ko-KR" sz="1400" dirty="0"/>
                <a:t>1</a:t>
              </a:r>
              <a:endParaRPr lang="ko-KR" altLang="en-US" sz="1400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681192" y="4031357"/>
              <a:ext cx="4860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열</a:t>
              </a:r>
              <a:r>
                <a:rPr lang="en-US" altLang="ko-KR" sz="1400" dirty="0"/>
                <a:t>2</a:t>
              </a:r>
              <a:endParaRPr lang="ko-KR" altLang="en-US" sz="1400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113240" y="4031357"/>
              <a:ext cx="4860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열</a:t>
              </a:r>
              <a:r>
                <a:rPr lang="en-US" altLang="ko-KR" sz="1400" dirty="0"/>
                <a:t>3</a:t>
              </a:r>
              <a:endParaRPr lang="ko-KR" altLang="en-US" sz="1400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617296" y="4031357"/>
              <a:ext cx="4860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열</a:t>
              </a:r>
              <a:r>
                <a:rPr lang="en-US" altLang="ko-KR" sz="1400" dirty="0"/>
                <a:t>4</a:t>
              </a:r>
              <a:endParaRPr lang="ko-KR" altLang="en-US" sz="1400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103350" y="4031357"/>
              <a:ext cx="4860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열</a:t>
              </a:r>
              <a:r>
                <a:rPr lang="en-US" altLang="ko-KR" sz="1400" dirty="0"/>
                <a:t>5</a:t>
              </a:r>
              <a:endParaRPr lang="ko-KR" altLang="en-US" sz="1400" dirty="0"/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1607252" y="2561534"/>
            <a:ext cx="495055" cy="1747937"/>
            <a:chOff x="5664079" y="4437112"/>
            <a:chExt cx="495055" cy="1747937"/>
          </a:xfrm>
        </p:grpSpPr>
        <p:sp>
          <p:nvSpPr>
            <p:cNvPr id="16" name="TextBox 15"/>
            <p:cNvSpPr txBox="1"/>
            <p:nvPr/>
          </p:nvSpPr>
          <p:spPr>
            <a:xfrm>
              <a:off x="5664079" y="4437112"/>
              <a:ext cx="4860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행</a:t>
              </a:r>
              <a:r>
                <a:rPr lang="en-US" altLang="ko-KR" sz="1400" dirty="0"/>
                <a:t>1</a:t>
              </a:r>
              <a:endParaRPr lang="ko-KR" altLang="en-US" sz="1400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673080" y="4797152"/>
              <a:ext cx="4860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행</a:t>
              </a:r>
              <a:r>
                <a:rPr lang="en-US" altLang="ko-KR" sz="1400" dirty="0"/>
                <a:t>2</a:t>
              </a:r>
              <a:endParaRPr lang="ko-KR" altLang="en-US" sz="1400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664079" y="5157192"/>
              <a:ext cx="4860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행</a:t>
              </a:r>
              <a:r>
                <a:rPr lang="en-US" altLang="ko-KR" sz="1400" dirty="0"/>
                <a:t>3</a:t>
              </a:r>
              <a:endParaRPr lang="ko-KR" altLang="en-US" sz="1400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673080" y="5517232"/>
              <a:ext cx="4860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행</a:t>
              </a:r>
              <a:r>
                <a:rPr lang="en-US" altLang="ko-KR" sz="1400" dirty="0"/>
                <a:t>4</a:t>
              </a:r>
              <a:endParaRPr lang="ko-KR" altLang="en-US" sz="1400" dirty="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673080" y="5877272"/>
              <a:ext cx="4860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행</a:t>
              </a:r>
              <a:r>
                <a:rPr lang="en-US" altLang="ko-KR" sz="1400" dirty="0"/>
                <a:t>5</a:t>
              </a:r>
              <a:endParaRPr lang="ko-KR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278422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반복문</a:t>
            </a:r>
            <a:r>
              <a:rPr lang="en-US" altLang="ko-KR" dirty="0"/>
              <a:t>(</a:t>
            </a:r>
            <a:r>
              <a:rPr lang="ko-KR" altLang="en-US" dirty="0"/>
              <a:t>중첩 </a:t>
            </a:r>
            <a:r>
              <a:rPr lang="en-US" altLang="ko-KR" dirty="0"/>
              <a:t>for</a:t>
            </a:r>
            <a:r>
              <a:rPr lang="ko-KR" altLang="en-US" dirty="0"/>
              <a:t>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2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101154" y="1052736"/>
            <a:ext cx="5508030" cy="108012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삼각형 모양의 별 찍기</a:t>
            </a:r>
            <a:r>
              <a:rPr lang="en-US" altLang="ko-KR" sz="2000" b="1" dirty="0">
                <a:solidFill>
                  <a:srgbClr val="C00000"/>
                </a:solidFill>
              </a:rPr>
              <a:t>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000" b="1" dirty="0">
                <a:solidFill>
                  <a:srgbClr val="C00000"/>
                </a:solidFill>
              </a:rPr>
              <a:t>   </a:t>
            </a:r>
            <a:r>
              <a:rPr lang="en-US" altLang="ko-KR" sz="1800" dirty="0">
                <a:solidFill>
                  <a:srgbClr val="C00000"/>
                </a:solidFill>
              </a:rPr>
              <a:t>hint) </a:t>
            </a:r>
            <a:r>
              <a:rPr lang="ko-KR" altLang="en-US" sz="1800" dirty="0"/>
              <a:t>열</a:t>
            </a:r>
            <a:r>
              <a:rPr lang="en-US" altLang="ko-KR" sz="1800" dirty="0"/>
              <a:t>(column)</a:t>
            </a:r>
            <a:r>
              <a:rPr lang="ko-KR" altLang="en-US" sz="1800" dirty="0"/>
              <a:t>이 변하는 것에 주목한다</a:t>
            </a:r>
            <a:r>
              <a:rPr lang="en-US" altLang="ko-KR" sz="1800" dirty="0"/>
              <a:t>.</a:t>
            </a:r>
            <a:r>
              <a:rPr lang="ko-KR" altLang="en-US" sz="1800" dirty="0"/>
              <a:t> </a:t>
            </a:r>
            <a:endParaRPr lang="en-US" altLang="ko-KR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4" r="40458" b="52804"/>
          <a:stretch/>
        </p:blipFill>
        <p:spPr>
          <a:xfrm>
            <a:off x="2072680" y="2145433"/>
            <a:ext cx="1062406" cy="166714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3438" y="2132856"/>
            <a:ext cx="3970987" cy="167971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7676" y="3947626"/>
            <a:ext cx="1067410" cy="178306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5534" y="4011064"/>
            <a:ext cx="3976567" cy="165618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46993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반복문</a:t>
            </a:r>
            <a:r>
              <a:rPr lang="en-US" altLang="ko-KR" dirty="0"/>
              <a:t>(</a:t>
            </a:r>
            <a:r>
              <a:rPr lang="ko-KR" altLang="en-US" dirty="0"/>
              <a:t>중첩 </a:t>
            </a:r>
            <a:r>
              <a:rPr lang="en-US" altLang="ko-KR" dirty="0"/>
              <a:t>for</a:t>
            </a:r>
            <a:r>
              <a:rPr lang="ko-KR" altLang="en-US" dirty="0"/>
              <a:t>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2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101154" y="1052736"/>
            <a:ext cx="4355902" cy="86409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삼각형 모양의 </a:t>
            </a:r>
            <a:r>
              <a:rPr lang="ko-KR" altLang="en-US" sz="2000" b="1" dirty="0" err="1">
                <a:solidFill>
                  <a:srgbClr val="C00000"/>
                </a:solidFill>
              </a:rPr>
              <a:t>별찍기</a:t>
            </a:r>
            <a:r>
              <a:rPr lang="en-US" altLang="ko-KR" sz="2000" b="1" dirty="0">
                <a:solidFill>
                  <a:srgbClr val="C00000"/>
                </a:solidFill>
              </a:rPr>
              <a:t>2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000" b="1" dirty="0">
                <a:solidFill>
                  <a:srgbClr val="C00000"/>
                </a:solidFill>
              </a:rPr>
              <a:t>   </a:t>
            </a:r>
            <a:r>
              <a:rPr lang="en-US" altLang="ko-KR" sz="2000" dirty="0">
                <a:solidFill>
                  <a:srgbClr val="C00000"/>
                </a:solidFill>
              </a:rPr>
              <a:t>hint) </a:t>
            </a:r>
            <a:r>
              <a:rPr lang="ko-KR" altLang="en-US" sz="1800" dirty="0"/>
              <a:t>공백과 별로 나눠서 생각</a:t>
            </a:r>
            <a:endParaRPr lang="en-US" altLang="ko-KR" sz="1800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678"/>
          <a:stretch/>
        </p:blipFill>
        <p:spPr>
          <a:xfrm>
            <a:off x="2139526" y="2119526"/>
            <a:ext cx="1057471" cy="158417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8374" y="4077072"/>
            <a:ext cx="4180970" cy="191743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8374" y="1916832"/>
            <a:ext cx="4180970" cy="198956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3316" y="4149080"/>
            <a:ext cx="1083681" cy="153882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187016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반복문</a:t>
            </a:r>
            <a:r>
              <a:rPr lang="en-US" altLang="ko-KR" dirty="0"/>
              <a:t>(for</a:t>
            </a:r>
            <a:r>
              <a:rPr lang="ko-KR" altLang="en-US" dirty="0"/>
              <a:t>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85130" y="1052737"/>
            <a:ext cx="5508030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>
                <a:solidFill>
                  <a:srgbClr val="C00000"/>
                </a:solidFill>
              </a:rPr>
              <a:t>구구단 전체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b="52285"/>
          <a:stretch/>
        </p:blipFill>
        <p:spPr>
          <a:xfrm>
            <a:off x="1280592" y="1772818"/>
            <a:ext cx="7103005" cy="180019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624" y="3805836"/>
            <a:ext cx="1381311" cy="231253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4808" y="3780589"/>
            <a:ext cx="1395245" cy="233777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907160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반복문</a:t>
            </a:r>
            <a:r>
              <a:rPr lang="en-US" altLang="ko-KR" dirty="0"/>
              <a:t>(for</a:t>
            </a:r>
            <a:r>
              <a:rPr lang="ko-KR" altLang="en-US" dirty="0"/>
              <a:t>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85130" y="1052737"/>
            <a:ext cx="5508030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>
                <a:solidFill>
                  <a:srgbClr val="C00000"/>
                </a:solidFill>
              </a:rPr>
              <a:t>구구단 전체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t="49624"/>
          <a:stretch/>
        </p:blipFill>
        <p:spPr>
          <a:xfrm>
            <a:off x="1280592" y="1700808"/>
            <a:ext cx="7103005" cy="190056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0803" y="2996952"/>
            <a:ext cx="1366493" cy="313574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682846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continue</a:t>
            </a:r>
            <a:r>
              <a:rPr lang="ko-KR" altLang="en-US" dirty="0"/>
              <a:t>문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741114" y="1052736"/>
            <a:ext cx="8388350" cy="14401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200" b="1" dirty="0">
                <a:solidFill>
                  <a:srgbClr val="C00000"/>
                </a:solidFill>
              </a:rPr>
              <a:t>continue </a:t>
            </a:r>
            <a:r>
              <a:rPr lang="ko-KR" altLang="en-US" sz="2200" b="1" dirty="0">
                <a:solidFill>
                  <a:srgbClr val="C00000"/>
                </a:solidFill>
              </a:rPr>
              <a:t>문</a:t>
            </a:r>
            <a:endParaRPr lang="en-US" altLang="ko-KR" sz="2200" b="1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ko-KR" altLang="en-US" sz="1800" dirty="0"/>
              <a:t>반복문과 함께 쓰이며</a:t>
            </a:r>
            <a:r>
              <a:rPr lang="en-US" altLang="ko-KR" sz="1800" dirty="0"/>
              <a:t>, </a:t>
            </a:r>
            <a:r>
              <a:rPr lang="ko-KR" altLang="en-US" sz="1800" dirty="0" err="1"/>
              <a:t>반복문</a:t>
            </a:r>
            <a:r>
              <a:rPr lang="ko-KR" altLang="en-US" sz="1800" dirty="0"/>
              <a:t> 내부 </a:t>
            </a:r>
            <a:r>
              <a:rPr lang="en-US" altLang="ko-KR" sz="1800" dirty="0"/>
              <a:t>continue </a:t>
            </a:r>
            <a:r>
              <a:rPr lang="ko-KR" altLang="en-US" sz="1800" dirty="0"/>
              <a:t>문을 만나면</a:t>
            </a:r>
            <a:endParaRPr lang="en-US" altLang="ko-KR" sz="1800" dirty="0"/>
          </a:p>
          <a:p>
            <a:pPr marL="457200" lvl="1" indent="0">
              <a:buNone/>
            </a:pPr>
            <a:r>
              <a:rPr lang="en-US" altLang="ko-KR" sz="1800" dirty="0">
                <a:latin typeface="+mn-ea"/>
              </a:rPr>
              <a:t>   </a:t>
            </a:r>
            <a:r>
              <a:rPr lang="ko-KR" altLang="en-US" sz="1800" dirty="0">
                <a:latin typeface="+mn-ea"/>
              </a:rPr>
              <a:t>이후 반복되는 부분을 수행하지 않고 조건식이나 </a:t>
            </a:r>
            <a:r>
              <a:rPr lang="ko-KR" altLang="en-US" sz="1800" dirty="0" err="1">
                <a:latin typeface="+mn-ea"/>
              </a:rPr>
              <a:t>증감식을</a:t>
            </a:r>
            <a:r>
              <a:rPr lang="ko-KR" altLang="en-US" sz="1800" dirty="0">
                <a:latin typeface="+mn-ea"/>
              </a:rPr>
              <a:t> 수행함</a:t>
            </a:r>
            <a:endParaRPr lang="en-US" altLang="ko-KR" sz="1800" dirty="0">
              <a:latin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816" y="3273414"/>
            <a:ext cx="3384376" cy="146044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1208584" y="2627620"/>
            <a:ext cx="7272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예제 </a:t>
            </a:r>
            <a:r>
              <a:rPr lang="en-US" altLang="ko-KR" dirty="0"/>
              <a:t>– 1</a:t>
            </a:r>
            <a:r>
              <a:rPr lang="ko-KR" altLang="en-US" dirty="0"/>
              <a:t>부터 </a:t>
            </a:r>
            <a:r>
              <a:rPr lang="en-US" altLang="ko-KR" dirty="0"/>
              <a:t>10</a:t>
            </a:r>
            <a:r>
              <a:rPr lang="ko-KR" altLang="en-US" dirty="0"/>
              <a:t>까지의 자연수 중 </a:t>
            </a:r>
            <a:r>
              <a:rPr lang="en-US" altLang="ko-KR" dirty="0"/>
              <a:t>4</a:t>
            </a:r>
            <a:r>
              <a:rPr lang="ko-KR" altLang="en-US" dirty="0"/>
              <a:t>나 </a:t>
            </a:r>
            <a:r>
              <a:rPr lang="en-US" altLang="ko-KR" dirty="0"/>
              <a:t>8</a:t>
            </a:r>
            <a:r>
              <a:rPr lang="ko-KR" altLang="en-US" dirty="0"/>
              <a:t>을 제외한 수를 출력하기 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2679" y="3861048"/>
            <a:ext cx="518205" cy="201185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0267" y="3249357"/>
            <a:ext cx="3394248" cy="150855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95799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반복문</a:t>
            </a:r>
            <a:r>
              <a:rPr lang="en-US" altLang="ko-KR" dirty="0"/>
              <a:t>(for</a:t>
            </a:r>
            <a:r>
              <a:rPr lang="ko-KR" altLang="en-US" dirty="0"/>
              <a:t>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85130" y="1037324"/>
            <a:ext cx="4787950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중첩된 </a:t>
            </a:r>
            <a:r>
              <a:rPr lang="ko-KR" altLang="en-US" sz="2000" b="1" dirty="0" err="1">
                <a:solidFill>
                  <a:srgbClr val="C00000"/>
                </a:solidFill>
              </a:rPr>
              <a:t>반복문</a:t>
            </a:r>
            <a:r>
              <a:rPr lang="en-US" altLang="ko-KR" sz="2000" b="1" dirty="0">
                <a:solidFill>
                  <a:srgbClr val="C00000"/>
                </a:solidFill>
              </a:rPr>
              <a:t>(Nested Loop)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600" y="1905023"/>
            <a:ext cx="1812410" cy="128755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541"/>
          <a:stretch/>
        </p:blipFill>
        <p:spPr>
          <a:xfrm>
            <a:off x="3728864" y="1700808"/>
            <a:ext cx="4353468" cy="176045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8864" y="3761901"/>
            <a:ext cx="4353468" cy="246723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3" y="3789040"/>
            <a:ext cx="1793407" cy="129614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280030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5"/>
          <p:cNvSpPr txBox="1">
            <a:spLocks/>
          </p:cNvSpPr>
          <p:nvPr/>
        </p:nvSpPr>
        <p:spPr>
          <a:xfrm>
            <a:off x="0" y="-27384"/>
            <a:ext cx="6321151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 </a:t>
            </a:r>
            <a:r>
              <a:rPr lang="ko-KR" altLang="en-US" dirty="0"/>
              <a:t>자리배치도 프로그램 만들기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714152" y="980728"/>
            <a:ext cx="899137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--------------------------------------------------------------------------------</a:t>
            </a:r>
            <a:r>
              <a:rPr lang="ko-KR" altLang="en-US" dirty="0"/>
              <a:t> 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  입장객 수에 따라 좌석을 배치하는 프로그램을 작성하세요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(</a:t>
            </a:r>
            <a:r>
              <a:rPr lang="ko-KR" altLang="en-US" dirty="0"/>
              <a:t>파일이름</a:t>
            </a:r>
            <a:r>
              <a:rPr lang="en-US" altLang="ko-KR" dirty="0"/>
              <a:t>: Seats.java)</a:t>
            </a:r>
          </a:p>
          <a:p>
            <a:r>
              <a:rPr lang="en-US" altLang="ko-KR" dirty="0"/>
              <a:t>---------------------------------------------------------------------------------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6735" y="2564904"/>
            <a:ext cx="3426957" cy="259228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156356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5"/>
          <p:cNvSpPr txBox="1">
            <a:spLocks/>
          </p:cNvSpPr>
          <p:nvPr/>
        </p:nvSpPr>
        <p:spPr>
          <a:xfrm>
            <a:off x="0" y="-27384"/>
            <a:ext cx="6321151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 </a:t>
            </a:r>
            <a:r>
              <a:rPr lang="ko-KR" altLang="en-US" dirty="0"/>
              <a:t>자리배치도 프로그램 만들기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632" y="1556792"/>
            <a:ext cx="5866464" cy="468052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85130" y="980728"/>
            <a:ext cx="4787950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자리 배치</a:t>
            </a:r>
            <a:r>
              <a:rPr lang="en-US" altLang="ko-KR" sz="2000" b="1" dirty="0">
                <a:solidFill>
                  <a:srgbClr val="C00000"/>
                </a:solidFill>
              </a:rPr>
              <a:t>(Seat Allocation)</a:t>
            </a:r>
          </a:p>
        </p:txBody>
      </p:sp>
    </p:spTree>
    <p:extLst>
      <p:ext uri="{BB962C8B-B14F-4D97-AF65-F5344CB8AC3E}">
        <p14:creationId xmlns:p14="http://schemas.microsoft.com/office/powerpoint/2010/main" val="11364425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5"/>
          <p:cNvSpPr txBox="1">
            <a:spLocks/>
          </p:cNvSpPr>
          <p:nvPr/>
        </p:nvSpPr>
        <p:spPr>
          <a:xfrm>
            <a:off x="0" y="-27384"/>
            <a:ext cx="6321151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 </a:t>
            </a:r>
            <a:r>
              <a:rPr lang="ko-KR" altLang="en-US" dirty="0"/>
              <a:t>자리배치도 프로그램 만들기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2"/>
          <a:stretch/>
        </p:blipFill>
        <p:spPr>
          <a:xfrm>
            <a:off x="1496616" y="1709936"/>
            <a:ext cx="6215534" cy="323123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85130" y="980728"/>
            <a:ext cx="4787950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자리 배치</a:t>
            </a:r>
            <a:r>
              <a:rPr lang="en-US" altLang="ko-KR" sz="2000" b="1" dirty="0">
                <a:solidFill>
                  <a:srgbClr val="C00000"/>
                </a:solidFill>
              </a:rPr>
              <a:t>(Seat Allocation)</a:t>
            </a:r>
          </a:p>
        </p:txBody>
      </p:sp>
    </p:spTree>
    <p:extLst>
      <p:ext uri="{BB962C8B-B14F-4D97-AF65-F5344CB8AC3E}">
        <p14:creationId xmlns:p14="http://schemas.microsoft.com/office/powerpoint/2010/main" val="37078737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5"/>
          <p:cNvSpPr txBox="1">
            <a:spLocks/>
          </p:cNvSpPr>
          <p:nvPr/>
        </p:nvSpPr>
        <p:spPr>
          <a:xfrm>
            <a:off x="0" y="-27384"/>
            <a:ext cx="6321151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 </a:t>
            </a:r>
            <a:r>
              <a:rPr lang="ko-KR" altLang="en-US" dirty="0"/>
              <a:t>실습 문제 </a:t>
            </a:r>
            <a:r>
              <a:rPr lang="en-US" altLang="ko-KR" dirty="0"/>
              <a:t>1 – </a:t>
            </a:r>
            <a:r>
              <a:rPr lang="ko-KR" altLang="en-US" dirty="0"/>
              <a:t>반복 </a:t>
            </a:r>
            <a:r>
              <a:rPr lang="ko-KR" altLang="en-US" dirty="0" err="1"/>
              <a:t>조건문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714152" y="836712"/>
            <a:ext cx="8991376" cy="18004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--------------------------------------------------------------------------------</a:t>
            </a:r>
            <a:r>
              <a:rPr lang="ko-KR" altLang="en-US" dirty="0"/>
              <a:t> 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부터 </a:t>
            </a:r>
            <a:r>
              <a:rPr lang="ko-KR" altLang="en-US" dirty="0" err="1"/>
              <a:t>더했을때</a:t>
            </a:r>
            <a:r>
              <a:rPr lang="ko-KR" altLang="en-US" dirty="0"/>
              <a:t> 그 합이 </a:t>
            </a:r>
            <a:r>
              <a:rPr lang="en-US" altLang="ko-KR" dirty="0"/>
              <a:t>100</a:t>
            </a:r>
            <a:r>
              <a:rPr lang="ko-KR" altLang="en-US" dirty="0"/>
              <a:t>이 넘는 자연수와 합계를 구하세요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</a:t>
            </a:r>
            <a:r>
              <a:rPr lang="en-US" altLang="ko-KR" sz="1600" dirty="0"/>
              <a:t>[</a:t>
            </a:r>
            <a:r>
              <a:rPr lang="ko-KR" altLang="en-US" sz="1600" dirty="0"/>
              <a:t>파일이름</a:t>
            </a:r>
            <a:r>
              <a:rPr lang="en-US" altLang="ko-KR" sz="1600" dirty="0"/>
              <a:t>: Sum100.java]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---------------------------------------------------------------------------------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568624" y="2802414"/>
            <a:ext cx="1944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☞ 실행 결과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101" y="3306177"/>
            <a:ext cx="1533739" cy="66684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86723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4709</TotalTime>
  <Words>938</Words>
  <Application>Microsoft Office PowerPoint</Application>
  <PresentationFormat>A4 용지(210x297mm)</PresentationFormat>
  <Paragraphs>273</Paragraphs>
  <Slides>37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4" baseType="lpstr">
      <vt:lpstr>HY헤드라인M</vt:lpstr>
      <vt:lpstr>맑은 고딕</vt:lpstr>
      <vt:lpstr>휴먼모음T</vt:lpstr>
      <vt:lpstr>휴먼엑스포</vt:lpstr>
      <vt:lpstr>Arial</vt:lpstr>
      <vt:lpstr>Wingdings</vt:lpstr>
      <vt:lpstr>Office 테마</vt:lpstr>
      <vt:lpstr>2장. 제어문(조건문, 반복문)</vt:lpstr>
      <vt:lpstr> 조건문(if문)</vt:lpstr>
      <vt:lpstr> 조건문(if문)</vt:lpstr>
      <vt:lpstr> 조건문(if문)</vt:lpstr>
      <vt:lpstr> 조건문(if문)</vt:lpstr>
      <vt:lpstr> 조건문(if문)</vt:lpstr>
      <vt:lpstr> 조건문(if문)</vt:lpstr>
      <vt:lpstr> 조건문(if문)</vt:lpstr>
      <vt:lpstr> 조건문(if문)</vt:lpstr>
      <vt:lpstr> 조건문(if ~ else if ~ else)</vt:lpstr>
      <vt:lpstr> 조건문(SWITCH - CASE)</vt:lpstr>
      <vt:lpstr> 조건문(SWITCH - CASE)</vt:lpstr>
      <vt:lpstr> 조건문(SWITCH - CASE)</vt:lpstr>
      <vt:lpstr> 반복문(while문)</vt:lpstr>
      <vt:lpstr> 반복문(while문)</vt:lpstr>
      <vt:lpstr> 반복문(while문)</vt:lpstr>
      <vt:lpstr>  무한반복 - break 문</vt:lpstr>
      <vt:lpstr>  무한반복 - break 문</vt:lpstr>
      <vt:lpstr>  무한반복 - break 문</vt:lpstr>
      <vt:lpstr>  무한반복 - break 문</vt:lpstr>
      <vt:lpstr> 커피 자동판매기 </vt:lpstr>
      <vt:lpstr> 커피 자동판매기</vt:lpstr>
      <vt:lpstr> 반복문(for문)</vt:lpstr>
      <vt:lpstr> 반복문(for문)</vt:lpstr>
      <vt:lpstr> 문자 세트 반복</vt:lpstr>
      <vt:lpstr> 구구단</vt:lpstr>
      <vt:lpstr> 반복문(중첩 for문)</vt:lpstr>
      <vt:lpstr> 반복문(중첩 for문)</vt:lpstr>
      <vt:lpstr> 반복문(중첩 for문)</vt:lpstr>
      <vt:lpstr> 반복문(for문)</vt:lpstr>
      <vt:lpstr> 반복문(for문)</vt:lpstr>
      <vt:lpstr> continue문</vt:lpstr>
      <vt:lpstr> 반복문(for문)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giyong kim</cp:lastModifiedBy>
  <cp:revision>334</cp:revision>
  <dcterms:created xsi:type="dcterms:W3CDTF">2019-03-04T02:36:55Z</dcterms:created>
  <dcterms:modified xsi:type="dcterms:W3CDTF">2026-07-28T06:11:29Z</dcterms:modified>
</cp:coreProperties>
</file>