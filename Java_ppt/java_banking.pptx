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2"/>
  </p:notesMasterIdLst>
  <p:sldIdLst>
    <p:sldId id="256" r:id="rId2"/>
    <p:sldId id="264" r:id="rId3"/>
    <p:sldId id="289" r:id="rId4"/>
    <p:sldId id="267" r:id="rId5"/>
    <p:sldId id="269" r:id="rId6"/>
    <p:sldId id="274" r:id="rId7"/>
    <p:sldId id="349" r:id="rId8"/>
    <p:sldId id="270" r:id="rId9"/>
    <p:sldId id="370" r:id="rId10"/>
    <p:sldId id="319" r:id="rId11"/>
    <p:sldId id="302" r:id="rId12"/>
    <p:sldId id="303" r:id="rId13"/>
    <p:sldId id="304" r:id="rId14"/>
    <p:sldId id="305" r:id="rId15"/>
    <p:sldId id="371" r:id="rId16"/>
    <p:sldId id="379" r:id="rId17"/>
    <p:sldId id="380" r:id="rId18"/>
    <p:sldId id="353" r:id="rId19"/>
    <p:sldId id="372" r:id="rId20"/>
    <p:sldId id="373" r:id="rId21"/>
    <p:sldId id="375" r:id="rId22"/>
    <p:sldId id="374" r:id="rId23"/>
    <p:sldId id="381" r:id="rId24"/>
    <p:sldId id="382" r:id="rId25"/>
    <p:sldId id="383" r:id="rId26"/>
    <p:sldId id="397" r:id="rId27"/>
    <p:sldId id="384" r:id="rId28"/>
    <p:sldId id="386" r:id="rId29"/>
    <p:sldId id="390" r:id="rId30"/>
    <p:sldId id="398" r:id="rId31"/>
    <p:sldId id="399" r:id="rId32"/>
    <p:sldId id="400" r:id="rId33"/>
    <p:sldId id="401" r:id="rId34"/>
    <p:sldId id="402" r:id="rId35"/>
    <p:sldId id="395" r:id="rId36"/>
    <p:sldId id="403" r:id="rId37"/>
    <p:sldId id="404" r:id="rId38"/>
    <p:sldId id="406" r:id="rId39"/>
    <p:sldId id="405" r:id="rId40"/>
    <p:sldId id="407" r:id="rId41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094" y="7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46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5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-39555" y="6381328"/>
            <a:ext cx="9945555" cy="47667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9906000" cy="836712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53433" y="6453337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 descr="javaì ëí ì´ë¯¸ì§ ê²ìê²°ê³¼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52" y="5933989"/>
            <a:ext cx="685900" cy="6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Banking App</a:t>
            </a:r>
            <a:endParaRPr lang="ko-KR" altLang="en-US" sz="3600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75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2400" dirty="0" smtClean="0">
                <a:solidFill>
                  <a:schemeClr val="bg1"/>
                </a:solidFill>
              </a:rPr>
              <a:t> </a:t>
            </a:r>
            <a:r>
              <a:rPr lang="ko-KR" altLang="en-US" sz="2000" i="1" dirty="0" smtClean="0">
                <a:solidFill>
                  <a:schemeClr val="bg1"/>
                </a:solidFill>
              </a:rPr>
              <a:t>은행 거래</a:t>
            </a:r>
            <a:endParaRPr lang="ko-KR" altLang="en-US" sz="18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Picture 2" descr="javaì ëí ì´ë¯¸ì§ ê²ìê²°ê³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056" y="3645024"/>
            <a:ext cx="4078760" cy="244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은행 업무 프로젝트 개요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064568" y="1052736"/>
            <a:ext cx="6552728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 smtClean="0">
                <a:solidFill>
                  <a:srgbClr val="C00000"/>
                </a:solidFill>
              </a:rPr>
              <a:t> 은행 업무 프로젝트</a:t>
            </a:r>
            <a:endParaRPr lang="en-US" altLang="ko-KR" sz="2000" b="1" dirty="0" smtClean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dirty="0" smtClean="0"/>
              <a:t>     은행 계좌 클래스를 만들고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은행 업무 기능 만들기 </a:t>
            </a:r>
            <a:endParaRPr lang="en-US" altLang="ko-KR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1424608" y="2132856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dirty="0" smtClean="0"/>
              <a:t>은행 업무 프로젝트 단</a:t>
            </a:r>
            <a:r>
              <a:rPr lang="ko-KR" altLang="en-US" dirty="0"/>
              <a:t>계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1856656" y="2636912"/>
            <a:ext cx="4752528" cy="504056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smtClean="0"/>
              <a:t> step1. </a:t>
            </a:r>
            <a:r>
              <a:rPr lang="ko-KR" altLang="en-US" dirty="0" smtClean="0"/>
              <a:t>문제 정의하기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1856656" y="3338990"/>
            <a:ext cx="4752528" cy="504056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smtClean="0"/>
              <a:t> step2. </a:t>
            </a:r>
            <a:r>
              <a:rPr lang="ko-KR" altLang="en-US" dirty="0" smtClean="0"/>
              <a:t>클래스 정의하고 관계도 그리기</a:t>
            </a:r>
            <a:endParaRPr lang="ko-KR" altLang="en-US" dirty="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1856656" y="4041068"/>
            <a:ext cx="4752528" cy="504056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smtClean="0"/>
              <a:t> step3. </a:t>
            </a:r>
            <a:r>
              <a:rPr lang="ko-KR" altLang="en-US" dirty="0" smtClean="0"/>
              <a:t>은행 업무 기능 설계하고 구현하기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1856656" y="4743146"/>
            <a:ext cx="4752528" cy="504056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smtClean="0"/>
              <a:t> step4. </a:t>
            </a:r>
            <a:r>
              <a:rPr lang="ko-KR" altLang="en-US" dirty="0" smtClean="0"/>
              <a:t>프로그램 테스트하기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1856656" y="5445224"/>
            <a:ext cx="4752528" cy="504056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smtClean="0"/>
              <a:t> step5. </a:t>
            </a:r>
            <a:r>
              <a:rPr lang="ko-KR" altLang="en-US" dirty="0" smtClean="0"/>
              <a:t>유지보수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업그레이드 하기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7868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step1. </a:t>
            </a:r>
            <a:r>
              <a:rPr lang="ko-KR" altLang="en-US" dirty="0" smtClean="0"/>
              <a:t>문제 정의하기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443909" y="980728"/>
            <a:ext cx="8685555" cy="21687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b="1" dirty="0" smtClean="0">
                <a:solidFill>
                  <a:srgbClr val="C00000"/>
                </a:solidFill>
              </a:rPr>
              <a:t>   프로그램 시나리오</a:t>
            </a:r>
            <a:endParaRPr lang="en-US" altLang="ko-KR" sz="2000" b="1" dirty="0" smtClean="0"/>
          </a:p>
          <a:p>
            <a:pPr lvl="1">
              <a:lnSpc>
                <a:spcPct val="150000"/>
              </a:lnSpc>
            </a:pPr>
            <a:r>
              <a:rPr lang="ko-KR" altLang="en-US" sz="1800" dirty="0" smtClean="0">
                <a:solidFill>
                  <a:srgbClr val="002060"/>
                </a:solidFill>
              </a:rPr>
              <a:t>계정</a:t>
            </a:r>
            <a:r>
              <a:rPr lang="en-US" altLang="ko-KR" sz="1800" dirty="0" smtClean="0">
                <a:solidFill>
                  <a:srgbClr val="002060"/>
                </a:solidFill>
              </a:rPr>
              <a:t>(Account)</a:t>
            </a:r>
            <a:r>
              <a:rPr lang="ko-KR" altLang="en-US" sz="1800" dirty="0" smtClean="0">
                <a:solidFill>
                  <a:srgbClr val="002060"/>
                </a:solidFill>
              </a:rPr>
              <a:t> 클래스에는 계좌 번호</a:t>
            </a:r>
            <a:r>
              <a:rPr lang="en-US" altLang="ko-KR" sz="1800" dirty="0" smtClean="0">
                <a:solidFill>
                  <a:srgbClr val="002060"/>
                </a:solidFill>
              </a:rPr>
              <a:t>, </a:t>
            </a:r>
            <a:r>
              <a:rPr lang="ko-KR" altLang="en-US" sz="1800" dirty="0" err="1" smtClean="0">
                <a:solidFill>
                  <a:srgbClr val="002060"/>
                </a:solidFill>
              </a:rPr>
              <a:t>계좌주</a:t>
            </a:r>
            <a:r>
              <a:rPr lang="en-US" altLang="ko-KR" sz="1800" dirty="0" smtClean="0">
                <a:solidFill>
                  <a:srgbClr val="002060"/>
                </a:solidFill>
              </a:rPr>
              <a:t>, </a:t>
            </a:r>
            <a:r>
              <a:rPr lang="ko-KR" altLang="en-US" sz="1800" dirty="0" smtClean="0">
                <a:solidFill>
                  <a:srgbClr val="002060"/>
                </a:solidFill>
              </a:rPr>
              <a:t>잔액 속성으로 구성되어 있음</a:t>
            </a:r>
            <a:r>
              <a:rPr lang="en-US" altLang="ko-KR" sz="1800" dirty="0" smtClean="0">
                <a:solidFill>
                  <a:srgbClr val="002060"/>
                </a:solidFill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 smtClean="0">
                <a:solidFill>
                  <a:srgbClr val="002060"/>
                </a:solidFill>
              </a:rPr>
              <a:t>Account </a:t>
            </a:r>
            <a:r>
              <a:rPr lang="ko-KR" altLang="en-US" sz="1800" dirty="0" smtClean="0">
                <a:solidFill>
                  <a:srgbClr val="002060"/>
                </a:solidFill>
              </a:rPr>
              <a:t>배열을 </a:t>
            </a:r>
            <a:r>
              <a:rPr lang="en-US" altLang="ko-KR" sz="1800" dirty="0" smtClean="0">
                <a:solidFill>
                  <a:srgbClr val="002060"/>
                </a:solidFill>
              </a:rPr>
              <a:t>100</a:t>
            </a:r>
            <a:r>
              <a:rPr lang="ko-KR" altLang="en-US" sz="1800" dirty="0" smtClean="0">
                <a:solidFill>
                  <a:srgbClr val="002060"/>
                </a:solidFill>
              </a:rPr>
              <a:t>개 생성한다</a:t>
            </a:r>
            <a:r>
              <a:rPr lang="en-US" altLang="ko-KR" sz="1800" dirty="0" smtClean="0">
                <a:solidFill>
                  <a:srgbClr val="002060"/>
                </a:solidFill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 smtClean="0">
                <a:solidFill>
                  <a:srgbClr val="002060"/>
                </a:solidFill>
              </a:rPr>
              <a:t>Main </a:t>
            </a:r>
            <a:r>
              <a:rPr lang="ko-KR" altLang="en-US" sz="1800" dirty="0" smtClean="0">
                <a:solidFill>
                  <a:srgbClr val="002060"/>
                </a:solidFill>
              </a:rPr>
              <a:t>클래스에서 계좌 생성</a:t>
            </a:r>
            <a:r>
              <a:rPr lang="en-US" altLang="ko-KR" sz="1800" dirty="0" smtClean="0">
                <a:solidFill>
                  <a:srgbClr val="002060"/>
                </a:solidFill>
              </a:rPr>
              <a:t>, </a:t>
            </a:r>
            <a:r>
              <a:rPr lang="ko-KR" altLang="en-US" sz="1800" dirty="0" smtClean="0">
                <a:solidFill>
                  <a:srgbClr val="002060"/>
                </a:solidFill>
              </a:rPr>
              <a:t>계좌 목록</a:t>
            </a:r>
            <a:r>
              <a:rPr lang="en-US" altLang="ko-KR" sz="1800" dirty="0" smtClean="0">
                <a:solidFill>
                  <a:srgbClr val="002060"/>
                </a:solidFill>
              </a:rPr>
              <a:t>, </a:t>
            </a:r>
            <a:r>
              <a:rPr lang="ko-KR" altLang="en-US" sz="1800" dirty="0" smtClean="0">
                <a:solidFill>
                  <a:srgbClr val="002060"/>
                </a:solidFill>
              </a:rPr>
              <a:t>입금</a:t>
            </a:r>
            <a:r>
              <a:rPr lang="en-US" altLang="ko-KR" sz="1800" dirty="0" smtClean="0">
                <a:solidFill>
                  <a:srgbClr val="002060"/>
                </a:solidFill>
              </a:rPr>
              <a:t>, </a:t>
            </a:r>
            <a:r>
              <a:rPr lang="ko-KR" altLang="en-US" sz="1800" dirty="0" smtClean="0">
                <a:solidFill>
                  <a:srgbClr val="002060"/>
                </a:solidFill>
              </a:rPr>
              <a:t>출금</a:t>
            </a:r>
            <a:r>
              <a:rPr lang="en-US" altLang="ko-KR" sz="1800" dirty="0" smtClean="0">
                <a:solidFill>
                  <a:srgbClr val="002060"/>
                </a:solidFill>
              </a:rPr>
              <a:t>, </a:t>
            </a:r>
            <a:r>
              <a:rPr lang="ko-KR" altLang="en-US" sz="1800" dirty="0" smtClean="0">
                <a:solidFill>
                  <a:srgbClr val="002060"/>
                </a:solidFill>
              </a:rPr>
              <a:t>종료 등의 메뉴가 있다</a:t>
            </a:r>
            <a:r>
              <a:rPr lang="en-US" altLang="ko-KR" sz="1800" dirty="0" smtClean="0">
                <a:solidFill>
                  <a:srgbClr val="002060"/>
                </a:solidFill>
              </a:rPr>
              <a:t>.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715674"/>
              </p:ext>
            </p:extLst>
          </p:nvPr>
        </p:nvGraphicFramePr>
        <p:xfrm>
          <a:off x="1424608" y="3149481"/>
          <a:ext cx="6264697" cy="2367750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35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계좌</a:t>
                      </a:r>
                      <a:r>
                        <a:rPr lang="ko-KR" altLang="en-US" baseline="0" dirty="0" smtClean="0"/>
                        <a:t> 번호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 smtClean="0"/>
                        <a:t>계좌주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금액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1111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홍길동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 smtClean="0"/>
                        <a:t> 1000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2222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 smtClean="0"/>
                        <a:t>성춘향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 smtClean="0"/>
                        <a:t> 2000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3333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이몽룡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 smtClean="0"/>
                        <a:t> 3000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5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4444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황진이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 smtClean="0"/>
                        <a:t> 4000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3507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34260" y="1116229"/>
            <a:ext cx="2982635" cy="5845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b="1" dirty="0" err="1" smtClean="0">
                <a:solidFill>
                  <a:srgbClr val="C00000"/>
                </a:solidFill>
              </a:rPr>
              <a:t>메뉴별</a:t>
            </a:r>
            <a:r>
              <a:rPr lang="ko-KR" altLang="en-US" sz="2000" b="1" dirty="0" smtClean="0">
                <a:solidFill>
                  <a:srgbClr val="C00000"/>
                </a:solidFill>
              </a:rPr>
              <a:t> 결과 리포트</a:t>
            </a:r>
            <a:endParaRPr lang="en-US" altLang="ko-KR" sz="1600" b="1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 smtClean="0">
              <a:solidFill>
                <a:srgbClr val="002060"/>
              </a:solidFill>
            </a:endParaRPr>
          </a:p>
        </p:txBody>
      </p:sp>
      <p:sp>
        <p:nvSpPr>
          <p:cNvPr id="20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</p:spPr>
        <p:txBody>
          <a:bodyPr/>
          <a:lstStyle/>
          <a:p>
            <a:r>
              <a:rPr lang="en-US" altLang="ko-KR" dirty="0" smtClean="0"/>
              <a:t> step1. </a:t>
            </a:r>
            <a:r>
              <a:rPr lang="ko-KR" altLang="en-US" dirty="0" smtClean="0"/>
              <a:t>문제 정의하기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210" y="1772816"/>
            <a:ext cx="3548401" cy="20053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015" y="1772816"/>
            <a:ext cx="3423126" cy="153691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719" y="4005064"/>
            <a:ext cx="3516892" cy="18722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016" y="4005064"/>
            <a:ext cx="3456384" cy="18158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71300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step2. </a:t>
            </a:r>
            <a:r>
              <a:rPr lang="ko-KR" altLang="en-US" dirty="0" smtClean="0"/>
              <a:t>클래스 다이어그</a:t>
            </a:r>
            <a:r>
              <a:rPr lang="ko-KR" altLang="en-US" dirty="0"/>
              <a:t>램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632520" y="1124744"/>
            <a:ext cx="3853036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200" b="1" dirty="0" smtClean="0">
                <a:solidFill>
                  <a:srgbClr val="C00000"/>
                </a:solidFill>
              </a:rPr>
              <a:t>   </a:t>
            </a:r>
            <a:r>
              <a:rPr lang="ko-KR" altLang="en-US" sz="2000" b="1" dirty="0" smtClean="0">
                <a:solidFill>
                  <a:srgbClr val="C00000"/>
                </a:solidFill>
              </a:rPr>
              <a:t>클래스 관계도 그리기</a:t>
            </a:r>
            <a:endParaRPr lang="en-US" altLang="ko-KR" sz="2000" b="1" dirty="0" smtClean="0">
              <a:solidFill>
                <a:srgbClr val="C0000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339142" y="4005064"/>
            <a:ext cx="2818438" cy="360040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 </a:t>
            </a:r>
          </a:p>
          <a:p>
            <a:pPr algn="ctr"/>
            <a:r>
              <a:rPr lang="en-US" altLang="ko-KR" dirty="0" err="1" smtClean="0">
                <a:latin typeface="+mn-ea"/>
              </a:rPr>
              <a:t>BankAccount</a:t>
            </a:r>
            <a:endParaRPr lang="en-US" altLang="ko-KR" dirty="0" smtClean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339142" y="4361581"/>
            <a:ext cx="2818438" cy="1371674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  </a:t>
            </a:r>
          </a:p>
          <a:p>
            <a:pPr algn="ctr"/>
            <a:r>
              <a:rPr lang="en-US" altLang="ko-KR" dirty="0" err="1" smtClean="0">
                <a:latin typeface="+mn-ea"/>
              </a:rPr>
              <a:t>ano</a:t>
            </a:r>
            <a:r>
              <a:rPr lang="en-US" altLang="ko-KR" dirty="0" smtClean="0">
                <a:latin typeface="+mn-ea"/>
              </a:rPr>
              <a:t> : String</a:t>
            </a:r>
          </a:p>
          <a:p>
            <a:pPr algn="ctr"/>
            <a:r>
              <a:rPr lang="en-US" altLang="ko-KR" dirty="0" smtClean="0">
                <a:latin typeface="+mn-ea"/>
              </a:rPr>
              <a:t>owner </a:t>
            </a:r>
            <a:r>
              <a:rPr lang="en-US" altLang="ko-KR" dirty="0">
                <a:latin typeface="+mn-ea"/>
              </a:rPr>
              <a:t>: </a:t>
            </a:r>
            <a:r>
              <a:rPr lang="en-US" altLang="ko-KR" dirty="0" smtClean="0">
                <a:latin typeface="+mn-ea"/>
              </a:rPr>
              <a:t>String</a:t>
            </a:r>
            <a:endParaRPr lang="en-US" altLang="ko-KR" dirty="0">
              <a:latin typeface="+mn-ea"/>
            </a:endParaRPr>
          </a:p>
          <a:p>
            <a:pPr algn="ctr"/>
            <a:r>
              <a:rPr lang="en-US" altLang="ko-KR" dirty="0" smtClean="0">
                <a:latin typeface="+mn-ea"/>
              </a:rPr>
              <a:t>balance </a:t>
            </a:r>
            <a:r>
              <a:rPr lang="en-US" altLang="ko-KR" dirty="0">
                <a:latin typeface="+mn-ea"/>
              </a:rPr>
              <a:t>: </a:t>
            </a:r>
            <a:r>
              <a:rPr lang="en-US" altLang="ko-KR" dirty="0" err="1" smtClean="0">
                <a:latin typeface="+mn-ea"/>
              </a:rPr>
              <a:t>int</a:t>
            </a:r>
            <a:endParaRPr lang="en-US" altLang="ko-KR" dirty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443598" y="4005064"/>
            <a:ext cx="2650838" cy="360040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 </a:t>
            </a:r>
          </a:p>
          <a:p>
            <a:pPr algn="ctr"/>
            <a:r>
              <a:rPr lang="en-US" altLang="ko-KR" dirty="0" smtClean="0">
                <a:latin typeface="+mn-ea"/>
              </a:rPr>
              <a:t>Main</a:t>
            </a: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443598" y="4361581"/>
            <a:ext cx="2650838" cy="1515691"/>
          </a:xfrm>
          <a:prstGeom prst="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smtClean="0">
                <a:latin typeface="+mn-ea"/>
              </a:rPr>
              <a:t>  </a:t>
            </a:r>
            <a:r>
              <a:rPr lang="en-US" altLang="ko-KR" dirty="0" err="1" smtClean="0">
                <a:latin typeface="+mn-ea"/>
              </a:rPr>
              <a:t>createAccount</a:t>
            </a:r>
            <a:r>
              <a:rPr lang="en-US" altLang="ko-KR" dirty="0" smtClean="0">
                <a:latin typeface="+mn-ea"/>
              </a:rPr>
              <a:t>()</a:t>
            </a:r>
            <a:endParaRPr lang="en-US" altLang="ko-KR" dirty="0">
              <a:latin typeface="+mn-ea"/>
            </a:endParaRPr>
          </a:p>
          <a:p>
            <a:r>
              <a:rPr lang="en-US" altLang="ko-KR" dirty="0" smtClean="0">
                <a:latin typeface="+mn-ea"/>
              </a:rPr>
              <a:t>  </a:t>
            </a:r>
            <a:r>
              <a:rPr lang="en-US" altLang="ko-KR" dirty="0" err="1" smtClean="0">
                <a:latin typeface="+mn-ea"/>
              </a:rPr>
              <a:t>accountList</a:t>
            </a:r>
            <a:r>
              <a:rPr lang="en-US" altLang="ko-KR" dirty="0" smtClean="0">
                <a:latin typeface="+mn-ea"/>
              </a:rPr>
              <a:t>()</a:t>
            </a:r>
          </a:p>
          <a:p>
            <a:r>
              <a:rPr lang="en-US" altLang="ko-KR" dirty="0" smtClean="0">
                <a:latin typeface="+mn-ea"/>
              </a:rPr>
              <a:t>  deposit()</a:t>
            </a:r>
          </a:p>
          <a:p>
            <a:r>
              <a:rPr lang="en-US" altLang="ko-KR" dirty="0" smtClean="0">
                <a:latin typeface="+mn-ea"/>
              </a:rPr>
              <a:t>  withdraw()</a:t>
            </a:r>
          </a:p>
          <a:p>
            <a:r>
              <a:rPr lang="en-US" altLang="ko-KR" dirty="0" smtClean="0">
                <a:latin typeface="+mn-ea"/>
              </a:rPr>
              <a:t>  </a:t>
            </a:r>
            <a:r>
              <a:rPr lang="en-US" altLang="ko-KR" dirty="0" err="1" smtClean="0">
                <a:latin typeface="+mn-ea"/>
              </a:rPr>
              <a:t>findAccount</a:t>
            </a:r>
            <a:r>
              <a:rPr lang="en-US" altLang="ko-KR" dirty="0" smtClean="0">
                <a:latin typeface="+mn-ea"/>
              </a:rPr>
              <a:t>()</a:t>
            </a:r>
            <a:endParaRPr lang="en-US" altLang="ko-KR" dirty="0">
              <a:latin typeface="+mn-ea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4157580" y="4797152"/>
            <a:ext cx="128601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1318458" y="2211094"/>
            <a:ext cx="2571208" cy="1443222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 smtClean="0">
                <a:latin typeface="+mn-ea"/>
              </a:rPr>
              <a:t> 계좌 번호</a:t>
            </a:r>
            <a:endParaRPr lang="en-US" altLang="ko-KR" dirty="0" smtClean="0">
              <a:latin typeface="+mn-ea"/>
            </a:endParaRPr>
          </a:p>
          <a:p>
            <a:r>
              <a:rPr lang="ko-KR" altLang="en-US" dirty="0" smtClean="0">
                <a:latin typeface="+mn-ea"/>
              </a:rPr>
              <a:t> </a:t>
            </a:r>
            <a:r>
              <a:rPr lang="ko-KR" altLang="en-US" dirty="0" err="1" smtClean="0">
                <a:latin typeface="+mn-ea"/>
              </a:rPr>
              <a:t>계좌</a:t>
            </a:r>
            <a:r>
              <a:rPr lang="ko-KR" altLang="en-US" dirty="0" err="1">
                <a:latin typeface="+mn-ea"/>
              </a:rPr>
              <a:t>주</a:t>
            </a:r>
            <a:endParaRPr lang="en-US" altLang="ko-KR" dirty="0" smtClean="0">
              <a:latin typeface="+mn-ea"/>
            </a:endParaRPr>
          </a:p>
          <a:p>
            <a:r>
              <a:rPr lang="ko-KR" altLang="en-US" dirty="0" smtClean="0">
                <a:latin typeface="+mn-ea"/>
              </a:rPr>
              <a:t> 잔액</a:t>
            </a:r>
            <a:endParaRPr lang="en-US" altLang="ko-KR" dirty="0" smtClean="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10696" y="1772816"/>
            <a:ext cx="2448272" cy="369332"/>
          </a:xfrm>
          <a:prstGeom prst="rect">
            <a:avLst/>
          </a:prstGeom>
          <a:noFill/>
          <a:ln w="19050">
            <a:noFill/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BankAccount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</a:t>
            </a:r>
            <a:endParaRPr lang="en-US" altLang="ko-KR" dirty="0" smtClean="0"/>
          </a:p>
        </p:txBody>
      </p:sp>
      <p:sp>
        <p:nvSpPr>
          <p:cNvPr id="15" name="직사각형 14"/>
          <p:cNvSpPr/>
          <p:nvPr/>
        </p:nvSpPr>
        <p:spPr>
          <a:xfrm>
            <a:off x="5443555" y="2211094"/>
            <a:ext cx="2808312" cy="1443222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dirty="0" smtClean="0">
                <a:latin typeface="+mn-ea"/>
              </a:rPr>
              <a:t> </a:t>
            </a:r>
            <a:endParaRPr lang="en-US" altLang="ko-KR" dirty="0" smtClean="0">
              <a:latin typeface="+mn-ea"/>
            </a:endParaRPr>
          </a:p>
          <a:p>
            <a:r>
              <a:rPr lang="en-US" altLang="ko-KR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계좌 생성</a:t>
            </a:r>
            <a:endParaRPr lang="en-US" altLang="ko-KR" dirty="0" smtClean="0">
              <a:latin typeface="+mn-ea"/>
            </a:endParaRPr>
          </a:p>
          <a:p>
            <a:r>
              <a:rPr lang="ko-KR" altLang="en-US" dirty="0" smtClean="0">
                <a:latin typeface="+mn-ea"/>
              </a:rPr>
              <a:t> 계좌 목록</a:t>
            </a:r>
            <a:endParaRPr lang="en-US" altLang="ko-KR" dirty="0" smtClean="0">
              <a:latin typeface="+mn-ea"/>
            </a:endParaRPr>
          </a:p>
          <a:p>
            <a:r>
              <a:rPr lang="ko-KR" altLang="en-US" dirty="0" smtClean="0">
                <a:latin typeface="+mn-ea"/>
              </a:rPr>
              <a:t> 입</a:t>
            </a:r>
            <a:r>
              <a:rPr lang="ko-KR" altLang="en-US" dirty="0">
                <a:latin typeface="+mn-ea"/>
              </a:rPr>
              <a:t>금</a:t>
            </a:r>
            <a:endParaRPr lang="en-US" altLang="ko-KR" dirty="0" smtClean="0">
              <a:latin typeface="+mn-ea"/>
            </a:endParaRPr>
          </a:p>
          <a:p>
            <a:r>
              <a:rPr lang="ko-KR" altLang="en-US" dirty="0" smtClean="0">
                <a:latin typeface="+mn-ea"/>
              </a:rPr>
              <a:t> 출</a:t>
            </a:r>
            <a:r>
              <a:rPr lang="ko-KR" altLang="en-US" dirty="0">
                <a:latin typeface="+mn-ea"/>
              </a:rPr>
              <a:t>금</a:t>
            </a:r>
            <a:endParaRPr lang="en-US" altLang="ko-KR" dirty="0" smtClean="0">
              <a:latin typeface="+mn-ea"/>
            </a:endParaRPr>
          </a:p>
          <a:p>
            <a:endParaRPr lang="en-US" altLang="ko-KR" dirty="0" smtClean="0"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55484" y="1782108"/>
            <a:ext cx="1892370" cy="369332"/>
          </a:xfrm>
          <a:prstGeom prst="rect">
            <a:avLst/>
          </a:prstGeom>
          <a:noFill/>
          <a:ln w="19050">
            <a:noFill/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Main </a:t>
            </a:r>
            <a:r>
              <a:rPr lang="ko-KR" altLang="en-US" dirty="0" smtClean="0"/>
              <a:t>클래스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744881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step2. </a:t>
            </a:r>
            <a:r>
              <a:rPr lang="ko-KR" altLang="en-US" dirty="0" smtClean="0"/>
              <a:t>클래스 정의하기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83939" y="1052737"/>
            <a:ext cx="2700909" cy="5040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000" b="1" dirty="0" smtClean="0">
                <a:solidFill>
                  <a:srgbClr val="C00000"/>
                </a:solidFill>
              </a:rPr>
              <a:t>Account </a:t>
            </a:r>
            <a:r>
              <a:rPr lang="ko-KR" altLang="en-US" sz="2000" b="1" dirty="0" smtClean="0">
                <a:solidFill>
                  <a:srgbClr val="C00000"/>
                </a:solidFill>
              </a:rPr>
              <a:t>클래스</a:t>
            </a:r>
            <a:endParaRPr lang="en-US" altLang="ko-KR" sz="2000" b="1" dirty="0" smtClean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b="37469"/>
          <a:stretch/>
        </p:blipFill>
        <p:spPr>
          <a:xfrm>
            <a:off x="1222341" y="1755819"/>
            <a:ext cx="7616299" cy="308851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62922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step2. </a:t>
            </a:r>
            <a:r>
              <a:rPr lang="ko-KR" altLang="en-US" dirty="0" smtClean="0"/>
              <a:t>클래스 정의하기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680" y="1124743"/>
            <a:ext cx="4392488" cy="514675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0283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step3. </a:t>
            </a:r>
            <a:r>
              <a:rPr lang="ko-KR" altLang="en-US" dirty="0" smtClean="0"/>
              <a:t>은행 업무 기능 설계</a:t>
            </a:r>
            <a:r>
              <a:rPr lang="en-US" altLang="ko-KR" dirty="0" smtClean="0"/>
              <a:t>, </a:t>
            </a:r>
            <a:r>
              <a:rPr lang="ko-KR" altLang="en-US" dirty="0" smtClean="0"/>
              <a:t>구현</a:t>
            </a:r>
            <a:r>
              <a:rPr lang="en-US" altLang="ko-KR" dirty="0" smtClean="0"/>
              <a:t>  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60071" y="1124745"/>
            <a:ext cx="2220721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dirty="0" smtClean="0">
                <a:solidFill>
                  <a:srgbClr val="C00000"/>
                </a:solidFill>
              </a:rPr>
              <a:t>Main</a:t>
            </a:r>
            <a:r>
              <a:rPr lang="ko-KR" altLang="en-US" sz="2000" b="1" dirty="0" smtClean="0">
                <a:solidFill>
                  <a:srgbClr val="C00000"/>
                </a:solidFill>
              </a:rPr>
              <a:t> 클래스</a:t>
            </a:r>
            <a:endParaRPr lang="en-US" altLang="ko-KR" sz="2000" b="1" dirty="0" smtClean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28" y="1700808"/>
            <a:ext cx="8823394" cy="32871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7395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step3. </a:t>
            </a:r>
            <a:r>
              <a:rPr lang="ko-KR" altLang="en-US" dirty="0" smtClean="0"/>
              <a:t>은행 업무 기능 설계</a:t>
            </a:r>
            <a:r>
              <a:rPr lang="en-US" altLang="ko-KR" dirty="0" smtClean="0"/>
              <a:t>, </a:t>
            </a:r>
            <a:r>
              <a:rPr lang="ko-KR" altLang="en-US" dirty="0" smtClean="0"/>
              <a:t>구현</a:t>
            </a:r>
            <a:r>
              <a:rPr lang="en-US" altLang="ko-KR" dirty="0" smtClean="0"/>
              <a:t>  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60071" y="1124745"/>
            <a:ext cx="2220721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dirty="0" smtClean="0">
                <a:solidFill>
                  <a:srgbClr val="C00000"/>
                </a:solidFill>
              </a:rPr>
              <a:t>Main</a:t>
            </a:r>
            <a:r>
              <a:rPr lang="ko-KR" altLang="en-US" sz="2000" b="1" dirty="0" smtClean="0">
                <a:solidFill>
                  <a:srgbClr val="C00000"/>
                </a:solidFill>
              </a:rPr>
              <a:t> 클래스</a:t>
            </a:r>
            <a:endParaRPr lang="en-US" altLang="ko-KR" sz="2000" b="1" dirty="0" smtClean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3" y="1700808"/>
            <a:ext cx="7848443" cy="40324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00705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</a:t>
            </a:r>
            <a:r>
              <a:rPr lang="en-US" altLang="ko-KR" dirty="0"/>
              <a:t>step3. </a:t>
            </a:r>
            <a:r>
              <a:rPr lang="ko-KR" altLang="en-US" dirty="0"/>
              <a:t>은행 업무 기능 </a:t>
            </a:r>
            <a:r>
              <a:rPr lang="ko-KR" altLang="en-US" dirty="0" smtClean="0"/>
              <a:t>설계</a:t>
            </a:r>
            <a:r>
              <a:rPr lang="en-US" altLang="ko-KR" dirty="0"/>
              <a:t> , </a:t>
            </a:r>
            <a:r>
              <a:rPr lang="ko-KR" altLang="en-US" dirty="0"/>
              <a:t>구현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379883" y="1052736"/>
            <a:ext cx="2628901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ko-KR" altLang="en-US" sz="1800" b="1" dirty="0" smtClean="0">
                <a:solidFill>
                  <a:srgbClr val="002060"/>
                </a:solidFill>
              </a:rPr>
              <a:t>계좌 생성</a:t>
            </a:r>
            <a:endParaRPr lang="en-US" altLang="ko-KR" sz="1800" b="1" dirty="0" smtClean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484783"/>
            <a:ext cx="7089743" cy="48636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18851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</a:t>
            </a:r>
            <a:r>
              <a:rPr lang="en-US" altLang="ko-KR" dirty="0"/>
              <a:t>step3. </a:t>
            </a:r>
            <a:r>
              <a:rPr lang="ko-KR" altLang="en-US" dirty="0"/>
              <a:t>은행 업무 기능 설계</a:t>
            </a:r>
            <a:r>
              <a:rPr lang="en-US" altLang="ko-KR" dirty="0"/>
              <a:t> , </a:t>
            </a:r>
            <a:r>
              <a:rPr lang="ko-KR" altLang="en-US" dirty="0"/>
              <a:t>구현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416496" y="1124745"/>
            <a:ext cx="4645125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ko-KR" altLang="en-US" sz="1800" b="1" dirty="0" smtClean="0">
                <a:solidFill>
                  <a:srgbClr val="002060"/>
                </a:solidFill>
              </a:rPr>
              <a:t>계좌 목록</a:t>
            </a:r>
            <a:endParaRPr lang="en-US" altLang="ko-KR" sz="1800" b="1" dirty="0" smtClean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43" y="1700808"/>
            <a:ext cx="8592757" cy="21877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5985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</a:t>
            </a:r>
            <a:r>
              <a:rPr lang="en-US" altLang="ko-KR" dirty="0"/>
              <a:t>step3. </a:t>
            </a:r>
            <a:r>
              <a:rPr lang="ko-KR" altLang="en-US" dirty="0"/>
              <a:t>은행 업무 기능 </a:t>
            </a:r>
            <a:r>
              <a:rPr lang="ko-KR" altLang="en-US" dirty="0" smtClean="0"/>
              <a:t>설계</a:t>
            </a:r>
            <a:r>
              <a:rPr lang="en-US" altLang="ko-KR" dirty="0" smtClean="0"/>
              <a:t>, </a:t>
            </a:r>
            <a:r>
              <a:rPr lang="ko-KR" altLang="en-US" dirty="0" smtClean="0"/>
              <a:t>구현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416496" y="980728"/>
            <a:ext cx="1836813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ko-KR" altLang="en-US" sz="1800" b="1" dirty="0" smtClean="0">
                <a:solidFill>
                  <a:srgbClr val="002060"/>
                </a:solidFill>
              </a:rPr>
              <a:t>예금 </a:t>
            </a:r>
            <a:endParaRPr lang="en-US" altLang="ko-KR" sz="1800" b="1" dirty="0" smtClean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0" y="1413844"/>
            <a:ext cx="8937685" cy="435580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11683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</a:t>
            </a:r>
            <a:r>
              <a:rPr lang="en-US" altLang="ko-KR" dirty="0"/>
              <a:t>step3. </a:t>
            </a:r>
            <a:r>
              <a:rPr lang="ko-KR" altLang="en-US" dirty="0"/>
              <a:t>은행 업무 기능 </a:t>
            </a:r>
            <a:r>
              <a:rPr lang="ko-KR" altLang="en-US" dirty="0" smtClean="0"/>
              <a:t>설계</a:t>
            </a:r>
            <a:r>
              <a:rPr lang="en-US" altLang="ko-KR" dirty="0" smtClean="0"/>
              <a:t>, </a:t>
            </a:r>
            <a:r>
              <a:rPr lang="ko-KR" altLang="en-US" dirty="0" smtClean="0"/>
              <a:t>구현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416496" y="980728"/>
            <a:ext cx="1476773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ko-KR" altLang="en-US" sz="1800" b="1" dirty="0" smtClean="0">
                <a:solidFill>
                  <a:srgbClr val="002060"/>
                </a:solidFill>
              </a:rPr>
              <a:t>출금</a:t>
            </a:r>
            <a:endParaRPr lang="en-US" altLang="ko-KR" sz="1800" b="1" dirty="0" smtClean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807" y="1421254"/>
            <a:ext cx="9120190" cy="445601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30735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</a:t>
            </a:r>
            <a:r>
              <a:rPr lang="en-US" altLang="ko-KR" dirty="0"/>
              <a:t>step3. </a:t>
            </a:r>
            <a:r>
              <a:rPr lang="ko-KR" altLang="en-US" dirty="0"/>
              <a:t>은행 업무 기능 </a:t>
            </a:r>
            <a:r>
              <a:rPr lang="ko-KR" altLang="en-US" dirty="0" smtClean="0"/>
              <a:t>설계</a:t>
            </a:r>
            <a:r>
              <a:rPr lang="en-US" altLang="ko-KR" dirty="0" smtClean="0"/>
              <a:t>, </a:t>
            </a:r>
            <a:r>
              <a:rPr lang="ko-KR" altLang="en-US" dirty="0" smtClean="0"/>
              <a:t>구현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416496" y="1052737"/>
            <a:ext cx="2329443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ko-KR" altLang="en-US" sz="1800" b="1" dirty="0" smtClean="0">
                <a:solidFill>
                  <a:srgbClr val="002060"/>
                </a:solidFill>
              </a:rPr>
              <a:t>계좌 검색 </a:t>
            </a:r>
            <a:endParaRPr lang="en-US" altLang="ko-KR" sz="1800" b="1" dirty="0" smtClean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60" y="1556792"/>
            <a:ext cx="7988395" cy="35737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6388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step4. </a:t>
            </a:r>
            <a:r>
              <a:rPr lang="ko-KR" altLang="en-US" dirty="0" smtClean="0"/>
              <a:t>프로그램 테스트 하기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48544" y="1124744"/>
            <a:ext cx="232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altLang="ko-KR" b="1" dirty="0">
                <a:solidFill>
                  <a:srgbClr val="C00000"/>
                </a:solidFill>
              </a:rPr>
              <a:t>1</a:t>
            </a:r>
            <a:r>
              <a:rPr lang="en-US" altLang="ko-KR" b="1" dirty="0" smtClean="0">
                <a:solidFill>
                  <a:srgbClr val="C00000"/>
                </a:solidFill>
              </a:rPr>
              <a:t>. </a:t>
            </a:r>
            <a:r>
              <a:rPr lang="ko-KR" altLang="en-US" b="1" dirty="0" err="1" smtClean="0">
                <a:solidFill>
                  <a:srgbClr val="C00000"/>
                </a:solidFill>
              </a:rPr>
              <a:t>출금시</a:t>
            </a:r>
            <a:r>
              <a:rPr lang="ko-KR" altLang="en-US" b="1" dirty="0" smtClean="0">
                <a:solidFill>
                  <a:srgbClr val="C00000"/>
                </a:solidFill>
              </a:rPr>
              <a:t> 잔액 부족 </a:t>
            </a:r>
            <a:endParaRPr lang="en-US" altLang="ko-KR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6" y="1628800"/>
            <a:ext cx="9261337" cy="37444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77989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step4. </a:t>
            </a:r>
            <a:r>
              <a:rPr lang="ko-KR" altLang="en-US" dirty="0" smtClean="0"/>
              <a:t>프로그램 테스트 하기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48544" y="1124744"/>
            <a:ext cx="50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ko-KR" b="1" dirty="0">
                <a:solidFill>
                  <a:srgbClr val="C00000"/>
                </a:solidFill>
              </a:rPr>
              <a:t>2</a:t>
            </a:r>
            <a:r>
              <a:rPr lang="en-US" altLang="ko-KR" b="1" dirty="0" smtClean="0">
                <a:solidFill>
                  <a:srgbClr val="C00000"/>
                </a:solidFill>
              </a:rPr>
              <a:t>. </a:t>
            </a:r>
            <a:r>
              <a:rPr lang="ko-KR" altLang="en-US" b="1" dirty="0" smtClean="0">
                <a:solidFill>
                  <a:srgbClr val="C00000"/>
                </a:solidFill>
              </a:rPr>
              <a:t>메뉴 </a:t>
            </a:r>
            <a:r>
              <a:rPr lang="ko-KR" altLang="en-US" b="1" dirty="0" err="1" smtClean="0">
                <a:solidFill>
                  <a:srgbClr val="C00000"/>
                </a:solidFill>
              </a:rPr>
              <a:t>선택시</a:t>
            </a:r>
            <a:r>
              <a:rPr lang="ko-KR" altLang="en-US" b="1" dirty="0" smtClean="0">
                <a:solidFill>
                  <a:srgbClr val="C00000"/>
                </a:solidFill>
              </a:rPr>
              <a:t> 문자 입력 예외 처리 </a:t>
            </a:r>
            <a:endParaRPr lang="en-US" altLang="ko-KR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628800"/>
            <a:ext cx="7735934" cy="45365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10352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step4. </a:t>
            </a:r>
            <a:r>
              <a:rPr lang="ko-KR" altLang="en-US" dirty="0" smtClean="0"/>
              <a:t>프로그램 테스트 하기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48544" y="1124744"/>
            <a:ext cx="50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ko-KR" b="1" dirty="0">
                <a:solidFill>
                  <a:srgbClr val="C00000"/>
                </a:solidFill>
              </a:rPr>
              <a:t>2</a:t>
            </a:r>
            <a:r>
              <a:rPr lang="en-US" altLang="ko-KR" b="1" dirty="0" smtClean="0">
                <a:solidFill>
                  <a:srgbClr val="C00000"/>
                </a:solidFill>
              </a:rPr>
              <a:t>. </a:t>
            </a:r>
            <a:r>
              <a:rPr lang="ko-KR" altLang="en-US" b="1" dirty="0" smtClean="0">
                <a:solidFill>
                  <a:srgbClr val="C00000"/>
                </a:solidFill>
              </a:rPr>
              <a:t>메뉴 </a:t>
            </a:r>
            <a:r>
              <a:rPr lang="ko-KR" altLang="en-US" b="1" dirty="0" err="1" smtClean="0">
                <a:solidFill>
                  <a:srgbClr val="C00000"/>
                </a:solidFill>
              </a:rPr>
              <a:t>선택시</a:t>
            </a:r>
            <a:r>
              <a:rPr lang="ko-KR" altLang="en-US" b="1" dirty="0" smtClean="0">
                <a:solidFill>
                  <a:srgbClr val="C00000"/>
                </a:solidFill>
              </a:rPr>
              <a:t> 문자 입력 예외 처리 </a:t>
            </a:r>
            <a:endParaRPr lang="en-US" altLang="ko-KR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408" y="1628800"/>
            <a:ext cx="7550025" cy="44644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02124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ver2. </a:t>
            </a:r>
            <a:r>
              <a:rPr lang="en-US" altLang="ko-KR" dirty="0" err="1" smtClean="0"/>
              <a:t>ArrayList</a:t>
            </a:r>
            <a:r>
              <a:rPr lang="ko-KR" altLang="en-US" dirty="0" smtClean="0"/>
              <a:t>로 구현하기</a:t>
            </a:r>
            <a:r>
              <a:rPr lang="en-US" altLang="ko-KR" dirty="0" smtClean="0"/>
              <a:t>  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416496" y="1052737"/>
            <a:ext cx="2329443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ko-KR" altLang="en-US" sz="1800" b="1" dirty="0" smtClean="0">
                <a:solidFill>
                  <a:srgbClr val="002060"/>
                </a:solidFill>
              </a:rPr>
              <a:t>메인 화면 </a:t>
            </a:r>
            <a:endParaRPr lang="en-US" altLang="ko-KR" sz="1800" b="1" dirty="0" smtClean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29" y="1503270"/>
            <a:ext cx="9127280" cy="38164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21976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ver2. </a:t>
            </a:r>
            <a:r>
              <a:rPr lang="en-US" altLang="ko-KR" dirty="0" err="1" smtClean="0"/>
              <a:t>ArrayList</a:t>
            </a:r>
            <a:r>
              <a:rPr lang="ko-KR" altLang="en-US" dirty="0" smtClean="0"/>
              <a:t>로 구현하기</a:t>
            </a:r>
            <a:r>
              <a:rPr lang="en-US" altLang="ko-KR" dirty="0" smtClean="0"/>
              <a:t>  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40" y="1052736"/>
            <a:ext cx="6624736" cy="53335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259886" y="1772816"/>
            <a:ext cx="2329443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ko-KR" altLang="en-US" sz="1800" b="1" dirty="0" smtClean="0">
                <a:solidFill>
                  <a:srgbClr val="002060"/>
                </a:solidFill>
              </a:rPr>
              <a:t>메인 화면 </a:t>
            </a:r>
            <a:endParaRPr lang="en-US" altLang="ko-KR" sz="1800" b="1" dirty="0" smtClean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067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ver2. </a:t>
            </a:r>
            <a:r>
              <a:rPr lang="en-US" altLang="ko-KR" dirty="0" err="1" smtClean="0"/>
              <a:t>ArrayList</a:t>
            </a:r>
            <a:r>
              <a:rPr lang="ko-KR" altLang="en-US" dirty="0" smtClean="0"/>
              <a:t>로 구현하기</a:t>
            </a:r>
            <a:r>
              <a:rPr lang="en-US" altLang="ko-KR" dirty="0" smtClean="0"/>
              <a:t>  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221" y="980728"/>
            <a:ext cx="7466479" cy="53171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344488" y="1484784"/>
            <a:ext cx="2329443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ko-KR" altLang="en-US" sz="1800" b="1" dirty="0" smtClean="0">
                <a:solidFill>
                  <a:srgbClr val="002060"/>
                </a:solidFill>
              </a:rPr>
              <a:t>계좌 생성 </a:t>
            </a:r>
            <a:endParaRPr lang="en-US" altLang="ko-KR" sz="1800" b="1" dirty="0" smtClean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944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ver2. </a:t>
            </a:r>
            <a:r>
              <a:rPr lang="en-US" altLang="ko-KR" dirty="0" err="1" smtClean="0"/>
              <a:t>ArrayList</a:t>
            </a:r>
            <a:r>
              <a:rPr lang="ko-KR" altLang="en-US" dirty="0" smtClean="0"/>
              <a:t>로 구현하기</a:t>
            </a:r>
            <a:r>
              <a:rPr lang="en-US" altLang="ko-KR" dirty="0" smtClean="0"/>
              <a:t>  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416496" y="1124745"/>
            <a:ext cx="2329443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ko-KR" altLang="en-US" sz="1800" b="1" dirty="0" smtClean="0">
                <a:solidFill>
                  <a:srgbClr val="002060"/>
                </a:solidFill>
              </a:rPr>
              <a:t>계좌 검색 </a:t>
            </a:r>
            <a:endParaRPr lang="en-US" altLang="ko-KR" sz="1800" b="1" dirty="0" smtClean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407" y="1663405"/>
            <a:ext cx="8100762" cy="289585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90395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ver2. </a:t>
            </a:r>
            <a:r>
              <a:rPr lang="en-US" altLang="ko-KR" dirty="0" err="1" smtClean="0"/>
              <a:t>ArrayList</a:t>
            </a:r>
            <a:r>
              <a:rPr lang="ko-KR" altLang="en-US" dirty="0" smtClean="0"/>
              <a:t>로 구현하기</a:t>
            </a:r>
            <a:r>
              <a:rPr lang="en-US" altLang="ko-KR" dirty="0" smtClean="0"/>
              <a:t>  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416496" y="1159596"/>
            <a:ext cx="2329443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ko-KR" altLang="en-US" sz="1800" b="1" dirty="0" smtClean="0">
                <a:solidFill>
                  <a:srgbClr val="002060"/>
                </a:solidFill>
              </a:rPr>
              <a:t>계좌 목록 </a:t>
            </a:r>
            <a:endParaRPr lang="en-US" altLang="ko-KR" sz="1800" b="1" dirty="0" smtClean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6" y="1772816"/>
            <a:ext cx="7848872" cy="196979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36111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ver2. </a:t>
            </a:r>
            <a:r>
              <a:rPr lang="en-US" altLang="ko-KR" dirty="0" err="1" smtClean="0"/>
              <a:t>ArrayList</a:t>
            </a:r>
            <a:r>
              <a:rPr lang="ko-KR" altLang="en-US" dirty="0" smtClean="0"/>
              <a:t>로 구현하기</a:t>
            </a:r>
            <a:r>
              <a:rPr lang="en-US" altLang="ko-KR" dirty="0" smtClean="0"/>
              <a:t>  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416496" y="1052736"/>
            <a:ext cx="2329443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ko-KR" altLang="en-US" sz="1800" b="1" dirty="0" smtClean="0">
                <a:solidFill>
                  <a:srgbClr val="002060"/>
                </a:solidFill>
              </a:rPr>
              <a:t>예 금 </a:t>
            </a:r>
            <a:endParaRPr lang="en-US" altLang="ko-KR" sz="1800" b="1" dirty="0" smtClean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12" y="1484783"/>
            <a:ext cx="9289032" cy="43588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39796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ver2. </a:t>
            </a:r>
            <a:r>
              <a:rPr lang="en-US" altLang="ko-KR" dirty="0" err="1" smtClean="0"/>
              <a:t>ArrayList</a:t>
            </a:r>
            <a:r>
              <a:rPr lang="ko-KR" altLang="en-US" dirty="0" smtClean="0"/>
              <a:t>로 구현하기</a:t>
            </a:r>
            <a:r>
              <a:rPr lang="en-US" altLang="ko-KR" dirty="0" smtClean="0"/>
              <a:t>  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416496" y="980729"/>
            <a:ext cx="2329443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ko-KR" altLang="en-US" sz="1800" b="1" dirty="0">
                <a:solidFill>
                  <a:srgbClr val="002060"/>
                </a:solidFill>
              </a:rPr>
              <a:t>출</a:t>
            </a:r>
            <a:r>
              <a:rPr lang="ko-KR" altLang="en-US" sz="1800" b="1" dirty="0" smtClean="0">
                <a:solidFill>
                  <a:srgbClr val="002060"/>
                </a:solidFill>
              </a:rPr>
              <a:t> 금 </a:t>
            </a:r>
            <a:endParaRPr lang="en-US" altLang="ko-KR" sz="1800" b="1" dirty="0" smtClean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44" y="1412776"/>
            <a:ext cx="8869480" cy="49685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58833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Banking ver3. </a:t>
            </a:r>
            <a:r>
              <a:rPr lang="ko-KR" altLang="en-US" dirty="0" err="1" smtClean="0"/>
              <a:t>오라클</a:t>
            </a:r>
            <a:r>
              <a:rPr lang="en-US" altLang="ko-KR" dirty="0" smtClean="0"/>
              <a:t>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1124744"/>
            <a:ext cx="5832648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2000" b="1" dirty="0" smtClean="0">
                <a:solidFill>
                  <a:srgbClr val="002060"/>
                </a:solidFill>
              </a:rPr>
              <a:t>프로젝트 구조  </a:t>
            </a:r>
            <a:endParaRPr lang="en-US" altLang="ko-KR" sz="2000" b="1" dirty="0" smtClean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844823"/>
            <a:ext cx="3181794" cy="321037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4844988" y="1844823"/>
            <a:ext cx="4104456" cy="198515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상위 패키지</a:t>
            </a:r>
            <a:r>
              <a:rPr lang="en-US" altLang="ko-KR" sz="1600" dirty="0" smtClean="0"/>
              <a:t>: </a:t>
            </a:r>
            <a:r>
              <a:rPr lang="en-US" altLang="ko-KR" sz="1600" dirty="0" err="1" smtClean="0"/>
              <a:t>db_banking</a:t>
            </a:r>
            <a:endParaRPr lang="en-US" altLang="ko-KR" sz="16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하위 패키지</a:t>
            </a:r>
            <a:r>
              <a:rPr lang="en-US" altLang="ko-KR" sz="1600" dirty="0" smtClean="0"/>
              <a:t>: account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en-US" altLang="ko-KR" sz="1600" dirty="0"/>
              <a:t>(BankAccount.java, </a:t>
            </a:r>
            <a:r>
              <a:rPr lang="en-US" altLang="ko-KR" sz="1600" dirty="0" err="1"/>
              <a:t>BankAccountDAO</a:t>
            </a:r>
            <a:r>
              <a:rPr lang="en-US" altLang="ko-KR" sz="1600" dirty="0" smtClean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 smtClean="0"/>
              <a:t>메인클래스</a:t>
            </a:r>
            <a:r>
              <a:rPr lang="en-US" altLang="ko-KR" sz="1600" dirty="0" smtClean="0"/>
              <a:t>: BankingMain.java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 smtClean="0"/>
              <a:t>db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연결 테스트</a:t>
            </a:r>
            <a:r>
              <a:rPr lang="en-US" altLang="ko-KR" sz="1600" dirty="0" smtClean="0"/>
              <a:t>: </a:t>
            </a:r>
            <a:r>
              <a:rPr lang="en-US" altLang="ko-KR" sz="1600" dirty="0" err="1" smtClean="0"/>
              <a:t>DBConnectTest</a:t>
            </a:r>
            <a:r>
              <a:rPr lang="en-US" altLang="ko-KR" sz="1600" dirty="0" smtClean="0"/>
              <a:t>..java</a:t>
            </a:r>
          </a:p>
        </p:txBody>
      </p:sp>
    </p:spTree>
    <p:extLst>
      <p:ext uri="{BB962C8B-B14F-4D97-AF65-F5344CB8AC3E}">
        <p14:creationId xmlns:p14="http://schemas.microsoft.com/office/powerpoint/2010/main" val="1592149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Banking ver3. </a:t>
            </a:r>
            <a:r>
              <a:rPr lang="ko-KR" altLang="en-US" dirty="0" err="1" smtClean="0"/>
              <a:t>오라클</a:t>
            </a:r>
            <a:r>
              <a:rPr lang="en-US" altLang="ko-KR" dirty="0" smtClean="0"/>
              <a:t>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1124744"/>
            <a:ext cx="5832648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dirty="0" smtClean="0">
                <a:solidFill>
                  <a:srgbClr val="002060"/>
                </a:solidFill>
              </a:rPr>
              <a:t>SQL developer 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– 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데이터베이스 사용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(system)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 </a:t>
            </a:r>
            <a:endParaRPr lang="en-US" altLang="ko-KR" sz="2000" b="1" dirty="0" smtClean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648" y="2564904"/>
            <a:ext cx="4968552" cy="317420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1675417" y="1556792"/>
            <a:ext cx="4392488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사용자 이름</a:t>
            </a:r>
            <a:r>
              <a:rPr lang="en-US" altLang="ko-KR" dirty="0" smtClean="0"/>
              <a:t>(</a:t>
            </a:r>
            <a:r>
              <a:rPr lang="ko-KR" altLang="en-US" dirty="0" smtClean="0"/>
              <a:t>계정</a:t>
            </a:r>
            <a:r>
              <a:rPr lang="en-US" altLang="ko-KR" dirty="0" smtClean="0"/>
              <a:t>) : </a:t>
            </a:r>
            <a:r>
              <a:rPr lang="en-US" altLang="ko-KR" dirty="0" err="1" smtClean="0"/>
              <a:t>javauser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비밀번호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pwjava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990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Banking ver3. </a:t>
            </a:r>
            <a:r>
              <a:rPr lang="ko-KR" altLang="en-US" dirty="0" err="1" smtClean="0"/>
              <a:t>오라클</a:t>
            </a:r>
            <a:r>
              <a:rPr lang="en-US" altLang="ko-KR" dirty="0" smtClean="0"/>
              <a:t>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1124744"/>
            <a:ext cx="2808312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dirty="0" smtClean="0">
                <a:solidFill>
                  <a:srgbClr val="002060"/>
                </a:solidFill>
              </a:rPr>
              <a:t>DB 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연결 테스트</a:t>
            </a:r>
            <a:endParaRPr lang="en-US" altLang="ko-KR" sz="2000" b="1" dirty="0" smtClean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57602"/>
            <a:ext cx="7737345" cy="47624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92171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Banking ver3. </a:t>
            </a:r>
            <a:r>
              <a:rPr lang="ko-KR" altLang="en-US" dirty="0" err="1" smtClean="0"/>
              <a:t>오라클</a:t>
            </a:r>
            <a:r>
              <a:rPr lang="en-US" altLang="ko-KR" dirty="0" smtClean="0"/>
              <a:t>DB </a:t>
            </a:r>
            <a:r>
              <a:rPr lang="ko-KR" altLang="en-US" dirty="0" smtClean="0"/>
              <a:t>연동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3773" y="1124744"/>
            <a:ext cx="3887219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dirty="0" err="1">
                <a:solidFill>
                  <a:srgbClr val="002060"/>
                </a:solidFill>
              </a:rPr>
              <a:t>b</a:t>
            </a:r>
            <a:r>
              <a:rPr lang="en-US" altLang="ko-KR" sz="2000" b="1" dirty="0" err="1" smtClean="0">
                <a:solidFill>
                  <a:srgbClr val="002060"/>
                </a:solidFill>
              </a:rPr>
              <a:t>ank_a</a:t>
            </a:r>
            <a:r>
              <a:rPr lang="en-US" altLang="ko-KR" sz="2000" b="1" dirty="0" err="1" smtClean="0">
                <a:solidFill>
                  <a:srgbClr val="002060"/>
                </a:solidFill>
              </a:rPr>
              <a:t>ccount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 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테이블 생성  </a:t>
            </a:r>
            <a:endParaRPr lang="en-US" altLang="ko-KR" sz="2000" b="1" dirty="0" smtClean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700808"/>
            <a:ext cx="6120680" cy="29968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0565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-1" y="-18256"/>
            <a:ext cx="8853433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</a:t>
            </a:r>
            <a:r>
              <a:rPr lang="en-US" altLang="ko-KR" dirty="0" err="1" smtClean="0"/>
              <a:t>BankAccountDAO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3773" y="1124744"/>
            <a:ext cx="3887219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dirty="0" err="1" smtClean="0">
                <a:solidFill>
                  <a:srgbClr val="002060"/>
                </a:solidFill>
              </a:rPr>
              <a:t>Bank</a:t>
            </a:r>
            <a:r>
              <a:rPr lang="en-US" altLang="ko-KR" sz="2000" b="1" dirty="0" err="1" smtClean="0">
                <a:solidFill>
                  <a:srgbClr val="002060"/>
                </a:solidFill>
              </a:rPr>
              <a:t>AccountDAO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() 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클래스   </a:t>
            </a:r>
            <a:endParaRPr lang="en-US" altLang="ko-KR" sz="2000" b="1" dirty="0" smtClean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99" y="1628800"/>
            <a:ext cx="6698787" cy="46805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08077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-1" y="-18256"/>
            <a:ext cx="8853433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</a:t>
            </a:r>
            <a:r>
              <a:rPr lang="en-US" altLang="ko-KR" dirty="0" err="1" smtClean="0"/>
              <a:t>BankAccountDAO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3773" y="1124744"/>
            <a:ext cx="5831435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2000" b="1" dirty="0" smtClean="0">
                <a:solidFill>
                  <a:srgbClr val="002060"/>
                </a:solidFill>
              </a:rPr>
              <a:t>계좌 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생성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  </a:t>
            </a:r>
            <a:endParaRPr lang="en-US" altLang="ko-KR" sz="2000" b="1" dirty="0" smtClean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48" y="1628800"/>
            <a:ext cx="8568952" cy="41430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4866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-1" y="-18256"/>
            <a:ext cx="8853433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</a:t>
            </a:r>
            <a:r>
              <a:rPr lang="en-US" altLang="ko-KR" dirty="0" err="1" smtClean="0"/>
              <a:t>BankAccountDAO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3773" y="1124744"/>
            <a:ext cx="5831435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2000" b="1" dirty="0" smtClean="0">
                <a:solidFill>
                  <a:srgbClr val="002060"/>
                </a:solidFill>
              </a:rPr>
              <a:t>계좌 목록 보기   </a:t>
            </a:r>
            <a:endParaRPr lang="en-US" altLang="ko-KR" sz="2000" b="1" dirty="0" smtClean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28800"/>
            <a:ext cx="7461082" cy="468301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17060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-1" y="-18256"/>
            <a:ext cx="8853433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</a:t>
            </a:r>
            <a:r>
              <a:rPr lang="en-US" altLang="ko-KR" dirty="0" err="1" smtClean="0"/>
              <a:t>BankAccountDAO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3773" y="1124744"/>
            <a:ext cx="5831435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2000" b="1" dirty="0" smtClean="0">
                <a:solidFill>
                  <a:srgbClr val="002060"/>
                </a:solidFill>
              </a:rPr>
              <a:t>계좌 검색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(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상세 보기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)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  </a:t>
            </a:r>
            <a:endParaRPr lang="en-US" altLang="ko-KR" sz="2000" b="1" dirty="0" smtClean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65013"/>
            <a:ext cx="7611224" cy="47443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6323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-1" y="-18256"/>
            <a:ext cx="8853433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</a:t>
            </a:r>
            <a:r>
              <a:rPr lang="en-US" altLang="ko-KR" dirty="0" err="1" smtClean="0"/>
              <a:t>BankAccountDAO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3773" y="1124744"/>
            <a:ext cx="5831435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2000" b="1" dirty="0" smtClean="0">
                <a:solidFill>
                  <a:srgbClr val="002060"/>
                </a:solidFill>
              </a:rPr>
              <a:t>입금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  </a:t>
            </a:r>
            <a:endParaRPr lang="en-US" altLang="ko-KR" sz="2000" b="1" dirty="0" smtClean="0">
              <a:solidFill>
                <a:srgbClr val="00206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0" y="1628800"/>
            <a:ext cx="8971489" cy="43204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46566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-1" y="-18256"/>
            <a:ext cx="8853433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</a:t>
            </a:r>
            <a:r>
              <a:rPr lang="en-US" altLang="ko-KR" dirty="0" err="1" smtClean="0"/>
              <a:t>BankAccountDAO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3773" y="1124744"/>
            <a:ext cx="5831435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2000" b="1" dirty="0">
                <a:solidFill>
                  <a:srgbClr val="002060"/>
                </a:solidFill>
              </a:rPr>
              <a:t>출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금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  </a:t>
            </a:r>
            <a:endParaRPr lang="en-US" altLang="ko-KR" sz="2000" b="1" dirty="0" smtClean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28" y="1628800"/>
            <a:ext cx="8890069" cy="43204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563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</a:t>
            </a:r>
            <a:r>
              <a:rPr lang="en-US" altLang="ko-KR" dirty="0" err="1" smtClean="0"/>
              <a:t>BankingMain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3773" y="1124744"/>
            <a:ext cx="5831435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2000" b="1" dirty="0" smtClean="0">
                <a:solidFill>
                  <a:srgbClr val="002060"/>
                </a:solidFill>
              </a:rPr>
              <a:t>메인 클래스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  </a:t>
            </a:r>
            <a:endParaRPr lang="en-US" altLang="ko-KR" sz="2000" b="1" dirty="0" smtClean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264" y="1578265"/>
            <a:ext cx="8031216" cy="43606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24029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</a:t>
            </a:r>
            <a:r>
              <a:rPr lang="en-US" altLang="ko-KR" dirty="0" err="1"/>
              <a:t>BankingMain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3773" y="1124744"/>
            <a:ext cx="5831435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2000" b="1" dirty="0" smtClean="0">
                <a:solidFill>
                  <a:srgbClr val="002060"/>
                </a:solidFill>
              </a:rPr>
              <a:t>메인 클래스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  </a:t>
            </a:r>
            <a:endParaRPr lang="en-US" altLang="ko-KR" sz="2000" b="1" dirty="0" smtClean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99" y="1628799"/>
            <a:ext cx="6912769" cy="470941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64049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</a:t>
            </a:r>
            <a:r>
              <a:rPr lang="en-US" altLang="ko-KR" dirty="0" err="1"/>
              <a:t>BankingMain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3773" y="1124744"/>
            <a:ext cx="5831435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dirty="0" err="1" smtClean="0">
                <a:solidFill>
                  <a:srgbClr val="002060"/>
                </a:solidFill>
              </a:rPr>
              <a:t>createAccount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()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  </a:t>
            </a:r>
            <a:endParaRPr lang="en-US" altLang="ko-KR" sz="2000" b="1" dirty="0" smtClean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77616"/>
            <a:ext cx="6624736" cy="47036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45379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</a:t>
            </a:r>
            <a:r>
              <a:rPr lang="en-US" altLang="ko-KR" dirty="0" err="1"/>
              <a:t>BankingMain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3773" y="1124744"/>
            <a:ext cx="5831435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dirty="0" err="1" smtClean="0">
                <a:solidFill>
                  <a:srgbClr val="002060"/>
                </a:solidFill>
              </a:rPr>
              <a:t>getAccountList</a:t>
            </a:r>
            <a:r>
              <a:rPr lang="en-US" altLang="ko-KR" sz="2000" b="1" dirty="0" smtClean="0">
                <a:solidFill>
                  <a:srgbClr val="002060"/>
                </a:solidFill>
              </a:rPr>
              <a:t>()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  </a:t>
            </a:r>
            <a:endParaRPr lang="en-US" altLang="ko-KR" sz="2000" b="1" dirty="0" smtClean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028" y="1700808"/>
            <a:ext cx="8285672" cy="334969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8750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</a:t>
            </a:r>
            <a:r>
              <a:rPr lang="en-US" altLang="ko-KR" dirty="0" err="1"/>
              <a:t>BankingMain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3773" y="1124744"/>
            <a:ext cx="5831435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dirty="0" smtClean="0">
                <a:solidFill>
                  <a:srgbClr val="002060"/>
                </a:solidFill>
              </a:rPr>
              <a:t>deposit()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  </a:t>
            </a:r>
            <a:endParaRPr lang="en-US" altLang="ko-KR" sz="2000" b="1" dirty="0" smtClean="0">
              <a:solidFill>
                <a:srgbClr val="00206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536" y="1628800"/>
            <a:ext cx="8866610" cy="41764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1041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185248" cy="8549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 </a:t>
            </a:r>
            <a:r>
              <a:rPr lang="en-US" altLang="ko-KR" dirty="0" err="1"/>
              <a:t>BankingMain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3773" y="1124744"/>
            <a:ext cx="5831435" cy="4320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000" b="1" dirty="0" smtClean="0">
                <a:solidFill>
                  <a:srgbClr val="002060"/>
                </a:solidFill>
              </a:rPr>
              <a:t>deposit()</a:t>
            </a:r>
            <a:r>
              <a:rPr lang="ko-KR" altLang="en-US" sz="2000" b="1" dirty="0" smtClean="0">
                <a:solidFill>
                  <a:srgbClr val="002060"/>
                </a:solidFill>
              </a:rPr>
              <a:t>   </a:t>
            </a:r>
            <a:endParaRPr lang="en-US" altLang="ko-KR" sz="2000" b="1" dirty="0" smtClean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56818"/>
            <a:ext cx="6947623" cy="48965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661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4256</TotalTime>
  <Words>558</Words>
  <Application>Microsoft Office PowerPoint</Application>
  <PresentationFormat>A4 용지(210x297mm)</PresentationFormat>
  <Paragraphs>174</Paragraphs>
  <Slides>40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7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Banking App</vt:lpstr>
      <vt:lpstr>  은행 업무 프로젝트 개요</vt:lpstr>
      <vt:lpstr> step1. 문제 정의하기</vt:lpstr>
      <vt:lpstr> step1. 문제 정의하기</vt:lpstr>
      <vt:lpstr> step2. 클래스 다이어그램</vt:lpstr>
      <vt:lpstr> step2. 클래스 정의하기</vt:lpstr>
      <vt:lpstr> step2. 클래스 정의하기</vt:lpstr>
      <vt:lpstr> step3. 은행 업무 기능 설계, 구현  </vt:lpstr>
      <vt:lpstr> step3. 은행 업무 기능 설계, 구현  </vt:lpstr>
      <vt:lpstr> step3. 은행 업무 기능 설계 , 구현 </vt:lpstr>
      <vt:lpstr> step3. 은행 업무 기능 설계 , 구현</vt:lpstr>
      <vt:lpstr> step3. 은행 업무 기능 설계, 구현</vt:lpstr>
      <vt:lpstr> step3. 은행 업무 기능 설계, 구현</vt:lpstr>
      <vt:lpstr> step3. 은행 업무 기능 설계, 구현</vt:lpstr>
      <vt:lpstr> step4. 프로그램 테스트 하기</vt:lpstr>
      <vt:lpstr> step4. 프로그램 테스트 하기</vt:lpstr>
      <vt:lpstr> step4. 프로그램 테스트 하기</vt:lpstr>
      <vt:lpstr> ver2. ArrayList로 구현하기  </vt:lpstr>
      <vt:lpstr> ver2. ArrayList로 구현하기  </vt:lpstr>
      <vt:lpstr> ver2. ArrayList로 구현하기  </vt:lpstr>
      <vt:lpstr> ver2. ArrayList로 구현하기  </vt:lpstr>
      <vt:lpstr> ver2. ArrayList로 구현하기  </vt:lpstr>
      <vt:lpstr> ver2. ArrayList로 구현하기  </vt:lpstr>
      <vt:lpstr> ver2. ArrayList로 구현하기  </vt:lpstr>
      <vt:lpstr> Banking ver3. 오라클DB 연동</vt:lpstr>
      <vt:lpstr> Banking ver3. 오라클DB 연동</vt:lpstr>
      <vt:lpstr> Banking ver3. 오라클DB 연동</vt:lpstr>
      <vt:lpstr> Banking ver3. 오라클DB 연동</vt:lpstr>
      <vt:lpstr> BankAccountDAO()</vt:lpstr>
      <vt:lpstr> BankAccountDAO()</vt:lpstr>
      <vt:lpstr> BankAccountDAO()</vt:lpstr>
      <vt:lpstr> BankAccountDAO()</vt:lpstr>
      <vt:lpstr> BankAccountDAO()</vt:lpstr>
      <vt:lpstr> BankAccountDAO()</vt:lpstr>
      <vt:lpstr> BankingMain 클래스</vt:lpstr>
      <vt:lpstr> BankingMain 클래스</vt:lpstr>
      <vt:lpstr> BankingMain 클래스</vt:lpstr>
      <vt:lpstr> BankingMain 클래스</vt:lpstr>
      <vt:lpstr> BankingMain 클래스</vt:lpstr>
      <vt:lpstr> BankingMain 클래스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LG</cp:lastModifiedBy>
  <cp:revision>278</cp:revision>
  <dcterms:created xsi:type="dcterms:W3CDTF">2019-03-04T02:36:55Z</dcterms:created>
  <dcterms:modified xsi:type="dcterms:W3CDTF">2025-06-06T21:17:25Z</dcterms:modified>
</cp:coreProperties>
</file>