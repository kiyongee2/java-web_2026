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2"/>
  </p:notesMasterIdLst>
  <p:sldIdLst>
    <p:sldId id="256" r:id="rId2"/>
    <p:sldId id="323" r:id="rId3"/>
    <p:sldId id="383" r:id="rId4"/>
    <p:sldId id="475" r:id="rId5"/>
    <p:sldId id="476" r:id="rId6"/>
    <p:sldId id="477" r:id="rId7"/>
    <p:sldId id="467" r:id="rId8"/>
    <p:sldId id="459" r:id="rId9"/>
    <p:sldId id="416" r:id="rId10"/>
    <p:sldId id="525" r:id="rId11"/>
    <p:sldId id="417" r:id="rId12"/>
    <p:sldId id="418" r:id="rId13"/>
    <p:sldId id="526" r:id="rId14"/>
    <p:sldId id="523" r:id="rId15"/>
    <p:sldId id="524" r:id="rId16"/>
    <p:sldId id="528" r:id="rId17"/>
    <p:sldId id="478" r:id="rId18"/>
    <p:sldId id="482" r:id="rId19"/>
    <p:sldId id="483" r:id="rId20"/>
    <p:sldId id="479" r:id="rId21"/>
    <p:sldId id="527" r:id="rId22"/>
    <p:sldId id="489" r:id="rId23"/>
    <p:sldId id="490" r:id="rId24"/>
    <p:sldId id="491" r:id="rId25"/>
    <p:sldId id="492" r:id="rId26"/>
    <p:sldId id="515" r:id="rId27"/>
    <p:sldId id="518" r:id="rId28"/>
    <p:sldId id="519" r:id="rId29"/>
    <p:sldId id="520" r:id="rId30"/>
    <p:sldId id="521" r:id="rId31"/>
  </p:sldIdLst>
  <p:sldSz cx="9906000" cy="6858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46C0A"/>
    <a:srgbClr val="54823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1229" y="91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65CDAC-D627-4E87-877A-1B781DD4CADC}" type="datetimeFigureOut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52500" y="685800"/>
            <a:ext cx="4953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ADDD8A-FD4C-4C63-90D4-202AFE8080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645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ADDD8A-FD4C-4C63-90D4-202AFE8080B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88635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222697" y="1379513"/>
            <a:ext cx="6862345" cy="122656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2222696" y="2667615"/>
            <a:ext cx="7683303" cy="478904"/>
          </a:xfrm>
          <a:solidFill>
            <a:schemeClr val="accent5">
              <a:lumMod val="50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C81B4-D91A-4578-85B3-829E63FCFE17}" type="datetime1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/>
          <p:cNvSpPr/>
          <p:nvPr userDrawn="1"/>
        </p:nvSpPr>
        <p:spPr>
          <a:xfrm>
            <a:off x="0" y="0"/>
            <a:ext cx="2144688" cy="685800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 userDrawn="1"/>
        </p:nvSpPr>
        <p:spPr>
          <a:xfrm>
            <a:off x="0" y="2691044"/>
            <a:ext cx="2144688" cy="486181"/>
          </a:xfrm>
          <a:prstGeom prst="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" name="이등변 삼각형 8"/>
          <p:cNvSpPr/>
          <p:nvPr userDrawn="1"/>
        </p:nvSpPr>
        <p:spPr>
          <a:xfrm rot="5400000">
            <a:off x="1333915" y="2721729"/>
            <a:ext cx="432048" cy="370679"/>
          </a:xfrm>
          <a:prstGeom prst="triangle">
            <a:avLst/>
          </a:prstGeom>
          <a:solidFill>
            <a:schemeClr val="accent5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0" name="이등변 삼각형 9"/>
          <p:cNvSpPr/>
          <p:nvPr userDrawn="1"/>
        </p:nvSpPr>
        <p:spPr>
          <a:xfrm rot="5400000">
            <a:off x="1704594" y="2721730"/>
            <a:ext cx="432048" cy="370679"/>
          </a:xfrm>
          <a:prstGeom prst="triangle">
            <a:avLst/>
          </a:prstGeom>
          <a:solidFill>
            <a:schemeClr val="accent5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6718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ko-KR" altLang="en-US" dirty="0"/>
              <a:t> 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FDEC8-1339-42E8-9704-2977280C2FD3}" type="datetime1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342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8DC76-A282-4817-B790-197F054E1215}" type="datetime1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5474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1"/>
            <a:ext cx="43751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35550" y="1600201"/>
            <a:ext cx="43751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0AA6C-13D8-43E4-90F0-E6C88A2B9F16}" type="datetime1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6685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B03B-20CC-436E-8601-C933C6C1F4A6}" type="datetime1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31454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5A15D-8B08-482F-AB47-E416EC355EB6}" type="datetime1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5068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7D7F8-7B64-44F8-A411-CBD22F28CBFF}" type="datetime1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5332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006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2971" y="273051"/>
            <a:ext cx="5537729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1"/>
            <a:ext cx="325900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DBD9B-2BB6-4D1F-BCB4-1E48829C93C3}" type="datetime1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10448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645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64C48-0CD7-40EB-BE64-BBF4DB8C56AF}" type="datetime1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0273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77542-37E5-48F2-BAE7-80CC6B0EB6A3}" type="datetime1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806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CF174-B5AC-4A98-B673-0BE8126D3F27}" type="datetime1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1854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124744"/>
            <a:ext cx="8915400" cy="5040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6BCB4-B68B-4638-8167-F4BDC0A30DA1}" type="datetime1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-39555" y="6381328"/>
            <a:ext cx="9945555" cy="476672"/>
          </a:xfrm>
          <a:prstGeom prst="rect">
            <a:avLst/>
          </a:prstGeom>
          <a:solidFill>
            <a:schemeClr val="tx2">
              <a:lumMod val="5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0" y="-18256"/>
            <a:ext cx="6201139" cy="8549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  마스터 제목 스타일 편집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853433" y="6453337"/>
            <a:ext cx="5572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1BDE3FE7-3AEA-4B05-AC5A-802D1816ACF0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 descr="javaì ëí ì´ë¯¸ì§ ê²ìê²°ê³¼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652" y="5933989"/>
            <a:ext cx="685900" cy="685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125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3200" kern="1200">
          <a:solidFill>
            <a:schemeClr val="bg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222697" y="1379513"/>
            <a:ext cx="7050783" cy="1226567"/>
          </a:xfrm>
        </p:spPr>
        <p:txBody>
          <a:bodyPr>
            <a:normAutofit/>
          </a:bodyPr>
          <a:lstStyle/>
          <a:p>
            <a:pPr algn="l"/>
            <a:r>
              <a:rPr lang="en-US" altLang="ko-KR" sz="3600" b="1" dirty="0">
                <a:solidFill>
                  <a:schemeClr val="tx1"/>
                </a:solidFill>
                <a:latin typeface="휴먼엑스포" panose="02030504000101010101" pitchFamily="18" charset="-127"/>
                <a:ea typeface="휴먼엑스포" panose="02030504000101010101" pitchFamily="18" charset="-127"/>
              </a:rPr>
              <a:t>5</a:t>
            </a:r>
            <a:r>
              <a:rPr lang="ko-KR" altLang="en-US" sz="3600" b="1" dirty="0">
                <a:solidFill>
                  <a:schemeClr val="tx1"/>
                </a:solidFill>
                <a:latin typeface="휴먼엑스포" panose="02030504000101010101" pitchFamily="18" charset="-127"/>
                <a:ea typeface="휴먼엑스포" panose="02030504000101010101" pitchFamily="18" charset="-127"/>
              </a:rPr>
              <a:t>장</a:t>
            </a:r>
            <a:r>
              <a:rPr lang="en-US" altLang="ko-KR" sz="3600" b="1" dirty="0">
                <a:solidFill>
                  <a:schemeClr val="tx1"/>
                </a:solidFill>
                <a:latin typeface="휴먼엑스포" panose="02030504000101010101" pitchFamily="18" charset="-127"/>
                <a:ea typeface="휴먼엑스포" panose="02030504000101010101" pitchFamily="18" charset="-127"/>
              </a:rPr>
              <a:t>. </a:t>
            </a:r>
            <a:r>
              <a:rPr lang="ko-KR" altLang="en-US" sz="3600" b="1" dirty="0">
                <a:solidFill>
                  <a:schemeClr val="tx1"/>
                </a:solidFill>
                <a:latin typeface="휴먼엑스포" panose="02030504000101010101" pitchFamily="18" charset="-127"/>
                <a:ea typeface="휴먼엑스포" panose="02030504000101010101" pitchFamily="18" charset="-127"/>
              </a:rPr>
              <a:t>상속과 </a:t>
            </a:r>
            <a:r>
              <a:rPr lang="ko-KR" altLang="en-US" sz="3600" b="1" dirty="0" err="1">
                <a:solidFill>
                  <a:schemeClr val="tx1"/>
                </a:solidFill>
                <a:latin typeface="휴먼엑스포" panose="02030504000101010101" pitchFamily="18" charset="-127"/>
                <a:ea typeface="휴먼엑스포" panose="02030504000101010101" pitchFamily="18" charset="-127"/>
              </a:rPr>
              <a:t>다형성</a:t>
            </a:r>
            <a:endParaRPr lang="ko-KR" altLang="en-US" sz="3600" b="1" dirty="0">
              <a:solidFill>
                <a:schemeClr val="tx1"/>
              </a:solidFill>
              <a:latin typeface="휴먼엑스포" panose="02030504000101010101" pitchFamily="18" charset="-127"/>
              <a:ea typeface="휴먼엑스포" panose="02030504000101010101" pitchFamily="18" charset="-127"/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2222697" y="2670822"/>
            <a:ext cx="7683303" cy="504055"/>
          </a:xfrm>
          <a:solidFill>
            <a:schemeClr val="accent5">
              <a:lumMod val="75000"/>
            </a:schemeClr>
          </a:solidFill>
        </p:spPr>
        <p:txBody>
          <a:bodyPr anchor="ctr" anchorCtr="0">
            <a:noAutofit/>
          </a:bodyPr>
          <a:lstStyle/>
          <a:p>
            <a:pPr algn="l"/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000" i="1" dirty="0">
                <a:solidFill>
                  <a:schemeClr val="bg1"/>
                </a:solidFill>
              </a:rPr>
              <a:t>객체지향 언어</a:t>
            </a:r>
            <a:r>
              <a:rPr lang="en-US" altLang="ko-KR" sz="2000" i="1" dirty="0">
                <a:solidFill>
                  <a:schemeClr val="bg1"/>
                </a:solidFill>
              </a:rPr>
              <a:t>(OOP)</a:t>
            </a:r>
            <a:endParaRPr lang="ko-KR" altLang="en-US" sz="1800" i="1" dirty="0">
              <a:solidFill>
                <a:schemeClr val="bg1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4" name="AutoShape 5" descr="C++ì ëí ì´ë¯¸ì§ ê²ìê²°ê³¼"/>
          <p:cNvSpPr>
            <a:spLocks noChangeAspect="1" noChangeArrowheads="1"/>
          </p:cNvSpPr>
          <p:nvPr/>
        </p:nvSpPr>
        <p:spPr bwMode="auto">
          <a:xfrm>
            <a:off x="182298" y="-144463"/>
            <a:ext cx="3302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Picture 2" descr="javaì ëí ì´ë¯¸ì§ ê²ìê²°ê³¼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7056" y="3645024"/>
            <a:ext cx="4078760" cy="244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583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상속</a:t>
            </a:r>
            <a:r>
              <a:rPr lang="en-US" altLang="ko-KR" dirty="0"/>
              <a:t>(Inheritance)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801464" y="980728"/>
            <a:ext cx="8616032" cy="226701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C00000"/>
                </a:solidFill>
              </a:rPr>
              <a:t>상속이란</a:t>
            </a:r>
            <a:r>
              <a:rPr lang="en-US" altLang="ko-KR" sz="2000" b="1" dirty="0">
                <a:solidFill>
                  <a:srgbClr val="C00000"/>
                </a:solidFill>
              </a:rPr>
              <a:t>?</a:t>
            </a:r>
          </a:p>
          <a:p>
            <a:pPr lvl="1">
              <a:lnSpc>
                <a:spcPct val="100000"/>
              </a:lnSpc>
            </a:pPr>
            <a:r>
              <a:rPr lang="ko-KR" altLang="en-US" sz="1800" dirty="0"/>
              <a:t>클래스를 </a:t>
            </a:r>
            <a:r>
              <a:rPr lang="ko-KR" altLang="en-US" sz="1800" dirty="0" err="1"/>
              <a:t>정의할때</a:t>
            </a:r>
            <a:r>
              <a:rPr lang="ko-KR" altLang="en-US" sz="1800" dirty="0"/>
              <a:t> 이미 구현된 클래스를 상속</a:t>
            </a:r>
            <a:r>
              <a:rPr lang="en-US" altLang="ko-KR" sz="1800" dirty="0"/>
              <a:t>(inheritance) </a:t>
            </a:r>
            <a:r>
              <a:rPr lang="ko-KR" altLang="en-US" sz="1800" dirty="0"/>
              <a:t>받아서 속성이나 기능</a:t>
            </a:r>
            <a:r>
              <a:rPr lang="en-US" altLang="ko-KR" sz="1800" dirty="0"/>
              <a:t>(</a:t>
            </a:r>
            <a:r>
              <a:rPr lang="ko-KR" altLang="en-US" sz="1800" dirty="0" err="1"/>
              <a:t>메서드</a:t>
            </a:r>
            <a:r>
              <a:rPr lang="en-US" altLang="ko-KR" sz="1800" dirty="0"/>
              <a:t>)</a:t>
            </a:r>
            <a:r>
              <a:rPr lang="ko-KR" altLang="en-US" sz="1800" dirty="0"/>
              <a:t>이 확장되는 클래스를 구현할 수 있다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00000"/>
              </a:lnSpc>
            </a:pPr>
            <a:r>
              <a:rPr lang="ko-KR" altLang="en-US" sz="1800" dirty="0">
                <a:solidFill>
                  <a:srgbClr val="002060"/>
                </a:solidFill>
              </a:rPr>
              <a:t>상속하는 클래스 </a:t>
            </a:r>
            <a:r>
              <a:rPr lang="en-US" altLang="ko-KR" sz="1800" dirty="0">
                <a:solidFill>
                  <a:srgbClr val="002060"/>
                </a:solidFill>
              </a:rPr>
              <a:t>: </a:t>
            </a:r>
            <a:r>
              <a:rPr lang="ko-KR" altLang="en-US" sz="1800" dirty="0">
                <a:solidFill>
                  <a:srgbClr val="002060"/>
                </a:solidFill>
              </a:rPr>
              <a:t>상위 클래스</a:t>
            </a:r>
            <a:r>
              <a:rPr lang="en-US" altLang="ko-KR" sz="1800" dirty="0">
                <a:solidFill>
                  <a:srgbClr val="002060"/>
                </a:solidFill>
              </a:rPr>
              <a:t>, parent class</a:t>
            </a:r>
          </a:p>
          <a:p>
            <a:pPr lvl="1">
              <a:lnSpc>
                <a:spcPct val="100000"/>
              </a:lnSpc>
            </a:pPr>
            <a:r>
              <a:rPr lang="ko-KR" altLang="en-US" sz="1800" dirty="0">
                <a:solidFill>
                  <a:srgbClr val="002060"/>
                </a:solidFill>
              </a:rPr>
              <a:t>상속받는 클래스 </a:t>
            </a:r>
            <a:r>
              <a:rPr lang="en-US" altLang="ko-KR" sz="1800" dirty="0">
                <a:solidFill>
                  <a:srgbClr val="002060"/>
                </a:solidFill>
              </a:rPr>
              <a:t>: </a:t>
            </a:r>
            <a:r>
              <a:rPr lang="ko-KR" altLang="en-US" sz="1800" dirty="0">
                <a:solidFill>
                  <a:srgbClr val="002060"/>
                </a:solidFill>
              </a:rPr>
              <a:t>하위 클래스</a:t>
            </a:r>
            <a:r>
              <a:rPr lang="en-US" altLang="ko-KR" sz="1800" dirty="0">
                <a:solidFill>
                  <a:srgbClr val="002060"/>
                </a:solidFill>
              </a:rPr>
              <a:t>, child class</a:t>
            </a:r>
          </a:p>
          <a:p>
            <a:pPr lvl="1">
              <a:lnSpc>
                <a:spcPct val="100000"/>
              </a:lnSpc>
            </a:pPr>
            <a:r>
              <a:rPr lang="ko-KR" altLang="en-US" sz="1800" dirty="0">
                <a:solidFill>
                  <a:srgbClr val="002060"/>
                </a:solidFill>
              </a:rPr>
              <a:t>클래스 상속 문법</a:t>
            </a:r>
            <a:r>
              <a:rPr lang="en-US" altLang="ko-KR" sz="1800" dirty="0">
                <a:solidFill>
                  <a:srgbClr val="002060"/>
                </a:solidFill>
              </a:rPr>
              <a:t>   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800" b="1" dirty="0">
                <a:solidFill>
                  <a:srgbClr val="002060"/>
                </a:solidFill>
              </a:rPr>
              <a:t>   </a:t>
            </a:r>
            <a:endParaRPr lang="en-US" altLang="ko-KR" sz="2000" dirty="0"/>
          </a:p>
        </p:txBody>
      </p:sp>
      <p:sp>
        <p:nvSpPr>
          <p:cNvPr id="19" name="직사각형 18"/>
          <p:cNvSpPr/>
          <p:nvPr/>
        </p:nvSpPr>
        <p:spPr>
          <a:xfrm>
            <a:off x="1352598" y="3362478"/>
            <a:ext cx="2458687" cy="128517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2000" dirty="0">
                <a:latin typeface="+mn-ea"/>
              </a:rPr>
              <a:t>  </a:t>
            </a:r>
          </a:p>
          <a:p>
            <a:r>
              <a:rPr lang="en-US" altLang="ko-KR" sz="2000" dirty="0">
                <a:latin typeface="+mn-ea"/>
              </a:rPr>
              <a:t>class B </a:t>
            </a:r>
            <a:r>
              <a:rPr lang="en-US" altLang="ko-KR" sz="2000" b="1" dirty="0">
                <a:solidFill>
                  <a:srgbClr val="C00000"/>
                </a:solidFill>
                <a:latin typeface="+mn-ea"/>
              </a:rPr>
              <a:t>extends</a:t>
            </a:r>
            <a:r>
              <a:rPr lang="en-US" altLang="ko-KR" sz="2000" dirty="0">
                <a:latin typeface="+mn-ea"/>
              </a:rPr>
              <a:t> A{</a:t>
            </a:r>
          </a:p>
          <a:p>
            <a:r>
              <a:rPr lang="en-US" altLang="ko-KR" sz="2000" dirty="0">
                <a:latin typeface="+mn-ea"/>
              </a:rPr>
              <a:t>     …..</a:t>
            </a:r>
          </a:p>
          <a:p>
            <a:r>
              <a:rPr lang="en-US" altLang="ko-KR" sz="2000" dirty="0">
                <a:latin typeface="+mn-ea"/>
              </a:rPr>
              <a:t>}</a:t>
            </a:r>
          </a:p>
          <a:p>
            <a:endParaRPr lang="en-US" altLang="ko-KR" sz="2000" dirty="0">
              <a:latin typeface="+mn-ea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5169024" y="3429001"/>
            <a:ext cx="1656184" cy="7200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+mn-ea"/>
              </a:rPr>
              <a:t>  </a:t>
            </a:r>
          </a:p>
          <a:p>
            <a:pPr algn="ctr"/>
            <a:r>
              <a:rPr lang="en-US" altLang="ko-KR" dirty="0">
                <a:latin typeface="+mn-ea"/>
              </a:rPr>
              <a:t>A </a:t>
            </a:r>
            <a:r>
              <a:rPr lang="ko-KR" altLang="en-US" dirty="0">
                <a:latin typeface="+mn-ea"/>
              </a:rPr>
              <a:t>클래스</a:t>
            </a:r>
            <a:endParaRPr lang="en-US" altLang="ko-KR" dirty="0">
              <a:latin typeface="+mn-ea"/>
            </a:endParaRPr>
          </a:p>
          <a:p>
            <a:pPr algn="ctr"/>
            <a:endParaRPr lang="en-US" altLang="ko-KR" dirty="0">
              <a:latin typeface="+mn-ea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5169024" y="4867776"/>
            <a:ext cx="1656184" cy="7200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+mn-ea"/>
              </a:rPr>
              <a:t>  </a:t>
            </a:r>
          </a:p>
          <a:p>
            <a:pPr algn="ctr"/>
            <a:r>
              <a:rPr lang="en-US" altLang="ko-KR" dirty="0">
                <a:latin typeface="+mn-ea"/>
              </a:rPr>
              <a:t>B </a:t>
            </a:r>
            <a:r>
              <a:rPr lang="ko-KR" altLang="en-US" dirty="0">
                <a:latin typeface="+mn-ea"/>
              </a:rPr>
              <a:t>클래스</a:t>
            </a:r>
            <a:endParaRPr lang="en-US" altLang="ko-KR" dirty="0">
              <a:latin typeface="+mn-ea"/>
            </a:endParaRPr>
          </a:p>
          <a:p>
            <a:pPr algn="ctr"/>
            <a:endParaRPr lang="en-US" altLang="ko-KR" dirty="0">
              <a:latin typeface="+mn-ea"/>
            </a:endParaRP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06C641F-1CDB-4B8D-B46C-A221C6864735}"/>
              </a:ext>
            </a:extLst>
          </p:cNvPr>
          <p:cNvGrpSpPr/>
          <p:nvPr/>
        </p:nvGrpSpPr>
        <p:grpSpPr>
          <a:xfrm>
            <a:off x="5869611" y="4171004"/>
            <a:ext cx="255009" cy="676234"/>
            <a:chOff x="4022240" y="4146776"/>
            <a:chExt cx="164428" cy="628486"/>
          </a:xfrm>
        </p:grpSpPr>
        <p:sp>
          <p:nvSpPr>
            <p:cNvPr id="23" name="이등변 삼각형 22">
              <a:extLst>
                <a:ext uri="{FF2B5EF4-FFF2-40B4-BE49-F238E27FC236}">
                  <a16:creationId xmlns:a16="http://schemas.microsoft.com/office/drawing/2014/main" id="{A928C65B-0F62-4DFC-9220-DF40E5958238}"/>
                </a:ext>
              </a:extLst>
            </p:cNvPr>
            <p:cNvSpPr/>
            <p:nvPr/>
          </p:nvSpPr>
          <p:spPr>
            <a:xfrm>
              <a:off x="4022240" y="4146776"/>
              <a:ext cx="164428" cy="165165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D15E6F92-B9C8-4563-8C4E-646F583209B9}"/>
                </a:ext>
              </a:extLst>
            </p:cNvPr>
            <p:cNvCxnSpPr>
              <a:cxnSpLocks/>
              <a:stCxn id="23" idx="3"/>
            </p:cNvCxnSpPr>
            <p:nvPr/>
          </p:nvCxnSpPr>
          <p:spPr>
            <a:xfrm flipH="1">
              <a:off x="4102218" y="4311941"/>
              <a:ext cx="2236" cy="463321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직사각형 24"/>
          <p:cNvSpPr/>
          <p:nvPr/>
        </p:nvSpPr>
        <p:spPr>
          <a:xfrm>
            <a:off x="7107858" y="3523502"/>
            <a:ext cx="2025526" cy="1993730"/>
          </a:xfrm>
          <a:prstGeom prst="rect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600" dirty="0">
                <a:latin typeface="+mn-ea"/>
              </a:rPr>
              <a:t>A </a:t>
            </a:r>
            <a:r>
              <a:rPr lang="ko-KR" altLang="en-US" sz="1600" dirty="0">
                <a:latin typeface="+mn-ea"/>
              </a:rPr>
              <a:t>클래스가 </a:t>
            </a:r>
            <a:r>
              <a:rPr lang="en-US" altLang="ko-KR" sz="1600" dirty="0">
                <a:latin typeface="+mn-ea"/>
              </a:rPr>
              <a:t>B</a:t>
            </a:r>
            <a:r>
              <a:rPr lang="ko-KR" altLang="en-US" sz="1600" dirty="0">
                <a:latin typeface="+mn-ea"/>
              </a:rPr>
              <a:t>클래스에서 상속한다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r>
              <a:rPr lang="en-US" altLang="ko-KR" sz="1600" dirty="0">
                <a:latin typeface="+mn-ea"/>
              </a:rPr>
              <a:t>…</a:t>
            </a:r>
          </a:p>
          <a:p>
            <a:r>
              <a:rPr lang="en-US" altLang="ko-KR" sz="1600" dirty="0">
                <a:latin typeface="+mn-ea"/>
              </a:rPr>
              <a:t>B</a:t>
            </a:r>
            <a:r>
              <a:rPr lang="ko-KR" altLang="en-US" sz="1600" dirty="0">
                <a:latin typeface="+mn-ea"/>
              </a:rPr>
              <a:t>클래스가 </a:t>
            </a:r>
            <a:r>
              <a:rPr lang="en-US" altLang="ko-KR" sz="1600" dirty="0">
                <a:latin typeface="+mn-ea"/>
              </a:rPr>
              <a:t>A</a:t>
            </a:r>
            <a:r>
              <a:rPr lang="ko-KR" altLang="en-US" sz="1600" dirty="0">
                <a:latin typeface="+mn-ea"/>
              </a:rPr>
              <a:t>클래스에게 상속받는다</a:t>
            </a:r>
            <a:r>
              <a:rPr lang="en-US" altLang="ko-KR" sz="1600" dirty="0">
                <a:latin typeface="+mn-ea"/>
              </a:rPr>
              <a:t>.</a:t>
            </a:r>
          </a:p>
        </p:txBody>
      </p:sp>
      <p:cxnSp>
        <p:nvCxnSpPr>
          <p:cNvPr id="8" name="직선 연결선 7"/>
          <p:cNvCxnSpPr/>
          <p:nvPr/>
        </p:nvCxnSpPr>
        <p:spPr>
          <a:xfrm>
            <a:off x="5993648" y="4572366"/>
            <a:ext cx="11128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타원형 설명선 8"/>
          <p:cNvSpPr/>
          <p:nvPr/>
        </p:nvSpPr>
        <p:spPr>
          <a:xfrm>
            <a:off x="4160912" y="3212976"/>
            <a:ext cx="1120721" cy="720080"/>
          </a:xfrm>
          <a:prstGeom prst="wedgeEllipseCallout">
            <a:avLst>
              <a:gd name="adj1" fmla="val 47268"/>
              <a:gd name="adj2" fmla="val 49308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상위</a:t>
            </a:r>
            <a:endParaRPr lang="en-US" altLang="ko-KR" sz="1400" dirty="0"/>
          </a:p>
          <a:p>
            <a:pPr algn="ctr"/>
            <a:r>
              <a:rPr lang="ko-KR" altLang="en-US" sz="1400" dirty="0"/>
              <a:t>클래스</a:t>
            </a:r>
          </a:p>
        </p:txBody>
      </p:sp>
      <p:sp>
        <p:nvSpPr>
          <p:cNvPr id="30" name="타원형 설명선 29"/>
          <p:cNvSpPr/>
          <p:nvPr/>
        </p:nvSpPr>
        <p:spPr>
          <a:xfrm>
            <a:off x="4160912" y="4437112"/>
            <a:ext cx="1120721" cy="744750"/>
          </a:xfrm>
          <a:prstGeom prst="wedgeEllipseCallout">
            <a:avLst>
              <a:gd name="adj1" fmla="val 47268"/>
              <a:gd name="adj2" fmla="val 49308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하위</a:t>
            </a:r>
            <a:endParaRPr lang="en-US" altLang="ko-KR" sz="1400" dirty="0"/>
          </a:p>
          <a:p>
            <a:pPr algn="ctr"/>
            <a:r>
              <a:rPr lang="ko-KR" altLang="en-US" sz="1400" dirty="0"/>
              <a:t>클래스</a:t>
            </a:r>
          </a:p>
        </p:txBody>
      </p:sp>
    </p:spTree>
    <p:extLst>
      <p:ext uri="{BB962C8B-B14F-4D97-AF65-F5344CB8AC3E}">
        <p14:creationId xmlns:p14="http://schemas.microsoft.com/office/powerpoint/2010/main" val="2167135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차량과 전기차 클래스 상속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876074" y="1017973"/>
            <a:ext cx="5085038" cy="59544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C00000"/>
                </a:solidFill>
              </a:rPr>
              <a:t>차량과 전기차 클래스 상속 다이어그램</a:t>
            </a:r>
            <a:endParaRPr lang="en-US" altLang="ko-KR" sz="2000" b="1" dirty="0">
              <a:solidFill>
                <a:srgbClr val="C0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C00000"/>
              </a:solidFill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C00000"/>
                </a:solidFill>
              </a:rPr>
              <a:t>   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06C641F-1CDB-4B8D-B46C-A221C6864735}"/>
              </a:ext>
            </a:extLst>
          </p:cNvPr>
          <p:cNvGrpSpPr/>
          <p:nvPr/>
        </p:nvGrpSpPr>
        <p:grpSpPr>
          <a:xfrm rot="16200000">
            <a:off x="4465455" y="2633441"/>
            <a:ext cx="183001" cy="771552"/>
            <a:chOff x="4022240" y="4146776"/>
            <a:chExt cx="164428" cy="628486"/>
          </a:xfrm>
        </p:grpSpPr>
        <p:sp>
          <p:nvSpPr>
            <p:cNvPr id="23" name="이등변 삼각형 22">
              <a:extLst>
                <a:ext uri="{FF2B5EF4-FFF2-40B4-BE49-F238E27FC236}">
                  <a16:creationId xmlns:a16="http://schemas.microsoft.com/office/drawing/2014/main" id="{A928C65B-0F62-4DFC-9220-DF40E5958238}"/>
                </a:ext>
              </a:extLst>
            </p:cNvPr>
            <p:cNvSpPr/>
            <p:nvPr/>
          </p:nvSpPr>
          <p:spPr>
            <a:xfrm>
              <a:off x="4022240" y="4146776"/>
              <a:ext cx="164428" cy="165165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D15E6F92-B9C8-4563-8C4E-646F583209B9}"/>
                </a:ext>
              </a:extLst>
            </p:cNvPr>
            <p:cNvCxnSpPr>
              <a:cxnSpLocks/>
              <a:stCxn id="23" idx="3"/>
            </p:cNvCxnSpPr>
            <p:nvPr/>
          </p:nvCxnSpPr>
          <p:spPr>
            <a:xfrm flipH="1">
              <a:off x="4102218" y="4311941"/>
              <a:ext cx="2236" cy="463321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직사각형 14"/>
          <p:cNvSpPr/>
          <p:nvPr/>
        </p:nvSpPr>
        <p:spPr>
          <a:xfrm>
            <a:off x="1712640" y="1880828"/>
            <a:ext cx="2160240" cy="504056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2000" dirty="0"/>
              <a:t>Car(</a:t>
            </a:r>
            <a:r>
              <a:rPr lang="ko-KR" altLang="en-US" sz="2000" dirty="0"/>
              <a:t>차량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18" name="직사각형 17"/>
          <p:cNvSpPr/>
          <p:nvPr/>
        </p:nvSpPr>
        <p:spPr>
          <a:xfrm>
            <a:off x="1712640" y="2384884"/>
            <a:ext cx="2160240" cy="1008112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2000" dirty="0"/>
              <a:t> brand</a:t>
            </a:r>
          </a:p>
          <a:p>
            <a:r>
              <a:rPr lang="en-US" altLang="ko-KR" sz="2000" dirty="0"/>
              <a:t> model</a:t>
            </a:r>
          </a:p>
          <a:p>
            <a:r>
              <a:rPr lang="en-US" altLang="ko-KR" sz="2000" dirty="0"/>
              <a:t> speed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1712640" y="3374443"/>
            <a:ext cx="2160240" cy="986016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2000" dirty="0"/>
              <a:t> accelerate()</a:t>
            </a:r>
          </a:p>
          <a:p>
            <a:r>
              <a:rPr lang="en-US" altLang="ko-KR" sz="2000" dirty="0"/>
              <a:t> brake()</a:t>
            </a:r>
          </a:p>
          <a:p>
            <a:r>
              <a:rPr lang="en-US" altLang="ko-KR" sz="2000" dirty="0"/>
              <a:t> </a:t>
            </a:r>
            <a:r>
              <a:rPr lang="en-US" altLang="ko-KR" sz="2000" dirty="0" err="1"/>
              <a:t>showInfo</a:t>
            </a:r>
            <a:r>
              <a:rPr lang="en-US" altLang="ko-KR" sz="2000" dirty="0"/>
              <a:t>()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5025008" y="2132856"/>
            <a:ext cx="2160240" cy="504056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2000" dirty="0"/>
              <a:t>EV(</a:t>
            </a:r>
            <a:r>
              <a:rPr lang="ko-KR" altLang="en-US" sz="2000" dirty="0"/>
              <a:t>전기차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26" name="직사각형 25"/>
          <p:cNvSpPr/>
          <p:nvPr/>
        </p:nvSpPr>
        <p:spPr>
          <a:xfrm>
            <a:off x="5025008" y="2636912"/>
            <a:ext cx="2160240" cy="504056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2000" dirty="0"/>
              <a:t> battery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5025008" y="3142821"/>
            <a:ext cx="2160240" cy="862243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2000" dirty="0"/>
              <a:t> charge()</a:t>
            </a:r>
          </a:p>
          <a:p>
            <a:r>
              <a:rPr lang="en-US" altLang="ko-KR" sz="2000" dirty="0"/>
              <a:t> </a:t>
            </a:r>
            <a:r>
              <a:rPr lang="en-US" altLang="ko-KR" sz="2000" dirty="0" err="1"/>
              <a:t>showInfo</a:t>
            </a:r>
            <a:r>
              <a:rPr lang="en-US" altLang="ko-KR" sz="200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35456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차량과 전기차 클래스 상속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876074" y="1017973"/>
            <a:ext cx="6885238" cy="59544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C00000"/>
                </a:solidFill>
                <a:latin typeface="+mn-ea"/>
              </a:rPr>
              <a:t>차량과 전기차 클래스 상속</a:t>
            </a:r>
            <a:r>
              <a:rPr lang="en-US" altLang="ko-KR" sz="2000" b="1" dirty="0">
                <a:solidFill>
                  <a:srgbClr val="C00000"/>
                </a:solidFill>
                <a:latin typeface="+mn-ea"/>
              </a:rPr>
              <a:t>   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584" y="1633591"/>
            <a:ext cx="8074972" cy="393008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37098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차량과 전기차 클래스 상속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876074" y="1017973"/>
            <a:ext cx="6885238" cy="59544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C00000"/>
                </a:solidFill>
                <a:latin typeface="+mn-ea"/>
              </a:rPr>
              <a:t>차량과 전기차 클래스 상속</a:t>
            </a:r>
            <a:endParaRPr lang="en-US" altLang="ko-KR" sz="2000" b="1" dirty="0">
              <a:solidFill>
                <a:srgbClr val="C00000"/>
              </a:solidFill>
              <a:latin typeface="+mn-ea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C00000"/>
                </a:solidFill>
                <a:latin typeface="+mn-ea"/>
              </a:rPr>
              <a:t>   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568" y="1624625"/>
            <a:ext cx="8496944" cy="323372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0271590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super() – </a:t>
            </a:r>
            <a:r>
              <a:rPr lang="ko-KR" altLang="en-US" dirty="0"/>
              <a:t>부모 멤버 상속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876074" y="1017973"/>
            <a:ext cx="6885238" cy="59544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 err="1">
                <a:solidFill>
                  <a:srgbClr val="C00000"/>
                </a:solidFill>
              </a:rPr>
              <a:t>생성자</a:t>
            </a:r>
            <a:r>
              <a:rPr lang="ko-KR" altLang="en-US" sz="2000" b="1" dirty="0">
                <a:solidFill>
                  <a:srgbClr val="C00000"/>
                </a:solidFill>
              </a:rPr>
              <a:t> 및 메서드 상속</a:t>
            </a:r>
            <a:r>
              <a:rPr lang="ko-KR" altLang="en-US" sz="2000" b="1" dirty="0"/>
              <a:t> </a:t>
            </a:r>
            <a:r>
              <a:rPr lang="en-US" altLang="ko-KR" sz="2000" b="1" dirty="0">
                <a:solidFill>
                  <a:srgbClr val="C00000"/>
                </a:solidFill>
              </a:rPr>
              <a:t>- super() </a:t>
            </a:r>
            <a:r>
              <a:rPr lang="ko-KR" altLang="en-US" sz="2000" b="1" dirty="0">
                <a:solidFill>
                  <a:srgbClr val="C00000"/>
                </a:solidFill>
              </a:rPr>
              <a:t>사용</a:t>
            </a:r>
            <a:endParaRPr lang="en-US" altLang="ko-KR" sz="2000" b="1" dirty="0">
              <a:solidFill>
                <a:srgbClr val="00206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02060"/>
              </a:solidFill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002060"/>
                </a:solidFill>
              </a:rPr>
              <a:t>   </a:t>
            </a:r>
            <a:endParaRPr lang="en-US" altLang="ko-KR" sz="2000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00" y="1556792"/>
            <a:ext cx="7677387" cy="4782889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6156006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메서드 재정의</a:t>
            </a:r>
            <a:r>
              <a:rPr lang="en-US" altLang="ko-KR" dirty="0"/>
              <a:t>(Overriding)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853433" y="7312347"/>
            <a:ext cx="557267" cy="365125"/>
          </a:xfrm>
        </p:spPr>
        <p:txBody>
          <a:bodyPr/>
          <a:lstStyle/>
          <a:p>
            <a:fld id="{1BDE3FE7-3AEA-4B05-AC5A-802D1816ACF0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848544" y="1052736"/>
            <a:ext cx="8337399" cy="158417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 err="1">
                <a:solidFill>
                  <a:srgbClr val="C00000"/>
                </a:solidFill>
              </a:rPr>
              <a:t>메소드</a:t>
            </a:r>
            <a:r>
              <a:rPr lang="ko-KR" altLang="en-US" sz="2000" b="1" dirty="0">
                <a:solidFill>
                  <a:srgbClr val="C00000"/>
                </a:solidFill>
              </a:rPr>
              <a:t> 상속 및 재정의</a:t>
            </a:r>
            <a:r>
              <a:rPr lang="en-US" altLang="ko-KR" sz="2000" b="1" dirty="0">
                <a:solidFill>
                  <a:srgbClr val="C00000"/>
                </a:solidFill>
              </a:rPr>
              <a:t>(Method Overriding)</a:t>
            </a:r>
          </a:p>
          <a:p>
            <a:pPr lvl="1">
              <a:lnSpc>
                <a:spcPct val="150000"/>
              </a:lnSpc>
            </a:pPr>
            <a:r>
              <a:rPr lang="ko-KR" altLang="en-US" sz="1800" dirty="0"/>
              <a:t>상속된 메서드의 내용이 자식 클래스에 맞지 않을 경우</a:t>
            </a:r>
            <a:r>
              <a:rPr lang="en-US" altLang="ko-KR" sz="1800" dirty="0"/>
              <a:t>, </a:t>
            </a:r>
            <a:r>
              <a:rPr lang="ko-KR" altLang="en-US" sz="1800" dirty="0"/>
              <a:t>자식 클래스에서 동일한 메서드를 재정의 하는 것을 말한다</a:t>
            </a:r>
            <a:r>
              <a:rPr lang="en-US" altLang="ko-KR" sz="1800" dirty="0"/>
              <a:t>.</a:t>
            </a:r>
            <a:r>
              <a:rPr lang="en-US" altLang="ko-KR" sz="1800" b="1" dirty="0">
                <a:solidFill>
                  <a:srgbClr val="002060"/>
                </a:solidFill>
              </a:rPr>
              <a:t>  </a:t>
            </a:r>
          </a:p>
          <a:p>
            <a:pPr lvl="1">
              <a:lnSpc>
                <a:spcPct val="150000"/>
              </a:lnSpc>
            </a:pPr>
            <a:r>
              <a:rPr lang="ko-KR" altLang="en-US" sz="1800" b="1" dirty="0" err="1">
                <a:solidFill>
                  <a:srgbClr val="002060"/>
                </a:solidFill>
              </a:rPr>
              <a:t>단축메뉴</a:t>
            </a:r>
            <a:r>
              <a:rPr lang="ko-KR" altLang="en-US" sz="1800" b="1" dirty="0">
                <a:solidFill>
                  <a:srgbClr val="002060"/>
                </a:solidFill>
              </a:rPr>
              <a:t> </a:t>
            </a:r>
            <a:r>
              <a:rPr lang="en-US" altLang="ko-KR" sz="1800" b="1" dirty="0">
                <a:solidFill>
                  <a:srgbClr val="002060"/>
                </a:solidFill>
              </a:rPr>
              <a:t>&gt; Source &gt; Override/Implement Methods </a:t>
            </a:r>
            <a:endParaRPr lang="en-US" altLang="ko-KR" sz="2000" dirty="0"/>
          </a:p>
        </p:txBody>
      </p:sp>
      <p:sp>
        <p:nvSpPr>
          <p:cNvPr id="3" name="오른쪽 화살표 2"/>
          <p:cNvSpPr/>
          <p:nvPr/>
        </p:nvSpPr>
        <p:spPr>
          <a:xfrm>
            <a:off x="6053561" y="4348394"/>
            <a:ext cx="432048" cy="165381"/>
          </a:xfrm>
          <a:prstGeom prst="rightArrow">
            <a:avLst/>
          </a:prstGeom>
          <a:solidFill>
            <a:schemeClr val="accent4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" name="그룹 11"/>
          <p:cNvGrpSpPr/>
          <p:nvPr/>
        </p:nvGrpSpPr>
        <p:grpSpPr>
          <a:xfrm>
            <a:off x="1568624" y="3140968"/>
            <a:ext cx="4632515" cy="2580236"/>
            <a:chOff x="1568624" y="3140968"/>
            <a:chExt cx="4632515" cy="2580236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09686" y="3140968"/>
              <a:ext cx="4176435" cy="2580236"/>
            </a:xfrm>
            <a:prstGeom prst="rect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</p:pic>
        <p:cxnSp>
          <p:nvCxnSpPr>
            <p:cNvPr id="8" name="직선 연결선 7"/>
            <p:cNvCxnSpPr/>
            <p:nvPr/>
          </p:nvCxnSpPr>
          <p:spPr>
            <a:xfrm>
              <a:off x="1568624" y="5085184"/>
              <a:ext cx="2376264" cy="0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연결선 10"/>
            <p:cNvCxnSpPr/>
            <p:nvPr/>
          </p:nvCxnSpPr>
          <p:spPr>
            <a:xfrm>
              <a:off x="3824875" y="3933056"/>
              <a:ext cx="2376264" cy="0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/>
          <a:srcRect r="19811"/>
          <a:stretch/>
        </p:blipFill>
        <p:spPr>
          <a:xfrm>
            <a:off x="6639495" y="3278456"/>
            <a:ext cx="2520280" cy="213987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51590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 매출 전표 만들기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1424608" y="1628801"/>
            <a:ext cx="5087640" cy="86409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altLang="ko-KR" sz="1800" dirty="0">
                <a:solidFill>
                  <a:srgbClr val="002060"/>
                </a:solidFill>
              </a:rPr>
              <a:t>Drink(</a:t>
            </a:r>
            <a:r>
              <a:rPr lang="ko-KR" altLang="en-US" sz="1800" dirty="0">
                <a:solidFill>
                  <a:srgbClr val="002060"/>
                </a:solidFill>
              </a:rPr>
              <a:t>음료</a:t>
            </a:r>
            <a:r>
              <a:rPr lang="en-US" altLang="ko-KR" sz="1800" dirty="0">
                <a:solidFill>
                  <a:srgbClr val="002060"/>
                </a:solidFill>
              </a:rPr>
              <a:t>) </a:t>
            </a:r>
            <a:r>
              <a:rPr lang="ko-KR" altLang="en-US" sz="1800" dirty="0">
                <a:solidFill>
                  <a:srgbClr val="002060"/>
                </a:solidFill>
              </a:rPr>
              <a:t>클래스 만들기</a:t>
            </a:r>
            <a:endParaRPr lang="en-US" altLang="ko-KR" sz="1800" dirty="0">
              <a:solidFill>
                <a:srgbClr val="002060"/>
              </a:solidFill>
            </a:endParaRPr>
          </a:p>
          <a:p>
            <a:pPr>
              <a:lnSpc>
                <a:spcPct val="100000"/>
              </a:lnSpc>
            </a:pPr>
            <a:r>
              <a:rPr lang="en-US" altLang="ko-KR" sz="1800" dirty="0">
                <a:solidFill>
                  <a:srgbClr val="002060"/>
                </a:solidFill>
              </a:rPr>
              <a:t>Drink</a:t>
            </a:r>
            <a:r>
              <a:rPr lang="ko-KR" altLang="en-US" sz="1800" dirty="0">
                <a:solidFill>
                  <a:srgbClr val="002060"/>
                </a:solidFill>
              </a:rPr>
              <a:t>를 상속한 </a:t>
            </a:r>
            <a:r>
              <a:rPr lang="en-US" altLang="ko-KR" sz="1800" dirty="0">
                <a:solidFill>
                  <a:srgbClr val="002060"/>
                </a:solidFill>
              </a:rPr>
              <a:t>Alcohol(</a:t>
            </a:r>
            <a:r>
              <a:rPr lang="ko-KR" altLang="en-US" sz="1800" dirty="0">
                <a:solidFill>
                  <a:srgbClr val="002060"/>
                </a:solidFill>
              </a:rPr>
              <a:t>술</a:t>
            </a:r>
            <a:r>
              <a:rPr lang="en-US" altLang="ko-KR" sz="1800" dirty="0">
                <a:solidFill>
                  <a:srgbClr val="002060"/>
                </a:solidFill>
              </a:rPr>
              <a:t>) </a:t>
            </a:r>
            <a:r>
              <a:rPr lang="ko-KR" altLang="en-US" sz="1800" dirty="0">
                <a:solidFill>
                  <a:srgbClr val="002060"/>
                </a:solidFill>
              </a:rPr>
              <a:t>클래스 만들기</a:t>
            </a:r>
            <a:endParaRPr lang="en-US" altLang="ko-KR" sz="1800" dirty="0">
              <a:solidFill>
                <a:srgbClr val="002060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2144688" y="2636912"/>
            <a:ext cx="2160240" cy="560743"/>
          </a:xfrm>
          <a:prstGeom prst="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+mn-ea"/>
              </a:rPr>
              <a:t>  </a:t>
            </a:r>
          </a:p>
          <a:p>
            <a:pPr algn="ctr"/>
            <a:r>
              <a:rPr lang="en-US" altLang="ko-KR" sz="2000" dirty="0">
                <a:latin typeface="+mn-ea"/>
              </a:rPr>
              <a:t>Drink(</a:t>
            </a:r>
            <a:r>
              <a:rPr lang="ko-KR" altLang="en-US" sz="2000" dirty="0">
                <a:latin typeface="+mn-ea"/>
              </a:rPr>
              <a:t>음료</a:t>
            </a:r>
            <a:r>
              <a:rPr lang="en-US" altLang="ko-KR" sz="2000" dirty="0">
                <a:latin typeface="+mn-ea"/>
              </a:rPr>
              <a:t>)</a:t>
            </a:r>
          </a:p>
          <a:p>
            <a:pPr algn="ctr"/>
            <a:endParaRPr lang="en-US" altLang="ko-KR" sz="2000" dirty="0">
              <a:latin typeface="+mn-ea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3133227" y="4074997"/>
            <a:ext cx="183161" cy="459908"/>
            <a:chOff x="4357443" y="3272952"/>
            <a:chExt cx="235517" cy="444080"/>
          </a:xfrm>
        </p:grpSpPr>
        <p:sp>
          <p:nvSpPr>
            <p:cNvPr id="23" name="이등변 삼각형 22">
              <a:extLst>
                <a:ext uri="{FF2B5EF4-FFF2-40B4-BE49-F238E27FC236}">
                  <a16:creationId xmlns:a16="http://schemas.microsoft.com/office/drawing/2014/main" id="{A928C65B-0F62-4DFC-9220-DF40E5958238}"/>
                </a:ext>
              </a:extLst>
            </p:cNvPr>
            <p:cNvSpPr/>
            <p:nvPr/>
          </p:nvSpPr>
          <p:spPr>
            <a:xfrm>
              <a:off x="4357443" y="3272952"/>
              <a:ext cx="235517" cy="154551"/>
            </a:xfrm>
            <a:prstGeom prst="triangle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D15E6F92-B9C8-4563-8C4E-646F583209B9}"/>
                </a:ext>
              </a:extLst>
            </p:cNvPr>
            <p:cNvCxnSpPr>
              <a:cxnSpLocks/>
              <a:stCxn id="23" idx="3"/>
            </p:cNvCxnSpPr>
            <p:nvPr/>
          </p:nvCxnSpPr>
          <p:spPr>
            <a:xfrm>
              <a:off x="4475202" y="3427503"/>
              <a:ext cx="0" cy="289529"/>
            </a:xfrm>
            <a:prstGeom prst="line">
              <a:avLst/>
            </a:pr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cxnSp>
      </p:grpSp>
      <p:sp>
        <p:nvSpPr>
          <p:cNvPr id="31" name="직사각형 30"/>
          <p:cNvSpPr/>
          <p:nvPr/>
        </p:nvSpPr>
        <p:spPr>
          <a:xfrm>
            <a:off x="2144688" y="4577405"/>
            <a:ext cx="2160240" cy="560743"/>
          </a:xfrm>
          <a:prstGeom prst="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+mn-ea"/>
              </a:rPr>
              <a:t>  </a:t>
            </a:r>
          </a:p>
          <a:p>
            <a:pPr algn="ctr"/>
            <a:r>
              <a:rPr lang="en-US" altLang="ko-KR" sz="2000" dirty="0">
                <a:latin typeface="+mn-ea"/>
              </a:rPr>
              <a:t>Alcohol(</a:t>
            </a:r>
            <a:r>
              <a:rPr lang="ko-KR" altLang="en-US" sz="2000" dirty="0">
                <a:latin typeface="+mn-ea"/>
              </a:rPr>
              <a:t>주류</a:t>
            </a:r>
            <a:r>
              <a:rPr lang="en-US" altLang="ko-KR" sz="2000" dirty="0">
                <a:latin typeface="+mn-ea"/>
              </a:rPr>
              <a:t>)</a:t>
            </a:r>
          </a:p>
          <a:p>
            <a:pPr algn="ctr"/>
            <a:endParaRPr lang="en-US" altLang="ko-KR" sz="2000" dirty="0">
              <a:latin typeface="+mn-ea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2144688" y="3197655"/>
            <a:ext cx="2160240" cy="803686"/>
          </a:xfrm>
          <a:prstGeom prst="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2000" dirty="0">
                <a:latin typeface="+mn-ea"/>
              </a:rPr>
              <a:t>  </a:t>
            </a:r>
          </a:p>
          <a:p>
            <a:r>
              <a:rPr lang="en-US" altLang="ko-KR" sz="2000" dirty="0">
                <a:latin typeface="+mn-ea"/>
              </a:rPr>
              <a:t> name, price</a:t>
            </a:r>
          </a:p>
          <a:p>
            <a:r>
              <a:rPr lang="en-US" altLang="ko-KR" sz="2000" dirty="0">
                <a:latin typeface="+mn-ea"/>
              </a:rPr>
              <a:t> count</a:t>
            </a:r>
          </a:p>
          <a:p>
            <a:endParaRPr lang="en-US" altLang="ko-KR" sz="2000" dirty="0">
              <a:latin typeface="+mn-ea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2144688" y="5153469"/>
            <a:ext cx="2160240" cy="560743"/>
          </a:xfrm>
          <a:prstGeom prst="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2000" dirty="0">
                <a:latin typeface="+mn-ea"/>
              </a:rPr>
              <a:t>  </a:t>
            </a:r>
          </a:p>
          <a:p>
            <a:r>
              <a:rPr lang="en-US" altLang="ko-KR" sz="2000" dirty="0">
                <a:latin typeface="+mn-ea"/>
              </a:rPr>
              <a:t> </a:t>
            </a:r>
            <a:r>
              <a:rPr lang="en-US" altLang="ko-KR" sz="2000" dirty="0" err="1">
                <a:latin typeface="+mn-ea"/>
              </a:rPr>
              <a:t>alcper</a:t>
            </a:r>
            <a:endParaRPr lang="en-US" altLang="ko-KR" sz="2000" dirty="0">
              <a:latin typeface="+mn-ea"/>
            </a:endParaRPr>
          </a:p>
          <a:p>
            <a:endParaRPr lang="en-US" altLang="ko-KR" sz="2000" dirty="0">
              <a:latin typeface="+mn-ea"/>
            </a:endParaRP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1064568" y="1020375"/>
            <a:ext cx="5085038" cy="59544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C00000"/>
                </a:solidFill>
              </a:rPr>
              <a:t>매출전표</a:t>
            </a:r>
            <a:r>
              <a:rPr lang="en-US" altLang="ko-KR" sz="2000" b="1" dirty="0">
                <a:solidFill>
                  <a:srgbClr val="C00000"/>
                </a:solidFill>
              </a:rPr>
              <a:t>(</a:t>
            </a:r>
            <a:r>
              <a:rPr lang="en-US" altLang="ko-KR" sz="2000" b="1" dirty="0" err="1">
                <a:solidFill>
                  <a:srgbClr val="C00000"/>
                </a:solidFill>
              </a:rPr>
              <a:t>salestatement</a:t>
            </a:r>
            <a:r>
              <a:rPr lang="en-US" altLang="ko-KR" sz="2000" b="1" dirty="0">
                <a:solidFill>
                  <a:srgbClr val="C00000"/>
                </a:solidFill>
              </a:rPr>
              <a:t>)</a:t>
            </a:r>
            <a:r>
              <a:rPr lang="ko-KR" altLang="en-US" sz="2000" b="1" dirty="0">
                <a:solidFill>
                  <a:srgbClr val="C00000"/>
                </a:solidFill>
              </a:rPr>
              <a:t> 만들기</a:t>
            </a:r>
            <a:endParaRPr lang="en-US" altLang="ko-KR" sz="2000" b="1" dirty="0">
              <a:solidFill>
                <a:srgbClr val="00206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02060"/>
              </a:solidFill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002060"/>
                </a:solidFill>
              </a:rPr>
              <a:t>   </a:t>
            </a:r>
            <a:endParaRPr lang="en-US" altLang="ko-KR" sz="2000" dirty="0"/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139" y="3197655"/>
            <a:ext cx="3978927" cy="185135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9091292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 매출 전표 </a:t>
            </a:r>
            <a:r>
              <a:rPr lang="en-US" altLang="ko-KR" dirty="0"/>
              <a:t>– Drink </a:t>
            </a:r>
            <a:r>
              <a:rPr lang="ko-KR" altLang="en-US" dirty="0"/>
              <a:t>클래스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1136576" y="1020375"/>
            <a:ext cx="5085038" cy="59544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02060"/>
                </a:solidFill>
              </a:rPr>
              <a:t>Drink </a:t>
            </a:r>
            <a:r>
              <a:rPr lang="ko-KR" altLang="en-US" sz="2000" b="1" dirty="0">
                <a:solidFill>
                  <a:srgbClr val="002060"/>
                </a:solidFill>
              </a:rPr>
              <a:t>클래스</a:t>
            </a:r>
            <a:endParaRPr lang="en-US" altLang="ko-KR" sz="2000" b="1" dirty="0">
              <a:solidFill>
                <a:srgbClr val="00206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02060"/>
              </a:solidFill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002060"/>
                </a:solidFill>
              </a:rPr>
              <a:t>   </a:t>
            </a:r>
            <a:endParaRPr lang="en-US" altLang="ko-KR" sz="2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616" y="1615816"/>
            <a:ext cx="6859272" cy="4045431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620289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 매출 전표 </a:t>
            </a:r>
            <a:r>
              <a:rPr lang="en-US" altLang="ko-KR" dirty="0"/>
              <a:t>– Drink </a:t>
            </a:r>
            <a:r>
              <a:rPr lang="ko-KR" altLang="en-US" dirty="0"/>
              <a:t>클래스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1136576" y="1020375"/>
            <a:ext cx="5085038" cy="59544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02060"/>
                </a:solidFill>
              </a:rPr>
              <a:t>Drink </a:t>
            </a:r>
            <a:r>
              <a:rPr lang="ko-KR" altLang="en-US" sz="2000" b="1" dirty="0">
                <a:solidFill>
                  <a:srgbClr val="002060"/>
                </a:solidFill>
              </a:rPr>
              <a:t>클래스</a:t>
            </a:r>
            <a:endParaRPr lang="en-US" altLang="ko-KR" sz="2000" b="1" dirty="0">
              <a:solidFill>
                <a:srgbClr val="00206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02060"/>
              </a:solidFill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002060"/>
                </a:solidFill>
              </a:rPr>
              <a:t>   </a:t>
            </a:r>
            <a:endParaRPr lang="en-US" altLang="ko-KR" sz="2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616" y="1700808"/>
            <a:ext cx="7131305" cy="232281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2530507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매출 전표 </a:t>
            </a:r>
            <a:r>
              <a:rPr lang="en-US" altLang="ko-KR" dirty="0"/>
              <a:t>– Alcohol </a:t>
            </a:r>
            <a:r>
              <a:rPr lang="ko-KR" altLang="en-US" dirty="0"/>
              <a:t>클래스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1136576" y="1020375"/>
            <a:ext cx="5085038" cy="59544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02060"/>
                </a:solidFill>
              </a:rPr>
              <a:t>Alcohol </a:t>
            </a:r>
            <a:r>
              <a:rPr lang="ko-KR" altLang="en-US" sz="2000" b="1" dirty="0">
                <a:solidFill>
                  <a:srgbClr val="002060"/>
                </a:solidFill>
              </a:rPr>
              <a:t>클래스</a:t>
            </a:r>
            <a:endParaRPr lang="en-US" altLang="ko-KR" sz="2000" b="1" dirty="0">
              <a:solidFill>
                <a:srgbClr val="00206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02060"/>
              </a:solidFill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002060"/>
                </a:solidFill>
              </a:rPr>
              <a:t>   </a:t>
            </a:r>
            <a:endParaRPr lang="en-US" altLang="ko-KR" sz="2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08" y="1615816"/>
            <a:ext cx="8010667" cy="4405471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12697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매출 전표 </a:t>
            </a:r>
            <a:r>
              <a:rPr lang="en-US" altLang="ko-KR" dirty="0"/>
              <a:t>– Main </a:t>
            </a:r>
            <a:r>
              <a:rPr lang="ko-KR" altLang="en-US" dirty="0"/>
              <a:t>클래스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1136576" y="1020375"/>
            <a:ext cx="5085038" cy="59544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 err="1">
                <a:solidFill>
                  <a:srgbClr val="002060"/>
                </a:solidFill>
              </a:rPr>
              <a:t>SaleStatement</a:t>
            </a:r>
            <a:r>
              <a:rPr lang="en-US" altLang="ko-KR" sz="2000" b="1" dirty="0">
                <a:solidFill>
                  <a:srgbClr val="002060"/>
                </a:solidFill>
              </a:rPr>
              <a:t> </a:t>
            </a:r>
            <a:r>
              <a:rPr lang="ko-KR" altLang="en-US" sz="2000" b="1" dirty="0">
                <a:solidFill>
                  <a:srgbClr val="002060"/>
                </a:solidFill>
              </a:rPr>
              <a:t>테스트</a:t>
            </a:r>
            <a:r>
              <a:rPr lang="en-US" altLang="ko-KR" sz="2000" b="1" dirty="0">
                <a:solidFill>
                  <a:srgbClr val="002060"/>
                </a:solidFill>
              </a:rPr>
              <a:t>1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02060"/>
              </a:solidFill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002060"/>
                </a:solidFill>
              </a:rPr>
              <a:t>   </a:t>
            </a:r>
            <a:endParaRPr lang="en-US" altLang="ko-KR" sz="2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615" y="1632354"/>
            <a:ext cx="7155339" cy="3740861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657677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매출 전표 </a:t>
            </a:r>
            <a:r>
              <a:rPr lang="en-US" altLang="ko-KR" dirty="0"/>
              <a:t>– Main </a:t>
            </a:r>
            <a:r>
              <a:rPr lang="ko-KR" altLang="en-US" dirty="0"/>
              <a:t>클래스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1136576" y="1020375"/>
            <a:ext cx="5085038" cy="59544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 err="1">
                <a:solidFill>
                  <a:srgbClr val="002060"/>
                </a:solidFill>
              </a:rPr>
              <a:t>SaleStatement</a:t>
            </a:r>
            <a:r>
              <a:rPr lang="en-US" altLang="ko-KR" sz="2000" b="1" dirty="0">
                <a:solidFill>
                  <a:srgbClr val="002060"/>
                </a:solidFill>
              </a:rPr>
              <a:t> </a:t>
            </a:r>
            <a:r>
              <a:rPr lang="ko-KR" altLang="en-US" sz="2000" b="1" dirty="0">
                <a:solidFill>
                  <a:srgbClr val="002060"/>
                </a:solidFill>
              </a:rPr>
              <a:t>테스트</a:t>
            </a:r>
            <a:r>
              <a:rPr lang="en-US" altLang="ko-KR" sz="2000" b="1" dirty="0">
                <a:solidFill>
                  <a:srgbClr val="002060"/>
                </a:solidFill>
              </a:rPr>
              <a:t>1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02060"/>
              </a:solidFill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002060"/>
                </a:solidFill>
              </a:rPr>
              <a:t>   </a:t>
            </a:r>
            <a:endParaRPr lang="en-US" altLang="ko-KR" sz="2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552" y="1649485"/>
            <a:ext cx="8314812" cy="247814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21613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매출 전표 </a:t>
            </a:r>
            <a:r>
              <a:rPr lang="en-US" altLang="ko-KR" dirty="0"/>
              <a:t>– Main </a:t>
            </a:r>
            <a:r>
              <a:rPr lang="ko-KR" altLang="en-US" dirty="0"/>
              <a:t>클래스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1136576" y="1020375"/>
            <a:ext cx="5085038" cy="59544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 err="1">
                <a:solidFill>
                  <a:srgbClr val="002060"/>
                </a:solidFill>
              </a:rPr>
              <a:t>SaleStatement</a:t>
            </a:r>
            <a:r>
              <a:rPr lang="en-US" altLang="ko-KR" sz="2000" b="1" dirty="0">
                <a:solidFill>
                  <a:srgbClr val="002060"/>
                </a:solidFill>
              </a:rPr>
              <a:t> </a:t>
            </a:r>
            <a:r>
              <a:rPr lang="ko-KR" altLang="en-US" sz="2000" b="1" dirty="0">
                <a:solidFill>
                  <a:srgbClr val="002060"/>
                </a:solidFill>
              </a:rPr>
              <a:t>테스트</a:t>
            </a:r>
            <a:r>
              <a:rPr lang="en-US" altLang="ko-KR" sz="2000" b="1" dirty="0">
                <a:solidFill>
                  <a:srgbClr val="002060"/>
                </a:solidFill>
              </a:rPr>
              <a:t>2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02060"/>
              </a:solidFill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002060"/>
                </a:solidFill>
              </a:rPr>
              <a:t>   </a:t>
            </a:r>
            <a:endParaRPr lang="en-US" altLang="ko-KR" sz="20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632" y="1700809"/>
            <a:ext cx="4931247" cy="403244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3072581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매출 전표 </a:t>
            </a:r>
            <a:r>
              <a:rPr lang="en-US" altLang="ko-KR" dirty="0"/>
              <a:t>– Main </a:t>
            </a:r>
            <a:r>
              <a:rPr lang="ko-KR" altLang="en-US" dirty="0"/>
              <a:t>클래스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1136576" y="1020375"/>
            <a:ext cx="5085038" cy="59544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 err="1">
                <a:solidFill>
                  <a:srgbClr val="002060"/>
                </a:solidFill>
              </a:rPr>
              <a:t>SaleStatement</a:t>
            </a:r>
            <a:r>
              <a:rPr lang="en-US" altLang="ko-KR" sz="2000" b="1" dirty="0">
                <a:solidFill>
                  <a:srgbClr val="002060"/>
                </a:solidFill>
              </a:rPr>
              <a:t> </a:t>
            </a:r>
            <a:r>
              <a:rPr lang="ko-KR" altLang="en-US" sz="2000" b="1" dirty="0">
                <a:solidFill>
                  <a:srgbClr val="002060"/>
                </a:solidFill>
              </a:rPr>
              <a:t>테스트</a:t>
            </a:r>
            <a:r>
              <a:rPr lang="en-US" altLang="ko-KR" sz="2000" b="1" dirty="0">
                <a:solidFill>
                  <a:srgbClr val="002060"/>
                </a:solidFill>
              </a:rPr>
              <a:t>2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02060"/>
              </a:solidFill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002060"/>
                </a:solidFill>
              </a:rPr>
              <a:t>   </a:t>
            </a:r>
            <a:endParaRPr lang="en-US" altLang="ko-KR" sz="2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08" y="1615817"/>
            <a:ext cx="7223084" cy="354137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814475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실습 문제</a:t>
            </a:r>
            <a:r>
              <a:rPr lang="en-US" altLang="ko-KR" dirty="0"/>
              <a:t> - </a:t>
            </a:r>
            <a:r>
              <a:rPr lang="ko-KR" altLang="en-US" dirty="0"/>
              <a:t>상속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858168" y="908720"/>
            <a:ext cx="819928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/>
              <a:t>-------------------------------------------------------------------------------------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   </a:t>
            </a:r>
            <a:r>
              <a:rPr lang="ko-KR" altLang="en-US" dirty="0"/>
              <a:t>다음 코드는 오류가 발생합니다</a:t>
            </a:r>
            <a:r>
              <a:rPr lang="en-US" altLang="ko-KR" dirty="0"/>
              <a:t>. </a:t>
            </a:r>
            <a:r>
              <a:rPr lang="ko-KR" altLang="en-US" dirty="0"/>
              <a:t>오류를 설명하고 해결해 보세요              </a:t>
            </a:r>
            <a:r>
              <a:rPr lang="en-US" altLang="ko-KR" dirty="0"/>
              <a:t>-------------------------------------------------------------------------------------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08" y="1832050"/>
            <a:ext cx="4406362" cy="432048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6549247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 err="1"/>
              <a:t>다형성</a:t>
            </a:r>
            <a:r>
              <a:rPr lang="en-US" altLang="ko-KR" dirty="0"/>
              <a:t>(polymorphism)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853433" y="7312347"/>
            <a:ext cx="557267" cy="365125"/>
          </a:xfrm>
        </p:spPr>
        <p:txBody>
          <a:bodyPr/>
          <a:lstStyle/>
          <a:p>
            <a:fld id="{1BDE3FE7-3AEA-4B05-AC5A-802D1816ACF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1020089" y="980728"/>
            <a:ext cx="4652991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ko-KR" altLang="en-US" sz="2000" b="1" dirty="0">
                <a:solidFill>
                  <a:srgbClr val="C00000"/>
                </a:solidFill>
              </a:rPr>
              <a:t> </a:t>
            </a:r>
            <a:r>
              <a:rPr lang="ko-KR" altLang="en-US" sz="2000" b="1" dirty="0" err="1">
                <a:solidFill>
                  <a:srgbClr val="C00000"/>
                </a:solidFill>
              </a:rPr>
              <a:t>다형성이란</a:t>
            </a:r>
            <a:r>
              <a:rPr lang="en-US" altLang="ko-KR" sz="2000" b="1" dirty="0">
                <a:solidFill>
                  <a:srgbClr val="C00000"/>
                </a:solidFill>
              </a:rPr>
              <a:t>?</a:t>
            </a:r>
            <a:endParaRPr lang="en-US" altLang="ko-KR" sz="1800" dirty="0"/>
          </a:p>
        </p:txBody>
      </p:sp>
      <p:sp>
        <p:nvSpPr>
          <p:cNvPr id="9" name="직사각형 8"/>
          <p:cNvSpPr/>
          <p:nvPr/>
        </p:nvSpPr>
        <p:spPr>
          <a:xfrm>
            <a:off x="3728864" y="3284984"/>
            <a:ext cx="1052292" cy="560743"/>
          </a:xfrm>
          <a:prstGeom prst="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+mn-ea"/>
              </a:rPr>
              <a:t>  </a:t>
            </a:r>
          </a:p>
          <a:p>
            <a:pPr algn="ctr"/>
            <a:r>
              <a:rPr lang="en-US" altLang="ko-KR" dirty="0">
                <a:latin typeface="+mn-ea"/>
              </a:rPr>
              <a:t>Animal</a:t>
            </a:r>
          </a:p>
          <a:p>
            <a:pPr algn="ctr"/>
            <a:endParaRPr lang="en-US" altLang="ko-KR" dirty="0"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363025" y="4796533"/>
            <a:ext cx="1080120" cy="560743"/>
          </a:xfrm>
          <a:prstGeom prst="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+mn-ea"/>
              </a:rPr>
              <a:t>Human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3659169" y="4805691"/>
            <a:ext cx="1080120" cy="560743"/>
          </a:xfrm>
          <a:prstGeom prst="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+mn-ea"/>
              </a:rPr>
              <a:t>Horse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4955313" y="4805691"/>
            <a:ext cx="1055755" cy="560743"/>
          </a:xfrm>
          <a:prstGeom prst="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+mn-ea"/>
              </a:rPr>
              <a:t>Eagle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3083103" y="3912293"/>
            <a:ext cx="2304258" cy="884240"/>
            <a:chOff x="3224806" y="3272951"/>
            <a:chExt cx="2592290" cy="884240"/>
          </a:xfrm>
        </p:grpSpPr>
        <p:grpSp>
          <p:nvGrpSpPr>
            <p:cNvPr id="11" name="그룹 10"/>
            <p:cNvGrpSpPr/>
            <p:nvPr/>
          </p:nvGrpSpPr>
          <p:grpSpPr>
            <a:xfrm>
              <a:off x="4403192" y="3272951"/>
              <a:ext cx="235517" cy="444080"/>
              <a:chOff x="4357443" y="3272952"/>
              <a:chExt cx="235517" cy="444080"/>
            </a:xfrm>
          </p:grpSpPr>
          <p:sp>
            <p:nvSpPr>
              <p:cNvPr id="12" name="이등변 삼각형 11">
                <a:extLst>
                  <a:ext uri="{FF2B5EF4-FFF2-40B4-BE49-F238E27FC236}">
                    <a16:creationId xmlns:a16="http://schemas.microsoft.com/office/drawing/2014/main" id="{A928C65B-0F62-4DFC-9220-DF40E5958238}"/>
                  </a:ext>
                </a:extLst>
              </p:cNvPr>
              <p:cNvSpPr/>
              <p:nvPr/>
            </p:nvSpPr>
            <p:spPr>
              <a:xfrm>
                <a:off x="4357443" y="3272952"/>
                <a:ext cx="235517" cy="154551"/>
              </a:xfrm>
              <a:prstGeom prst="triangle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3" name="직선 연결선 12">
                <a:extLst>
                  <a:ext uri="{FF2B5EF4-FFF2-40B4-BE49-F238E27FC236}">
                    <a16:creationId xmlns:a16="http://schemas.microsoft.com/office/drawing/2014/main" id="{D15E6F92-B9C8-4563-8C4E-646F583209B9}"/>
                  </a:ext>
                </a:extLst>
              </p:cNvPr>
              <p:cNvCxnSpPr>
                <a:cxnSpLocks/>
                <a:stCxn id="12" idx="3"/>
              </p:cNvCxnSpPr>
              <p:nvPr/>
            </p:nvCxnSpPr>
            <p:spPr>
              <a:xfrm>
                <a:off x="4475202" y="3427503"/>
                <a:ext cx="0" cy="289529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</p:cxnSp>
        </p:grpSp>
        <p:grpSp>
          <p:nvGrpSpPr>
            <p:cNvPr id="2" name="그룹 1"/>
            <p:cNvGrpSpPr/>
            <p:nvPr/>
          </p:nvGrpSpPr>
          <p:grpSpPr>
            <a:xfrm>
              <a:off x="3224806" y="3717032"/>
              <a:ext cx="2592290" cy="440159"/>
              <a:chOff x="3152799" y="3717032"/>
              <a:chExt cx="2592290" cy="440159"/>
            </a:xfrm>
          </p:grpSpPr>
          <p:grpSp>
            <p:nvGrpSpPr>
              <p:cNvPr id="16" name="그룹 15"/>
              <p:cNvGrpSpPr/>
              <p:nvPr/>
            </p:nvGrpSpPr>
            <p:grpSpPr>
              <a:xfrm>
                <a:off x="3152799" y="3717032"/>
                <a:ext cx="1296145" cy="440159"/>
                <a:chOff x="1406902" y="3597087"/>
                <a:chExt cx="2271555" cy="440159"/>
              </a:xfrm>
            </p:grpSpPr>
            <p:cxnSp>
              <p:nvCxnSpPr>
                <p:cNvPr id="17" name="직선 연결선 16"/>
                <p:cNvCxnSpPr/>
                <p:nvPr/>
              </p:nvCxnSpPr>
              <p:spPr>
                <a:xfrm>
                  <a:off x="1406902" y="3597087"/>
                  <a:ext cx="2271555" cy="0"/>
                </a:xfrm>
                <a:prstGeom prst="line">
                  <a:avLst/>
                </a:prstGeom>
                <a:ln/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</p:cxnSp>
            <p:cxnSp>
              <p:nvCxnSpPr>
                <p:cNvPr id="18" name="직선 연결선 17"/>
                <p:cNvCxnSpPr/>
                <p:nvPr/>
              </p:nvCxnSpPr>
              <p:spPr>
                <a:xfrm>
                  <a:off x="1406902" y="3597087"/>
                  <a:ext cx="0" cy="440159"/>
                </a:xfrm>
                <a:prstGeom prst="line">
                  <a:avLst/>
                </a:prstGeom>
                <a:ln/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</p:cxnSp>
            <p:cxnSp>
              <p:nvCxnSpPr>
                <p:cNvPr id="19" name="직선 연결선 18"/>
                <p:cNvCxnSpPr/>
                <p:nvPr/>
              </p:nvCxnSpPr>
              <p:spPr>
                <a:xfrm>
                  <a:off x="3678457" y="3597087"/>
                  <a:ext cx="0" cy="440159"/>
                </a:xfrm>
                <a:prstGeom prst="line">
                  <a:avLst/>
                </a:prstGeom>
                <a:ln/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</p:cxnSp>
          </p:grpSp>
          <p:grpSp>
            <p:nvGrpSpPr>
              <p:cNvPr id="22" name="그룹 21"/>
              <p:cNvGrpSpPr/>
              <p:nvPr/>
            </p:nvGrpSpPr>
            <p:grpSpPr>
              <a:xfrm>
                <a:off x="4448944" y="3717032"/>
                <a:ext cx="1296145" cy="440159"/>
                <a:chOff x="1406902" y="3597087"/>
                <a:chExt cx="2271555" cy="440159"/>
              </a:xfrm>
            </p:grpSpPr>
            <p:cxnSp>
              <p:nvCxnSpPr>
                <p:cNvPr id="23" name="직선 연결선 22"/>
                <p:cNvCxnSpPr/>
                <p:nvPr/>
              </p:nvCxnSpPr>
              <p:spPr>
                <a:xfrm>
                  <a:off x="1406902" y="3597087"/>
                  <a:ext cx="2271555" cy="0"/>
                </a:xfrm>
                <a:prstGeom prst="line">
                  <a:avLst/>
                </a:prstGeom>
                <a:ln/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</p:cxnSp>
            <p:cxnSp>
              <p:nvCxnSpPr>
                <p:cNvPr id="24" name="직선 연결선 23"/>
                <p:cNvCxnSpPr/>
                <p:nvPr/>
              </p:nvCxnSpPr>
              <p:spPr>
                <a:xfrm>
                  <a:off x="1406902" y="3597087"/>
                  <a:ext cx="0" cy="440159"/>
                </a:xfrm>
                <a:prstGeom prst="line">
                  <a:avLst/>
                </a:prstGeom>
                <a:ln/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</p:cxnSp>
            <p:cxnSp>
              <p:nvCxnSpPr>
                <p:cNvPr id="25" name="직선 연결선 24"/>
                <p:cNvCxnSpPr/>
                <p:nvPr/>
              </p:nvCxnSpPr>
              <p:spPr>
                <a:xfrm>
                  <a:off x="3678457" y="3597087"/>
                  <a:ext cx="0" cy="440159"/>
                </a:xfrm>
                <a:prstGeom prst="line">
                  <a:avLst/>
                </a:prstGeom>
                <a:ln/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</p:cxnSp>
          </p:grpSp>
        </p:grpSp>
      </p:grpSp>
      <p:sp>
        <p:nvSpPr>
          <p:cNvPr id="27" name="TextBox 26"/>
          <p:cNvSpPr txBox="1"/>
          <p:nvPr/>
        </p:nvSpPr>
        <p:spPr>
          <a:xfrm>
            <a:off x="1265140" y="1514108"/>
            <a:ext cx="758829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 err="1"/>
              <a:t>다형성</a:t>
            </a:r>
            <a:r>
              <a:rPr lang="en-US" altLang="ko-KR" sz="1600" b="1" dirty="0"/>
              <a:t>(polymorphism)</a:t>
            </a:r>
            <a:r>
              <a:rPr lang="ko-KR" altLang="en-US" sz="1600" dirty="0"/>
              <a:t>이란 하나의 타입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자료형</a:t>
            </a:r>
            <a:r>
              <a:rPr lang="en-US" altLang="ko-KR" sz="1600" dirty="0"/>
              <a:t>)</a:t>
            </a:r>
            <a:r>
              <a:rPr lang="ko-KR" altLang="en-US" sz="1600" dirty="0"/>
              <a:t>에 대입되는 객체에 따라서 실행결과가 다양한 형태로 나오는 성질을 말한다</a:t>
            </a:r>
            <a:r>
              <a:rPr lang="en-US" altLang="ko-KR" sz="1600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동적 바인딩 </a:t>
            </a:r>
            <a:r>
              <a:rPr lang="en-US" altLang="ko-KR" sz="1600" dirty="0"/>
              <a:t>– </a:t>
            </a:r>
            <a:r>
              <a:rPr lang="ko-KR" altLang="en-US" sz="1600" dirty="0"/>
              <a:t>메서드가 인스턴스의 타입에 맞게 실행되는 것을 말한다</a:t>
            </a:r>
            <a:r>
              <a:rPr lang="en-US" altLang="ko-KR" sz="1600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장점 </a:t>
            </a:r>
            <a:r>
              <a:rPr lang="en-US" altLang="ko-KR" sz="1600" dirty="0"/>
              <a:t>: </a:t>
            </a:r>
            <a:r>
              <a:rPr lang="ko-KR" altLang="en-US" sz="1600" dirty="0"/>
              <a:t>코드의 </a:t>
            </a:r>
            <a:r>
              <a:rPr lang="ko-KR" altLang="en-US" sz="1600" dirty="0" err="1"/>
              <a:t>재사용성</a:t>
            </a:r>
            <a:r>
              <a:rPr lang="ko-KR" altLang="en-US" sz="1600" dirty="0"/>
              <a:t> 향상</a:t>
            </a:r>
            <a:r>
              <a:rPr lang="en-US" altLang="ko-KR" sz="1600" dirty="0"/>
              <a:t>, </a:t>
            </a:r>
            <a:r>
              <a:rPr lang="ko-KR" altLang="en-US" sz="1600" dirty="0"/>
              <a:t>유지 보수 용이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1696215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 err="1"/>
              <a:t>다형성</a:t>
            </a:r>
            <a:r>
              <a:rPr lang="en-US" altLang="ko-KR" dirty="0"/>
              <a:t>(polymorphism)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853433" y="7312347"/>
            <a:ext cx="557267" cy="365125"/>
          </a:xfrm>
        </p:spPr>
        <p:txBody>
          <a:bodyPr/>
          <a:lstStyle/>
          <a:p>
            <a:fld id="{1BDE3FE7-3AEA-4B05-AC5A-802D1816ACF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016563" y="990290"/>
            <a:ext cx="7968885" cy="494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ko-KR" altLang="en-US" sz="2000" b="1" dirty="0" err="1">
                <a:solidFill>
                  <a:srgbClr val="C00000"/>
                </a:solidFill>
              </a:rPr>
              <a:t>다형성</a:t>
            </a:r>
            <a:r>
              <a:rPr lang="ko-KR" altLang="en-US" sz="2000" b="1" dirty="0">
                <a:solidFill>
                  <a:srgbClr val="C00000"/>
                </a:solidFill>
              </a:rPr>
              <a:t> 예제</a:t>
            </a:r>
            <a:endParaRPr lang="en-US" altLang="ko-KR" sz="2000" b="1" dirty="0">
              <a:solidFill>
                <a:srgbClr val="C00000"/>
              </a:solidFill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615" y="1556792"/>
            <a:ext cx="5878518" cy="446449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835258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 err="1"/>
              <a:t>다형성</a:t>
            </a:r>
            <a:r>
              <a:rPr lang="en-US" altLang="ko-KR" dirty="0"/>
              <a:t>(polymorphism)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853433" y="7312347"/>
            <a:ext cx="557267" cy="365125"/>
          </a:xfrm>
        </p:spPr>
        <p:txBody>
          <a:bodyPr/>
          <a:lstStyle/>
          <a:p>
            <a:fld id="{1BDE3FE7-3AEA-4B05-AC5A-802D1816ACF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1020089" y="945923"/>
            <a:ext cx="4652991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ko-KR" altLang="en-US" sz="2000" b="1" dirty="0">
                <a:solidFill>
                  <a:srgbClr val="C00000"/>
                </a:solidFill>
              </a:rPr>
              <a:t> </a:t>
            </a:r>
            <a:r>
              <a:rPr lang="ko-KR" altLang="en-US" sz="2000" b="1" dirty="0" err="1">
                <a:solidFill>
                  <a:srgbClr val="C00000"/>
                </a:solidFill>
              </a:rPr>
              <a:t>다형성</a:t>
            </a:r>
            <a:r>
              <a:rPr lang="ko-KR" altLang="en-US" sz="2000" b="1" dirty="0">
                <a:solidFill>
                  <a:srgbClr val="C00000"/>
                </a:solidFill>
              </a:rPr>
              <a:t> </a:t>
            </a:r>
            <a:r>
              <a:rPr lang="en-US" altLang="ko-KR" sz="2000" b="1" dirty="0">
                <a:solidFill>
                  <a:srgbClr val="C00000"/>
                </a:solidFill>
              </a:rPr>
              <a:t>– </a:t>
            </a:r>
            <a:r>
              <a:rPr lang="ko-KR" altLang="en-US" sz="2000" b="1" dirty="0">
                <a:solidFill>
                  <a:srgbClr val="C00000"/>
                </a:solidFill>
              </a:rPr>
              <a:t>인스턴스 생성</a:t>
            </a:r>
            <a:endParaRPr lang="en-US" altLang="ko-KR" sz="18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616" y="1521988"/>
            <a:ext cx="5184576" cy="468818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9103" y="4725144"/>
            <a:ext cx="3570041" cy="93610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11028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 자동 타입 변환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DE3FE7-3AEA-4B05-AC5A-802D1816ACF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1" name="육각형 30"/>
          <p:cNvSpPr/>
          <p:nvPr/>
        </p:nvSpPr>
        <p:spPr>
          <a:xfrm>
            <a:off x="3585945" y="2780928"/>
            <a:ext cx="1134878" cy="792088"/>
          </a:xfrm>
          <a:prstGeom prst="hexagon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dirty="0">
              <a:latin typeface="+mn-ea"/>
            </a:endParaRPr>
          </a:p>
          <a:p>
            <a:pPr algn="ctr"/>
            <a:r>
              <a:rPr lang="ko-KR" altLang="en-US" dirty="0">
                <a:latin typeface="+mn-ea"/>
              </a:rPr>
              <a:t>상위</a:t>
            </a:r>
            <a:endParaRPr lang="en-US" altLang="ko-KR" dirty="0">
              <a:latin typeface="+mn-ea"/>
            </a:endParaRPr>
          </a:p>
          <a:p>
            <a:pPr algn="ctr"/>
            <a:endParaRPr lang="en-US" altLang="ko-KR" dirty="0">
              <a:latin typeface="+mn-ea"/>
            </a:endParaRPr>
          </a:p>
        </p:txBody>
      </p:sp>
      <p:grpSp>
        <p:nvGrpSpPr>
          <p:cNvPr id="36" name="그룹 35"/>
          <p:cNvGrpSpPr/>
          <p:nvPr/>
        </p:nvGrpSpPr>
        <p:grpSpPr>
          <a:xfrm>
            <a:off x="4070283" y="3657001"/>
            <a:ext cx="166201" cy="603251"/>
            <a:chOff x="4357443" y="3272952"/>
            <a:chExt cx="235517" cy="444080"/>
          </a:xfrm>
        </p:grpSpPr>
        <p:sp>
          <p:nvSpPr>
            <p:cNvPr id="46" name="이등변 삼각형 45">
              <a:extLst>
                <a:ext uri="{FF2B5EF4-FFF2-40B4-BE49-F238E27FC236}">
                  <a16:creationId xmlns:a16="http://schemas.microsoft.com/office/drawing/2014/main" id="{A928C65B-0F62-4DFC-9220-DF40E5958238}"/>
                </a:ext>
              </a:extLst>
            </p:cNvPr>
            <p:cNvSpPr/>
            <p:nvPr/>
          </p:nvSpPr>
          <p:spPr>
            <a:xfrm>
              <a:off x="4357443" y="3272952"/>
              <a:ext cx="235517" cy="154551"/>
            </a:xfrm>
            <a:prstGeom prst="triangle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D15E6F92-B9C8-4563-8C4E-646F583209B9}"/>
                </a:ext>
              </a:extLst>
            </p:cNvPr>
            <p:cNvCxnSpPr>
              <a:cxnSpLocks/>
              <a:stCxn id="46" idx="3"/>
            </p:cNvCxnSpPr>
            <p:nvPr/>
          </p:nvCxnSpPr>
          <p:spPr>
            <a:xfrm>
              <a:off x="4475202" y="3427503"/>
              <a:ext cx="0" cy="289529"/>
            </a:xfrm>
            <a:prstGeom prst="line">
              <a:avLst/>
            </a:pr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352600" y="1556792"/>
            <a:ext cx="79208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>
              <a:lnSpc>
                <a:spcPct val="150000"/>
              </a:lnSpc>
            </a:pPr>
            <a:r>
              <a:rPr lang="ko-KR" altLang="en-US" dirty="0">
                <a:solidFill>
                  <a:srgbClr val="002060"/>
                </a:solidFill>
              </a:rPr>
              <a:t>타입 변환이란 다른 타입으로 변환하는 행위를 말한다</a:t>
            </a:r>
            <a:r>
              <a:rPr lang="en-US" altLang="ko-KR" dirty="0">
                <a:solidFill>
                  <a:srgbClr val="002060"/>
                </a:solidFill>
              </a:rPr>
              <a:t>. </a:t>
            </a:r>
            <a:r>
              <a:rPr lang="ko-KR" altLang="en-US" dirty="0">
                <a:solidFill>
                  <a:srgbClr val="002060"/>
                </a:solidFill>
              </a:rPr>
              <a:t>클래스도 기본타입처럼 형 변환을 하는데 상속 관계에 있는 클래스 사이에서 발생한다</a:t>
            </a:r>
            <a:r>
              <a:rPr lang="en-US" altLang="ko-KR" dirty="0">
                <a:solidFill>
                  <a:srgbClr val="002060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10655" y="2880123"/>
            <a:ext cx="16561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Parent </a:t>
            </a:r>
            <a:r>
              <a:rPr lang="ko-KR" altLang="en-US" sz="1600" dirty="0"/>
              <a:t>클래스</a:t>
            </a:r>
            <a:endParaRPr lang="en-US" altLang="ko-KR" sz="1600" dirty="0"/>
          </a:p>
          <a:p>
            <a:pPr algn="ctr"/>
            <a:r>
              <a:rPr lang="en-US" altLang="ko-KR" sz="1600" dirty="0"/>
              <a:t>(</a:t>
            </a:r>
            <a:r>
              <a:rPr lang="ko-KR" altLang="en-US" sz="1600" dirty="0"/>
              <a:t>부모</a:t>
            </a:r>
            <a:r>
              <a:rPr lang="en-US" altLang="ko-KR" sz="1600" dirty="0"/>
              <a:t>)</a:t>
            </a:r>
            <a:endParaRPr lang="ko-KR" altLang="en-US" sz="1600" dirty="0"/>
          </a:p>
        </p:txBody>
      </p:sp>
      <p:sp>
        <p:nvSpPr>
          <p:cNvPr id="49" name="육각형 48"/>
          <p:cNvSpPr/>
          <p:nvPr/>
        </p:nvSpPr>
        <p:spPr>
          <a:xfrm>
            <a:off x="3585945" y="4311066"/>
            <a:ext cx="1134878" cy="792088"/>
          </a:xfrm>
          <a:prstGeom prst="hexagon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dirty="0">
              <a:latin typeface="+mn-ea"/>
            </a:endParaRPr>
          </a:p>
          <a:p>
            <a:pPr algn="ctr"/>
            <a:r>
              <a:rPr lang="ko-KR" altLang="en-US" dirty="0">
                <a:latin typeface="+mn-ea"/>
              </a:rPr>
              <a:t>하위</a:t>
            </a:r>
            <a:endParaRPr lang="en-US" altLang="ko-KR" dirty="0">
              <a:latin typeface="+mn-ea"/>
            </a:endParaRPr>
          </a:p>
          <a:p>
            <a:pPr algn="ctr"/>
            <a:endParaRPr lang="en-US" altLang="ko-KR" dirty="0">
              <a:latin typeface="+mn-ea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910655" y="4260252"/>
            <a:ext cx="16561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Child </a:t>
            </a:r>
            <a:r>
              <a:rPr lang="ko-KR" altLang="en-US" sz="1600" dirty="0"/>
              <a:t>클래스</a:t>
            </a:r>
            <a:endParaRPr lang="en-US" altLang="ko-KR" sz="1600" dirty="0"/>
          </a:p>
          <a:p>
            <a:pPr algn="ctr"/>
            <a:r>
              <a:rPr lang="en-US" altLang="ko-KR" sz="1600" dirty="0"/>
              <a:t>(</a:t>
            </a:r>
            <a:r>
              <a:rPr lang="ko-KR" altLang="en-US" sz="1600" dirty="0"/>
              <a:t>자식</a:t>
            </a:r>
            <a:r>
              <a:rPr lang="en-US" altLang="ko-KR" sz="1600" dirty="0"/>
              <a:t>)</a:t>
            </a:r>
            <a:endParaRPr lang="ko-KR" altLang="en-US" sz="1600" dirty="0"/>
          </a:p>
        </p:txBody>
      </p:sp>
      <p:sp>
        <p:nvSpPr>
          <p:cNvPr id="9" name="TextBox 8"/>
          <p:cNvSpPr txBox="1"/>
          <p:nvPr/>
        </p:nvSpPr>
        <p:spPr>
          <a:xfrm>
            <a:off x="5296887" y="4152291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부모타입 변수 </a:t>
            </a:r>
            <a:r>
              <a:rPr lang="en-US" altLang="ko-KR" dirty="0"/>
              <a:t>= </a:t>
            </a:r>
            <a:r>
              <a:rPr lang="ko-KR" altLang="en-US" dirty="0"/>
              <a:t>자식타입</a:t>
            </a:r>
          </a:p>
        </p:txBody>
      </p:sp>
      <p:sp>
        <p:nvSpPr>
          <p:cNvPr id="51" name="자유형 50"/>
          <p:cNvSpPr/>
          <p:nvPr/>
        </p:nvSpPr>
        <p:spPr>
          <a:xfrm>
            <a:off x="6075520" y="3712259"/>
            <a:ext cx="1483567" cy="354564"/>
          </a:xfrm>
          <a:custGeom>
            <a:avLst/>
            <a:gdLst>
              <a:gd name="connsiteX0" fmla="*/ 1474237 w 1483567"/>
              <a:gd name="connsiteY0" fmla="*/ 317241 h 354564"/>
              <a:gd name="connsiteX1" fmla="*/ 1483567 w 1483567"/>
              <a:gd name="connsiteY1" fmla="*/ 0 h 354564"/>
              <a:gd name="connsiteX2" fmla="*/ 0 w 1483567"/>
              <a:gd name="connsiteY2" fmla="*/ 9331 h 354564"/>
              <a:gd name="connsiteX3" fmla="*/ 9330 w 1483567"/>
              <a:gd name="connsiteY3" fmla="*/ 354564 h 354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83567" h="354564">
                <a:moveTo>
                  <a:pt x="1474237" y="317241"/>
                </a:moveTo>
                <a:lnTo>
                  <a:pt x="1483567" y="0"/>
                </a:lnTo>
                <a:lnTo>
                  <a:pt x="0" y="9331"/>
                </a:lnTo>
                <a:lnTo>
                  <a:pt x="9330" y="354564"/>
                </a:lnTo>
              </a:path>
            </a:pathLst>
          </a:custGeom>
          <a:noFill/>
          <a:ln w="19050"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/>
          <p:cNvSpPr txBox="1"/>
          <p:nvPr/>
        </p:nvSpPr>
        <p:spPr>
          <a:xfrm>
            <a:off x="6052971" y="3303369"/>
            <a:ext cx="1512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>
                <a:solidFill>
                  <a:srgbClr val="0070C0"/>
                </a:solidFill>
              </a:rPr>
              <a:t>자동타입변환</a:t>
            </a:r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1020089" y="1052736"/>
            <a:ext cx="4652991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ko-KR" altLang="en-US" sz="2000" b="1" dirty="0">
                <a:solidFill>
                  <a:srgbClr val="C00000"/>
                </a:solidFill>
              </a:rPr>
              <a:t> 타입변환이란</a:t>
            </a:r>
            <a:r>
              <a:rPr lang="en-US" altLang="ko-KR" sz="2000" b="1" dirty="0">
                <a:solidFill>
                  <a:srgbClr val="C00000"/>
                </a:solidFill>
              </a:rPr>
              <a:t>?</a:t>
            </a:r>
            <a:endParaRPr lang="en-US" altLang="ko-KR" sz="1800" dirty="0"/>
          </a:p>
        </p:txBody>
      </p:sp>
    </p:spTree>
    <p:extLst>
      <p:ext uri="{BB962C8B-B14F-4D97-AF65-F5344CB8AC3E}">
        <p14:creationId xmlns:p14="http://schemas.microsoft.com/office/powerpoint/2010/main" val="28773611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 err="1"/>
              <a:t>다형성</a:t>
            </a:r>
            <a:r>
              <a:rPr lang="en-US" altLang="ko-KR" dirty="0"/>
              <a:t>(polymorphism)</a:t>
            </a: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503" y="2464091"/>
            <a:ext cx="6194922" cy="3485189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853433" y="7312347"/>
            <a:ext cx="557267" cy="365125"/>
          </a:xfrm>
        </p:spPr>
        <p:txBody>
          <a:bodyPr/>
          <a:lstStyle/>
          <a:p>
            <a:fld id="{1BDE3FE7-3AEA-4B05-AC5A-802D1816ACF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모서리가 둥근 직사각형 6"/>
          <p:cNvSpPr/>
          <p:nvPr/>
        </p:nvSpPr>
        <p:spPr>
          <a:xfrm>
            <a:off x="5241032" y="5076644"/>
            <a:ext cx="1872208" cy="432048"/>
          </a:xfrm>
          <a:prstGeom prst="roundRect">
            <a:avLst>
              <a:gd name="adj" fmla="val 13110"/>
            </a:avLst>
          </a:prstGeom>
          <a:noFill/>
          <a:ln w="285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7067026" y="4466779"/>
            <a:ext cx="2065040" cy="338554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ko-KR" altLang="en-US" sz="1600" dirty="0"/>
              <a:t>매개변수의 </a:t>
            </a:r>
            <a:r>
              <a:rPr lang="ko-KR" altLang="en-US" sz="1600" dirty="0" err="1"/>
              <a:t>다형성</a:t>
            </a:r>
            <a:endParaRPr lang="ko-KR" altLang="en-US" sz="1600" dirty="0"/>
          </a:p>
        </p:txBody>
      </p:sp>
      <p:cxnSp>
        <p:nvCxnSpPr>
          <p:cNvPr id="10" name="직선 화살표 연결선 9"/>
          <p:cNvCxnSpPr>
            <a:stCxn id="9" idx="1"/>
            <a:endCxn id="7" idx="0"/>
          </p:cNvCxnSpPr>
          <p:nvPr/>
        </p:nvCxnSpPr>
        <p:spPr>
          <a:xfrm flipH="1">
            <a:off x="6177136" y="4636056"/>
            <a:ext cx="889890" cy="440588"/>
          </a:xfrm>
          <a:prstGeom prst="straightConnector1">
            <a:avLst/>
          </a:prstGeom>
          <a:ln w="19050">
            <a:solidFill>
              <a:srgbClr val="C00000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98AF3A4E-7D90-4241-89FE-799D6F9D5A94}"/>
              </a:ext>
            </a:extLst>
          </p:cNvPr>
          <p:cNvSpPr txBox="1">
            <a:spLocks/>
          </p:cNvSpPr>
          <p:nvPr/>
        </p:nvSpPr>
        <p:spPr>
          <a:xfrm>
            <a:off x="1020089" y="1052736"/>
            <a:ext cx="4652991" cy="5760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ko-KR" altLang="en-US" sz="2000" b="1" dirty="0">
                <a:solidFill>
                  <a:srgbClr val="C00000"/>
                </a:solidFill>
              </a:rPr>
              <a:t> 매개변수의 </a:t>
            </a:r>
            <a:r>
              <a:rPr lang="ko-KR" altLang="en-US" sz="2000" b="1" dirty="0" err="1">
                <a:solidFill>
                  <a:srgbClr val="C00000"/>
                </a:solidFill>
              </a:rPr>
              <a:t>다형성</a:t>
            </a:r>
            <a:endParaRPr lang="en-US" altLang="ko-KR" sz="1800" dirty="0"/>
          </a:p>
        </p:txBody>
      </p:sp>
      <p:sp>
        <p:nvSpPr>
          <p:cNvPr id="14" name="직사각형 13"/>
          <p:cNvSpPr/>
          <p:nvPr/>
        </p:nvSpPr>
        <p:spPr>
          <a:xfrm>
            <a:off x="1349493" y="1550514"/>
            <a:ext cx="677186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/>
              <a:t>매개값을</a:t>
            </a:r>
            <a:r>
              <a:rPr lang="ko-KR" altLang="en-US" sz="1600" dirty="0"/>
              <a:t> 다양화하기 위해 매개변수를 부모타입으로 선언하고 </a:t>
            </a:r>
            <a:r>
              <a:rPr lang="ko-KR" altLang="en-US" sz="1600" dirty="0" err="1"/>
              <a:t>호출할때</a:t>
            </a:r>
            <a:r>
              <a:rPr lang="ko-KR" altLang="en-US" sz="1600" dirty="0"/>
              <a:t> 자식 객체를 대입한다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4427047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 err="1"/>
              <a:t>다형성</a:t>
            </a:r>
            <a:r>
              <a:rPr lang="ko-KR" altLang="en-US" dirty="0"/>
              <a:t> 예제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853433" y="7312347"/>
            <a:ext cx="557267" cy="365125"/>
          </a:xfrm>
        </p:spPr>
        <p:txBody>
          <a:bodyPr/>
          <a:lstStyle/>
          <a:p>
            <a:fld id="{1BDE3FE7-3AEA-4B05-AC5A-802D1816ACF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3334369" y="1995622"/>
            <a:ext cx="1052292" cy="560743"/>
          </a:xfrm>
          <a:prstGeom prst="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+mn-ea"/>
              </a:rPr>
              <a:t>  </a:t>
            </a:r>
          </a:p>
          <a:p>
            <a:pPr algn="ctr"/>
            <a:r>
              <a:rPr lang="en-US" altLang="ko-KR" dirty="0">
                <a:latin typeface="+mn-ea"/>
              </a:rPr>
              <a:t>Fruit</a:t>
            </a:r>
          </a:p>
          <a:p>
            <a:pPr algn="ctr"/>
            <a:endParaRPr lang="en-US" altLang="ko-KR" dirty="0"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968530" y="3507171"/>
            <a:ext cx="1080120" cy="560743"/>
          </a:xfrm>
          <a:prstGeom prst="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+mn-ea"/>
              </a:rPr>
              <a:t>Grape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3264674" y="3516329"/>
            <a:ext cx="1080120" cy="560743"/>
          </a:xfrm>
          <a:prstGeom prst="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+mn-ea"/>
              </a:rPr>
              <a:t>Peach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4560818" y="3516329"/>
            <a:ext cx="1055755" cy="560743"/>
          </a:xfrm>
          <a:prstGeom prst="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+mn-ea"/>
              </a:rPr>
              <a:t>Banana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2688608" y="2622931"/>
            <a:ext cx="2304258" cy="884240"/>
            <a:chOff x="3224806" y="3272951"/>
            <a:chExt cx="2592290" cy="884240"/>
          </a:xfrm>
        </p:grpSpPr>
        <p:grpSp>
          <p:nvGrpSpPr>
            <p:cNvPr id="11" name="그룹 10"/>
            <p:cNvGrpSpPr/>
            <p:nvPr/>
          </p:nvGrpSpPr>
          <p:grpSpPr>
            <a:xfrm>
              <a:off x="4403192" y="3272951"/>
              <a:ext cx="235517" cy="444080"/>
              <a:chOff x="4357443" y="3272952"/>
              <a:chExt cx="235517" cy="444080"/>
            </a:xfrm>
          </p:grpSpPr>
          <p:sp>
            <p:nvSpPr>
              <p:cNvPr id="12" name="이등변 삼각형 11">
                <a:extLst>
                  <a:ext uri="{FF2B5EF4-FFF2-40B4-BE49-F238E27FC236}">
                    <a16:creationId xmlns:a16="http://schemas.microsoft.com/office/drawing/2014/main" id="{A928C65B-0F62-4DFC-9220-DF40E5958238}"/>
                  </a:ext>
                </a:extLst>
              </p:cNvPr>
              <p:cNvSpPr/>
              <p:nvPr/>
            </p:nvSpPr>
            <p:spPr>
              <a:xfrm>
                <a:off x="4357443" y="3272952"/>
                <a:ext cx="235517" cy="154551"/>
              </a:xfrm>
              <a:prstGeom prst="triangle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3" name="직선 연결선 12">
                <a:extLst>
                  <a:ext uri="{FF2B5EF4-FFF2-40B4-BE49-F238E27FC236}">
                    <a16:creationId xmlns:a16="http://schemas.microsoft.com/office/drawing/2014/main" id="{D15E6F92-B9C8-4563-8C4E-646F583209B9}"/>
                  </a:ext>
                </a:extLst>
              </p:cNvPr>
              <p:cNvCxnSpPr>
                <a:cxnSpLocks/>
                <a:stCxn id="12" idx="3"/>
              </p:cNvCxnSpPr>
              <p:nvPr/>
            </p:nvCxnSpPr>
            <p:spPr>
              <a:xfrm>
                <a:off x="4475202" y="3427503"/>
                <a:ext cx="0" cy="289529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</p:cxnSp>
        </p:grpSp>
        <p:grpSp>
          <p:nvGrpSpPr>
            <p:cNvPr id="2" name="그룹 1"/>
            <p:cNvGrpSpPr/>
            <p:nvPr/>
          </p:nvGrpSpPr>
          <p:grpSpPr>
            <a:xfrm>
              <a:off x="3224806" y="3717032"/>
              <a:ext cx="2592290" cy="440159"/>
              <a:chOff x="3152799" y="3717032"/>
              <a:chExt cx="2592290" cy="440159"/>
            </a:xfrm>
          </p:grpSpPr>
          <p:grpSp>
            <p:nvGrpSpPr>
              <p:cNvPr id="16" name="그룹 15"/>
              <p:cNvGrpSpPr/>
              <p:nvPr/>
            </p:nvGrpSpPr>
            <p:grpSpPr>
              <a:xfrm>
                <a:off x="3152799" y="3717032"/>
                <a:ext cx="1296145" cy="440159"/>
                <a:chOff x="1406902" y="3597087"/>
                <a:chExt cx="2271555" cy="440159"/>
              </a:xfrm>
            </p:grpSpPr>
            <p:cxnSp>
              <p:nvCxnSpPr>
                <p:cNvPr id="17" name="직선 연결선 16"/>
                <p:cNvCxnSpPr/>
                <p:nvPr/>
              </p:nvCxnSpPr>
              <p:spPr>
                <a:xfrm>
                  <a:off x="1406902" y="3597087"/>
                  <a:ext cx="2271555" cy="0"/>
                </a:xfrm>
                <a:prstGeom prst="line">
                  <a:avLst/>
                </a:prstGeom>
                <a:ln/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</p:cxnSp>
            <p:cxnSp>
              <p:nvCxnSpPr>
                <p:cNvPr id="18" name="직선 연결선 17"/>
                <p:cNvCxnSpPr/>
                <p:nvPr/>
              </p:nvCxnSpPr>
              <p:spPr>
                <a:xfrm>
                  <a:off x="1406902" y="3597087"/>
                  <a:ext cx="0" cy="440159"/>
                </a:xfrm>
                <a:prstGeom prst="line">
                  <a:avLst/>
                </a:prstGeom>
                <a:ln/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</p:cxnSp>
            <p:cxnSp>
              <p:nvCxnSpPr>
                <p:cNvPr id="19" name="직선 연결선 18"/>
                <p:cNvCxnSpPr/>
                <p:nvPr/>
              </p:nvCxnSpPr>
              <p:spPr>
                <a:xfrm>
                  <a:off x="3678457" y="3597087"/>
                  <a:ext cx="0" cy="440159"/>
                </a:xfrm>
                <a:prstGeom prst="line">
                  <a:avLst/>
                </a:prstGeom>
                <a:ln/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</p:cxnSp>
          </p:grpSp>
          <p:grpSp>
            <p:nvGrpSpPr>
              <p:cNvPr id="22" name="그룹 21"/>
              <p:cNvGrpSpPr/>
              <p:nvPr/>
            </p:nvGrpSpPr>
            <p:grpSpPr>
              <a:xfrm>
                <a:off x="4448944" y="3717032"/>
                <a:ext cx="1296145" cy="440159"/>
                <a:chOff x="1406902" y="3597087"/>
                <a:chExt cx="2271555" cy="440159"/>
              </a:xfrm>
            </p:grpSpPr>
            <p:cxnSp>
              <p:nvCxnSpPr>
                <p:cNvPr id="23" name="직선 연결선 22"/>
                <p:cNvCxnSpPr/>
                <p:nvPr/>
              </p:nvCxnSpPr>
              <p:spPr>
                <a:xfrm>
                  <a:off x="1406902" y="3597087"/>
                  <a:ext cx="2271555" cy="0"/>
                </a:xfrm>
                <a:prstGeom prst="line">
                  <a:avLst/>
                </a:prstGeom>
                <a:ln/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</p:cxnSp>
            <p:cxnSp>
              <p:nvCxnSpPr>
                <p:cNvPr id="24" name="직선 연결선 23"/>
                <p:cNvCxnSpPr/>
                <p:nvPr/>
              </p:nvCxnSpPr>
              <p:spPr>
                <a:xfrm>
                  <a:off x="1406902" y="3597087"/>
                  <a:ext cx="0" cy="440159"/>
                </a:xfrm>
                <a:prstGeom prst="line">
                  <a:avLst/>
                </a:prstGeom>
                <a:ln/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</p:cxnSp>
            <p:cxnSp>
              <p:nvCxnSpPr>
                <p:cNvPr id="25" name="직선 연결선 24"/>
                <p:cNvCxnSpPr/>
                <p:nvPr/>
              </p:nvCxnSpPr>
              <p:spPr>
                <a:xfrm>
                  <a:off x="3678457" y="3597087"/>
                  <a:ext cx="0" cy="440159"/>
                </a:xfrm>
                <a:prstGeom prst="line">
                  <a:avLst/>
                </a:prstGeom>
                <a:ln/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</p:cxnSp>
          </p:grpSp>
        </p:grpSp>
      </p:grpSp>
      <p:sp>
        <p:nvSpPr>
          <p:cNvPr id="27" name="TextBox 26"/>
          <p:cNvSpPr txBox="1"/>
          <p:nvPr/>
        </p:nvSpPr>
        <p:spPr>
          <a:xfrm>
            <a:off x="927348" y="1052736"/>
            <a:ext cx="5177780" cy="494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C00000"/>
                </a:solidFill>
              </a:rPr>
              <a:t>과일의 종류를 선택하는 </a:t>
            </a:r>
            <a:r>
              <a:rPr lang="ko-KR" altLang="en-US" sz="2000" b="1" dirty="0" err="1">
                <a:solidFill>
                  <a:srgbClr val="C00000"/>
                </a:solidFill>
              </a:rPr>
              <a:t>다형성</a:t>
            </a:r>
            <a:r>
              <a:rPr lang="ko-KR" altLang="en-US" sz="2000" b="1" dirty="0">
                <a:solidFill>
                  <a:srgbClr val="C00000"/>
                </a:solidFill>
              </a:rPr>
              <a:t> 예제</a:t>
            </a:r>
            <a:endParaRPr lang="en-US" altLang="ko-KR" sz="2000" b="1" dirty="0">
              <a:solidFill>
                <a:srgbClr val="C00000"/>
              </a:solidFill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205" y="4635085"/>
            <a:ext cx="3221062" cy="78373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82619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 err="1"/>
              <a:t>다형성</a:t>
            </a:r>
            <a:r>
              <a:rPr lang="ko-KR" altLang="en-US" dirty="0"/>
              <a:t> 예제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853433" y="7312347"/>
            <a:ext cx="557267" cy="365125"/>
          </a:xfrm>
        </p:spPr>
        <p:txBody>
          <a:bodyPr/>
          <a:lstStyle/>
          <a:p>
            <a:fld id="{1BDE3FE7-3AEA-4B05-AC5A-802D1816ACF0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1064568" y="1052736"/>
            <a:ext cx="32403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b="1" dirty="0"/>
              <a:t>Fruit, Grape </a:t>
            </a:r>
            <a:r>
              <a:rPr lang="ko-KR" altLang="en-US" sz="2000" b="1" dirty="0"/>
              <a:t>클래스</a:t>
            </a:r>
            <a:r>
              <a:rPr lang="en-US" altLang="ko-KR" sz="2000" b="1" dirty="0"/>
              <a:t> 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5481" y="3509934"/>
            <a:ext cx="7201936" cy="1926833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5480" y="1728826"/>
            <a:ext cx="5689768" cy="1587003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011406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 err="1"/>
              <a:t>다형성</a:t>
            </a:r>
            <a:r>
              <a:rPr lang="ko-KR" altLang="en-US" dirty="0"/>
              <a:t> 예제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853433" y="7312347"/>
            <a:ext cx="557267" cy="365125"/>
          </a:xfrm>
        </p:spPr>
        <p:txBody>
          <a:bodyPr/>
          <a:lstStyle/>
          <a:p>
            <a:fld id="{1BDE3FE7-3AEA-4B05-AC5A-802D1816ACF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992560" y="996165"/>
            <a:ext cx="727280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b="1" dirty="0"/>
              <a:t>Peach, Banana </a:t>
            </a:r>
            <a:r>
              <a:rPr lang="ko-KR" altLang="en-US" sz="2000" b="1" dirty="0"/>
              <a:t>클래스</a:t>
            </a:r>
            <a:endParaRPr lang="en-US" altLang="ko-KR" sz="2000" b="1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813" y="1644237"/>
            <a:ext cx="6912768" cy="179782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6813" y="3660461"/>
            <a:ext cx="6912768" cy="1856771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6234786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 err="1"/>
              <a:t>다형성</a:t>
            </a:r>
            <a:r>
              <a:rPr lang="ko-KR" altLang="en-US" dirty="0"/>
              <a:t> 예제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853433" y="7312347"/>
            <a:ext cx="557267" cy="365125"/>
          </a:xfrm>
        </p:spPr>
        <p:txBody>
          <a:bodyPr/>
          <a:lstStyle/>
          <a:p>
            <a:fld id="{1BDE3FE7-3AEA-4B05-AC5A-802D1816ACF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136576" y="980728"/>
            <a:ext cx="25922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b="1" dirty="0" err="1"/>
              <a:t>FruitTest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클래스</a:t>
            </a:r>
            <a:endParaRPr lang="en-US" altLang="ko-KR" sz="2000" b="1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632" y="1628800"/>
            <a:ext cx="5616624" cy="4460501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757685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강제 타입 변환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853433" y="7312347"/>
            <a:ext cx="557267" cy="365125"/>
          </a:xfrm>
        </p:spPr>
        <p:txBody>
          <a:bodyPr/>
          <a:lstStyle/>
          <a:p>
            <a:fld id="{1BDE3FE7-3AEA-4B05-AC5A-802D1816ACF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424608" y="1547230"/>
            <a:ext cx="7776863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상위 클래스로 형 변환되었던 하위 클래스를 다시 원래 </a:t>
            </a:r>
            <a:r>
              <a:rPr lang="ko-KR" altLang="en-US" sz="1600" dirty="0" err="1"/>
              <a:t>자료형으로</a:t>
            </a:r>
            <a:r>
              <a:rPr lang="ko-KR" altLang="en-US" sz="1600" dirty="0"/>
              <a:t> 형 변환하는 것을 다운 캐스팅이라고 한다</a:t>
            </a:r>
            <a:r>
              <a:rPr lang="en-US" altLang="ko-KR" sz="1600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하위 클래스의 </a:t>
            </a:r>
            <a:r>
              <a:rPr lang="ko-KR" altLang="en-US" sz="1600" dirty="0" err="1"/>
              <a:t>메소드를</a:t>
            </a:r>
            <a:r>
              <a:rPr lang="ko-KR" altLang="en-US" sz="1600" dirty="0"/>
              <a:t> 사용해야 할 때 형 변환한다</a:t>
            </a:r>
            <a:r>
              <a:rPr lang="en-US" altLang="ko-KR" sz="1600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 err="1">
                <a:solidFill>
                  <a:srgbClr val="C00000"/>
                </a:solidFill>
              </a:rPr>
              <a:t>instanceof</a:t>
            </a:r>
            <a:r>
              <a:rPr lang="en-US" altLang="ko-KR" sz="1600" dirty="0"/>
              <a:t>  </a:t>
            </a:r>
            <a:r>
              <a:rPr lang="ko-KR" altLang="en-US" sz="1600" dirty="0" err="1"/>
              <a:t>예약어</a:t>
            </a:r>
            <a:r>
              <a:rPr lang="ko-KR" altLang="en-US" sz="1600" dirty="0"/>
              <a:t> 사용</a:t>
            </a:r>
            <a:endParaRPr lang="en-US" altLang="ko-KR" sz="1600" dirty="0"/>
          </a:p>
        </p:txBody>
      </p:sp>
      <p:sp>
        <p:nvSpPr>
          <p:cNvPr id="8" name="TextBox 7"/>
          <p:cNvSpPr txBox="1"/>
          <p:nvPr/>
        </p:nvSpPr>
        <p:spPr>
          <a:xfrm>
            <a:off x="1016563" y="1052736"/>
            <a:ext cx="703278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ko-KR" altLang="en-US" sz="2000" b="1" dirty="0">
                <a:solidFill>
                  <a:srgbClr val="C00000"/>
                </a:solidFill>
              </a:rPr>
              <a:t>하위 클래스로 형 변환 </a:t>
            </a:r>
            <a:r>
              <a:rPr lang="en-US" altLang="ko-KR" sz="2000" b="1" dirty="0">
                <a:solidFill>
                  <a:srgbClr val="C00000"/>
                </a:solidFill>
              </a:rPr>
              <a:t>-&gt; </a:t>
            </a:r>
            <a:r>
              <a:rPr lang="ko-KR" altLang="en-US" sz="2000" b="1" dirty="0">
                <a:solidFill>
                  <a:srgbClr val="C00000"/>
                </a:solidFill>
              </a:rPr>
              <a:t>강제 </a:t>
            </a:r>
            <a:r>
              <a:rPr lang="ko-KR" altLang="en-US" sz="2000" b="1" dirty="0" err="1">
                <a:solidFill>
                  <a:srgbClr val="C00000"/>
                </a:solidFill>
              </a:rPr>
              <a:t>타입변환</a:t>
            </a:r>
            <a:r>
              <a:rPr lang="en-US" altLang="ko-KR" sz="2000" b="1" dirty="0">
                <a:solidFill>
                  <a:srgbClr val="C00000"/>
                </a:solidFill>
              </a:rPr>
              <a:t>(</a:t>
            </a:r>
            <a:r>
              <a:rPr lang="ko-KR" altLang="en-US" sz="2000" b="1" dirty="0">
                <a:solidFill>
                  <a:srgbClr val="C00000"/>
                </a:solidFill>
              </a:rPr>
              <a:t>다운 캐스팅</a:t>
            </a:r>
            <a:r>
              <a:rPr lang="en-US" altLang="ko-KR" sz="2000" b="1" dirty="0">
                <a:solidFill>
                  <a:srgbClr val="C00000"/>
                </a:solidFill>
              </a:rPr>
              <a:t>)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1856656" y="3284984"/>
            <a:ext cx="4248472" cy="175432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if(animal </a:t>
            </a:r>
            <a:r>
              <a:rPr lang="en-US" altLang="ko-KR" dirty="0" err="1">
                <a:solidFill>
                  <a:srgbClr val="C00000"/>
                </a:solidFill>
              </a:rPr>
              <a:t>instanceof</a:t>
            </a:r>
            <a:r>
              <a:rPr lang="en-US" altLang="ko-KR" dirty="0"/>
              <a:t> Human) { 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 Human </a:t>
            </a:r>
            <a:r>
              <a:rPr lang="en-US" altLang="ko-KR" dirty="0" err="1"/>
              <a:t>human</a:t>
            </a:r>
            <a:r>
              <a:rPr lang="en-US" altLang="ko-KR" dirty="0"/>
              <a:t> = (Human)animal;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 </a:t>
            </a:r>
            <a:r>
              <a:rPr lang="en-US" altLang="ko-KR" dirty="0" err="1"/>
              <a:t>human.readBook</a:t>
            </a:r>
            <a:r>
              <a:rPr lang="en-US" altLang="ko-KR" dirty="0"/>
              <a:t>();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69599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강제 타입 변환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853433" y="7312347"/>
            <a:ext cx="557267" cy="365125"/>
          </a:xfrm>
        </p:spPr>
        <p:txBody>
          <a:bodyPr/>
          <a:lstStyle/>
          <a:p>
            <a:fld id="{1BDE3FE7-3AEA-4B05-AC5A-802D1816ACF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016563" y="1048961"/>
            <a:ext cx="523258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solidFill>
                  <a:srgbClr val="C00000"/>
                </a:solidFill>
              </a:rPr>
              <a:t>부모에 없는 자식 클래스의 </a:t>
            </a:r>
            <a:r>
              <a:rPr lang="ko-KR" altLang="en-US" b="1" dirty="0" err="1">
                <a:solidFill>
                  <a:srgbClr val="C00000"/>
                </a:solidFill>
              </a:rPr>
              <a:t>메서드</a:t>
            </a:r>
            <a:r>
              <a:rPr lang="ko-KR" altLang="en-US" b="1" dirty="0">
                <a:solidFill>
                  <a:srgbClr val="C00000"/>
                </a:solidFill>
              </a:rPr>
              <a:t> 사용 예제</a:t>
            </a:r>
            <a:endParaRPr lang="en-US" altLang="ko-KR" b="1" dirty="0">
              <a:solidFill>
                <a:srgbClr val="C00000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616" y="1628800"/>
            <a:ext cx="5705073" cy="446449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767618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강제 타입 변환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853433" y="7312347"/>
            <a:ext cx="557267" cy="365125"/>
          </a:xfrm>
        </p:spPr>
        <p:txBody>
          <a:bodyPr/>
          <a:lstStyle/>
          <a:p>
            <a:fld id="{1BDE3FE7-3AEA-4B05-AC5A-802D1816ACF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016563" y="1048961"/>
            <a:ext cx="523258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solidFill>
                  <a:srgbClr val="C00000"/>
                </a:solidFill>
              </a:rPr>
              <a:t>부모에 없는 자식 클래스의 </a:t>
            </a:r>
            <a:r>
              <a:rPr lang="ko-KR" altLang="en-US" b="1" dirty="0" err="1">
                <a:solidFill>
                  <a:srgbClr val="C00000"/>
                </a:solidFill>
              </a:rPr>
              <a:t>메서드</a:t>
            </a:r>
            <a:r>
              <a:rPr lang="ko-KR" altLang="en-US" b="1" dirty="0">
                <a:solidFill>
                  <a:srgbClr val="C00000"/>
                </a:solidFill>
              </a:rPr>
              <a:t> 사용 예제</a:t>
            </a:r>
            <a:endParaRPr lang="en-US" altLang="ko-KR" b="1" dirty="0">
              <a:solidFill>
                <a:srgbClr val="C00000"/>
              </a:solidFill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624" y="1628800"/>
            <a:ext cx="5966936" cy="468052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5426931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강제 타입 변환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853433" y="7312347"/>
            <a:ext cx="557267" cy="365125"/>
          </a:xfrm>
        </p:spPr>
        <p:txBody>
          <a:bodyPr/>
          <a:lstStyle/>
          <a:p>
            <a:fld id="{1BDE3FE7-3AEA-4B05-AC5A-802D1816ACF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016563" y="1048961"/>
            <a:ext cx="523258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solidFill>
                  <a:srgbClr val="C00000"/>
                </a:solidFill>
              </a:rPr>
              <a:t>부모에 없는 자식 클래스의 </a:t>
            </a:r>
            <a:r>
              <a:rPr lang="ko-KR" altLang="en-US" b="1" dirty="0" err="1">
                <a:solidFill>
                  <a:srgbClr val="C00000"/>
                </a:solidFill>
              </a:rPr>
              <a:t>메서드</a:t>
            </a:r>
            <a:r>
              <a:rPr lang="ko-KR" altLang="en-US" b="1" dirty="0">
                <a:solidFill>
                  <a:srgbClr val="C00000"/>
                </a:solidFill>
              </a:rPr>
              <a:t> 사용 예제</a:t>
            </a:r>
            <a:endParaRPr lang="en-US" altLang="ko-KR" b="1" dirty="0">
              <a:solidFill>
                <a:srgbClr val="C00000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616" y="1593355"/>
            <a:ext cx="6874734" cy="471596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8265919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</a:t>
            </a:r>
            <a:r>
              <a:rPr lang="ko-KR" altLang="en-US" dirty="0"/>
              <a:t>강제 타입 변환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853433" y="7312347"/>
            <a:ext cx="557267" cy="365125"/>
          </a:xfrm>
        </p:spPr>
        <p:txBody>
          <a:bodyPr/>
          <a:lstStyle/>
          <a:p>
            <a:fld id="{1BDE3FE7-3AEA-4B05-AC5A-802D1816ACF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016563" y="1048961"/>
            <a:ext cx="523258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solidFill>
                  <a:srgbClr val="C00000"/>
                </a:solidFill>
              </a:rPr>
              <a:t>부모에 없는 자식 클래스의 </a:t>
            </a:r>
            <a:r>
              <a:rPr lang="ko-KR" altLang="en-US" b="1" dirty="0" err="1">
                <a:solidFill>
                  <a:srgbClr val="C00000"/>
                </a:solidFill>
              </a:rPr>
              <a:t>메서드</a:t>
            </a:r>
            <a:r>
              <a:rPr lang="ko-KR" altLang="en-US" b="1" dirty="0">
                <a:solidFill>
                  <a:srgbClr val="C00000"/>
                </a:solidFill>
              </a:rPr>
              <a:t> 사용 예제</a:t>
            </a:r>
            <a:endParaRPr lang="en-US" altLang="ko-KR" b="1" dirty="0">
              <a:solidFill>
                <a:srgbClr val="C00000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00" y="1556792"/>
            <a:ext cx="5523313" cy="487547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1139" y="3573016"/>
            <a:ext cx="3272858" cy="1711349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03482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8612</TotalTime>
  <Words>645</Words>
  <Application>Microsoft Office PowerPoint</Application>
  <PresentationFormat>A4 용지(210x297mm)</PresentationFormat>
  <Paragraphs>189</Paragraphs>
  <Slides>30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7" baseType="lpstr">
      <vt:lpstr>HY헤드라인M</vt:lpstr>
      <vt:lpstr>맑은 고딕</vt:lpstr>
      <vt:lpstr>휴먼모음T</vt:lpstr>
      <vt:lpstr>휴먼엑스포</vt:lpstr>
      <vt:lpstr>Arial</vt:lpstr>
      <vt:lpstr>Wingdings</vt:lpstr>
      <vt:lpstr>Office 테마</vt:lpstr>
      <vt:lpstr>5장. 상속과 다형성</vt:lpstr>
      <vt:lpstr>  상속(Inheritance)</vt:lpstr>
      <vt:lpstr>  차량과 전기차 클래스 상속</vt:lpstr>
      <vt:lpstr>  차량과 전기차 클래스 상속</vt:lpstr>
      <vt:lpstr>  차량과 전기차 클래스 상속</vt:lpstr>
      <vt:lpstr>  super() – 부모 멤버 상속</vt:lpstr>
      <vt:lpstr>  메서드 재정의(Overriding)</vt:lpstr>
      <vt:lpstr>  매출 전표 만들기</vt:lpstr>
      <vt:lpstr>  매출 전표 – Drink 클래스</vt:lpstr>
      <vt:lpstr>  매출 전표 – Drink 클래스</vt:lpstr>
      <vt:lpstr>  매출 전표 – Alcohol 클래스</vt:lpstr>
      <vt:lpstr>  매출 전표 – Main 클래스</vt:lpstr>
      <vt:lpstr>  매출 전표 – Main 클래스</vt:lpstr>
      <vt:lpstr>  매출 전표 – Main 클래스</vt:lpstr>
      <vt:lpstr>  매출 전표 – Main 클래스</vt:lpstr>
      <vt:lpstr>  실습 문제 - 상속</vt:lpstr>
      <vt:lpstr>  다형성(polymorphism)</vt:lpstr>
      <vt:lpstr>  다형성(polymorphism)</vt:lpstr>
      <vt:lpstr>  다형성(polymorphism)</vt:lpstr>
      <vt:lpstr>  자동 타입 변환</vt:lpstr>
      <vt:lpstr>  다형성(polymorphism)</vt:lpstr>
      <vt:lpstr>  다형성 예제</vt:lpstr>
      <vt:lpstr>  다형성 예제</vt:lpstr>
      <vt:lpstr>  다형성 예제</vt:lpstr>
      <vt:lpstr>  다형성 예제</vt:lpstr>
      <vt:lpstr>  강제 타입 변환</vt:lpstr>
      <vt:lpstr>  강제 타입 변환</vt:lpstr>
      <vt:lpstr>  강제 타입 변환</vt:lpstr>
      <vt:lpstr>  강제 타입 변환</vt:lpstr>
      <vt:lpstr>  강제 타입 변환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giyong kim</cp:lastModifiedBy>
  <cp:revision>552</cp:revision>
  <dcterms:created xsi:type="dcterms:W3CDTF">2019-03-04T02:36:55Z</dcterms:created>
  <dcterms:modified xsi:type="dcterms:W3CDTF">2026-07-28T06:24:56Z</dcterms:modified>
</cp:coreProperties>
</file>