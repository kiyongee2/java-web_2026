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60"/>
  </p:normalViewPr>
  <p:slideViewPr>
    <p:cSldViewPr>
      <p:cViewPr varScale="1">
        <p:scale>
          <a:sx n="84" d="100"/>
          <a:sy n="84" d="100"/>
        </p:scale>
        <p:origin x="1224" y="91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468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041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588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737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476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591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17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716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267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131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0841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782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761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3172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 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-39555" y="6381328"/>
            <a:ext cx="9945555" cy="47667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  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53433" y="6453337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 descr="javaì ëí ì´ë¯¸ì§ ê²ìê²°ê³¼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52" y="5933989"/>
            <a:ext cx="685900" cy="6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7</a:t>
            </a:r>
            <a:r>
              <a:rPr lang="ko-KR" altLang="en-US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b="1" dirty="0" err="1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기본클래스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, </a:t>
            </a:r>
            <a:r>
              <a:rPr lang="ko-KR" altLang="en-US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예외처리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i="1" dirty="0">
                <a:solidFill>
                  <a:schemeClr val="bg1"/>
                </a:solidFill>
              </a:rPr>
              <a:t>Object, exceptions</a:t>
            </a:r>
            <a:endParaRPr lang="ko-KR" altLang="en-US" sz="18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056" y="3645024"/>
            <a:ext cx="4078760" cy="244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java </a:t>
            </a:r>
            <a:r>
              <a:rPr lang="en-US" altLang="ko-KR" dirty="0" err="1"/>
              <a:t>lang</a:t>
            </a:r>
            <a:r>
              <a:rPr lang="en-US" altLang="ko-KR" dirty="0"/>
              <a:t> </a:t>
            </a:r>
            <a:r>
              <a:rPr lang="ko-KR" altLang="en-US" dirty="0"/>
              <a:t>패키지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908720"/>
            <a:ext cx="7605319" cy="12961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C00000"/>
                </a:solidFill>
              </a:rPr>
              <a:t>java.lang</a:t>
            </a: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패키지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altLang="ko-KR" sz="1800" dirty="0" err="1">
                <a:latin typeface="+mn-ea"/>
              </a:rPr>
              <a:t>Java.lang.Object</a:t>
            </a:r>
            <a:r>
              <a:rPr lang="en-US" altLang="ko-KR" sz="1800" dirty="0">
                <a:latin typeface="+mn-ea"/>
              </a:rPr>
              <a:t> / </a:t>
            </a:r>
            <a:r>
              <a:rPr lang="en-US" altLang="ko-KR" sz="1800" dirty="0" err="1">
                <a:latin typeface="+mn-ea"/>
              </a:rPr>
              <a:t>java.lang.String</a:t>
            </a:r>
            <a:r>
              <a:rPr lang="ko-KR" altLang="en-US" sz="1800" dirty="0">
                <a:latin typeface="+mn-ea"/>
              </a:rPr>
              <a:t>은 어디에 위치할까</a:t>
            </a:r>
            <a:r>
              <a:rPr lang="en-US" altLang="ko-KR" sz="1800" dirty="0">
                <a:latin typeface="+mn-ea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>
                <a:latin typeface="+mn-ea"/>
              </a:rPr>
              <a:t>포함된 클래스와 인터페이스는 </a:t>
            </a:r>
            <a:r>
              <a:rPr lang="en-US" altLang="ko-KR" sz="1800" dirty="0">
                <a:latin typeface="+mn-ea"/>
              </a:rPr>
              <a:t>import</a:t>
            </a:r>
            <a:r>
              <a:rPr lang="ko-KR" altLang="en-US" sz="1800" dirty="0">
                <a:latin typeface="+mn-ea"/>
              </a:rPr>
              <a:t>없이 사용할 수 있다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endParaRPr lang="en-US" altLang="ko-KR" sz="18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413" y="2276872"/>
            <a:ext cx="6412907" cy="2160240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938" y="4046750"/>
            <a:ext cx="5699550" cy="2183508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4" name="모서리가 둥근 사각형 설명선 3"/>
          <p:cNvSpPr/>
          <p:nvPr/>
        </p:nvSpPr>
        <p:spPr>
          <a:xfrm>
            <a:off x="1280592" y="4474099"/>
            <a:ext cx="2232248" cy="859585"/>
          </a:xfrm>
          <a:prstGeom prst="wedgeRoundRectCallout">
            <a:avLst>
              <a:gd name="adj1" fmla="val 30273"/>
              <a:gd name="adj2" fmla="val -74834"/>
              <a:gd name="adj3" fmla="val 16667"/>
            </a:avLst>
          </a:prstGeom>
          <a:ln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자바 설치 경로에서 </a:t>
            </a:r>
            <a:r>
              <a:rPr lang="en-US" altLang="ko-KR" dirty="0"/>
              <a:t>src.zip </a:t>
            </a:r>
            <a:r>
              <a:rPr lang="ko-KR" altLang="en-US" dirty="0"/>
              <a:t>압축풀기</a:t>
            </a:r>
          </a:p>
        </p:txBody>
      </p:sp>
    </p:spTree>
    <p:extLst>
      <p:ext uri="{BB962C8B-B14F-4D97-AF65-F5344CB8AC3E}">
        <p14:creationId xmlns:p14="http://schemas.microsoft.com/office/powerpoint/2010/main" val="404200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java </a:t>
            </a:r>
            <a:r>
              <a:rPr lang="en-US" altLang="ko-KR" dirty="0" err="1"/>
              <a:t>lang</a:t>
            </a:r>
            <a:r>
              <a:rPr lang="en-US" altLang="ko-KR" dirty="0"/>
              <a:t> </a:t>
            </a:r>
            <a:r>
              <a:rPr lang="ko-KR" altLang="en-US" dirty="0"/>
              <a:t>패키지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908720"/>
            <a:ext cx="4652991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주요 클래스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A6E58BA-A535-42FB-AEEE-D46F12797C68}"/>
              </a:ext>
            </a:extLst>
          </p:cNvPr>
          <p:cNvGraphicFramePr>
            <a:graphicFrameLocks noGrp="1"/>
          </p:cNvGraphicFramePr>
          <p:nvPr/>
        </p:nvGraphicFramePr>
        <p:xfrm>
          <a:off x="1064568" y="1500159"/>
          <a:ext cx="8499054" cy="50292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887738532"/>
                    </a:ext>
                  </a:extLst>
                </a:gridCol>
                <a:gridCol w="5834758">
                  <a:extLst>
                    <a:ext uri="{9D8B030D-6E8A-4147-A177-3AD203B41FA5}">
                      <a16:colId xmlns:a16="http://schemas.microsoft.com/office/drawing/2014/main" val="3449779131"/>
                    </a:ext>
                  </a:extLst>
                </a:gridCol>
              </a:tblGrid>
              <a:tr h="4449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클 </a:t>
                      </a:r>
                      <a:r>
                        <a:rPr lang="ko-KR" altLang="en-US" sz="1800" dirty="0" err="1"/>
                        <a:t>래</a:t>
                      </a:r>
                      <a:r>
                        <a:rPr lang="ko-KR" altLang="en-US" sz="1800" dirty="0"/>
                        <a:t> 스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용 도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444912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Object 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자바 클래스의 최상위 클래스로 사용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105161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System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600" dirty="0"/>
                        <a:t>표준 입력 장치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키보드</a:t>
                      </a:r>
                      <a:r>
                        <a:rPr lang="en-US" altLang="ko-KR" sz="1600" dirty="0"/>
                        <a:t>)</a:t>
                      </a:r>
                      <a:r>
                        <a:rPr lang="ko-KR" altLang="en-US" sz="1600" dirty="0"/>
                        <a:t>로부터 데이터를 </a:t>
                      </a:r>
                      <a:r>
                        <a:rPr lang="ko-KR" altLang="en-US" sz="1600" dirty="0" err="1"/>
                        <a:t>입력받을때</a:t>
                      </a:r>
                      <a:r>
                        <a:rPr lang="ko-KR" altLang="en-US" sz="1600" dirty="0"/>
                        <a:t> 사용</a:t>
                      </a:r>
                      <a:endParaRPr lang="en-US" altLang="ko-KR" sz="1600" dirty="0"/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600" dirty="0"/>
                        <a:t>표준 출력 장치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모니터</a:t>
                      </a:r>
                      <a:r>
                        <a:rPr lang="en-US" altLang="ko-KR" sz="1600" dirty="0"/>
                        <a:t>)</a:t>
                      </a:r>
                      <a:r>
                        <a:rPr lang="ko-KR" altLang="en-US" sz="1600" dirty="0"/>
                        <a:t>로 출력하기 위해 사용</a:t>
                      </a:r>
                      <a:endParaRPr lang="en-US" altLang="ko-KR" sz="1600" dirty="0"/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600" dirty="0"/>
                        <a:t>자바 가상 기계를 </a:t>
                      </a:r>
                      <a:r>
                        <a:rPr lang="ko-KR" altLang="en-US" sz="1600" dirty="0" err="1"/>
                        <a:t>종료시킬때</a:t>
                      </a:r>
                      <a:r>
                        <a:rPr lang="ko-KR" altLang="en-US" sz="1600" dirty="0"/>
                        <a:t> 사용</a:t>
                      </a:r>
                      <a:endParaRPr lang="en-US" altLang="ko-KR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  <a:tr h="444912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Class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클래스를 메모리로 </a:t>
                      </a:r>
                      <a:r>
                        <a:rPr lang="ko-KR" altLang="en-US" sz="1600" dirty="0" err="1"/>
                        <a:t>로딩할</a:t>
                      </a:r>
                      <a:r>
                        <a:rPr lang="ko-KR" altLang="en-US" sz="1600" dirty="0"/>
                        <a:t> 때 사용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759279"/>
                  </a:ext>
                </a:extLst>
              </a:tr>
              <a:tr h="444912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String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문자열을 저장하고 여러 가지 정보를 얻을 때 사용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2480862"/>
                  </a:ext>
                </a:extLst>
              </a:tr>
              <a:tr h="444912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Math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수학함수를 이용할 때 사용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9669204"/>
                  </a:ext>
                </a:extLst>
              </a:tr>
              <a:tr h="117295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b="1" dirty="0"/>
                        <a:t> Wrapper</a:t>
                      </a:r>
                      <a:r>
                        <a:rPr lang="en-US" altLang="ko-KR" sz="1800" dirty="0"/>
                        <a:t> :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Byte, Short, Character,  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Integer,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dirty="0"/>
                        <a:t>Float, 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600" dirty="0"/>
                        <a:t>기본 타입의 데이터를 갖는 객체를 만들 때 사용</a:t>
                      </a:r>
                      <a:endParaRPr lang="en-US" altLang="ko-KR" sz="1600" dirty="0"/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600" dirty="0"/>
                        <a:t>문자열 기본타입으로 </a:t>
                      </a:r>
                      <a:r>
                        <a:rPr lang="ko-KR" altLang="en-US" sz="1600" dirty="0" err="1"/>
                        <a:t>변환할때</a:t>
                      </a:r>
                      <a:r>
                        <a:rPr lang="ko-KR" altLang="en-US" sz="1600" dirty="0"/>
                        <a:t> 사용</a:t>
                      </a:r>
                      <a:endParaRPr lang="en-US" altLang="ko-KR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5765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926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Object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908720"/>
            <a:ext cx="8894667" cy="1368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모든 클래스의 최상위 클래스 </a:t>
            </a:r>
            <a:r>
              <a:rPr lang="en-US" altLang="ko-KR" sz="2000" b="1" dirty="0">
                <a:solidFill>
                  <a:srgbClr val="C00000"/>
                </a:solidFill>
              </a:rPr>
              <a:t>Object</a:t>
            </a:r>
          </a:p>
          <a:p>
            <a:pPr lvl="1">
              <a:lnSpc>
                <a:spcPct val="100000"/>
              </a:lnSpc>
            </a:pPr>
            <a:r>
              <a:rPr lang="en-US" altLang="ko-KR" sz="1800" dirty="0" err="1"/>
              <a:t>Java.lang.Object</a:t>
            </a:r>
            <a:endParaRPr lang="en-US" altLang="ko-KR" sz="1800" dirty="0"/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모든 클래스는 </a:t>
            </a:r>
            <a:r>
              <a:rPr lang="en-US" altLang="ko-KR" sz="1800" dirty="0"/>
              <a:t>Object </a:t>
            </a:r>
            <a:r>
              <a:rPr lang="ko-KR" altLang="en-US" sz="1800" dirty="0"/>
              <a:t>클래스로부터 상속을 받는다</a:t>
            </a:r>
            <a:r>
              <a:rPr lang="en-US" altLang="ko-KR" sz="1800" dirty="0"/>
              <a:t>. (</a:t>
            </a:r>
            <a:r>
              <a:rPr lang="ko-KR" altLang="en-US" sz="1800" dirty="0"/>
              <a:t>컴파일러가 자동 변환</a:t>
            </a:r>
            <a:r>
              <a:rPr lang="en-US" altLang="ko-KR" sz="1800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68624" y="2767784"/>
            <a:ext cx="3024336" cy="14440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>
                <a:latin typeface="+mn-ea"/>
              </a:rPr>
              <a:t>class Book {</a:t>
            </a:r>
          </a:p>
          <a:p>
            <a:r>
              <a:rPr lang="en-US" altLang="ko-KR" dirty="0">
                <a:latin typeface="+mn-ea"/>
              </a:rPr>
              <a:t>    </a:t>
            </a:r>
            <a:r>
              <a:rPr lang="en-US" altLang="ko-KR" dirty="0" err="1">
                <a:latin typeface="+mn-ea"/>
              </a:rPr>
              <a:t>int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bookNumber</a:t>
            </a:r>
            <a:r>
              <a:rPr lang="en-US" altLang="ko-KR" dirty="0">
                <a:latin typeface="+mn-ea"/>
              </a:rPr>
              <a:t>;</a:t>
            </a:r>
          </a:p>
          <a:p>
            <a:r>
              <a:rPr lang="en-US" altLang="ko-KR" dirty="0">
                <a:latin typeface="+mn-ea"/>
              </a:rPr>
              <a:t>    String </a:t>
            </a:r>
            <a:r>
              <a:rPr lang="en-US" altLang="ko-KR" dirty="0" err="1">
                <a:latin typeface="+mn-ea"/>
              </a:rPr>
              <a:t>bookTitle</a:t>
            </a:r>
            <a:r>
              <a:rPr lang="en-US" altLang="ko-KR" dirty="0">
                <a:latin typeface="+mn-ea"/>
              </a:rPr>
              <a:t>;</a:t>
            </a:r>
          </a:p>
          <a:p>
            <a:r>
              <a:rPr lang="en-US" altLang="ko-KR" dirty="0">
                <a:latin typeface="+mn-ea"/>
              </a:rPr>
              <a:t>}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878263" y="2767784"/>
            <a:ext cx="3963169" cy="14440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>
                <a:latin typeface="+mn-ea"/>
              </a:rPr>
              <a:t>class Book </a:t>
            </a:r>
            <a:r>
              <a:rPr lang="en-US" altLang="ko-KR" dirty="0">
                <a:solidFill>
                  <a:srgbClr val="C00000"/>
                </a:solidFill>
                <a:latin typeface="+mn-ea"/>
              </a:rPr>
              <a:t>extends Object</a:t>
            </a:r>
            <a:r>
              <a:rPr lang="en-US" altLang="ko-KR" dirty="0">
                <a:latin typeface="+mn-ea"/>
              </a:rPr>
              <a:t> {</a:t>
            </a:r>
          </a:p>
          <a:p>
            <a:r>
              <a:rPr lang="en-US" altLang="ko-KR" dirty="0">
                <a:latin typeface="+mn-ea"/>
              </a:rPr>
              <a:t>    </a:t>
            </a:r>
            <a:r>
              <a:rPr lang="en-US" altLang="ko-KR" dirty="0" err="1">
                <a:latin typeface="+mn-ea"/>
              </a:rPr>
              <a:t>int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bookNumber</a:t>
            </a:r>
            <a:r>
              <a:rPr lang="en-US" altLang="ko-KR" dirty="0">
                <a:latin typeface="+mn-ea"/>
              </a:rPr>
              <a:t>;</a:t>
            </a:r>
          </a:p>
          <a:p>
            <a:r>
              <a:rPr lang="en-US" altLang="ko-KR" dirty="0">
                <a:latin typeface="+mn-ea"/>
              </a:rPr>
              <a:t>    String </a:t>
            </a:r>
            <a:r>
              <a:rPr lang="en-US" altLang="ko-KR" dirty="0" err="1">
                <a:latin typeface="+mn-ea"/>
              </a:rPr>
              <a:t>bookTitle</a:t>
            </a:r>
            <a:r>
              <a:rPr lang="en-US" altLang="ko-KR" dirty="0">
                <a:latin typeface="+mn-ea"/>
              </a:rPr>
              <a:t>;</a:t>
            </a:r>
          </a:p>
          <a:p>
            <a:r>
              <a:rPr lang="en-US" altLang="ko-KR" dirty="0">
                <a:latin typeface="+mn-ea"/>
              </a:rPr>
              <a:t>}</a:t>
            </a:r>
          </a:p>
        </p:txBody>
      </p:sp>
      <p:sp>
        <p:nvSpPr>
          <p:cNvPr id="12" name="모서리가 둥근 사각형 설명선 11"/>
          <p:cNvSpPr/>
          <p:nvPr/>
        </p:nvSpPr>
        <p:spPr>
          <a:xfrm>
            <a:off x="6981225" y="2312261"/>
            <a:ext cx="1872208" cy="504056"/>
          </a:xfrm>
          <a:prstGeom prst="wedgeRoundRectCallout">
            <a:avLst>
              <a:gd name="adj1" fmla="val -36929"/>
              <a:gd name="adj2" fmla="val 83980"/>
              <a:gd name="adj3" fmla="val 16667"/>
            </a:avLst>
          </a:prstGeom>
          <a:ln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/>
              <a:t>생략되어 있음</a:t>
            </a: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2000672" y="4355812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코드 </a:t>
            </a:r>
            <a:r>
              <a:rPr lang="ko-KR" altLang="en-US" dirty="0" err="1"/>
              <a:t>작성할때</a:t>
            </a:r>
            <a:r>
              <a:rPr lang="ko-KR" altLang="en-US" dirty="0"/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6156" y="4355812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컴파일러가 변환 </a:t>
            </a:r>
          </a:p>
        </p:txBody>
      </p:sp>
    </p:spTree>
    <p:extLst>
      <p:ext uri="{BB962C8B-B14F-4D97-AF65-F5344CB8AC3E}">
        <p14:creationId xmlns:p14="http://schemas.microsoft.com/office/powerpoint/2010/main" val="373818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Object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3" y="980728"/>
            <a:ext cx="6597207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Object </a:t>
            </a:r>
            <a:r>
              <a:rPr lang="ko-KR" altLang="en-US" sz="2000" b="1" dirty="0">
                <a:solidFill>
                  <a:srgbClr val="C00000"/>
                </a:solidFill>
              </a:rPr>
              <a:t>클래스의 주요 </a:t>
            </a:r>
            <a:r>
              <a:rPr lang="ko-KR" altLang="en-US" sz="2000" b="1" dirty="0" err="1">
                <a:solidFill>
                  <a:srgbClr val="C00000"/>
                </a:solidFill>
              </a:rPr>
              <a:t>메서드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A6E58BA-A535-42FB-AEEE-D46F12797C68}"/>
              </a:ext>
            </a:extLst>
          </p:cNvPr>
          <p:cNvGraphicFramePr>
            <a:graphicFrameLocks noGrp="1"/>
          </p:cNvGraphicFramePr>
          <p:nvPr/>
        </p:nvGraphicFramePr>
        <p:xfrm>
          <a:off x="992560" y="1628800"/>
          <a:ext cx="8643070" cy="34747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148811">
                  <a:extLst>
                    <a:ext uri="{9D8B030D-6E8A-4147-A177-3AD203B41FA5}">
                      <a16:colId xmlns:a16="http://schemas.microsoft.com/office/drawing/2014/main" val="2887738532"/>
                    </a:ext>
                  </a:extLst>
                </a:gridCol>
                <a:gridCol w="5494259">
                  <a:extLst>
                    <a:ext uri="{9D8B030D-6E8A-4147-A177-3AD203B41FA5}">
                      <a16:colId xmlns:a16="http://schemas.microsoft.com/office/drawing/2014/main" val="3449779131"/>
                    </a:ext>
                  </a:extLst>
                </a:gridCol>
              </a:tblGrid>
              <a:tr h="49838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 err="1"/>
                        <a:t>메서드</a:t>
                      </a:r>
                      <a:endParaRPr lang="ko-KR" altLang="en-US" sz="1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용 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778305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String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1" baseline="0" dirty="0" err="1"/>
                        <a:t>toString</a:t>
                      </a:r>
                      <a:r>
                        <a:rPr lang="en-US" altLang="ko-KR" sz="1800" b="1" baseline="0" dirty="0"/>
                        <a:t>()</a:t>
                      </a:r>
                      <a:endParaRPr lang="ko-KR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/>
                        <a:t>객체를 문자열로 표현하여 반환한다</a:t>
                      </a:r>
                      <a:r>
                        <a:rPr lang="en-US" altLang="ko-KR" sz="1600" baseline="0" dirty="0"/>
                        <a:t>. </a:t>
                      </a:r>
                      <a:r>
                        <a:rPr lang="ko-KR" altLang="en-US" sz="1600" baseline="0" dirty="0"/>
                        <a:t>재정의하여 객체에  </a:t>
                      </a:r>
                      <a:endParaRPr lang="en-US" altLang="ko-KR" sz="1600" baseline="0" dirty="0"/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/>
                        <a:t>대한 설명이나 특정 멤버 변수 값을 반환한다</a:t>
                      </a:r>
                      <a:r>
                        <a:rPr lang="en-US" altLang="ko-KR" sz="1600" baseline="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778305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</a:t>
                      </a:r>
                      <a:r>
                        <a:rPr lang="en-US" altLang="ko-KR" sz="1800" dirty="0" err="1"/>
                        <a:t>boolean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1" baseline="0" dirty="0"/>
                        <a:t>equals(Object </a:t>
                      </a:r>
                      <a:r>
                        <a:rPr lang="en-US" altLang="ko-KR" sz="1800" b="1" baseline="0" dirty="0" err="1"/>
                        <a:t>obj</a:t>
                      </a:r>
                      <a:r>
                        <a:rPr lang="en-US" altLang="ko-KR" sz="1800" b="1" baseline="0" dirty="0"/>
                        <a:t>)</a:t>
                      </a:r>
                      <a:endParaRPr lang="ko-KR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두 </a:t>
                      </a:r>
                      <a:r>
                        <a:rPr lang="ko-KR" altLang="en-US" sz="1600" dirty="0" err="1"/>
                        <a:t>인스턴스가</a:t>
                      </a:r>
                      <a:r>
                        <a:rPr lang="ko-KR" altLang="en-US" sz="1600" dirty="0"/>
                        <a:t> 동일한지 여부를 반환한다</a:t>
                      </a:r>
                      <a:r>
                        <a:rPr lang="en-US" altLang="ko-KR" sz="1600" dirty="0"/>
                        <a:t>. </a:t>
                      </a:r>
                      <a:r>
                        <a:rPr lang="ko-KR" altLang="en-US" sz="1600" dirty="0"/>
                        <a:t>재정의하여 </a:t>
                      </a:r>
                      <a:r>
                        <a:rPr lang="ko-KR" altLang="en-US" sz="1600" b="1" dirty="0">
                          <a:solidFill>
                            <a:srgbClr val="C00000"/>
                          </a:solidFill>
                        </a:rPr>
                        <a:t>논</a:t>
                      </a:r>
                      <a:endParaRPr lang="en-US" altLang="ko-KR" sz="1600" b="1" dirty="0">
                        <a:solidFill>
                          <a:srgbClr val="C00000"/>
                        </a:solidFill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600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ko-KR" altLang="en-US" sz="1600" b="1" dirty="0" err="1">
                          <a:solidFill>
                            <a:srgbClr val="C00000"/>
                          </a:solidFill>
                        </a:rPr>
                        <a:t>리적으로</a:t>
                      </a:r>
                      <a:r>
                        <a:rPr lang="ko-KR" altLang="en-US" sz="1600" b="1" dirty="0">
                          <a:solidFill>
                            <a:srgbClr val="C00000"/>
                          </a:solidFill>
                        </a:rPr>
                        <a:t> 동일한 인스턴스</a:t>
                      </a:r>
                      <a:r>
                        <a:rPr lang="ko-KR" altLang="en-US" sz="1600" dirty="0"/>
                        <a:t>임을 정의 할 수 있다</a:t>
                      </a:r>
                      <a:r>
                        <a:rPr lang="en-US" altLang="ko-KR" sz="16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  <a:tr h="491561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</a:t>
                      </a:r>
                      <a:r>
                        <a:rPr lang="en-US" altLang="ko-KR" sz="1800" dirty="0" err="1"/>
                        <a:t>int</a:t>
                      </a:r>
                      <a:r>
                        <a:rPr lang="en-US" altLang="ko-KR" sz="1800" dirty="0"/>
                        <a:t> </a:t>
                      </a:r>
                      <a:r>
                        <a:rPr lang="en-US" altLang="ko-KR" sz="1800" b="1" dirty="0" err="1"/>
                        <a:t>hashCode</a:t>
                      </a:r>
                      <a:r>
                        <a:rPr lang="en-US" altLang="ko-KR" sz="1800" b="1" dirty="0"/>
                        <a:t>()</a:t>
                      </a:r>
                      <a:endParaRPr lang="ko-KR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객체의 해시 코드 값을 반환한다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759279"/>
                  </a:ext>
                </a:extLst>
              </a:tr>
              <a:tr h="778305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Object </a:t>
                      </a:r>
                      <a:r>
                        <a:rPr lang="en-US" altLang="ko-KR" sz="1800" b="1" dirty="0"/>
                        <a:t>clone()</a:t>
                      </a:r>
                      <a:endParaRPr lang="ko-KR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객체를 복제하여 동일한 멤버 변수 값을 가진 새로운 인</a:t>
                      </a:r>
                      <a:endParaRPr lang="en-US" altLang="ko-KR" sz="1600" dirty="0"/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 err="1"/>
                        <a:t>스턴스를</a:t>
                      </a:r>
                      <a:r>
                        <a:rPr lang="ko-KR" altLang="en-US" sz="1600" dirty="0"/>
                        <a:t> 생성한다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2480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582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Object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3" y="908720"/>
            <a:ext cx="7245279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Object </a:t>
            </a:r>
            <a:r>
              <a:rPr lang="ko-KR" altLang="en-US" sz="2000" b="1" dirty="0">
                <a:solidFill>
                  <a:srgbClr val="C00000"/>
                </a:solidFill>
              </a:rPr>
              <a:t>클래스의 주요 </a:t>
            </a:r>
            <a:r>
              <a:rPr lang="ko-KR" altLang="en-US" sz="2000" b="1" dirty="0" err="1">
                <a:solidFill>
                  <a:srgbClr val="C00000"/>
                </a:solidFill>
              </a:rPr>
              <a:t>메서드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4" y="1628800"/>
            <a:ext cx="3024336" cy="16028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777" y="2060849"/>
            <a:ext cx="5472608" cy="310502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775" y="4304740"/>
            <a:ext cx="4640982" cy="172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88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08" y="2548571"/>
            <a:ext cx="4714678" cy="33446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en-US" altLang="ko-KR" dirty="0" err="1"/>
              <a:t>toString</a:t>
            </a:r>
            <a:r>
              <a:rPr lang="en-US" altLang="ko-KR" dirty="0"/>
              <a:t>() </a:t>
            </a:r>
            <a:r>
              <a:rPr lang="ko-KR" altLang="en-US" dirty="0" err="1"/>
              <a:t>메서드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3" y="908720"/>
            <a:ext cx="9045479" cy="16239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C00000"/>
                </a:solidFill>
              </a:rPr>
              <a:t>toString</a:t>
            </a:r>
            <a:r>
              <a:rPr lang="en-US" altLang="ko-KR" sz="2000" b="1" dirty="0">
                <a:solidFill>
                  <a:srgbClr val="C00000"/>
                </a:solidFill>
              </a:rPr>
              <a:t>() </a:t>
            </a:r>
            <a:r>
              <a:rPr lang="ko-KR" altLang="en-US" sz="2000" b="1" dirty="0" err="1">
                <a:solidFill>
                  <a:srgbClr val="C00000"/>
                </a:solidFill>
              </a:rPr>
              <a:t>메서드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b="1" dirty="0"/>
              <a:t>객체 정보를 문자열로 바꾸어 주는 기능을 함</a:t>
            </a:r>
            <a:endParaRPr lang="en-US" altLang="ko-KR" sz="1600" b="1" dirty="0"/>
          </a:p>
          <a:p>
            <a:pPr lvl="1">
              <a:lnSpc>
                <a:spcPct val="100000"/>
              </a:lnSpc>
            </a:pPr>
            <a:r>
              <a:rPr lang="en-US" altLang="ko-KR" sz="1600" dirty="0"/>
              <a:t>Integer</a:t>
            </a:r>
            <a:r>
              <a:rPr lang="ko-KR" altLang="en-US" sz="1600" dirty="0"/>
              <a:t>나 </a:t>
            </a:r>
            <a:r>
              <a:rPr lang="en-US" altLang="ko-KR" sz="1600" dirty="0"/>
              <a:t>String</a:t>
            </a:r>
            <a:r>
              <a:rPr lang="ko-KR" altLang="en-US" sz="1600" dirty="0"/>
              <a:t>등 클래스는 </a:t>
            </a:r>
            <a:r>
              <a:rPr lang="en-US" altLang="ko-KR" sz="1600" dirty="0" err="1"/>
              <a:t>toString</a:t>
            </a:r>
            <a:r>
              <a:rPr lang="en-US" altLang="ko-KR" sz="1600" dirty="0"/>
              <a:t>() </a:t>
            </a:r>
            <a:r>
              <a:rPr lang="ko-KR" altLang="en-US" sz="1600" dirty="0" err="1"/>
              <a:t>메서드가</a:t>
            </a:r>
            <a:r>
              <a:rPr lang="ko-KR" altLang="en-US" sz="1600" dirty="0"/>
              <a:t> 이미 재정의 되어 있음</a:t>
            </a:r>
            <a:r>
              <a:rPr lang="en-US" altLang="ko-KR" sz="1600" dirty="0"/>
              <a:t>.</a:t>
            </a:r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사용자 정의 클래스는 </a:t>
            </a:r>
            <a:r>
              <a:rPr lang="en-US" altLang="ko-KR" sz="1600" dirty="0" err="1"/>
              <a:t>toString</a:t>
            </a:r>
            <a:r>
              <a:rPr lang="en-US" altLang="ko-KR" sz="1600" dirty="0"/>
              <a:t>() </a:t>
            </a:r>
            <a:r>
              <a:rPr lang="ko-KR" altLang="en-US" sz="1600" dirty="0"/>
              <a:t>재정의 </a:t>
            </a:r>
            <a:r>
              <a:rPr lang="ko-KR" altLang="en-US" sz="1600" dirty="0" err="1"/>
              <a:t>해야함</a:t>
            </a:r>
            <a:endParaRPr lang="en-US" altLang="ko-KR" sz="16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548874" y="4698407"/>
            <a:ext cx="4590412" cy="1250873"/>
          </a:xfrm>
          <a:prstGeom prst="roundRect">
            <a:avLst>
              <a:gd name="adj" fmla="val 13110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ysClr val="windowText" lastClr="000000"/>
              </a:solidFill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052" y="2726532"/>
            <a:ext cx="3042436" cy="2234833"/>
          </a:xfrm>
          <a:prstGeom prst="rect">
            <a:avLst/>
          </a:prstGeom>
        </p:spPr>
      </p:pic>
      <p:cxnSp>
        <p:nvCxnSpPr>
          <p:cNvPr id="9" name="직선 화살표 연결선 8"/>
          <p:cNvCxnSpPr/>
          <p:nvPr/>
        </p:nvCxnSpPr>
        <p:spPr>
          <a:xfrm flipH="1">
            <a:off x="6303052" y="4238700"/>
            <a:ext cx="450149" cy="576064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321011" y="5128478"/>
            <a:ext cx="3054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/>
              <a:t>우클릭</a:t>
            </a:r>
            <a:r>
              <a:rPr lang="ko-KR" altLang="en-US" sz="1600" dirty="0"/>
              <a:t> </a:t>
            </a:r>
            <a:r>
              <a:rPr lang="en-US" altLang="ko-KR" sz="1600" dirty="0"/>
              <a:t>&gt; source &gt; Override/Implement Methods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5122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349" y="1622301"/>
            <a:ext cx="6359932" cy="34417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en-US" altLang="ko-KR" dirty="0" err="1"/>
              <a:t>toString</a:t>
            </a:r>
            <a:r>
              <a:rPr lang="en-US" altLang="ko-KR" dirty="0"/>
              <a:t>() </a:t>
            </a:r>
            <a:r>
              <a:rPr lang="ko-KR" altLang="en-US" dirty="0" err="1"/>
              <a:t>메서드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3" y="908720"/>
            <a:ext cx="6741223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C00000"/>
                </a:solidFill>
              </a:rPr>
              <a:t>toString</a:t>
            </a:r>
            <a:r>
              <a:rPr lang="en-US" altLang="ko-KR" sz="2000" b="1" dirty="0">
                <a:solidFill>
                  <a:srgbClr val="C00000"/>
                </a:solidFill>
              </a:rPr>
              <a:t>() </a:t>
            </a:r>
            <a:r>
              <a:rPr lang="ko-KR" altLang="en-US" sz="2000" b="1" dirty="0" err="1">
                <a:solidFill>
                  <a:srgbClr val="C00000"/>
                </a:solidFill>
              </a:rPr>
              <a:t>메서드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176" y="2564904"/>
            <a:ext cx="3154954" cy="8306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0" name="모서리가 둥근 직사각형 19"/>
          <p:cNvSpPr/>
          <p:nvPr/>
        </p:nvSpPr>
        <p:spPr>
          <a:xfrm>
            <a:off x="4232920" y="3068960"/>
            <a:ext cx="2088232" cy="316669"/>
          </a:xfrm>
          <a:prstGeom prst="roundRect">
            <a:avLst>
              <a:gd name="adj" fmla="val 13110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21" name="직선 화살표 연결선 20"/>
          <p:cNvCxnSpPr>
            <a:stCxn id="17" idx="1"/>
          </p:cNvCxnSpPr>
          <p:nvPr/>
        </p:nvCxnSpPr>
        <p:spPr>
          <a:xfrm flipH="1">
            <a:off x="6190536" y="2980230"/>
            <a:ext cx="346640" cy="256991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01272" y="3212976"/>
            <a:ext cx="2232248" cy="3745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600" dirty="0"/>
              <a:t>이미 재정의 되어있음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114" y="4005064"/>
            <a:ext cx="937341" cy="96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79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equals() </a:t>
            </a:r>
            <a:r>
              <a:rPr lang="ko-KR" altLang="en-US" dirty="0" err="1"/>
              <a:t>메서드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3" y="908720"/>
            <a:ext cx="8541423" cy="27363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equals() </a:t>
            </a:r>
            <a:r>
              <a:rPr lang="ko-KR" altLang="en-US" sz="2000" b="1" dirty="0" err="1">
                <a:solidFill>
                  <a:srgbClr val="C00000"/>
                </a:solidFill>
              </a:rPr>
              <a:t>메서드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두 </a:t>
            </a:r>
            <a:r>
              <a:rPr lang="ko-KR" altLang="en-US" sz="1600" dirty="0" err="1"/>
              <a:t>인스턴스의</a:t>
            </a:r>
            <a:r>
              <a:rPr lang="ko-KR" altLang="en-US" sz="1600" dirty="0"/>
              <a:t> </a:t>
            </a:r>
            <a:r>
              <a:rPr lang="ko-KR" altLang="en-US" sz="1600" b="1" dirty="0"/>
              <a:t>주소 값</a:t>
            </a:r>
            <a:r>
              <a:rPr lang="ko-KR" altLang="en-US" sz="1600" dirty="0"/>
              <a:t>을 비교하여 </a:t>
            </a:r>
            <a:r>
              <a:rPr lang="en-US" altLang="ko-KR" sz="1600" dirty="0" err="1"/>
              <a:t>boolean</a:t>
            </a:r>
            <a:r>
              <a:rPr lang="en-US" altLang="ko-KR" sz="1600" dirty="0"/>
              <a:t> </a:t>
            </a:r>
            <a:r>
              <a:rPr lang="ko-KR" altLang="en-US" sz="1600" dirty="0"/>
              <a:t>값</a:t>
            </a:r>
            <a:r>
              <a:rPr lang="en-US" altLang="ko-KR" sz="1600" dirty="0"/>
              <a:t>(true/false)</a:t>
            </a:r>
            <a:r>
              <a:rPr lang="ko-KR" altLang="en-US" sz="1600" dirty="0"/>
              <a:t>를 반환</a:t>
            </a: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재정의하여 두 </a:t>
            </a:r>
            <a:r>
              <a:rPr lang="ko-KR" altLang="en-US" sz="1600" dirty="0" err="1"/>
              <a:t>인스턴스가</a:t>
            </a:r>
            <a:r>
              <a:rPr lang="ko-KR" altLang="en-US" sz="1600" dirty="0"/>
              <a:t> 논리적으로 동일함의 여부를 반환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같은 번호의 책인 경우 여러 </a:t>
            </a:r>
            <a:r>
              <a:rPr lang="ko-KR" altLang="en-US" sz="1600" dirty="0" err="1"/>
              <a:t>인스턴스의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주소값은</a:t>
            </a:r>
            <a:r>
              <a:rPr lang="ko-KR" altLang="en-US" sz="1600" dirty="0"/>
              <a:t> 다르지만</a:t>
            </a:r>
            <a:r>
              <a:rPr lang="en-US" altLang="ko-KR" sz="1600" dirty="0"/>
              <a:t>, </a:t>
            </a:r>
            <a:r>
              <a:rPr lang="ko-KR" altLang="en-US" sz="1600" dirty="0"/>
              <a:t>같은 책으로 인정할 수 있으므로 </a:t>
            </a:r>
            <a:r>
              <a:rPr lang="en-US" altLang="ko-KR" sz="1600" dirty="0"/>
              <a:t>equals() </a:t>
            </a:r>
            <a:r>
              <a:rPr lang="ko-KR" altLang="en-US" sz="1600" dirty="0"/>
              <a:t>메서드를 재정의해야 함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800" b="1" dirty="0" err="1">
                <a:solidFill>
                  <a:srgbClr val="C00000"/>
                </a:solidFill>
              </a:rPr>
              <a:t>instanceof</a:t>
            </a:r>
            <a:r>
              <a:rPr lang="en-US" altLang="ko-KR" sz="1800" b="1" dirty="0">
                <a:solidFill>
                  <a:srgbClr val="C00000"/>
                </a:solidFill>
              </a:rPr>
              <a:t> </a:t>
            </a:r>
            <a:r>
              <a:rPr lang="ko-KR" altLang="en-US" sz="1600" dirty="0"/>
              <a:t>키워드 사용</a:t>
            </a:r>
            <a:endParaRPr lang="en-US" altLang="ko-KR" sz="16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664" y="3645024"/>
            <a:ext cx="5674048" cy="23688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32324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224" y="1700808"/>
            <a:ext cx="7016898" cy="34084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equals() </a:t>
            </a:r>
            <a:r>
              <a:rPr lang="ko-KR" altLang="en-US" dirty="0" err="1"/>
              <a:t>메서드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3" y="908720"/>
            <a:ext cx="8541423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equals() </a:t>
            </a:r>
            <a:r>
              <a:rPr lang="ko-KR" altLang="en-US" sz="2000" b="1" dirty="0">
                <a:solidFill>
                  <a:srgbClr val="C00000"/>
                </a:solidFill>
              </a:rPr>
              <a:t>메서드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903" y="3453036"/>
            <a:ext cx="1426195" cy="13681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7" name="모서리가 둥근 사각형 설명선 16"/>
          <p:cNvSpPr/>
          <p:nvPr/>
        </p:nvSpPr>
        <p:spPr>
          <a:xfrm>
            <a:off x="7474309" y="3876315"/>
            <a:ext cx="1969949" cy="859585"/>
          </a:xfrm>
          <a:prstGeom prst="wedgeRoundRectCallout">
            <a:avLst>
              <a:gd name="adj1" fmla="val -66231"/>
              <a:gd name="adj2" fmla="val 39046"/>
              <a:gd name="adj3" fmla="val 16667"/>
            </a:avLst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Book </a:t>
            </a:r>
            <a:r>
              <a:rPr lang="ko-KR" altLang="en-US" sz="1600" dirty="0"/>
              <a:t>클래스에서는 </a:t>
            </a:r>
            <a:r>
              <a:rPr lang="en-US" altLang="ko-KR" sz="1600" dirty="0"/>
              <a:t>equals() </a:t>
            </a:r>
            <a:r>
              <a:rPr lang="ko-KR" altLang="en-US" sz="1600" dirty="0" err="1"/>
              <a:t>메서드</a:t>
            </a:r>
            <a:r>
              <a:rPr lang="ko-KR" altLang="en-US" sz="1600" dirty="0"/>
              <a:t> 재정의</a:t>
            </a:r>
            <a:r>
              <a:rPr lang="en-US" altLang="ko-KR" sz="1600" dirty="0"/>
              <a:t> </a:t>
            </a:r>
            <a:r>
              <a:rPr lang="ko-KR" altLang="en-US" sz="1600" dirty="0"/>
              <a:t>필요</a:t>
            </a:r>
          </a:p>
        </p:txBody>
      </p:sp>
    </p:spTree>
    <p:extLst>
      <p:ext uri="{BB962C8B-B14F-4D97-AF65-F5344CB8AC3E}">
        <p14:creationId xmlns:p14="http://schemas.microsoft.com/office/powerpoint/2010/main" val="857659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1632992"/>
            <a:ext cx="5080406" cy="41002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equals() </a:t>
            </a:r>
            <a:r>
              <a:rPr lang="ko-KR" altLang="en-US" dirty="0" err="1"/>
              <a:t>메서드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3" y="924966"/>
            <a:ext cx="5589095" cy="7038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equals() </a:t>
            </a:r>
            <a:r>
              <a:rPr lang="ko-KR" altLang="en-US" sz="2000" b="1" dirty="0">
                <a:solidFill>
                  <a:srgbClr val="C00000"/>
                </a:solidFill>
              </a:rPr>
              <a:t>재정의</a:t>
            </a:r>
            <a:r>
              <a:rPr lang="en-US" altLang="ko-KR" sz="2000" b="1" dirty="0">
                <a:solidFill>
                  <a:srgbClr val="C00000"/>
                </a:solidFill>
              </a:rPr>
              <a:t>(Override)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  <p:cxnSp>
        <p:nvCxnSpPr>
          <p:cNvPr id="3" name="구부러진 연결선 2"/>
          <p:cNvCxnSpPr/>
          <p:nvPr/>
        </p:nvCxnSpPr>
        <p:spPr>
          <a:xfrm rot="16200000" flipH="1">
            <a:off x="3573728" y="2985832"/>
            <a:ext cx="1548172" cy="1354388"/>
          </a:xfrm>
          <a:prstGeom prst="curvedConnector3">
            <a:avLst/>
          </a:prstGeom>
          <a:ln w="1905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/>
          <p:cNvSpPr/>
          <p:nvPr/>
        </p:nvSpPr>
        <p:spPr>
          <a:xfrm>
            <a:off x="2360712" y="2492896"/>
            <a:ext cx="1368152" cy="396044"/>
          </a:xfrm>
          <a:prstGeom prst="roundRect">
            <a:avLst>
              <a:gd name="adj" fmla="val 13110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4736976" y="4437112"/>
            <a:ext cx="1944216" cy="396044"/>
          </a:xfrm>
          <a:prstGeom prst="roundRect">
            <a:avLst>
              <a:gd name="adj" fmla="val 13110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050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실습 문제 </a:t>
            </a:r>
            <a:r>
              <a:rPr lang="en-US" altLang="ko-KR" dirty="0"/>
              <a:t>1 – Object </a:t>
            </a:r>
            <a:r>
              <a:rPr lang="ko-KR" altLang="en-US" dirty="0"/>
              <a:t>클래스</a:t>
            </a:r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88504" y="836712"/>
            <a:ext cx="9001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------------------------------------------------------------------------------------------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다음 코드의 출력 결과가 </a:t>
            </a:r>
            <a:r>
              <a:rPr lang="en-US" altLang="ko-KR" dirty="0"/>
              <a:t>“</a:t>
            </a:r>
            <a:r>
              <a:rPr lang="ko-KR" altLang="en-US" dirty="0"/>
              <a:t>진돗개 백구</a:t>
            </a:r>
            <a:r>
              <a:rPr lang="en-US" altLang="ko-KR" dirty="0"/>
              <a:t>”</a:t>
            </a:r>
            <a:r>
              <a:rPr lang="ko-KR" altLang="en-US" dirty="0"/>
              <a:t>가 되도록 </a:t>
            </a:r>
            <a:r>
              <a:rPr lang="en-US" altLang="ko-KR" dirty="0" err="1"/>
              <a:t>MyDog</a:t>
            </a:r>
            <a:r>
              <a:rPr lang="en-US" altLang="ko-KR" dirty="0"/>
              <a:t> </a:t>
            </a:r>
            <a:r>
              <a:rPr lang="ko-KR" altLang="en-US" dirty="0"/>
              <a:t>클래스를 수정하세요</a:t>
            </a:r>
            <a:r>
              <a:rPr lang="en-US" altLang="ko-KR" dirty="0"/>
              <a:t>.</a:t>
            </a:r>
            <a:r>
              <a:rPr lang="ko-KR" altLang="en-US" dirty="0"/>
              <a:t>             </a:t>
            </a:r>
            <a:r>
              <a:rPr lang="en-US" altLang="ko-KR" dirty="0"/>
              <a:t>------------------------------------------------------------------------------------------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3" y="1760042"/>
            <a:ext cx="4790581" cy="454927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08570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String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43245" y="1009328"/>
            <a:ext cx="8253391" cy="17281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200" b="1" dirty="0">
                <a:solidFill>
                  <a:srgbClr val="C00000"/>
                </a:solidFill>
              </a:rPr>
              <a:t> String </a:t>
            </a:r>
            <a:r>
              <a:rPr lang="ko-KR" altLang="en-US" sz="2200" b="1" dirty="0">
                <a:solidFill>
                  <a:srgbClr val="C00000"/>
                </a:solidFill>
              </a:rPr>
              <a:t>클래스</a:t>
            </a:r>
            <a:endParaRPr lang="en-US" altLang="ko-KR" sz="22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문자열을 저장하고 여러 가지 정보를 얻을 때 사용하는 클래스</a:t>
            </a:r>
            <a:endParaRPr lang="en-US" altLang="ko-KR" sz="18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문자열을 사용하여 생성자의 매개변수로 하여 생성하는 방식과 이미 생성된 문자열 상수를 가리키는 방식이 있다</a:t>
            </a:r>
            <a:r>
              <a:rPr lang="en-US" altLang="ko-KR" sz="1800" dirty="0"/>
              <a:t>.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2000672" y="3210055"/>
            <a:ext cx="954839" cy="432048"/>
          </a:xfrm>
          <a:prstGeom prst="roundRect">
            <a:avLst>
              <a:gd name="adj" fmla="val 1311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str1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4664968" y="3210055"/>
            <a:ext cx="954839" cy="432048"/>
          </a:xfrm>
          <a:prstGeom prst="roundRect">
            <a:avLst>
              <a:gd name="adj" fmla="val 1311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“</a:t>
            </a:r>
            <a:r>
              <a:rPr lang="en-US" altLang="ko-KR" dirty="0" err="1"/>
              <a:t>abc</a:t>
            </a:r>
            <a:r>
              <a:rPr lang="en-US" altLang="ko-KR" dirty="0"/>
              <a:t>”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4520953" y="2886749"/>
            <a:ext cx="1097976" cy="214563"/>
          </a:xfrm>
          <a:prstGeom prst="roundRect">
            <a:avLst>
              <a:gd name="adj" fmla="val 13110"/>
            </a:avLst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 err="1"/>
              <a:t>힙메모리</a:t>
            </a:r>
            <a:endParaRPr lang="en-US" altLang="ko-KR" sz="1600" dirty="0"/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3100569" y="3426079"/>
            <a:ext cx="1420383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/>
          <p:cNvSpPr/>
          <p:nvPr/>
        </p:nvSpPr>
        <p:spPr>
          <a:xfrm>
            <a:off x="2000672" y="3750846"/>
            <a:ext cx="954839" cy="432048"/>
          </a:xfrm>
          <a:prstGeom prst="roundRect">
            <a:avLst>
              <a:gd name="adj" fmla="val 1311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str2</a:t>
            </a:r>
          </a:p>
        </p:txBody>
      </p:sp>
      <p:sp>
        <p:nvSpPr>
          <p:cNvPr id="13" name="모서리가 둥근 직사각형 12"/>
          <p:cNvSpPr/>
          <p:nvPr/>
        </p:nvSpPr>
        <p:spPr>
          <a:xfrm>
            <a:off x="4664968" y="3750846"/>
            <a:ext cx="954839" cy="432048"/>
          </a:xfrm>
          <a:prstGeom prst="roundRect">
            <a:avLst>
              <a:gd name="adj" fmla="val 1311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“</a:t>
            </a:r>
            <a:r>
              <a:rPr lang="en-US" altLang="ko-KR" dirty="0" err="1"/>
              <a:t>abc</a:t>
            </a:r>
            <a:r>
              <a:rPr lang="en-US" altLang="ko-KR" dirty="0"/>
              <a:t>”</a:t>
            </a:r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3100569" y="3966870"/>
            <a:ext cx="1420383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모서리가 둥근 직사각형 14"/>
          <p:cNvSpPr/>
          <p:nvPr/>
        </p:nvSpPr>
        <p:spPr>
          <a:xfrm>
            <a:off x="2000672" y="4400378"/>
            <a:ext cx="954839" cy="432048"/>
          </a:xfrm>
          <a:prstGeom prst="roundRect">
            <a:avLst>
              <a:gd name="adj" fmla="val 1311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str3</a:t>
            </a:r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3100569" y="4616402"/>
            <a:ext cx="1420383" cy="216024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/>
          <p:cNvSpPr/>
          <p:nvPr/>
        </p:nvSpPr>
        <p:spPr>
          <a:xfrm>
            <a:off x="2000672" y="4941168"/>
            <a:ext cx="954839" cy="432048"/>
          </a:xfrm>
          <a:prstGeom prst="roundRect">
            <a:avLst>
              <a:gd name="adj" fmla="val 1311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str4</a:t>
            </a:r>
          </a:p>
        </p:txBody>
      </p:sp>
      <p:sp>
        <p:nvSpPr>
          <p:cNvPr id="18" name="모서리가 둥근 직사각형 17"/>
          <p:cNvSpPr/>
          <p:nvPr/>
        </p:nvSpPr>
        <p:spPr>
          <a:xfrm>
            <a:off x="4664089" y="4732839"/>
            <a:ext cx="954839" cy="432048"/>
          </a:xfrm>
          <a:prstGeom prst="roundRect">
            <a:avLst>
              <a:gd name="adj" fmla="val 1311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“</a:t>
            </a:r>
            <a:r>
              <a:rPr lang="en-US" altLang="ko-KR" dirty="0" err="1"/>
              <a:t>abc</a:t>
            </a:r>
            <a:r>
              <a:rPr lang="en-US" altLang="ko-KR" dirty="0"/>
              <a:t>”</a:t>
            </a:r>
          </a:p>
        </p:txBody>
      </p:sp>
      <p:cxnSp>
        <p:nvCxnSpPr>
          <p:cNvPr id="19" name="직선 화살표 연결선 18"/>
          <p:cNvCxnSpPr/>
          <p:nvPr/>
        </p:nvCxnSpPr>
        <p:spPr>
          <a:xfrm flipV="1">
            <a:off x="3100569" y="4948863"/>
            <a:ext cx="1420383" cy="208329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/>
          <p:cNvSpPr/>
          <p:nvPr/>
        </p:nvSpPr>
        <p:spPr>
          <a:xfrm>
            <a:off x="4517991" y="4374862"/>
            <a:ext cx="3241239" cy="214563"/>
          </a:xfrm>
          <a:prstGeom prst="roundRect">
            <a:avLst>
              <a:gd name="adj" fmla="val 13110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dirty="0" err="1"/>
              <a:t>상수풀</a:t>
            </a:r>
            <a:r>
              <a:rPr lang="en-US" altLang="ko-KR" sz="1600" b="1" dirty="0"/>
              <a:t>- </a:t>
            </a:r>
            <a:r>
              <a:rPr lang="ko-KR" altLang="en-US" sz="1600" b="1" dirty="0" err="1"/>
              <a:t>상수값을</a:t>
            </a:r>
            <a:r>
              <a:rPr lang="ko-KR" altLang="en-US" sz="1600" b="1" dirty="0"/>
              <a:t> 저장하는 공간</a:t>
            </a:r>
            <a:endParaRPr lang="en-US" altLang="ko-KR" sz="1600" b="1" dirty="0"/>
          </a:p>
        </p:txBody>
      </p:sp>
    </p:spTree>
    <p:extLst>
      <p:ext uri="{BB962C8B-B14F-4D97-AF65-F5344CB8AC3E}">
        <p14:creationId xmlns:p14="http://schemas.microsoft.com/office/powerpoint/2010/main" val="3814726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String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837" y="1628800"/>
            <a:ext cx="5808863" cy="42664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653" y="4479704"/>
            <a:ext cx="739204" cy="9678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0728"/>
            <a:ext cx="3615629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String</a:t>
            </a:r>
            <a:r>
              <a:rPr lang="ko-KR" altLang="en-US" sz="2000" b="1" dirty="0">
                <a:solidFill>
                  <a:srgbClr val="C00000"/>
                </a:solidFill>
              </a:rPr>
              <a:t> 객체 생성</a:t>
            </a:r>
            <a:endParaRPr lang="en-US" altLang="ko-KR" sz="18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8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241447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String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43245" y="1009328"/>
            <a:ext cx="4225779" cy="5601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200" b="1" dirty="0">
                <a:solidFill>
                  <a:srgbClr val="C00000"/>
                </a:solidFill>
              </a:rPr>
              <a:t> String</a:t>
            </a:r>
            <a:r>
              <a:rPr lang="ko-KR" altLang="en-US" sz="2200" b="1" dirty="0">
                <a:solidFill>
                  <a:srgbClr val="C00000"/>
                </a:solidFill>
              </a:rPr>
              <a:t>의 주요 메서드</a:t>
            </a:r>
            <a:endParaRPr lang="en-US" altLang="ko-KR" sz="2200" b="1" dirty="0">
              <a:solidFill>
                <a:srgbClr val="C00000"/>
              </a:solidFill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2A6E58BA-A535-42FB-AEEE-D46F12797C68}"/>
              </a:ext>
            </a:extLst>
          </p:cNvPr>
          <p:cNvGraphicFramePr>
            <a:graphicFrameLocks noGrp="1"/>
          </p:cNvGraphicFramePr>
          <p:nvPr/>
        </p:nvGraphicFramePr>
        <p:xfrm>
          <a:off x="1064568" y="1759510"/>
          <a:ext cx="8640960" cy="44348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635571">
                  <a:extLst>
                    <a:ext uri="{9D8B030D-6E8A-4147-A177-3AD203B41FA5}">
                      <a16:colId xmlns:a16="http://schemas.microsoft.com/office/drawing/2014/main" val="2887738532"/>
                    </a:ext>
                  </a:extLst>
                </a:gridCol>
                <a:gridCol w="6005389">
                  <a:extLst>
                    <a:ext uri="{9D8B030D-6E8A-4147-A177-3AD203B41FA5}">
                      <a16:colId xmlns:a16="http://schemas.microsoft.com/office/drawing/2014/main" val="344977913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메서드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기능 설명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</a:t>
                      </a:r>
                      <a:r>
                        <a:rPr lang="en-US" altLang="ko-KR" sz="1800" dirty="0" err="1"/>
                        <a:t>charAt</a:t>
                      </a:r>
                      <a:r>
                        <a:rPr lang="en-US" altLang="ko-KR" sz="1800" dirty="0"/>
                        <a:t>(index)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-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 err="1"/>
                        <a:t>매개값으로</a:t>
                      </a:r>
                      <a:r>
                        <a:rPr lang="ko-KR" altLang="en-US" sz="1600" baseline="0" dirty="0"/>
                        <a:t> 전달된 </a:t>
                      </a:r>
                      <a:r>
                        <a:rPr lang="en-US" altLang="ko-KR" sz="1600" baseline="0" dirty="0"/>
                        <a:t>index</a:t>
                      </a:r>
                      <a:r>
                        <a:rPr lang="ko-KR" altLang="en-US" sz="1600" baseline="0" dirty="0"/>
                        <a:t>의 문자를 반환함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</a:t>
                      </a:r>
                      <a:r>
                        <a:rPr lang="en-US" altLang="ko-KR" sz="1800" dirty="0" err="1"/>
                        <a:t>indexOf</a:t>
                      </a:r>
                      <a:r>
                        <a:rPr lang="en-US" altLang="ko-KR" sz="1800" dirty="0"/>
                        <a:t>(</a:t>
                      </a:r>
                      <a:r>
                        <a:rPr lang="ko-KR" altLang="en-US" sz="1800" dirty="0"/>
                        <a:t>문자열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 err="1"/>
                        <a:t>매개값으로</a:t>
                      </a:r>
                      <a:r>
                        <a:rPr lang="ko-KR" altLang="en-US" sz="1600" dirty="0"/>
                        <a:t> 주어진 문자열이 시작되는 인덱스를 리턴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759279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 </a:t>
                      </a:r>
                      <a:r>
                        <a:rPr lang="en-US" altLang="ko-KR" sz="1800" dirty="0" err="1"/>
                        <a:t>lastIndexOf</a:t>
                      </a:r>
                      <a:r>
                        <a:rPr lang="en-US" altLang="ko-KR" sz="1800" dirty="0"/>
                        <a:t>(</a:t>
                      </a:r>
                      <a:r>
                        <a:rPr lang="ko-KR" altLang="en-US" sz="1800" dirty="0"/>
                        <a:t>문자열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 err="1"/>
                        <a:t>매개값으로</a:t>
                      </a:r>
                      <a:r>
                        <a:rPr lang="ko-KR" altLang="en-US" sz="1600" dirty="0"/>
                        <a:t> 주어진 문자열을 뒤에서 검색하여 인덱스를 리턴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248086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substring(begin,</a:t>
                      </a:r>
                      <a:r>
                        <a:rPr lang="en-US" altLang="ko-KR" sz="1800" baseline="0" dirty="0"/>
                        <a:t> end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 err="1"/>
                        <a:t>매개값의</a:t>
                      </a:r>
                      <a:r>
                        <a:rPr lang="ko-KR" altLang="en-US" sz="1600" dirty="0"/>
                        <a:t> 시작 인덱스부터 끝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끝</a:t>
                      </a:r>
                      <a:r>
                        <a:rPr lang="en-US" altLang="ko-KR" sz="1600" dirty="0"/>
                        <a:t>-1)</a:t>
                      </a:r>
                      <a:r>
                        <a:rPr lang="ko-KR" altLang="en-US" sz="1600" dirty="0"/>
                        <a:t>까지 문자 추출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96692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replace(</a:t>
                      </a:r>
                      <a:r>
                        <a:rPr lang="ko-KR" altLang="en-US" sz="1800" dirty="0" err="1"/>
                        <a:t>변경전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 err="1"/>
                        <a:t>변경후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문자열을 변경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수정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58864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split(</a:t>
                      </a:r>
                      <a:r>
                        <a:rPr lang="ko-KR" altLang="en-US" sz="1800" dirty="0" err="1"/>
                        <a:t>구분기호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 err="1"/>
                        <a:t>구분기호로</a:t>
                      </a:r>
                      <a:r>
                        <a:rPr lang="ko-KR" altLang="en-US" sz="1600" dirty="0"/>
                        <a:t> 문자열을 분리하여 리스트로 반환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02689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</a:t>
                      </a:r>
                      <a:r>
                        <a:rPr lang="en-US" altLang="ko-KR" sz="1800" dirty="0" err="1"/>
                        <a:t>toUpperCase</a:t>
                      </a:r>
                      <a:r>
                        <a:rPr lang="en-US" altLang="ko-KR" sz="1800" dirty="0"/>
                        <a:t>()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aseline="0" dirty="0" err="1"/>
                        <a:t>toLowerCase</a:t>
                      </a:r>
                      <a:r>
                        <a:rPr lang="en-US" altLang="ko-KR" sz="1800" baseline="0" dirty="0"/>
                        <a:t>()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 - </a:t>
                      </a:r>
                      <a:r>
                        <a:rPr lang="ko-KR" altLang="en-US" sz="1600" dirty="0"/>
                        <a:t>영어 문자열을 대문자로 변환</a:t>
                      </a:r>
                      <a:endParaRPr lang="en-US" altLang="ko-KR" sz="1600" dirty="0"/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 - </a:t>
                      </a:r>
                      <a:r>
                        <a:rPr lang="ko-KR" altLang="en-US" sz="1600" dirty="0"/>
                        <a:t>영어 문자열을 소문자로 변환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704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832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String</a:t>
            </a:r>
            <a:r>
              <a:rPr lang="ko-KR" altLang="en-US" dirty="0"/>
              <a:t>의 주요 메서드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92097" y="908720"/>
            <a:ext cx="3068815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charAt</a:t>
            </a:r>
            <a:r>
              <a:rPr lang="en-US" altLang="ko-KR" sz="2000" b="1" dirty="0">
                <a:solidFill>
                  <a:srgbClr val="C00000"/>
                </a:solidFill>
              </a:rPr>
              <a:t>() – </a:t>
            </a:r>
            <a:r>
              <a:rPr lang="ko-KR" altLang="en-US" sz="2000" b="1" dirty="0">
                <a:solidFill>
                  <a:srgbClr val="C00000"/>
                </a:solidFill>
              </a:rPr>
              <a:t>문자추출</a:t>
            </a:r>
            <a:endParaRPr lang="en-US" altLang="ko-KR" sz="18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8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1424608" y="1412776"/>
            <a:ext cx="4896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/>
              <a:t>매개값으로</a:t>
            </a:r>
            <a:r>
              <a:rPr lang="ko-KR" altLang="en-US" sz="1600" dirty="0"/>
              <a:t> 주어진 인덱스의 문자를 </a:t>
            </a:r>
            <a:r>
              <a:rPr lang="ko-KR" altLang="en-US" sz="1600" dirty="0" err="1"/>
              <a:t>리턴함</a:t>
            </a:r>
            <a:endParaRPr lang="ko-KR" altLang="en-US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40" y="1908262"/>
            <a:ext cx="4825653" cy="43030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8041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String</a:t>
            </a:r>
            <a:r>
              <a:rPr lang="ko-KR" altLang="en-US" dirty="0"/>
              <a:t>의 주요 메서드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3543621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indexOf</a:t>
            </a:r>
            <a:r>
              <a:rPr lang="en-US" altLang="ko-KR" sz="2000" b="1" dirty="0">
                <a:solidFill>
                  <a:srgbClr val="C00000"/>
                </a:solidFill>
              </a:rPr>
              <a:t>() – </a:t>
            </a:r>
            <a:r>
              <a:rPr lang="ko-KR" altLang="en-US" sz="2000" b="1" dirty="0">
                <a:solidFill>
                  <a:srgbClr val="C00000"/>
                </a:solidFill>
              </a:rPr>
              <a:t>문자열 찾기</a:t>
            </a:r>
            <a:endParaRPr lang="en-US" altLang="ko-KR" sz="18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8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1439837" y="1484784"/>
            <a:ext cx="6480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/>
              <a:t>매개값으로</a:t>
            </a:r>
            <a:r>
              <a:rPr lang="ko-KR" altLang="en-US" sz="1600" dirty="0"/>
              <a:t> 주어진 문자열이 시작되는 인덱스를 </a:t>
            </a:r>
            <a:r>
              <a:rPr lang="ko-KR" altLang="en-US" sz="1600" dirty="0" err="1"/>
              <a:t>리턴합니다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찾지 못하면 </a:t>
            </a:r>
            <a:r>
              <a:rPr lang="en-US" altLang="ko-KR" sz="1600" dirty="0"/>
              <a:t>-1</a:t>
            </a:r>
            <a:r>
              <a:rPr lang="ko-KR" altLang="en-US" sz="1600" dirty="0"/>
              <a:t>을 </a:t>
            </a:r>
            <a:r>
              <a:rPr lang="ko-KR" altLang="en-US" sz="1600" dirty="0" err="1"/>
              <a:t>리턴함</a:t>
            </a:r>
            <a:endParaRPr lang="en-US" altLang="ko-KR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112" y="2420888"/>
            <a:ext cx="6112422" cy="33240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09406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String</a:t>
            </a:r>
            <a:r>
              <a:rPr lang="ko-KR" altLang="en-US" dirty="0"/>
              <a:t>의 주요 메서드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667471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lastIndexOf</a:t>
            </a:r>
            <a:r>
              <a:rPr lang="en-US" altLang="ko-KR" sz="2000" b="1" dirty="0">
                <a:solidFill>
                  <a:srgbClr val="C00000"/>
                </a:solidFill>
              </a:rPr>
              <a:t>() – </a:t>
            </a:r>
            <a:r>
              <a:rPr lang="ko-KR" altLang="en-US" sz="2000" b="1" dirty="0">
                <a:solidFill>
                  <a:srgbClr val="C00000"/>
                </a:solidFill>
              </a:rPr>
              <a:t>문자열 찾기</a:t>
            </a:r>
            <a:endParaRPr lang="en-US" altLang="ko-KR" sz="18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1475455" y="1484784"/>
            <a:ext cx="6480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/>
              <a:t>매개값으로</a:t>
            </a:r>
            <a:r>
              <a:rPr lang="ko-KR" altLang="en-US" sz="1600" dirty="0"/>
              <a:t> 주어진 문자열을 뒤에서 검색하여 인덱스를 </a:t>
            </a:r>
            <a:r>
              <a:rPr lang="ko-KR" altLang="en-US" sz="1600" dirty="0" err="1"/>
              <a:t>리턴합니다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찾지 못하면 </a:t>
            </a:r>
            <a:r>
              <a:rPr lang="en-US" altLang="ko-KR" sz="1600" dirty="0"/>
              <a:t>-1</a:t>
            </a:r>
            <a:r>
              <a:rPr lang="ko-KR" altLang="en-US" sz="1600" dirty="0"/>
              <a:t>을 </a:t>
            </a:r>
            <a:r>
              <a:rPr lang="ko-KR" altLang="en-US" sz="1600" dirty="0" err="1"/>
              <a:t>리턴함</a:t>
            </a:r>
            <a:endParaRPr lang="en-US" altLang="ko-KR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63" y="2420888"/>
            <a:ext cx="5463916" cy="13527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20224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String</a:t>
            </a:r>
            <a:r>
              <a:rPr lang="ko-KR" altLang="en-US" dirty="0"/>
              <a:t>의 주요 메서드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7683695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substring() – </a:t>
            </a:r>
            <a:r>
              <a:rPr lang="ko-KR" altLang="en-US" sz="2000" b="1" dirty="0">
                <a:solidFill>
                  <a:srgbClr val="C00000"/>
                </a:solidFill>
              </a:rPr>
              <a:t>문자열 잘라내기</a:t>
            </a:r>
            <a:endParaRPr lang="en-US" altLang="ko-KR" sz="2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1259431" y="1499300"/>
            <a:ext cx="61926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 </a:t>
            </a:r>
            <a:r>
              <a:rPr lang="en-US" altLang="ko-KR" sz="1600" dirty="0"/>
              <a:t>1. substring(</a:t>
            </a:r>
            <a:r>
              <a:rPr lang="en-US" altLang="ko-KR" sz="1600" dirty="0" err="1"/>
              <a:t>beginIdx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endIdx</a:t>
            </a:r>
            <a:r>
              <a:rPr lang="en-US" altLang="ko-KR" sz="1600" dirty="0"/>
              <a:t>) </a:t>
            </a:r>
            <a:endParaRPr lang="ko-KR" altLang="en-US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   - </a:t>
            </a:r>
            <a:r>
              <a:rPr lang="ko-KR" altLang="en-US" sz="1600" dirty="0" err="1"/>
              <a:t>매개값의</a:t>
            </a:r>
            <a:r>
              <a:rPr lang="ko-KR" altLang="en-US" sz="1600" dirty="0"/>
              <a:t> 시작 인덱스부터 끝</a:t>
            </a:r>
            <a:r>
              <a:rPr lang="en-US" altLang="ko-KR" sz="1600" dirty="0"/>
              <a:t>(</a:t>
            </a:r>
            <a:r>
              <a:rPr lang="ko-KR" altLang="en-US" sz="1600" dirty="0"/>
              <a:t>끝</a:t>
            </a:r>
            <a:r>
              <a:rPr lang="en-US" altLang="ko-KR" sz="1600" dirty="0"/>
              <a:t>-1)</a:t>
            </a:r>
            <a:r>
              <a:rPr lang="ko-KR" altLang="en-US" sz="1600" dirty="0"/>
              <a:t>까지 문자 추출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2. substring(</a:t>
            </a:r>
            <a:r>
              <a:rPr lang="en-US" altLang="ko-KR" sz="1600" dirty="0" err="1"/>
              <a:t>beginIdx</a:t>
            </a:r>
            <a:r>
              <a:rPr lang="en-US" altLang="ko-KR" sz="1600" dirty="0"/>
              <a:t>) </a:t>
            </a:r>
            <a:endParaRPr lang="ko-KR" altLang="en-US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   - </a:t>
            </a:r>
            <a:r>
              <a:rPr lang="ko-KR" altLang="en-US" sz="1600" dirty="0"/>
              <a:t>시작인덱스부터 문자열의 끝까지 문자 추출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25001"/>
          <a:stretch/>
        </p:blipFill>
        <p:spPr>
          <a:xfrm>
            <a:off x="1763488" y="3140968"/>
            <a:ext cx="5688632" cy="17980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46250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String</a:t>
            </a:r>
            <a:r>
              <a:rPr lang="ko-KR" altLang="en-US" dirty="0"/>
              <a:t>의 주요 메서드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5535" y="908720"/>
            <a:ext cx="5400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replace() – </a:t>
            </a:r>
            <a:r>
              <a:rPr lang="ko-KR" altLang="en-US" sz="2000" b="1" dirty="0">
                <a:solidFill>
                  <a:srgbClr val="C00000"/>
                </a:solidFill>
              </a:rPr>
              <a:t>문자열 수정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ko-KR" altLang="en-US" sz="2000" b="1" dirty="0">
                <a:solidFill>
                  <a:srgbClr val="C00000"/>
                </a:solidFill>
              </a:rPr>
              <a:t>대체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  <a:endParaRPr lang="en-US" altLang="ko-KR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583" y="1589507"/>
            <a:ext cx="6775777" cy="38290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75413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String</a:t>
            </a:r>
            <a:r>
              <a:rPr lang="ko-KR" altLang="en-US" dirty="0"/>
              <a:t>의 주요 메서드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337" y="908720"/>
            <a:ext cx="424847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split() – </a:t>
            </a:r>
            <a:r>
              <a:rPr lang="ko-KR" altLang="en-US" sz="2000" b="1" dirty="0">
                <a:solidFill>
                  <a:srgbClr val="C00000"/>
                </a:solidFill>
              </a:rPr>
              <a:t>문자열 분리</a:t>
            </a:r>
            <a:endParaRPr lang="en-US" altLang="ko-KR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401" y="1484784"/>
            <a:ext cx="4807759" cy="49046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8639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String</a:t>
            </a:r>
            <a:r>
              <a:rPr lang="ko-KR" altLang="en-US" dirty="0"/>
              <a:t>의 주요 메서드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424847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>
                <a:solidFill>
                  <a:srgbClr val="C00000"/>
                </a:solidFill>
              </a:rPr>
              <a:t>toUpperCase</a:t>
            </a:r>
            <a:r>
              <a:rPr lang="en-US" altLang="ko-KR" sz="2000" b="1" dirty="0">
                <a:solidFill>
                  <a:srgbClr val="C00000"/>
                </a:solidFill>
              </a:rPr>
              <a:t>(), </a:t>
            </a:r>
            <a:r>
              <a:rPr lang="en-US" altLang="ko-KR" sz="2000" b="1" dirty="0" err="1">
                <a:solidFill>
                  <a:srgbClr val="C00000"/>
                </a:solidFill>
              </a:rPr>
              <a:t>toLowerCase</a:t>
            </a:r>
            <a:r>
              <a:rPr lang="en-US" altLang="ko-KR" sz="2000" b="1" dirty="0">
                <a:solidFill>
                  <a:srgbClr val="C00000"/>
                </a:solidFill>
              </a:rPr>
              <a:t>()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600" y="1659590"/>
            <a:ext cx="6875618" cy="378563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5711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정규 </a:t>
            </a:r>
            <a:r>
              <a:rPr lang="ko-KR" altLang="en-US" dirty="0" err="1"/>
              <a:t>표현식</a:t>
            </a:r>
            <a:r>
              <a:rPr lang="en-US" altLang="ko-KR" dirty="0"/>
              <a:t>(Regular Expression)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8496944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/>
              <a:t>정규 </a:t>
            </a:r>
            <a:r>
              <a:rPr lang="ko-KR" altLang="en-US" sz="2000" b="1" dirty="0" err="1"/>
              <a:t>표현식</a:t>
            </a:r>
            <a:r>
              <a:rPr lang="en-US" altLang="ko-KR" sz="2000" b="1" dirty="0"/>
              <a:t>(Regular Expression)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특정한 규칙을 가진 문자열의 집합을 표현하고 처리하는 것을 말한다</a:t>
            </a:r>
            <a:r>
              <a:rPr lang="en-US" altLang="ko-KR" sz="160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데이터의 유효성 검사에 주로 사용된다</a:t>
            </a:r>
            <a:r>
              <a:rPr lang="en-US" altLang="ko-KR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자주 사용하는 정규 표현식</a:t>
            </a:r>
            <a:endParaRPr lang="en-US" altLang="ko-KR" b="1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837428" y="2795865"/>
          <a:ext cx="4320481" cy="29813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0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표현식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설 명</a:t>
                      </a:r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latin typeface="Arial" panose="020B0604020202020204" pitchFamily="34" charset="0"/>
                          <a:ea typeface="Arial Unicode MS" panose="020B0604020202020204" pitchFamily="50" charset="-127"/>
                          <a:cs typeface="Arial" panose="020B0604020202020204" pitchFamily="34" charset="0"/>
                        </a:rPr>
                        <a:t> ^[0-9]*$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숫자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Arial" panose="020B0604020202020204" pitchFamily="34" charset="0"/>
                          <a:ea typeface="Arial Unicode MS" panose="020B0604020202020204" pitchFamily="50" charset="-127"/>
                          <a:cs typeface="Arial" panose="020B0604020202020204" pitchFamily="34" charset="0"/>
                        </a:rPr>
                        <a:t> ^[a-</a:t>
                      </a:r>
                      <a:r>
                        <a:rPr lang="en-US" altLang="ko-KR" sz="1600" dirty="0" err="1">
                          <a:latin typeface="Arial" panose="020B0604020202020204" pitchFamily="34" charset="0"/>
                          <a:ea typeface="Arial Unicode MS" panose="020B0604020202020204" pitchFamily="50" charset="-127"/>
                          <a:cs typeface="Arial" panose="020B0604020202020204" pitchFamily="34" charset="0"/>
                        </a:rPr>
                        <a:t>zA</a:t>
                      </a:r>
                      <a:r>
                        <a:rPr lang="en-US" altLang="ko-KR" sz="1600" dirty="0">
                          <a:latin typeface="Arial" panose="020B0604020202020204" pitchFamily="34" charset="0"/>
                          <a:ea typeface="Arial Unicode MS" panose="020B0604020202020204" pitchFamily="50" charset="-127"/>
                          <a:cs typeface="Arial" panose="020B0604020202020204" pitchFamily="34" charset="0"/>
                        </a:rPr>
                        <a:t>-Z]*$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영문 대</a:t>
                      </a:r>
                      <a:r>
                        <a:rPr lang="en-US" altLang="ko-KR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소문자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latin typeface="Arial" panose="020B0604020202020204" pitchFamily="34" charset="0"/>
                          <a:ea typeface="Arial Unicode MS" panose="020B0604020202020204" pitchFamily="50" charset="-127"/>
                          <a:cs typeface="Arial" panose="020B0604020202020204" pitchFamily="34" charset="0"/>
                        </a:rPr>
                        <a:t> ^[</a:t>
                      </a:r>
                      <a:r>
                        <a:rPr lang="ko-KR" altLang="en-US" sz="1600" dirty="0">
                          <a:latin typeface="Arial" panose="020B0604020202020204" pitchFamily="34" charset="0"/>
                          <a:ea typeface="Arial Unicode MS" panose="020B0604020202020204" pitchFamily="50" charset="-127"/>
                          <a:cs typeface="Arial" panose="020B0604020202020204" pitchFamily="34" charset="0"/>
                        </a:rPr>
                        <a:t>가</a:t>
                      </a:r>
                      <a:r>
                        <a:rPr lang="en-US" altLang="ko-KR" sz="1600" dirty="0">
                          <a:latin typeface="Arial" panose="020B0604020202020204" pitchFamily="34" charset="0"/>
                          <a:ea typeface="Arial Unicode MS" panose="020B0604020202020204" pitchFamily="50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lang="ko-KR" altLang="en-US" sz="1600" dirty="0" err="1">
                          <a:latin typeface="Arial" panose="020B0604020202020204" pitchFamily="34" charset="0"/>
                          <a:ea typeface="Arial Unicode MS" panose="020B0604020202020204" pitchFamily="50" charset="-127"/>
                          <a:cs typeface="Arial" panose="020B0604020202020204" pitchFamily="34" charset="0"/>
                        </a:rPr>
                        <a:t>힣</a:t>
                      </a:r>
                      <a:r>
                        <a:rPr lang="en-US" altLang="ko-KR" sz="1600" dirty="0">
                          <a:latin typeface="Arial" panose="020B0604020202020204" pitchFamily="34" charset="0"/>
                          <a:ea typeface="Arial Unicode MS" panose="020B0604020202020204" pitchFamily="50" charset="-127"/>
                          <a:cs typeface="Arial" panose="020B0604020202020204" pitchFamily="34" charset="0"/>
                        </a:rPr>
                        <a:t>]*$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한글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^010[-](d{3}|\d{4})[-]\d{4}$</a:t>
                      </a:r>
                      <a:endParaRPr lang="en-US" altLang="ko-KR" sz="1600" dirty="0">
                        <a:latin typeface="Arial" panose="020B0604020202020204" pitchFamily="34" charset="0"/>
                        <a:ea typeface="Arial Unicode MS" panose="020B06040202020202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휴대폰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latin typeface="Arial" panose="020B0604020202020204" pitchFamily="34" charset="0"/>
                          <a:ea typeface="Arial Unicode MS" panose="020B0604020202020204" pitchFamily="50" charset="-127"/>
                          <a:cs typeface="Arial" panose="020B0604020202020204" pitchFamily="34" charset="0"/>
                        </a:rPr>
                        <a:t>^\d{6}[-][1-4]{6}$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주민등록번호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latin typeface="Arial" panose="020B0604020202020204" pitchFamily="34" charset="0"/>
                          <a:ea typeface="Arial Unicode MS" panose="020B0604020202020204" pitchFamily="50" charset="-127"/>
                          <a:cs typeface="Arial" panose="020B0604020202020204" pitchFamily="34" charset="0"/>
                        </a:rPr>
                        <a:t>^\d{3}[-]\d{2}$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우편번호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585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정규 </a:t>
            </a:r>
            <a:r>
              <a:rPr lang="ko-KR" altLang="en-US" dirty="0" err="1"/>
              <a:t>표현식</a:t>
            </a:r>
            <a:r>
              <a:rPr lang="en-US" altLang="ko-KR" dirty="0"/>
              <a:t>(Regular Expression)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8496944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/>
              <a:t>정규 </a:t>
            </a:r>
            <a:r>
              <a:rPr lang="ko-KR" altLang="en-US" sz="2000" b="1" dirty="0" err="1"/>
              <a:t>표현식</a:t>
            </a:r>
            <a:r>
              <a:rPr lang="en-US" altLang="ko-KR" sz="2000" b="1" dirty="0"/>
              <a:t>(Regular Expression)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자주 사용하는 정규 표현식</a:t>
            </a:r>
            <a:endParaRPr lang="en-US" altLang="ko-KR" b="1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856656" y="2060848"/>
          <a:ext cx="4104456" cy="35283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5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8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0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메타문자</a:t>
                      </a:r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설 명</a:t>
                      </a:r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^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정규식 시작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04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$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정규식 끝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0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*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문자 반복</a:t>
                      </a:r>
                      <a:r>
                        <a:rPr lang="en-US" altLang="ko-KR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(+ </a:t>
                      </a:r>
                      <a:r>
                        <a:rPr lang="ko-KR" altLang="en-US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도 가능</a:t>
                      </a:r>
                      <a:r>
                        <a:rPr lang="en-US" altLang="ko-KR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)</a:t>
                      </a:r>
                      <a:endParaRPr lang="ko-KR" altLang="en-US" sz="1600" dirty="0">
                        <a:latin typeface="Arial Unicode MS" panose="020B0604020202020204" pitchFamily="50" charset="-127"/>
                        <a:ea typeface="Arial Unicode MS" panose="020B0604020202020204" pitchFamily="50" charset="-127"/>
                        <a:cs typeface="Arial Unicode MS" panose="020B0604020202020204" pitchFamily="50" charset="-127"/>
                      </a:endParaRP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4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{3}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반복횟수</a:t>
                      </a:r>
                      <a:endParaRPr lang="ko-KR" altLang="en-US" sz="1600" dirty="0">
                        <a:latin typeface="Arial Unicode MS" panose="020B0604020202020204" pitchFamily="50" charset="-127"/>
                        <a:ea typeface="Arial Unicode MS" panose="020B0604020202020204" pitchFamily="50" charset="-127"/>
                        <a:cs typeface="Arial Unicode MS" panose="020B0604020202020204" pitchFamily="50" charset="-127"/>
                      </a:endParaRP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[x] 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x</a:t>
                      </a:r>
                      <a:r>
                        <a:rPr lang="ko-KR" altLang="en-US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를 찾음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5990513"/>
                  </a:ext>
                </a:extLst>
              </a:tr>
              <a:tr h="3920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" panose="020B0604020202020204" pitchFamily="34" charset="0"/>
                          <a:ea typeface="Arial Unicode MS" panose="020B0604020202020204" pitchFamily="50" charset="-127"/>
                          <a:cs typeface="Arial" panose="020B0604020202020204" pitchFamily="34" charset="0"/>
                        </a:rPr>
                        <a:t>\d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숫자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" panose="020B0604020202020204" pitchFamily="34" charset="0"/>
                          <a:ea typeface="Arial Unicode MS" panose="020B0604020202020204" pitchFamily="50" charset="-127"/>
                          <a:cs typeface="Arial" panose="020B0604020202020204" pitchFamily="34" charset="0"/>
                        </a:rPr>
                        <a:t>\s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공백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" panose="020B0604020202020204" pitchFamily="34" charset="0"/>
                          <a:ea typeface="Arial Unicode MS" panose="020B0604020202020204" pitchFamily="50" charset="-127"/>
                          <a:cs typeface="Arial" panose="020B0604020202020204" pitchFamily="34" charset="0"/>
                        </a:rPr>
                        <a:t>\w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알파벳</a:t>
                      </a:r>
                      <a:r>
                        <a:rPr lang="en-US" altLang="ko-KR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+</a:t>
                      </a:r>
                      <a:r>
                        <a:rPr lang="ko-KR" altLang="en-US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숫자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426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정규 </a:t>
            </a:r>
            <a:r>
              <a:rPr lang="ko-KR" altLang="en-US" dirty="0" err="1"/>
              <a:t>표현식</a:t>
            </a:r>
            <a:r>
              <a:rPr lang="en-US" altLang="ko-KR" dirty="0"/>
              <a:t>(Regular Expression)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849694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/>
              <a:t>정규 </a:t>
            </a:r>
            <a:r>
              <a:rPr lang="ko-KR" altLang="en-US" sz="2000" b="1" dirty="0" err="1"/>
              <a:t>표현식</a:t>
            </a:r>
            <a:r>
              <a:rPr lang="en-US" altLang="ko-KR" sz="2000" b="1" dirty="0"/>
              <a:t>(Regular Expression)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9" y="1628367"/>
            <a:ext cx="5976664" cy="41458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64172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정규 </a:t>
            </a:r>
            <a:r>
              <a:rPr lang="ko-KR" altLang="en-US" dirty="0" err="1"/>
              <a:t>표현식</a:t>
            </a:r>
            <a:r>
              <a:rPr lang="en-US" altLang="ko-KR" dirty="0"/>
              <a:t>(Regular Expression)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547260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/>
              <a:t>정규 </a:t>
            </a:r>
            <a:r>
              <a:rPr lang="ko-KR" altLang="en-US" sz="2000" b="1" dirty="0" err="1"/>
              <a:t>표현식</a:t>
            </a:r>
            <a:r>
              <a:rPr lang="en-US" altLang="ko-KR" sz="2000" b="1" dirty="0"/>
              <a:t>(Regular Expression)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A6E58BA-A535-42FB-AEEE-D46F12797C68}"/>
              </a:ext>
            </a:extLst>
          </p:cNvPr>
          <p:cNvGraphicFramePr>
            <a:graphicFrameLocks noGrp="1"/>
          </p:cNvGraphicFramePr>
          <p:nvPr/>
        </p:nvGraphicFramePr>
        <p:xfrm>
          <a:off x="848544" y="1628366"/>
          <a:ext cx="8784976" cy="39776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13641">
                  <a:extLst>
                    <a:ext uri="{9D8B030D-6E8A-4147-A177-3AD203B41FA5}">
                      <a16:colId xmlns:a16="http://schemas.microsoft.com/office/drawing/2014/main" val="2887738532"/>
                    </a:ext>
                  </a:extLst>
                </a:gridCol>
                <a:gridCol w="3150855">
                  <a:extLst>
                    <a:ext uri="{9D8B030D-6E8A-4147-A177-3AD203B41FA5}">
                      <a16:colId xmlns:a16="http://schemas.microsoft.com/office/drawing/2014/main" val="1229718499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344977913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클래스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메서드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기능 설명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502920">
                <a:tc row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Pattern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compile(</a:t>
                      </a:r>
                      <a:r>
                        <a:rPr lang="en-US" altLang="ko-KR" sz="1800" dirty="0" err="1"/>
                        <a:t>regexp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 - </a:t>
                      </a:r>
                      <a:r>
                        <a:rPr lang="ko-KR" altLang="en-US" sz="1600" dirty="0"/>
                        <a:t>정규 표현식을 컴파일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해석</a:t>
                      </a:r>
                      <a:r>
                        <a:rPr lang="en-US" altLang="ko-KR" sz="1600" dirty="0"/>
                        <a:t>) </a:t>
                      </a:r>
                      <a:r>
                        <a:rPr lang="ko-KR" altLang="en-US" sz="1600" dirty="0"/>
                        <a:t>한다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matches(</a:t>
                      </a:r>
                      <a:r>
                        <a:rPr lang="en-US" altLang="ko-KR" sz="1800" dirty="0" err="1"/>
                        <a:t>regexp</a:t>
                      </a:r>
                      <a:r>
                        <a:rPr lang="en-US" altLang="ko-KR" sz="1800" dirty="0"/>
                        <a:t>, </a:t>
                      </a:r>
                      <a:r>
                        <a:rPr lang="en-US" altLang="ko-KR" sz="1800" dirty="0" err="1"/>
                        <a:t>str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 - </a:t>
                      </a:r>
                      <a:r>
                        <a:rPr lang="ko-KR" altLang="en-US" sz="1600" dirty="0"/>
                        <a:t>문자열이 정규표현식에 매칭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일치</a:t>
                      </a:r>
                      <a:r>
                        <a:rPr lang="en-US" altLang="ko-KR" sz="1600" dirty="0"/>
                        <a:t>) </a:t>
                      </a:r>
                      <a:r>
                        <a:rPr lang="ko-KR" altLang="en-US" sz="1600" dirty="0"/>
                        <a:t>여부</a:t>
                      </a:r>
                      <a:endParaRPr lang="en-US" altLang="ko-KR" sz="1600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  </a:t>
                      </a:r>
                      <a:r>
                        <a:rPr lang="ko-KR" altLang="en-US" sz="1600" dirty="0"/>
                        <a:t>를 반환함</a:t>
                      </a:r>
                      <a:r>
                        <a:rPr lang="en-US" altLang="ko-KR" sz="1600" baseline="0" dirty="0"/>
                        <a:t>(true/false)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759279"/>
                  </a:ext>
                </a:extLst>
              </a:tr>
              <a:tr h="502920"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 Matcher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 matches(</a:t>
                      </a:r>
                      <a:r>
                        <a:rPr lang="ko-KR" altLang="en-US" sz="1800" dirty="0"/>
                        <a:t>문자열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 - Pattern </a:t>
                      </a:r>
                      <a:r>
                        <a:rPr lang="ko-KR" altLang="en-US" sz="1600" dirty="0"/>
                        <a:t>클래스로</a:t>
                      </a:r>
                      <a:r>
                        <a:rPr lang="en-US" altLang="ko-KR" sz="1600" baseline="0" dirty="0"/>
                        <a:t> compile</a:t>
                      </a:r>
                      <a:r>
                        <a:rPr lang="ko-KR" altLang="en-US" sz="1600" baseline="0" dirty="0"/>
                        <a:t>한 </a:t>
                      </a:r>
                      <a:r>
                        <a:rPr lang="ko-KR" altLang="en-US" sz="1600" baseline="0" dirty="0" err="1"/>
                        <a:t>정규표현식</a:t>
                      </a:r>
                      <a:endParaRPr lang="en-US" altLang="ko-KR" sz="1600" baseline="0" dirty="0"/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baseline="0" dirty="0"/>
                        <a:t>   </a:t>
                      </a:r>
                      <a:r>
                        <a:rPr lang="ko-KR" altLang="en-US" sz="1600" baseline="0" dirty="0"/>
                        <a:t>객체로 문자열 객체 생성</a:t>
                      </a:r>
                      <a:endParaRPr lang="en-US" altLang="ko-KR" sz="1600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2480862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matches()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 - Matcher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/>
                        <a:t>클래스의 객체가 정규표현식에 </a:t>
                      </a:r>
                      <a:endParaRPr lang="en-US" altLang="ko-KR" sz="1600" baseline="0" dirty="0"/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baseline="0" dirty="0"/>
                        <a:t>   </a:t>
                      </a:r>
                      <a:r>
                        <a:rPr lang="ko-KR" altLang="en-US" sz="1600" baseline="0" dirty="0"/>
                        <a:t>일치하는 여부를 반환함</a:t>
                      </a:r>
                      <a:r>
                        <a:rPr lang="en-US" altLang="ko-KR" sz="1600" baseline="0" dirty="0"/>
                        <a:t>(true/false)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96692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 String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</a:t>
                      </a:r>
                      <a:r>
                        <a:rPr lang="en-US" altLang="ko-KR" sz="1800" dirty="0" err="1"/>
                        <a:t>replaceAll</a:t>
                      </a:r>
                      <a:r>
                        <a:rPr lang="en-US" altLang="ko-KR" sz="1800" dirty="0"/>
                        <a:t>(</a:t>
                      </a:r>
                      <a:r>
                        <a:rPr lang="en-US" altLang="ko-KR" sz="1800" dirty="0" err="1"/>
                        <a:t>regexp</a:t>
                      </a:r>
                      <a:r>
                        <a:rPr lang="en-US" altLang="ko-KR" sz="1800" dirty="0"/>
                        <a:t>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ko-KR" altLang="en-US" sz="1800" baseline="0" dirty="0" err="1"/>
                        <a:t>대체문자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특정 패턴과 일치하는 모든 부분을 변경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510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3351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정규 </a:t>
            </a:r>
            <a:r>
              <a:rPr lang="ko-KR" altLang="en-US" dirty="0" err="1"/>
              <a:t>표현식</a:t>
            </a:r>
            <a:r>
              <a:rPr lang="en-US" altLang="ko-KR" dirty="0"/>
              <a:t>(Regular Expression)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590465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/>
              <a:t>Pattern, Matcher </a:t>
            </a:r>
            <a:r>
              <a:rPr lang="ko-KR" altLang="en-US" sz="2000" b="1" dirty="0"/>
              <a:t>클래스 활용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600" y="1658941"/>
            <a:ext cx="6398271" cy="35926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/>
          <a:srcRect r="44231" b="53846"/>
          <a:stretch/>
        </p:blipFill>
        <p:spPr>
          <a:xfrm>
            <a:off x="7347266" y="4581128"/>
            <a:ext cx="1152128" cy="4320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61417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정규 </a:t>
            </a:r>
            <a:r>
              <a:rPr lang="ko-KR" altLang="en-US" dirty="0" err="1"/>
              <a:t>표현식</a:t>
            </a:r>
            <a:r>
              <a:rPr lang="en-US" altLang="ko-KR" dirty="0"/>
              <a:t>(Regular Expression)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20552" y="980728"/>
            <a:ext cx="590465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/>
              <a:t>Pattern, Matcher </a:t>
            </a:r>
            <a:r>
              <a:rPr lang="ko-KR" altLang="en-US" sz="2000" b="1" dirty="0"/>
              <a:t>클래스 활용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592" y="1648150"/>
            <a:ext cx="8158279" cy="42128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232" y="4221088"/>
            <a:ext cx="2585016" cy="13681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81554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정규 </a:t>
            </a:r>
            <a:r>
              <a:rPr lang="ko-KR" altLang="en-US" dirty="0" err="1"/>
              <a:t>표현식</a:t>
            </a:r>
            <a:r>
              <a:rPr lang="en-US" altLang="ko-KR" dirty="0"/>
              <a:t>(Regular Expression)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20552" y="980728"/>
            <a:ext cx="590465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 err="1"/>
              <a:t>replaceAll</a:t>
            </a:r>
            <a:r>
              <a:rPr lang="en-US" altLang="ko-KR" sz="2000" b="1" dirty="0"/>
              <a:t>() </a:t>
            </a:r>
            <a:r>
              <a:rPr lang="ko-KR" altLang="en-US" sz="2000" b="1" dirty="0"/>
              <a:t>메서드 활용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600" y="1628366"/>
            <a:ext cx="6897526" cy="46089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03776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실습 문제 </a:t>
            </a:r>
            <a:r>
              <a:rPr lang="en-US" altLang="ko-KR" dirty="0"/>
              <a:t>2 – </a:t>
            </a:r>
            <a:r>
              <a:rPr lang="ko-KR" altLang="en-US" dirty="0"/>
              <a:t>정규 표현식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858168" y="978940"/>
            <a:ext cx="81992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-------------------------------------------------------------------------------------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아래 프로그램을 분석하여 그 실행 결과를 쓰시오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-------------------------------------------------------------------------------------</a:t>
            </a:r>
            <a:endParaRPr lang="ko-KR" altLang="en-US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1280592" y="2044011"/>
            <a:ext cx="6835948" cy="1656184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dirty="0"/>
              <a:t> </a:t>
            </a:r>
            <a:r>
              <a:rPr lang="ko-KR" altLang="en-US" dirty="0" err="1"/>
              <a:t>String</a:t>
            </a:r>
            <a:r>
              <a:rPr lang="ko-KR" altLang="en-US" dirty="0"/>
              <a:t> </a:t>
            </a:r>
            <a:r>
              <a:rPr lang="ko-KR" altLang="en-US" dirty="0" err="1"/>
              <a:t>str</a:t>
            </a:r>
            <a:r>
              <a:rPr lang="ko-KR" altLang="en-US" dirty="0"/>
              <a:t> = "THANK!@YOU%/";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</a:t>
            </a:r>
            <a:r>
              <a:rPr lang="ko-KR" altLang="en-US" dirty="0" err="1"/>
              <a:t>String</a:t>
            </a:r>
            <a:r>
              <a:rPr lang="ko-KR" altLang="en-US" dirty="0"/>
              <a:t> </a:t>
            </a:r>
            <a:r>
              <a:rPr lang="ko-KR" altLang="en-US" dirty="0" err="1"/>
              <a:t>res</a:t>
            </a:r>
            <a:r>
              <a:rPr lang="ko-KR" altLang="en-US" dirty="0"/>
              <a:t> = </a:t>
            </a:r>
            <a:r>
              <a:rPr lang="ko-KR" altLang="en-US" dirty="0" err="1"/>
              <a:t>str.replaceAll</a:t>
            </a:r>
            <a:r>
              <a:rPr lang="ko-KR" altLang="en-US" dirty="0"/>
              <a:t>("[^ㄱ-하-ㅣ가-힣a-zA-Z0-9]", "*");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</a:t>
            </a:r>
            <a:r>
              <a:rPr lang="ko-KR" altLang="en-US" dirty="0" err="1"/>
              <a:t>System.out.println</a:t>
            </a:r>
            <a:r>
              <a:rPr lang="ko-KR" altLang="en-US" dirty="0"/>
              <a:t>(</a:t>
            </a:r>
            <a:r>
              <a:rPr lang="ko-KR" altLang="en-US" dirty="0" err="1"/>
              <a:t>res</a:t>
            </a:r>
            <a:r>
              <a:rPr lang="ko-KR" alt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82274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Wrapper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3" y="939872"/>
            <a:ext cx="8397407" cy="1841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기본 </a:t>
            </a:r>
            <a:r>
              <a:rPr lang="ko-KR" altLang="en-US" sz="2000" b="1" dirty="0" err="1">
                <a:solidFill>
                  <a:srgbClr val="C00000"/>
                </a:solidFill>
              </a:rPr>
              <a:t>자료형을</a:t>
            </a:r>
            <a:r>
              <a:rPr lang="ko-KR" altLang="en-US" sz="2000" b="1" dirty="0">
                <a:solidFill>
                  <a:srgbClr val="C00000"/>
                </a:solidFill>
              </a:rPr>
              <a:t> 위한 클래스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기본 </a:t>
            </a:r>
            <a:r>
              <a:rPr lang="ko-KR" altLang="en-US" sz="1600" dirty="0" err="1"/>
              <a:t>자료형을</a:t>
            </a:r>
            <a:r>
              <a:rPr lang="ko-KR" altLang="en-US" sz="1600" dirty="0"/>
              <a:t> 멤버 변수로 포함하여 메서드를 제공함으로써 기본자료형의 객체를 제공하는 클래스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기본 </a:t>
            </a:r>
            <a:r>
              <a:rPr lang="ko-KR" altLang="en-US" sz="1600" dirty="0" err="1"/>
              <a:t>자료형을</a:t>
            </a:r>
            <a:r>
              <a:rPr lang="ko-KR" altLang="en-US" sz="1600" dirty="0"/>
              <a:t> 감쌌다는 의미로 </a:t>
            </a:r>
            <a:r>
              <a:rPr lang="en-US" altLang="ko-KR" sz="1600" dirty="0"/>
              <a:t>Wrapper </a:t>
            </a:r>
            <a:r>
              <a:rPr lang="ko-KR" altLang="en-US" sz="1600" dirty="0"/>
              <a:t>클래스라고 한다</a:t>
            </a:r>
            <a:r>
              <a:rPr lang="en-US" altLang="ko-KR" sz="1600" dirty="0"/>
              <a:t>.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5961112" y="2891844"/>
          <a:ext cx="3104241" cy="29134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2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5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기본형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Wrapper </a:t>
                      </a:r>
                      <a:r>
                        <a:rPr lang="ko-KR" altLang="en-US" dirty="0"/>
                        <a:t>클래스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5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boolean</a:t>
                      </a:r>
                      <a:endParaRPr lang="ko-KR" altLang="en-US" sz="1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Boolean</a:t>
                      </a:r>
                      <a:endParaRPr lang="ko-KR" altLang="en-US" sz="1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5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byte</a:t>
                      </a:r>
                      <a:endParaRPr lang="ko-KR" altLang="en-US" sz="1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Byte</a:t>
                      </a:r>
                      <a:endParaRPr lang="ko-KR" altLang="en-US" sz="1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5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char</a:t>
                      </a:r>
                      <a:endParaRPr lang="ko-KR" altLang="en-US" sz="1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Character</a:t>
                      </a:r>
                      <a:endParaRPr lang="ko-KR" altLang="en-US" sz="1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5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int</a:t>
                      </a:r>
                      <a:endParaRPr lang="ko-KR" altLang="en-US" sz="1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Integer</a:t>
                      </a:r>
                      <a:endParaRPr lang="ko-KR" altLang="en-US" sz="1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5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double</a:t>
                      </a:r>
                      <a:endParaRPr lang="ko-KR" altLang="en-US" sz="1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Double</a:t>
                      </a:r>
                      <a:endParaRPr lang="ko-KR" altLang="en-US" sz="1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280592" y="2891844"/>
            <a:ext cx="4320480" cy="919401"/>
          </a:xfrm>
          <a:prstGeom prst="roundRect">
            <a:avLst/>
          </a:prstGeom>
          <a:ln w="12700"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600" dirty="0"/>
              <a:t>지금까지 정수를 사용할 때 기본형인 </a:t>
            </a:r>
            <a:r>
              <a:rPr lang="en-US" altLang="ko-KR" sz="1600" dirty="0" err="1"/>
              <a:t>int</a:t>
            </a:r>
            <a:r>
              <a:rPr lang="ko-KR" altLang="en-US" sz="1600" dirty="0"/>
              <a:t>를 사용했다</a:t>
            </a:r>
            <a:r>
              <a:rPr lang="en-US" altLang="ko-KR" sz="1600" dirty="0"/>
              <a:t>. </a:t>
            </a:r>
            <a:r>
              <a:rPr lang="ko-KR" altLang="en-US" sz="1600" dirty="0"/>
              <a:t>그런데 정수를 </a:t>
            </a:r>
            <a:r>
              <a:rPr lang="ko-KR" altLang="en-US" sz="1600" dirty="0" err="1"/>
              <a:t>객체형으로</a:t>
            </a:r>
            <a:r>
              <a:rPr lang="ko-KR" altLang="en-US" sz="1600" dirty="0"/>
              <a:t> 사용해야 하는 경우가 발생한다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1" name="직사각형 10"/>
          <p:cNvSpPr/>
          <p:nvPr/>
        </p:nvSpPr>
        <p:spPr>
          <a:xfrm>
            <a:off x="1460612" y="3982045"/>
            <a:ext cx="3960440" cy="165618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>
                <a:latin typeface="+mn-ea"/>
              </a:rPr>
              <a:t>public void </a:t>
            </a:r>
            <a:r>
              <a:rPr lang="en-US" altLang="ko-KR" dirty="0" err="1">
                <a:latin typeface="+mn-ea"/>
              </a:rPr>
              <a:t>setValue</a:t>
            </a:r>
            <a:r>
              <a:rPr lang="en-US" altLang="ko-KR" dirty="0">
                <a:latin typeface="+mn-ea"/>
              </a:rPr>
              <a:t>(Integer </a:t>
            </a:r>
            <a:r>
              <a:rPr lang="en-US" altLang="ko-KR" dirty="0" err="1">
                <a:latin typeface="+mn-ea"/>
              </a:rPr>
              <a:t>i</a:t>
            </a:r>
            <a:r>
              <a:rPr lang="en-US" altLang="ko-KR" dirty="0">
                <a:latin typeface="+mn-ea"/>
              </a:rPr>
              <a:t>){…..}</a:t>
            </a:r>
          </a:p>
          <a:p>
            <a:r>
              <a:rPr lang="en-US" altLang="ko-KR" dirty="0">
                <a:solidFill>
                  <a:srgbClr val="00B050"/>
                </a:solidFill>
                <a:latin typeface="+mn-ea"/>
              </a:rPr>
              <a:t>//</a:t>
            </a:r>
            <a:r>
              <a:rPr lang="ko-KR" altLang="en-US" dirty="0">
                <a:solidFill>
                  <a:srgbClr val="00B050"/>
                </a:solidFill>
                <a:latin typeface="+mn-ea"/>
              </a:rPr>
              <a:t>객체를 매개변수로 받는 경우</a:t>
            </a:r>
            <a:endParaRPr lang="en-US" altLang="ko-KR" dirty="0">
              <a:solidFill>
                <a:srgbClr val="00B050"/>
              </a:solidFill>
              <a:latin typeface="+mn-ea"/>
            </a:endParaRPr>
          </a:p>
          <a:p>
            <a:endParaRPr lang="en-US" altLang="ko-KR" dirty="0">
              <a:solidFill>
                <a:srgbClr val="00B050"/>
              </a:solidFill>
              <a:latin typeface="+mn-ea"/>
            </a:endParaRPr>
          </a:p>
          <a:p>
            <a:r>
              <a:rPr lang="en-US" altLang="ko-KR" dirty="0">
                <a:latin typeface="+mn-ea"/>
              </a:rPr>
              <a:t>public Integer </a:t>
            </a:r>
            <a:r>
              <a:rPr lang="en-US" altLang="ko-KR" dirty="0" err="1">
                <a:latin typeface="+mn-ea"/>
              </a:rPr>
              <a:t>returnValue</a:t>
            </a:r>
            <a:r>
              <a:rPr lang="en-US" altLang="ko-KR" dirty="0">
                <a:latin typeface="+mn-ea"/>
              </a:rPr>
              <a:t>(){…..}</a:t>
            </a:r>
          </a:p>
          <a:p>
            <a:r>
              <a:rPr lang="en-US" altLang="ko-KR" dirty="0">
                <a:solidFill>
                  <a:srgbClr val="00B050"/>
                </a:solidFill>
                <a:latin typeface="+mn-ea"/>
              </a:rPr>
              <a:t>//</a:t>
            </a:r>
            <a:r>
              <a:rPr lang="ko-KR" altLang="en-US" dirty="0" err="1">
                <a:solidFill>
                  <a:srgbClr val="00B050"/>
                </a:solidFill>
                <a:latin typeface="+mn-ea"/>
              </a:rPr>
              <a:t>반환값이</a:t>
            </a:r>
            <a:r>
              <a:rPr lang="ko-KR" altLang="en-US" dirty="0">
                <a:solidFill>
                  <a:srgbClr val="00B050"/>
                </a:solidFill>
                <a:latin typeface="+mn-ea"/>
              </a:rPr>
              <a:t> 객체인 경우</a:t>
            </a:r>
            <a:endParaRPr lang="en-US" altLang="ko-KR" dirty="0">
              <a:solidFill>
                <a:srgbClr val="00B05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186723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Wrapper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32" y="1628800"/>
            <a:ext cx="7848872" cy="29763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직사각형 8"/>
          <p:cNvSpPr/>
          <p:nvPr/>
        </p:nvSpPr>
        <p:spPr>
          <a:xfrm>
            <a:off x="1064568" y="990290"/>
            <a:ext cx="2520280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rgbClr val="C00000"/>
                </a:solidFill>
              </a:rPr>
              <a:t>자료형의</a:t>
            </a:r>
            <a:r>
              <a:rPr lang="ko-KR" altLang="en-US" sz="2000" b="1" dirty="0">
                <a:solidFill>
                  <a:srgbClr val="C00000"/>
                </a:solidFill>
              </a:rPr>
              <a:t> 크기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60" y="4365104"/>
            <a:ext cx="2681802" cy="16561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055842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Wrapper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1064568" y="980728"/>
            <a:ext cx="252028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Integer </a:t>
            </a:r>
            <a:r>
              <a:rPr lang="ko-KR" altLang="en-US" sz="2000" b="1" dirty="0">
                <a:solidFill>
                  <a:srgbClr val="C00000"/>
                </a:solidFill>
              </a:rPr>
              <a:t>클래스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552389"/>
            <a:ext cx="5328592" cy="49009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272" y="4437112"/>
            <a:ext cx="905001" cy="11431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783219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난수</a:t>
            </a:r>
            <a:r>
              <a:rPr lang="ko-KR" altLang="en-US" dirty="0"/>
              <a:t> 생성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2052" y="980728"/>
            <a:ext cx="2950828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</a:rPr>
              <a:t>난수</a:t>
            </a:r>
            <a:r>
              <a:rPr lang="ko-KR" altLang="en-US" sz="2000" b="1" dirty="0">
                <a:solidFill>
                  <a:srgbClr val="C00000"/>
                </a:solidFill>
              </a:rPr>
              <a:t> 생성 비교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096" y="3480097"/>
            <a:ext cx="2952687" cy="26278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992560" y="1631892"/>
          <a:ext cx="8418140" cy="13410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1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5612">
                  <a:extLst>
                    <a:ext uri="{9D8B030D-6E8A-4147-A177-3AD203B41FA5}">
                      <a16:colId xmlns:a16="http://schemas.microsoft.com/office/drawing/2014/main" val="2491517501"/>
                    </a:ext>
                  </a:extLst>
                </a:gridCol>
              </a:tblGrid>
              <a:tr h="4470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방법</a:t>
                      </a:r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특징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사용 예시</a:t>
                      </a:r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Math.random</a:t>
                      </a:r>
                      <a:r>
                        <a:rPr lang="en-US" altLang="ko-KR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()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aseline="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 0. 0 &lt;= x &lt; 1.0(Double)</a:t>
                      </a:r>
                      <a:endParaRPr lang="ko-KR" altLang="en-US" sz="1600" dirty="0">
                        <a:latin typeface="Arial Unicode MS" panose="020B0604020202020204" pitchFamily="50" charset="-127"/>
                        <a:ea typeface="Arial Unicode MS" panose="020B0604020202020204" pitchFamily="50" charset="-127"/>
                        <a:cs typeface="Arial Unicode MS" panose="020B06040202020202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)(</a:t>
                      </a:r>
                      <a:r>
                        <a:rPr lang="en-US" altLang="ko-KR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</a:t>
                      </a:r>
                      <a:r>
                        <a:rPr lang="en-US" altLang="ko-KR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* 6) + 1</a:t>
                      </a:r>
                      <a:endParaRPr lang="ko-KR" altLang="en-US" sz="1600" dirty="0">
                        <a:latin typeface="Arial Unicode MS" panose="020B0604020202020204" pitchFamily="50" charset="-127"/>
                        <a:ea typeface="Arial Unicode MS" panose="020B0604020202020204" pitchFamily="50" charset="-127"/>
                        <a:cs typeface="Arial Unicode MS" panose="020B0604020202020204" pitchFamily="50" charset="-127"/>
                      </a:endParaRP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Random</a:t>
                      </a:r>
                      <a:r>
                        <a:rPr lang="en-US" altLang="ko-KR" sz="1600" baseline="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 </a:t>
                      </a:r>
                      <a:r>
                        <a:rPr lang="ko-KR" altLang="en-US" sz="1600" baseline="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클래스</a:t>
                      </a:r>
                      <a:endParaRPr lang="en-US" altLang="ko-KR" sz="1600" dirty="0">
                        <a:latin typeface="Arial Unicode MS" panose="020B0604020202020204" pitchFamily="50" charset="-127"/>
                        <a:ea typeface="Arial Unicode MS" panose="020B0604020202020204" pitchFamily="50" charset="-127"/>
                        <a:cs typeface="Arial Unicode MS" panose="020B06040202020202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aseline="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 </a:t>
                      </a:r>
                      <a:r>
                        <a:rPr lang="ko-KR" altLang="en-US" sz="1600" baseline="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다양한 </a:t>
                      </a:r>
                      <a:r>
                        <a:rPr lang="ko-KR" altLang="en-US" sz="1600" baseline="0" dirty="0" err="1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자료형</a:t>
                      </a:r>
                      <a:r>
                        <a:rPr lang="ko-KR" altLang="en-US" sz="1600" baseline="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 지원</a:t>
                      </a:r>
                      <a:endParaRPr lang="ko-KR" altLang="en-US" sz="1600" dirty="0">
                        <a:latin typeface="Arial Unicode MS" panose="020B0604020202020204" pitchFamily="50" charset="-127"/>
                        <a:ea typeface="Arial Unicode MS" panose="020B0604020202020204" pitchFamily="50" charset="-127"/>
                        <a:cs typeface="Arial Unicode MS" panose="020B06040202020202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rnd.nextInt</a:t>
                      </a:r>
                      <a:r>
                        <a:rPr lang="en-US" altLang="ko-KR" sz="16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(6)</a:t>
                      </a:r>
                      <a:r>
                        <a:rPr lang="en-US" altLang="ko-KR" sz="1600" baseline="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 + 1</a:t>
                      </a:r>
                      <a:endParaRPr lang="ko-KR" altLang="en-US" sz="1600" dirty="0">
                        <a:latin typeface="Arial Unicode MS" panose="020B0604020202020204" pitchFamily="50" charset="-127"/>
                        <a:ea typeface="Arial Unicode MS" panose="020B0604020202020204" pitchFamily="50" charset="-127"/>
                        <a:cs typeface="Arial Unicode MS" panose="020B0604020202020204" pitchFamily="50" charset="-127"/>
                      </a:endParaRP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3192065"/>
            <a:ext cx="2950828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Random </a:t>
            </a:r>
            <a:r>
              <a:rPr lang="ko-KR" altLang="en-US" sz="2000" b="1" dirty="0">
                <a:solidFill>
                  <a:srgbClr val="C00000"/>
                </a:solidFill>
              </a:rPr>
              <a:t>클래스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1304253" y="3802579"/>
            <a:ext cx="4233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난수</a:t>
            </a:r>
            <a:r>
              <a:rPr lang="en-US" altLang="ko-KR" dirty="0"/>
              <a:t>(</a:t>
            </a:r>
            <a:r>
              <a:rPr lang="ko-KR" altLang="en-US" dirty="0" err="1"/>
              <a:t>무작위수</a:t>
            </a:r>
            <a:r>
              <a:rPr lang="en-US" altLang="ko-KR" dirty="0"/>
              <a:t>)</a:t>
            </a:r>
            <a:r>
              <a:rPr lang="ko-KR" altLang="en-US" dirty="0"/>
              <a:t>를 생성하는 클래스이다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46211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Random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2052" y="980728"/>
            <a:ext cx="5831148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Random </a:t>
            </a:r>
            <a:r>
              <a:rPr lang="ko-KR" altLang="en-US" sz="2000" b="1" dirty="0">
                <a:solidFill>
                  <a:srgbClr val="C00000"/>
                </a:solidFill>
              </a:rPr>
              <a:t>클래스 활용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56792"/>
            <a:ext cx="5237811" cy="44644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306304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Random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2052" y="980728"/>
            <a:ext cx="5831148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Random </a:t>
            </a:r>
            <a:r>
              <a:rPr lang="ko-KR" altLang="en-US" sz="2000" b="1" dirty="0">
                <a:solidFill>
                  <a:srgbClr val="C00000"/>
                </a:solidFill>
              </a:rPr>
              <a:t>클래스를 활용한 주사위 던지기 게임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744" y="1700808"/>
            <a:ext cx="5181576" cy="39604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240" y="2420888"/>
            <a:ext cx="1548259" cy="31720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9987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숫자 추측 게임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3" y="980728"/>
            <a:ext cx="4536503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숫자 추측 게임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700808"/>
            <a:ext cx="2315532" cy="12241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287" y="1698631"/>
            <a:ext cx="5326185" cy="41786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827120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문자열 자르기 </a:t>
            </a:r>
            <a:r>
              <a:rPr lang="en-US" altLang="ko-KR" dirty="0"/>
              <a:t>– split()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424847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String </a:t>
            </a:r>
            <a:r>
              <a:rPr lang="ko-KR" altLang="en-US" sz="2000" b="1" dirty="0"/>
              <a:t>클래스의 </a:t>
            </a:r>
            <a:r>
              <a:rPr lang="en-US" altLang="ko-KR" sz="2000" b="1" dirty="0"/>
              <a:t>split() </a:t>
            </a:r>
            <a:r>
              <a:rPr lang="ko-KR" altLang="en-US" sz="2000" b="1" dirty="0"/>
              <a:t>사용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08" y="1670872"/>
            <a:ext cx="6272253" cy="33690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278755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영어 타자 게임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064568" y="1484784"/>
            <a:ext cx="7776864" cy="1937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      - </a:t>
            </a:r>
            <a:r>
              <a:rPr lang="ko-KR" altLang="en-US" sz="1600" dirty="0"/>
              <a:t>게임이 시작되면 영어 단어가 화면에 표시된다</a:t>
            </a:r>
            <a:r>
              <a:rPr lang="en-US" altLang="ko-KR" sz="1600" dirty="0"/>
              <a:t>.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      - </a:t>
            </a:r>
            <a:r>
              <a:rPr lang="ko-KR" altLang="en-US" sz="1600" dirty="0"/>
              <a:t>사용자는 최대한 빠르고 정확하게 입력해야 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   - </a:t>
            </a:r>
            <a:r>
              <a:rPr lang="ko-KR" altLang="en-US" sz="1600" dirty="0"/>
              <a:t>바르게 입력했으면 다음 문제로 넘어가고 </a:t>
            </a:r>
            <a:r>
              <a:rPr lang="en-US" altLang="ko-KR" sz="1600" dirty="0"/>
              <a:t>“</a:t>
            </a:r>
            <a:r>
              <a:rPr lang="ko-KR" altLang="en-US" sz="1600" dirty="0"/>
              <a:t>통과</a:t>
            </a:r>
            <a:r>
              <a:rPr lang="en-US" altLang="ko-KR" sz="1600" dirty="0"/>
              <a:t>”</a:t>
            </a:r>
            <a:r>
              <a:rPr lang="ko-KR" altLang="en-US" sz="1600" dirty="0"/>
              <a:t>를 출력한다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   - </a:t>
            </a:r>
            <a:r>
              <a:rPr lang="ko-KR" altLang="en-US" sz="1600" dirty="0"/>
              <a:t>오타가 있으면 같은 단어가 한 번 더 나온다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   - </a:t>
            </a:r>
            <a:r>
              <a:rPr lang="ko-KR" altLang="en-US" sz="1600" dirty="0"/>
              <a:t>타자 게임 시간을 측정한다</a:t>
            </a:r>
            <a:r>
              <a:rPr lang="en-US" altLang="ko-KR" sz="1600" dirty="0"/>
              <a:t>.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0728"/>
            <a:ext cx="4536503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영어 타자 게임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476" y="2261133"/>
            <a:ext cx="1895158" cy="40968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926" y="3068960"/>
            <a:ext cx="2274330" cy="32890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709237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영어 타자 게임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0728"/>
            <a:ext cx="4536503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영어 타자 게임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44" y="1556792"/>
            <a:ext cx="8430534" cy="46805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97981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영어 타자 게임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0728"/>
            <a:ext cx="4536503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영어 타자 게임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616" y="1583080"/>
            <a:ext cx="6408712" cy="47118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417864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BC4D108-EBD0-4484-B4A7-60CD81DEA957}"/>
              </a:ext>
            </a:extLst>
          </p:cNvPr>
          <p:cNvSpPr txBox="1"/>
          <p:nvPr/>
        </p:nvSpPr>
        <p:spPr>
          <a:xfrm>
            <a:off x="920552" y="1045236"/>
            <a:ext cx="8667204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Jar</a:t>
            </a:r>
            <a:r>
              <a:rPr lang="ko-KR" altLang="en-US" sz="2000" b="1" dirty="0"/>
              <a:t>파일 만들기</a:t>
            </a:r>
            <a:endParaRPr lang="en-US" altLang="ko-KR" sz="2000" b="1" dirty="0"/>
          </a:p>
          <a:p>
            <a:pPr marL="371475" lvl="1">
              <a:lnSpc>
                <a:spcPct val="150000"/>
              </a:lnSpc>
            </a:pPr>
            <a:r>
              <a:rPr lang="ko-KR" altLang="en-US" b="1" dirty="0"/>
              <a:t>프로젝트 이름 </a:t>
            </a:r>
            <a:r>
              <a:rPr lang="en-US" altLang="ko-KR" b="1" dirty="0"/>
              <a:t>– </a:t>
            </a:r>
            <a:r>
              <a:rPr lang="ko-KR" altLang="en-US" b="1" dirty="0" err="1"/>
              <a:t>우측메뉴</a:t>
            </a:r>
            <a:r>
              <a:rPr lang="ko-KR" altLang="en-US" b="1" dirty="0"/>
              <a:t> </a:t>
            </a:r>
            <a:r>
              <a:rPr lang="en-US" altLang="ko-KR" b="1" dirty="0"/>
              <a:t>– Export – Java – Runnable JAR File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jar </a:t>
            </a:r>
            <a:r>
              <a:rPr lang="ko-KR" altLang="en-US" dirty="0"/>
              <a:t>파일 배포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108756" y="2286123"/>
            <a:ext cx="3506531" cy="3134898"/>
            <a:chOff x="1326153" y="2286123"/>
            <a:chExt cx="3506531" cy="3134898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26153" y="2286123"/>
              <a:ext cx="3506531" cy="313489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46DD618-61E0-4F40-B204-242CFAF546A3}"/>
                </a:ext>
              </a:extLst>
            </p:cNvPr>
            <p:cNvSpPr txBox="1"/>
            <p:nvPr/>
          </p:nvSpPr>
          <p:spPr>
            <a:xfrm>
              <a:off x="2504728" y="4149080"/>
              <a:ext cx="907394" cy="317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C00000"/>
                  </a:solidFill>
                </a:rPr>
                <a:t>① 선택</a:t>
              </a: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5095643" y="2257883"/>
            <a:ext cx="4393861" cy="3176236"/>
            <a:chOff x="5313040" y="2257883"/>
            <a:chExt cx="4393861" cy="3176236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13040" y="2257883"/>
              <a:ext cx="3934655" cy="3176236"/>
            </a:xfrm>
            <a:prstGeom prst="rect">
              <a:avLst/>
            </a:prstGeom>
          </p:spPr>
        </p:pic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4A5CE167-0EE4-46C4-A7D1-10977995114E}"/>
                </a:ext>
              </a:extLst>
            </p:cNvPr>
            <p:cNvSpPr/>
            <p:nvPr/>
          </p:nvSpPr>
          <p:spPr>
            <a:xfrm>
              <a:off x="8841433" y="3068960"/>
              <a:ext cx="504056" cy="288032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3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CBA4CB-1850-4BEE-B85B-1E0EB9C23827}"/>
                </a:ext>
              </a:extLst>
            </p:cNvPr>
            <p:cNvSpPr txBox="1"/>
            <p:nvPr/>
          </p:nvSpPr>
          <p:spPr>
            <a:xfrm>
              <a:off x="8697416" y="2697815"/>
              <a:ext cx="887352" cy="317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C00000"/>
                  </a:solidFill>
                </a:rPr>
                <a:t>② 선택</a:t>
              </a:r>
            </a:p>
          </p:txBody>
        </p:sp>
        <p:sp>
          <p:nvSpPr>
            <p:cNvPr id="14" name="사각형: 둥근 모서리 20">
              <a:extLst>
                <a:ext uri="{FF2B5EF4-FFF2-40B4-BE49-F238E27FC236}">
                  <a16:creationId xmlns:a16="http://schemas.microsoft.com/office/drawing/2014/main" id="{4B1F5F0F-9BA0-4481-9F91-2FE1194C80F7}"/>
                </a:ext>
              </a:extLst>
            </p:cNvPr>
            <p:cNvSpPr/>
            <p:nvPr/>
          </p:nvSpPr>
          <p:spPr>
            <a:xfrm>
              <a:off x="8553400" y="3412360"/>
              <a:ext cx="759306" cy="258349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3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51F743E-9E23-49EA-803E-E3F5A0CA8B5B}"/>
                </a:ext>
              </a:extLst>
            </p:cNvPr>
            <p:cNvSpPr txBox="1"/>
            <p:nvPr/>
          </p:nvSpPr>
          <p:spPr>
            <a:xfrm>
              <a:off x="8481393" y="3747551"/>
              <a:ext cx="12255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>
                  <a:solidFill>
                    <a:srgbClr val="C00000"/>
                  </a:solidFill>
                </a:rPr>
                <a:t>③ 경로 저장</a:t>
              </a:r>
              <a:endParaRPr lang="ko-KR" altLang="en-US" sz="14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78626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  Jar </a:t>
            </a:r>
            <a:r>
              <a:rPr lang="ko-KR" altLang="en-US" dirty="0"/>
              <a:t>파일 명령 프롬프트에서 실행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208584" y="1216399"/>
            <a:ext cx="56886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b="1" dirty="0"/>
              <a:t>Jar</a:t>
            </a:r>
            <a:r>
              <a:rPr lang="ko-KR" altLang="en-US" b="1" dirty="0"/>
              <a:t>파일 실행 </a:t>
            </a:r>
            <a:r>
              <a:rPr lang="en-US" altLang="ko-KR" dirty="0"/>
              <a:t>: </a:t>
            </a:r>
            <a:r>
              <a:rPr lang="en-US" altLang="ko-KR" sz="2000" b="1" dirty="0"/>
              <a:t>java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–jar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typing_game.jar   </a:t>
            </a:r>
            <a:endParaRPr lang="en-US" altLang="ko-KR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316" y="1844824"/>
            <a:ext cx="4125902" cy="345638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056" y="2204864"/>
            <a:ext cx="4109625" cy="17281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623886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848544" y="1072768"/>
            <a:ext cx="885698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예외</a:t>
            </a:r>
            <a:r>
              <a:rPr lang="en-US" altLang="ko-KR" sz="2000" b="1" dirty="0">
                <a:solidFill>
                  <a:srgbClr val="C00000"/>
                </a:solidFill>
              </a:rPr>
              <a:t>(Exception) </a:t>
            </a:r>
            <a:endParaRPr lang="en-US" altLang="ko-KR" sz="2000" dirty="0">
              <a:solidFill>
                <a:srgbClr val="C00000"/>
              </a:solidFill>
            </a:endParaRPr>
          </a:p>
          <a:p>
            <a:pPr marL="7143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사용자의 잘못된 조작 또는 개발자의 잘못된 코딩으로 인한 오류</a:t>
            </a:r>
            <a:endParaRPr lang="en-US" altLang="ko-KR" sz="1600" dirty="0"/>
          </a:p>
          <a:p>
            <a:pPr marL="7143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예외가 발생되면 프로그램이 종료되고</a:t>
            </a:r>
            <a:r>
              <a:rPr lang="en-US" altLang="ko-KR" sz="1600" dirty="0"/>
              <a:t>, </a:t>
            </a:r>
            <a:r>
              <a:rPr lang="ko-KR" altLang="en-US" sz="1600" dirty="0"/>
              <a:t>예외 처리를 하면 정상으로 돌아갈 수 있음</a:t>
            </a:r>
            <a:endParaRPr lang="en-US" altLang="ko-KR" sz="1600" dirty="0"/>
          </a:p>
        </p:txBody>
      </p:sp>
      <p:sp>
        <p:nvSpPr>
          <p:cNvPr id="5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에러와 예외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848544" y="2492896"/>
            <a:ext cx="770485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예외의 종류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7143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/>
              <a:t>일반 예외</a:t>
            </a:r>
            <a:r>
              <a:rPr lang="en-US" altLang="ko-KR" b="1" dirty="0"/>
              <a:t>(Exception)</a:t>
            </a:r>
          </a:p>
          <a:p>
            <a:pPr marL="1171575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예외 처리가 없으면 컴파일 되지 않는 예외 </a:t>
            </a:r>
            <a:r>
              <a:rPr lang="en-US" altLang="ko-KR" sz="1600" dirty="0"/>
              <a:t>– </a:t>
            </a:r>
            <a:r>
              <a:rPr lang="ko-KR" altLang="en-US" sz="1600" dirty="0"/>
              <a:t>컴파일 체크</a:t>
            </a:r>
            <a:endParaRPr lang="en-US" altLang="ko-KR" sz="1600" dirty="0"/>
          </a:p>
          <a:p>
            <a:pPr marL="714375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/>
              <a:t> </a:t>
            </a:r>
            <a:r>
              <a:rPr lang="ko-KR" altLang="en-US" b="1" dirty="0"/>
              <a:t>실행 예외</a:t>
            </a:r>
            <a:r>
              <a:rPr lang="en-US" altLang="ko-KR" b="1" dirty="0"/>
              <a:t>(</a:t>
            </a:r>
            <a:r>
              <a:rPr lang="en-US" altLang="ko-KR" b="1" dirty="0" err="1"/>
              <a:t>RuntimeException</a:t>
            </a:r>
            <a:r>
              <a:rPr lang="en-US" altLang="ko-KR" b="1" dirty="0"/>
              <a:t>)</a:t>
            </a:r>
          </a:p>
          <a:p>
            <a:pPr marL="1171575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예외 처리를 생략해도 컴파일 되는 예외</a:t>
            </a:r>
            <a:endParaRPr lang="en-US" altLang="ko-KR" sz="1600" dirty="0"/>
          </a:p>
          <a:p>
            <a:pPr marL="1171575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개발자의 경험과 판단으로 예외 코드 작성 필요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7423384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제목 5"/>
          <p:cNvSpPr txBox="1">
            <a:spLocks/>
          </p:cNvSpPr>
          <p:nvPr/>
        </p:nvSpPr>
        <p:spPr>
          <a:xfrm>
            <a:off x="0" y="-27384"/>
            <a:ext cx="40889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예외 클래스의 종류</a:t>
            </a:r>
          </a:p>
        </p:txBody>
      </p:sp>
      <p:sp>
        <p:nvSpPr>
          <p:cNvPr id="40" name="사각형: 둥근 모서리 4">
            <a:extLst>
              <a:ext uri="{FF2B5EF4-FFF2-40B4-BE49-F238E27FC236}">
                <a16:creationId xmlns:a16="http://schemas.microsoft.com/office/drawing/2014/main" id="{ED129E99-50A4-4BB8-A859-B2E96B81D3BF}"/>
              </a:ext>
            </a:extLst>
          </p:cNvPr>
          <p:cNvSpPr/>
          <p:nvPr/>
        </p:nvSpPr>
        <p:spPr>
          <a:xfrm>
            <a:off x="3559954" y="1412776"/>
            <a:ext cx="2066009" cy="7434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Exception</a:t>
            </a:r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ko-KR" altLang="en-US" b="1" dirty="0"/>
          </a:p>
        </p:txBody>
      </p:sp>
      <p:sp>
        <p:nvSpPr>
          <p:cNvPr id="55" name="사각형: 둥근 모서리 4">
            <a:extLst>
              <a:ext uri="{FF2B5EF4-FFF2-40B4-BE49-F238E27FC236}">
                <a16:creationId xmlns:a16="http://schemas.microsoft.com/office/drawing/2014/main" id="{ED129E99-50A4-4BB8-A859-B2E96B81D3BF}"/>
              </a:ext>
            </a:extLst>
          </p:cNvPr>
          <p:cNvSpPr/>
          <p:nvPr/>
        </p:nvSpPr>
        <p:spPr>
          <a:xfrm>
            <a:off x="1640633" y="2872899"/>
            <a:ext cx="1872208" cy="8640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r>
              <a:rPr lang="ko-KR" altLang="en-US" sz="1600" dirty="0"/>
              <a:t>입출력 예외 처리</a:t>
            </a:r>
            <a:endParaRPr lang="en-US" altLang="ko-KR" sz="1600" dirty="0"/>
          </a:p>
          <a:p>
            <a:pPr algn="ctr"/>
            <a:r>
              <a:rPr lang="en-US" altLang="ko-KR" sz="1600" dirty="0" err="1"/>
              <a:t>IOException</a:t>
            </a:r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ko-KR" altLang="en-US" sz="1600" dirty="0"/>
          </a:p>
        </p:txBody>
      </p:sp>
      <p:sp>
        <p:nvSpPr>
          <p:cNvPr id="56" name="사각형: 둥근 모서리 4">
            <a:extLst>
              <a:ext uri="{FF2B5EF4-FFF2-40B4-BE49-F238E27FC236}">
                <a16:creationId xmlns:a16="http://schemas.microsoft.com/office/drawing/2014/main" id="{ED129E99-50A4-4BB8-A859-B2E96B81D3BF}"/>
              </a:ext>
            </a:extLst>
          </p:cNvPr>
          <p:cNvSpPr/>
          <p:nvPr/>
        </p:nvSpPr>
        <p:spPr>
          <a:xfrm>
            <a:off x="5997116" y="2872899"/>
            <a:ext cx="2283866" cy="86409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r>
              <a:rPr lang="ko-KR" altLang="en-US" sz="1600" dirty="0"/>
              <a:t>실행</a:t>
            </a:r>
            <a:r>
              <a:rPr lang="en-US" altLang="ko-KR" sz="1600" dirty="0"/>
              <a:t> </a:t>
            </a:r>
            <a:r>
              <a:rPr lang="ko-KR" altLang="en-US" sz="1600" dirty="0"/>
              <a:t>오류 예외 처리</a:t>
            </a:r>
            <a:endParaRPr lang="en-US" altLang="ko-KR" sz="1600" dirty="0"/>
          </a:p>
          <a:p>
            <a:pPr algn="ctr"/>
            <a:r>
              <a:rPr lang="en-US" altLang="ko-KR" sz="1600" dirty="0" err="1"/>
              <a:t>RuntimeException</a:t>
            </a:r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ko-KR" altLang="en-US" sz="1600" dirty="0"/>
          </a:p>
        </p:txBody>
      </p:sp>
      <p:cxnSp>
        <p:nvCxnSpPr>
          <p:cNvPr id="6" name="꺾인 연결선 5"/>
          <p:cNvCxnSpPr/>
          <p:nvPr/>
        </p:nvCxnSpPr>
        <p:spPr>
          <a:xfrm rot="5400000" flipH="1" flipV="1">
            <a:off x="3272497" y="1532473"/>
            <a:ext cx="624701" cy="2016222"/>
          </a:xfrm>
          <a:prstGeom prst="bentConnector3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꺾인 연결선 7"/>
          <p:cNvCxnSpPr/>
          <p:nvPr/>
        </p:nvCxnSpPr>
        <p:spPr>
          <a:xfrm rot="16200000" flipV="1">
            <a:off x="5553652" y="1267540"/>
            <a:ext cx="624701" cy="2546090"/>
          </a:xfrm>
          <a:prstGeom prst="bentConnector3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사각형: 둥근 모서리 4">
            <a:extLst>
              <a:ext uri="{FF2B5EF4-FFF2-40B4-BE49-F238E27FC236}">
                <a16:creationId xmlns:a16="http://schemas.microsoft.com/office/drawing/2014/main" id="{ED129E99-50A4-4BB8-A859-B2E96B81D3BF}"/>
              </a:ext>
            </a:extLst>
          </p:cNvPr>
          <p:cNvSpPr/>
          <p:nvPr/>
        </p:nvSpPr>
        <p:spPr>
          <a:xfrm>
            <a:off x="776536" y="4509120"/>
            <a:ext cx="1793880" cy="864096"/>
          </a:xfrm>
          <a:prstGeom prst="roundRect">
            <a:avLst/>
          </a:prstGeom>
          <a:ln w="12700"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r>
              <a:rPr lang="en-US" altLang="ko-KR" sz="1600" dirty="0" err="1"/>
              <a:t>FileNotFoundException</a:t>
            </a:r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ko-KR" altLang="en-US" sz="1600" dirty="0"/>
          </a:p>
        </p:txBody>
      </p:sp>
      <p:sp>
        <p:nvSpPr>
          <p:cNvPr id="59" name="사각형: 둥근 모서리 4">
            <a:extLst>
              <a:ext uri="{FF2B5EF4-FFF2-40B4-BE49-F238E27FC236}">
                <a16:creationId xmlns:a16="http://schemas.microsoft.com/office/drawing/2014/main" id="{ED129E99-50A4-4BB8-A859-B2E96B81D3BF}"/>
              </a:ext>
            </a:extLst>
          </p:cNvPr>
          <p:cNvSpPr/>
          <p:nvPr/>
        </p:nvSpPr>
        <p:spPr>
          <a:xfrm>
            <a:off x="2963003" y="4505712"/>
            <a:ext cx="1773973" cy="864096"/>
          </a:xfrm>
          <a:prstGeom prst="roundRect">
            <a:avLst/>
          </a:prstGeom>
          <a:ln w="12700"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r>
              <a:rPr lang="en-US" altLang="ko-KR" sz="1600" dirty="0" err="1"/>
              <a:t>SocketException</a:t>
            </a:r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ko-KR" altLang="en-US" sz="1600" dirty="0"/>
          </a:p>
        </p:txBody>
      </p:sp>
      <p:cxnSp>
        <p:nvCxnSpPr>
          <p:cNvPr id="60" name="꺾인 연결선 59"/>
          <p:cNvCxnSpPr/>
          <p:nvPr/>
        </p:nvCxnSpPr>
        <p:spPr>
          <a:xfrm rot="5400000" flipH="1" flipV="1">
            <a:off x="1758626" y="3691009"/>
            <a:ext cx="628109" cy="1008113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60"/>
          <p:cNvCxnSpPr/>
          <p:nvPr/>
        </p:nvCxnSpPr>
        <p:spPr>
          <a:xfrm rot="16200000" flipV="1">
            <a:off x="2937018" y="3524139"/>
            <a:ext cx="624701" cy="1345261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사각형: 둥근 모서리 4">
            <a:extLst>
              <a:ext uri="{FF2B5EF4-FFF2-40B4-BE49-F238E27FC236}">
                <a16:creationId xmlns:a16="http://schemas.microsoft.com/office/drawing/2014/main" id="{ED129E99-50A4-4BB8-A859-B2E96B81D3BF}"/>
              </a:ext>
            </a:extLst>
          </p:cNvPr>
          <p:cNvSpPr/>
          <p:nvPr/>
        </p:nvSpPr>
        <p:spPr>
          <a:xfrm>
            <a:off x="5313040" y="4509120"/>
            <a:ext cx="1775309" cy="864096"/>
          </a:xfrm>
          <a:prstGeom prst="roundRect">
            <a:avLst/>
          </a:prstGeom>
          <a:ln w="12700">
            <a:solidFill>
              <a:srgbClr val="C0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r>
              <a:rPr lang="en-US" altLang="ko-KR" sz="1600" dirty="0" err="1"/>
              <a:t>NumberFormatException</a:t>
            </a:r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ko-KR" altLang="en-US" sz="1600" dirty="0"/>
          </a:p>
        </p:txBody>
      </p:sp>
      <p:sp>
        <p:nvSpPr>
          <p:cNvPr id="63" name="사각형: 둥근 모서리 4">
            <a:extLst>
              <a:ext uri="{FF2B5EF4-FFF2-40B4-BE49-F238E27FC236}">
                <a16:creationId xmlns:a16="http://schemas.microsoft.com/office/drawing/2014/main" id="{ED129E99-50A4-4BB8-A859-B2E96B81D3BF}"/>
              </a:ext>
            </a:extLst>
          </p:cNvPr>
          <p:cNvSpPr/>
          <p:nvPr/>
        </p:nvSpPr>
        <p:spPr>
          <a:xfrm>
            <a:off x="7532586" y="4489688"/>
            <a:ext cx="2100934" cy="864096"/>
          </a:xfrm>
          <a:prstGeom prst="roundRect">
            <a:avLst/>
          </a:prstGeom>
          <a:ln w="12700">
            <a:solidFill>
              <a:srgbClr val="C0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r>
              <a:rPr lang="en-US" altLang="ko-KR" sz="1600" dirty="0" err="1"/>
              <a:t>IndexOutofBounds</a:t>
            </a:r>
            <a:endParaRPr lang="en-US" altLang="ko-KR" sz="1600" dirty="0"/>
          </a:p>
          <a:p>
            <a:pPr algn="ctr"/>
            <a:r>
              <a:rPr lang="en-US" altLang="ko-KR" sz="1600" dirty="0"/>
              <a:t>Exception</a:t>
            </a:r>
          </a:p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ko-KR" altLang="en-US" sz="1600" dirty="0"/>
          </a:p>
        </p:txBody>
      </p:sp>
      <p:cxnSp>
        <p:nvCxnSpPr>
          <p:cNvPr id="64" name="꺾인 연결선 63"/>
          <p:cNvCxnSpPr/>
          <p:nvPr/>
        </p:nvCxnSpPr>
        <p:spPr>
          <a:xfrm rot="5400000" flipH="1" flipV="1">
            <a:off x="6355717" y="3740563"/>
            <a:ext cx="700117" cy="853901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/>
          <p:cNvCxnSpPr/>
          <p:nvPr/>
        </p:nvCxnSpPr>
        <p:spPr>
          <a:xfrm rot="16200000" flipV="1">
            <a:off x="7533874" y="3422629"/>
            <a:ext cx="696709" cy="148636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4501459" y="2167986"/>
            <a:ext cx="183001" cy="386623"/>
            <a:chOff x="7862736" y="1622353"/>
            <a:chExt cx="183001" cy="386623"/>
          </a:xfrm>
        </p:grpSpPr>
        <p:sp>
          <p:nvSpPr>
            <p:cNvPr id="18" name="이등변 삼각형 17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7862736" y="1622353"/>
              <a:ext cx="183001" cy="160919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>
              <a:off x="7954237" y="1783272"/>
              <a:ext cx="0" cy="22570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그룹 24"/>
          <p:cNvGrpSpPr/>
          <p:nvPr/>
        </p:nvGrpSpPr>
        <p:grpSpPr>
          <a:xfrm>
            <a:off x="2485237" y="3790651"/>
            <a:ext cx="183001" cy="386623"/>
            <a:chOff x="7862736" y="1622353"/>
            <a:chExt cx="183001" cy="386623"/>
          </a:xfrm>
        </p:grpSpPr>
        <p:sp>
          <p:nvSpPr>
            <p:cNvPr id="26" name="이등변 삼각형 25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7862736" y="1622353"/>
              <a:ext cx="183001" cy="160919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7954237" y="1783272"/>
              <a:ext cx="0" cy="22570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/>
        </p:nvGrpSpPr>
        <p:grpSpPr>
          <a:xfrm>
            <a:off x="7047548" y="3736996"/>
            <a:ext cx="183001" cy="386623"/>
            <a:chOff x="7862736" y="1622353"/>
            <a:chExt cx="183001" cy="386623"/>
          </a:xfrm>
        </p:grpSpPr>
        <p:sp>
          <p:nvSpPr>
            <p:cNvPr id="29" name="이등변 삼각형 28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7862736" y="1622353"/>
              <a:ext cx="183001" cy="160919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>
              <a:off x="7954237" y="1783272"/>
              <a:ext cx="0" cy="22570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1424608" y="2420888"/>
            <a:ext cx="1145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>
                <a:solidFill>
                  <a:srgbClr val="C00000"/>
                </a:solidFill>
              </a:rPr>
              <a:t>일반예외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63576" y="2420888"/>
            <a:ext cx="1145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>
                <a:solidFill>
                  <a:srgbClr val="C00000"/>
                </a:solidFill>
              </a:rPr>
              <a:t>실행예외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0899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제목 5"/>
          <p:cNvSpPr txBox="1">
            <a:spLocks/>
          </p:cNvSpPr>
          <p:nvPr/>
        </p:nvSpPr>
        <p:spPr>
          <a:xfrm>
            <a:off x="0" y="-27384"/>
            <a:ext cx="40889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예외 클래스의 종류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1700808"/>
            <a:ext cx="5906012" cy="33683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997" y="3402419"/>
            <a:ext cx="3711262" cy="22861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064568" y="1124744"/>
            <a:ext cx="5976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000" b="1" dirty="0" err="1"/>
              <a:t>Java.lang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패키지 </a:t>
            </a:r>
            <a:r>
              <a:rPr lang="en-US" altLang="ko-KR" sz="2000" b="1" dirty="0"/>
              <a:t>-&gt; Exception Summary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296936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37461" y="980728"/>
            <a:ext cx="5311683" cy="4867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try ~ catch</a:t>
            </a:r>
            <a:r>
              <a:rPr lang="ko-KR" altLang="en-US" sz="2000" b="1" dirty="0">
                <a:solidFill>
                  <a:srgbClr val="C00000"/>
                </a:solidFill>
              </a:rPr>
              <a:t>문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1280592" y="1539496"/>
            <a:ext cx="7992888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예외처리를 하면 예외 상황을 알려 주는 메시지를 볼 수 있고</a:t>
            </a:r>
            <a:r>
              <a:rPr lang="en-US" altLang="ko-KR" dirty="0"/>
              <a:t>, </a:t>
            </a:r>
            <a:r>
              <a:rPr lang="ko-KR" altLang="en-US" dirty="0"/>
              <a:t>프로그램이 비정상적으로 종료되지 않고 계속 수행되도록 만들 수 있다</a:t>
            </a:r>
            <a:r>
              <a:rPr lang="en-US" altLang="ko-KR" dirty="0"/>
              <a:t>.</a:t>
            </a:r>
          </a:p>
        </p:txBody>
      </p:sp>
      <p:sp>
        <p:nvSpPr>
          <p:cNvPr id="20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try ~ catch</a:t>
            </a:r>
            <a:r>
              <a:rPr lang="ko-KR" altLang="en-US" dirty="0"/>
              <a:t>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2680" y="2564904"/>
            <a:ext cx="3772643" cy="3371136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C00000"/>
                </a:solidFill>
              </a:rPr>
              <a:t>try</a:t>
            </a:r>
            <a:r>
              <a:rPr lang="en-US" altLang="ko-KR" sz="2000" dirty="0"/>
              <a:t>{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    </a:t>
            </a:r>
            <a:r>
              <a:rPr lang="ko-KR" altLang="en-US" sz="1600" dirty="0"/>
              <a:t>예외가 발생할 수 있는 코드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en-US" altLang="ko-KR" sz="2000" dirty="0"/>
              <a:t>}</a:t>
            </a:r>
            <a:r>
              <a:rPr lang="en-US" altLang="ko-KR" sz="2000" b="1" dirty="0">
                <a:solidFill>
                  <a:srgbClr val="C00000"/>
                </a:solidFill>
              </a:rPr>
              <a:t>catch</a:t>
            </a:r>
            <a:r>
              <a:rPr lang="en-US" altLang="ko-KR" sz="2000" dirty="0"/>
              <a:t>(</a:t>
            </a:r>
            <a:r>
              <a:rPr lang="ko-KR" altLang="en-US" sz="1600" dirty="0"/>
              <a:t>처리할 예외 타입 </a:t>
            </a:r>
            <a:r>
              <a:rPr lang="en-US" altLang="ko-KR" dirty="0"/>
              <a:t>e){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    </a:t>
            </a:r>
            <a:r>
              <a:rPr lang="ko-KR" altLang="en-US" sz="1600" dirty="0"/>
              <a:t>예외를 처리하는 코드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en-US" altLang="ko-KR" sz="2000" dirty="0"/>
              <a:t>}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550729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958092"/>
            <a:ext cx="5832648" cy="4867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 </a:t>
            </a:r>
            <a:r>
              <a:rPr lang="ko-KR" altLang="en-US" sz="2000" b="1" dirty="0">
                <a:solidFill>
                  <a:srgbClr val="C00000"/>
                </a:solidFill>
              </a:rPr>
              <a:t>실행 예외 </a:t>
            </a:r>
            <a:r>
              <a:rPr lang="en-US" altLang="ko-KR" sz="2000" b="1" dirty="0">
                <a:solidFill>
                  <a:srgbClr val="C00000"/>
                </a:solidFill>
              </a:rPr>
              <a:t>– </a:t>
            </a:r>
            <a:r>
              <a:rPr lang="ko-KR" altLang="en-US" sz="2000" b="1" dirty="0">
                <a:solidFill>
                  <a:srgbClr val="C00000"/>
                </a:solidFill>
              </a:rPr>
              <a:t>컴파일러가 체크해주지 않음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20" name="제목 5"/>
          <p:cNvSpPr txBox="1">
            <a:spLocks/>
          </p:cNvSpPr>
          <p:nvPr/>
        </p:nvSpPr>
        <p:spPr>
          <a:xfrm>
            <a:off x="0" y="-27384"/>
            <a:ext cx="459295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실행 예외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019" y="1520890"/>
            <a:ext cx="5613880" cy="357504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4941168"/>
            <a:ext cx="7920880" cy="13135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1" name="모서리가 둥근 직사각형 10"/>
          <p:cNvSpPr/>
          <p:nvPr/>
        </p:nvSpPr>
        <p:spPr>
          <a:xfrm flipH="1">
            <a:off x="7545288" y="2102227"/>
            <a:ext cx="1863754" cy="108012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>
                <a:solidFill>
                  <a:sysClr val="windowText" lastClr="000000"/>
                </a:solidFill>
              </a:rPr>
              <a:t>예외가 발생하면 그 즉시 프로그램이 종료됨</a:t>
            </a:r>
          </a:p>
        </p:txBody>
      </p:sp>
      <p:cxnSp>
        <p:nvCxnSpPr>
          <p:cNvPr id="12" name="직선 화살표 연결선 11"/>
          <p:cNvCxnSpPr/>
          <p:nvPr/>
        </p:nvCxnSpPr>
        <p:spPr>
          <a:xfrm flipH="1" flipV="1">
            <a:off x="6321153" y="2348881"/>
            <a:ext cx="1224135" cy="46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8388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445" y="1604139"/>
            <a:ext cx="7513971" cy="29415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972871"/>
            <a:ext cx="7848872" cy="4867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 </a:t>
            </a:r>
            <a:r>
              <a:rPr lang="ko-KR" altLang="en-US" sz="2000" b="1" dirty="0">
                <a:solidFill>
                  <a:srgbClr val="C00000"/>
                </a:solidFill>
              </a:rPr>
              <a:t>실행 예외 처리 </a:t>
            </a:r>
            <a:r>
              <a:rPr lang="en-US" altLang="ko-KR" sz="2000" b="1" dirty="0">
                <a:solidFill>
                  <a:srgbClr val="C00000"/>
                </a:solidFill>
              </a:rPr>
              <a:t>– try ~ catch </a:t>
            </a:r>
            <a:r>
              <a:rPr lang="ko-KR" altLang="en-US" sz="2000" b="1" dirty="0">
                <a:solidFill>
                  <a:srgbClr val="C00000"/>
                </a:solidFill>
              </a:rPr>
              <a:t>구문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20" name="제목 5"/>
          <p:cNvSpPr txBox="1">
            <a:spLocks/>
          </p:cNvSpPr>
          <p:nvPr/>
        </p:nvSpPr>
        <p:spPr>
          <a:xfrm>
            <a:off x="0" y="-27384"/>
            <a:ext cx="459295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실행 예외</a:t>
            </a:r>
          </a:p>
        </p:txBody>
      </p:sp>
      <p:sp>
        <p:nvSpPr>
          <p:cNvPr id="11" name="모서리가 둥근 직사각형 10"/>
          <p:cNvSpPr/>
          <p:nvPr/>
        </p:nvSpPr>
        <p:spPr>
          <a:xfrm flipH="1">
            <a:off x="7617296" y="2420888"/>
            <a:ext cx="2088232" cy="1326182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>
                <a:solidFill>
                  <a:sysClr val="windowText" lastClr="000000"/>
                </a:solidFill>
              </a:rPr>
              <a:t>예외가 발생하면 예외 처리 메시지가 출력되고 </a:t>
            </a:r>
            <a:r>
              <a:rPr lang="ko-KR" altLang="en-US" sz="1600">
                <a:solidFill>
                  <a:sysClr val="windowText" lastClr="000000"/>
                </a:solidFill>
              </a:rPr>
              <a:t>프로그램이 </a:t>
            </a:r>
            <a:r>
              <a:rPr lang="ko-KR" altLang="en-US" sz="1600" dirty="0" err="1">
                <a:solidFill>
                  <a:sysClr val="windowText" lastClr="000000"/>
                </a:solidFill>
              </a:rPr>
              <a:t>실행되고종료됨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12" name="직선 화살표 연결선 11"/>
          <p:cNvCxnSpPr>
            <a:stCxn id="11" idx="3"/>
          </p:cNvCxnSpPr>
          <p:nvPr/>
        </p:nvCxnSpPr>
        <p:spPr>
          <a:xfrm flipH="1">
            <a:off x="6249144" y="3083979"/>
            <a:ext cx="1368152" cy="5610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4658983"/>
            <a:ext cx="7632848" cy="16268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535655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980728"/>
            <a:ext cx="5311683" cy="4867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일반 예외 </a:t>
            </a:r>
            <a:r>
              <a:rPr lang="en-US" altLang="ko-KR" sz="2000" b="1" dirty="0">
                <a:solidFill>
                  <a:srgbClr val="C00000"/>
                </a:solidFill>
              </a:rPr>
              <a:t>– </a:t>
            </a:r>
            <a:r>
              <a:rPr lang="ko-KR" altLang="en-US" sz="2000" b="1" dirty="0">
                <a:solidFill>
                  <a:srgbClr val="C00000"/>
                </a:solidFill>
              </a:rPr>
              <a:t>컴파일러가 체크 함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20" name="제목 5"/>
          <p:cNvSpPr txBox="1">
            <a:spLocks/>
          </p:cNvSpPr>
          <p:nvPr/>
        </p:nvSpPr>
        <p:spPr>
          <a:xfrm>
            <a:off x="0" y="-27384"/>
            <a:ext cx="459295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일반 예외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557" y="1916832"/>
            <a:ext cx="6492803" cy="23852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grpSp>
        <p:nvGrpSpPr>
          <p:cNvPr id="10" name="그룹 9"/>
          <p:cNvGrpSpPr/>
          <p:nvPr/>
        </p:nvGrpSpPr>
        <p:grpSpPr>
          <a:xfrm>
            <a:off x="5385048" y="3933056"/>
            <a:ext cx="3248924" cy="984687"/>
            <a:chOff x="5385048" y="4005064"/>
            <a:chExt cx="3248924" cy="984687"/>
          </a:xfrm>
        </p:grpSpPr>
        <p:cxnSp>
          <p:nvCxnSpPr>
            <p:cNvPr id="5" name="직선 연결선 4"/>
            <p:cNvCxnSpPr/>
            <p:nvPr/>
          </p:nvCxnSpPr>
          <p:spPr>
            <a:xfrm>
              <a:off x="5601072" y="4005064"/>
              <a:ext cx="144016" cy="576064"/>
            </a:xfrm>
            <a:prstGeom prst="line">
              <a:avLst/>
            </a:prstGeom>
            <a:ln w="1905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5385048" y="4581128"/>
              <a:ext cx="3248924" cy="408623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ko-KR" dirty="0"/>
                <a:t>Surround with try/catch </a:t>
              </a:r>
              <a:r>
                <a:rPr lang="ko-KR" altLang="en-US" dirty="0"/>
                <a:t>선택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63831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37461" y="980728"/>
            <a:ext cx="5311683" cy="4867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일반 예외 </a:t>
            </a:r>
            <a:r>
              <a:rPr lang="en-US" altLang="ko-KR" sz="2000" b="1" dirty="0">
                <a:solidFill>
                  <a:srgbClr val="C00000"/>
                </a:solidFill>
              </a:rPr>
              <a:t>– </a:t>
            </a:r>
            <a:r>
              <a:rPr lang="ko-KR" altLang="en-US" sz="2000" b="1" dirty="0">
                <a:solidFill>
                  <a:srgbClr val="C00000"/>
                </a:solidFill>
              </a:rPr>
              <a:t>컴파일러 체크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20" name="제목 5"/>
          <p:cNvSpPr txBox="1">
            <a:spLocks/>
          </p:cNvSpPr>
          <p:nvPr/>
        </p:nvSpPr>
        <p:spPr>
          <a:xfrm>
            <a:off x="0" y="-27384"/>
            <a:ext cx="459295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일반 예외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7" y="1763820"/>
            <a:ext cx="6696745" cy="29981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r="18051"/>
          <a:stretch/>
        </p:blipFill>
        <p:spPr>
          <a:xfrm>
            <a:off x="2792760" y="4279601"/>
            <a:ext cx="6410556" cy="127746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177143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37461" y="980728"/>
            <a:ext cx="5311683" cy="4867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숫자 </a:t>
            </a:r>
            <a:r>
              <a:rPr lang="ko-KR" altLang="en-US" sz="2000" b="1" dirty="0" err="1">
                <a:solidFill>
                  <a:srgbClr val="C00000"/>
                </a:solidFill>
              </a:rPr>
              <a:t>입력시</a:t>
            </a:r>
            <a:r>
              <a:rPr lang="ko-KR" altLang="en-US" sz="2000" b="1" dirty="0">
                <a:solidFill>
                  <a:srgbClr val="C00000"/>
                </a:solidFill>
              </a:rPr>
              <a:t> 문자 입력 예외 처리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20" name="제목 5"/>
          <p:cNvSpPr txBox="1">
            <a:spLocks/>
          </p:cNvSpPr>
          <p:nvPr/>
        </p:nvSpPr>
        <p:spPr>
          <a:xfrm>
            <a:off x="0" y="-27384"/>
            <a:ext cx="459295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일반 예외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588" y="1988840"/>
            <a:ext cx="7848872" cy="40335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1208584" y="1469569"/>
            <a:ext cx="83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InputMistmatchException</a:t>
            </a:r>
            <a:r>
              <a:rPr lang="en-US" altLang="ko-KR" sz="1600" dirty="0"/>
              <a:t> – </a:t>
            </a:r>
            <a:r>
              <a:rPr lang="ko-KR" altLang="en-US" sz="1600" dirty="0"/>
              <a:t>입력 처리시 예상한 타입과 일치하지 </a:t>
            </a:r>
            <a:r>
              <a:rPr lang="ko-KR" altLang="en-US" sz="1600" dirty="0" err="1"/>
              <a:t>않을때</a:t>
            </a:r>
            <a:r>
              <a:rPr lang="ko-KR" altLang="en-US" sz="1600" dirty="0"/>
              <a:t> 오류 발생</a:t>
            </a:r>
          </a:p>
        </p:txBody>
      </p:sp>
    </p:spTree>
    <p:extLst>
      <p:ext uri="{BB962C8B-B14F-4D97-AF65-F5344CB8AC3E}">
        <p14:creationId xmlns:p14="http://schemas.microsoft.com/office/powerpoint/2010/main" val="24537898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37461" y="980728"/>
            <a:ext cx="5311683" cy="4867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숫자 </a:t>
            </a:r>
            <a:r>
              <a:rPr lang="ko-KR" altLang="en-US" sz="2000" b="1" dirty="0" err="1">
                <a:solidFill>
                  <a:srgbClr val="C00000"/>
                </a:solidFill>
              </a:rPr>
              <a:t>입력시</a:t>
            </a:r>
            <a:r>
              <a:rPr lang="ko-KR" altLang="en-US" sz="2000" b="1" dirty="0">
                <a:solidFill>
                  <a:srgbClr val="C00000"/>
                </a:solidFill>
              </a:rPr>
              <a:t> 문자 입력 예외 처리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20" name="제목 5"/>
          <p:cNvSpPr txBox="1">
            <a:spLocks/>
          </p:cNvSpPr>
          <p:nvPr/>
        </p:nvSpPr>
        <p:spPr>
          <a:xfrm>
            <a:off x="0" y="-27384"/>
            <a:ext cx="459295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일반 예외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34831"/>
            <a:ext cx="7158763" cy="381030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00" y="4509119"/>
            <a:ext cx="2448272" cy="16831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모서리가 둥근 직사각형 2"/>
          <p:cNvSpPr/>
          <p:nvPr/>
        </p:nvSpPr>
        <p:spPr>
          <a:xfrm>
            <a:off x="2072680" y="3717032"/>
            <a:ext cx="5832648" cy="108012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0075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37461" y="980728"/>
            <a:ext cx="5311683" cy="4867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문자열을 숫자로 </a:t>
            </a:r>
            <a:r>
              <a:rPr lang="ko-KR" altLang="en-US" sz="2000" b="1" dirty="0" err="1">
                <a:solidFill>
                  <a:srgbClr val="C00000"/>
                </a:solidFill>
              </a:rPr>
              <a:t>변환시</a:t>
            </a:r>
            <a:r>
              <a:rPr lang="ko-KR" altLang="en-US" sz="2000" b="1" dirty="0">
                <a:solidFill>
                  <a:srgbClr val="C00000"/>
                </a:solidFill>
              </a:rPr>
              <a:t> 예외 처리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20" name="제목 5"/>
          <p:cNvSpPr txBox="1">
            <a:spLocks/>
          </p:cNvSpPr>
          <p:nvPr/>
        </p:nvSpPr>
        <p:spPr>
          <a:xfrm>
            <a:off x="0" y="-27384"/>
            <a:ext cx="459295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일반 예외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08584" y="1469569"/>
            <a:ext cx="8352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/>
              <a:t>NumberFormatException</a:t>
            </a:r>
            <a:r>
              <a:rPr lang="en-US" altLang="ko-KR" sz="1600" dirty="0"/>
              <a:t> – </a:t>
            </a:r>
            <a:r>
              <a:rPr lang="ko-KR" altLang="en-US" sz="1600" dirty="0"/>
              <a:t>문자열을 숫자로 변환할 때 발생하는 오류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1352600" y="1916832"/>
            <a:ext cx="7494068" cy="3816424"/>
            <a:chOff x="1352600" y="1916832"/>
            <a:chExt cx="7494068" cy="381642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2600" y="1916832"/>
              <a:ext cx="7494068" cy="3816424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cxnSp>
          <p:nvCxnSpPr>
            <p:cNvPr id="6" name="직선 연결선 5"/>
            <p:cNvCxnSpPr/>
            <p:nvPr/>
          </p:nvCxnSpPr>
          <p:spPr>
            <a:xfrm>
              <a:off x="2648744" y="4869160"/>
              <a:ext cx="5976664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39406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37461" y="980728"/>
            <a:ext cx="5311683" cy="4867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문자열을 숫자로 </a:t>
            </a:r>
            <a:r>
              <a:rPr lang="ko-KR" altLang="en-US" sz="2000" b="1" dirty="0" err="1">
                <a:solidFill>
                  <a:srgbClr val="C00000"/>
                </a:solidFill>
              </a:rPr>
              <a:t>변환시</a:t>
            </a:r>
            <a:r>
              <a:rPr lang="ko-KR" altLang="en-US" sz="2000" b="1" dirty="0">
                <a:solidFill>
                  <a:srgbClr val="C00000"/>
                </a:solidFill>
              </a:rPr>
              <a:t> 예외 처리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20" name="제목 5"/>
          <p:cNvSpPr txBox="1">
            <a:spLocks/>
          </p:cNvSpPr>
          <p:nvPr/>
        </p:nvSpPr>
        <p:spPr>
          <a:xfrm>
            <a:off x="0" y="-27384"/>
            <a:ext cx="459295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일반 예외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08584" y="1469569"/>
            <a:ext cx="8352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/>
              <a:t>NumberFormatException</a:t>
            </a:r>
            <a:r>
              <a:rPr lang="en-US" altLang="ko-KR" sz="1600" dirty="0"/>
              <a:t> – </a:t>
            </a:r>
            <a:r>
              <a:rPr lang="ko-KR" altLang="en-US" sz="1600" dirty="0"/>
              <a:t>문자열을 숫자로 변환할 때 발생하는 오류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99" y="1916832"/>
            <a:ext cx="6853045" cy="38884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모서리가 둥근 직사각형 6"/>
          <p:cNvSpPr/>
          <p:nvPr/>
        </p:nvSpPr>
        <p:spPr>
          <a:xfrm>
            <a:off x="2468724" y="4005064"/>
            <a:ext cx="5832648" cy="93610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8167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AB2A1E1-07A5-4F02-902B-4BD461B4798F}"/>
              </a:ext>
            </a:extLst>
          </p:cNvPr>
          <p:cNvGraphicFramePr>
            <a:graphicFrameLocks noGrp="1"/>
          </p:cNvGraphicFramePr>
          <p:nvPr/>
        </p:nvGraphicFramePr>
        <p:xfrm>
          <a:off x="1517559" y="2898011"/>
          <a:ext cx="2601031" cy="32507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1031">
                  <a:extLst>
                    <a:ext uri="{9D8B030D-6E8A-4147-A177-3AD203B41FA5}">
                      <a16:colId xmlns:a16="http://schemas.microsoft.com/office/drawing/2014/main" val="3058073475"/>
                    </a:ext>
                  </a:extLst>
                </a:gridCol>
              </a:tblGrid>
              <a:tr h="3250782"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 try{</a:t>
                      </a:r>
                    </a:p>
                    <a:p>
                      <a:endParaRPr lang="en-US" altLang="ko-KR" sz="1600" dirty="0"/>
                    </a:p>
                    <a:p>
                      <a:r>
                        <a:rPr lang="en-US" altLang="ko-KR" sz="1600" dirty="0"/>
                        <a:t>    </a:t>
                      </a:r>
                      <a:r>
                        <a:rPr lang="ko-KR" altLang="en-US" sz="1600" dirty="0"/>
                        <a:t>예외 발생 가능 코드</a:t>
                      </a:r>
                      <a:endParaRPr lang="en-US" altLang="ko-KR" sz="1600" dirty="0"/>
                    </a:p>
                    <a:p>
                      <a:endParaRPr lang="en-US" altLang="ko-KR" sz="1600" dirty="0"/>
                    </a:p>
                    <a:p>
                      <a:r>
                        <a:rPr lang="en-US" altLang="ko-KR" sz="1600" dirty="0"/>
                        <a:t> }catch(</a:t>
                      </a:r>
                      <a:r>
                        <a:rPr lang="ko-KR" altLang="en-US" sz="1600" dirty="0"/>
                        <a:t>예외클래스 </a:t>
                      </a:r>
                      <a:r>
                        <a:rPr lang="en-US" altLang="ko-KR" sz="1600" dirty="0"/>
                        <a:t>e){</a:t>
                      </a:r>
                    </a:p>
                    <a:p>
                      <a:endParaRPr lang="en-US" altLang="ko-KR" sz="1600" dirty="0"/>
                    </a:p>
                    <a:p>
                      <a:r>
                        <a:rPr lang="en-US" altLang="ko-KR" sz="1600" dirty="0"/>
                        <a:t>     </a:t>
                      </a:r>
                      <a:r>
                        <a:rPr lang="ko-KR" altLang="en-US" sz="1600" dirty="0"/>
                        <a:t>예외 처리</a:t>
                      </a:r>
                      <a:endParaRPr lang="en-US" altLang="ko-KR" sz="1600" dirty="0"/>
                    </a:p>
                    <a:p>
                      <a:endParaRPr lang="en-US" altLang="ko-KR" sz="1600" dirty="0"/>
                    </a:p>
                    <a:p>
                      <a:r>
                        <a:rPr lang="en-US" altLang="ko-KR" sz="1600" dirty="0"/>
                        <a:t> } finally {</a:t>
                      </a:r>
                    </a:p>
                    <a:p>
                      <a:endParaRPr lang="en-US" altLang="ko-KR" sz="1600" dirty="0"/>
                    </a:p>
                    <a:p>
                      <a:r>
                        <a:rPr lang="en-US" altLang="ko-KR" sz="1600" dirty="0"/>
                        <a:t>     </a:t>
                      </a:r>
                      <a:r>
                        <a:rPr lang="ko-KR" altLang="en-US" sz="1600" dirty="0"/>
                        <a:t>항상 실행</a:t>
                      </a:r>
                      <a:endParaRPr lang="en-US" altLang="ko-KR" sz="1600" dirty="0"/>
                    </a:p>
                    <a:p>
                      <a:r>
                        <a:rPr lang="en-US" altLang="ko-KR" sz="1600" dirty="0"/>
                        <a:t> }</a:t>
                      </a:r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68008182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0B614B74-5B28-481E-8A66-A743DC9CBD89}"/>
              </a:ext>
            </a:extLst>
          </p:cNvPr>
          <p:cNvSpPr/>
          <p:nvPr/>
        </p:nvSpPr>
        <p:spPr>
          <a:xfrm>
            <a:off x="1517560" y="2420888"/>
            <a:ext cx="2601030" cy="424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정상실행 되었을 경우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5BA86B3-1523-4D43-A33E-B56CA3EE8708}"/>
              </a:ext>
            </a:extLst>
          </p:cNvPr>
          <p:cNvCxnSpPr>
            <a:cxnSpLocks/>
          </p:cNvCxnSpPr>
          <p:nvPr/>
        </p:nvCxnSpPr>
        <p:spPr>
          <a:xfrm>
            <a:off x="2759163" y="3222134"/>
            <a:ext cx="0" cy="6185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3D86926C-60B5-4AB5-B557-40CD7412F67C}"/>
              </a:ext>
            </a:extLst>
          </p:cNvPr>
          <p:cNvSpPr/>
          <p:nvPr/>
        </p:nvSpPr>
        <p:spPr>
          <a:xfrm>
            <a:off x="2746474" y="3833861"/>
            <a:ext cx="838374" cy="1594956"/>
          </a:xfrm>
          <a:custGeom>
            <a:avLst/>
            <a:gdLst>
              <a:gd name="connsiteX0" fmla="*/ 0 w 1031845"/>
              <a:gd name="connsiteY0" fmla="*/ 0 h 1468073"/>
              <a:gd name="connsiteX1" fmla="*/ 1031845 w 1031845"/>
              <a:gd name="connsiteY1" fmla="*/ 0 h 1468073"/>
              <a:gd name="connsiteX2" fmla="*/ 1031845 w 1031845"/>
              <a:gd name="connsiteY2" fmla="*/ 1459684 h 1468073"/>
              <a:gd name="connsiteX3" fmla="*/ 92278 w 1031845"/>
              <a:gd name="connsiteY3" fmla="*/ 1459684 h 1468073"/>
              <a:gd name="connsiteX4" fmla="*/ 92278 w 1031845"/>
              <a:gd name="connsiteY4" fmla="*/ 1468073 h 1468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1845" h="1468073">
                <a:moveTo>
                  <a:pt x="0" y="0"/>
                </a:moveTo>
                <a:lnTo>
                  <a:pt x="1031845" y="0"/>
                </a:lnTo>
                <a:lnTo>
                  <a:pt x="1031845" y="1459684"/>
                </a:lnTo>
                <a:lnTo>
                  <a:pt x="92278" y="1459684"/>
                </a:lnTo>
                <a:lnTo>
                  <a:pt x="92278" y="1468073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47A53AB-6759-4169-976E-851B18C0EE07}"/>
              </a:ext>
            </a:extLst>
          </p:cNvPr>
          <p:cNvCxnSpPr>
            <a:cxnSpLocks/>
          </p:cNvCxnSpPr>
          <p:nvPr/>
        </p:nvCxnSpPr>
        <p:spPr>
          <a:xfrm>
            <a:off x="2764140" y="5428817"/>
            <a:ext cx="0" cy="4771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C6D3D0F7-5D75-40BD-A83F-8A6BCBC65078}"/>
              </a:ext>
            </a:extLst>
          </p:cNvPr>
          <p:cNvGraphicFramePr>
            <a:graphicFrameLocks noGrp="1"/>
          </p:cNvGraphicFramePr>
          <p:nvPr/>
        </p:nvGraphicFramePr>
        <p:xfrm>
          <a:off x="4438718" y="2898011"/>
          <a:ext cx="2674521" cy="32507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74521">
                  <a:extLst>
                    <a:ext uri="{9D8B030D-6E8A-4147-A177-3AD203B41FA5}">
                      <a16:colId xmlns:a16="http://schemas.microsoft.com/office/drawing/2014/main" val="3058073475"/>
                    </a:ext>
                  </a:extLst>
                </a:gridCol>
              </a:tblGrid>
              <a:tr h="3250782"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 try{</a:t>
                      </a:r>
                    </a:p>
                    <a:p>
                      <a:endParaRPr lang="en-US" altLang="ko-KR" sz="1600" dirty="0"/>
                    </a:p>
                    <a:p>
                      <a:r>
                        <a:rPr lang="en-US" altLang="ko-KR" sz="1600" dirty="0"/>
                        <a:t>    </a:t>
                      </a:r>
                    </a:p>
                    <a:p>
                      <a:endParaRPr lang="en-US" altLang="ko-KR" sz="1600" dirty="0"/>
                    </a:p>
                    <a:p>
                      <a:r>
                        <a:rPr lang="en-US" altLang="ko-KR" sz="1600" dirty="0"/>
                        <a:t> }catch(</a:t>
                      </a:r>
                      <a:r>
                        <a:rPr lang="ko-KR" altLang="en-US" sz="1600" dirty="0"/>
                        <a:t>예외클래스 </a:t>
                      </a:r>
                      <a:r>
                        <a:rPr lang="en-US" altLang="ko-KR" sz="1600" dirty="0"/>
                        <a:t>e){</a:t>
                      </a:r>
                    </a:p>
                    <a:p>
                      <a:endParaRPr lang="en-US" altLang="ko-KR" sz="1600" dirty="0"/>
                    </a:p>
                    <a:p>
                      <a:r>
                        <a:rPr lang="en-US" altLang="ko-KR" sz="1600" dirty="0"/>
                        <a:t>     </a:t>
                      </a:r>
                      <a:r>
                        <a:rPr lang="ko-KR" altLang="en-US" sz="1600" b="1" dirty="0"/>
                        <a:t>예외 처리</a:t>
                      </a:r>
                      <a:endParaRPr lang="en-US" altLang="ko-KR" sz="1600" b="1" dirty="0"/>
                    </a:p>
                    <a:p>
                      <a:endParaRPr lang="en-US" altLang="ko-KR" sz="1600" dirty="0"/>
                    </a:p>
                    <a:p>
                      <a:r>
                        <a:rPr lang="en-US" altLang="ko-KR" sz="1600" dirty="0"/>
                        <a:t> } finally {</a:t>
                      </a:r>
                    </a:p>
                    <a:p>
                      <a:endParaRPr lang="en-US" altLang="ko-KR" sz="1600" dirty="0"/>
                    </a:p>
                    <a:p>
                      <a:r>
                        <a:rPr lang="en-US" altLang="ko-KR" sz="1600" dirty="0"/>
                        <a:t>     </a:t>
                      </a:r>
                      <a:r>
                        <a:rPr lang="ko-KR" altLang="en-US" sz="1600" b="1" dirty="0"/>
                        <a:t>항상 실행</a:t>
                      </a:r>
                      <a:endParaRPr lang="en-US" altLang="ko-KR" sz="1600" b="1" dirty="0"/>
                    </a:p>
                    <a:p>
                      <a:r>
                        <a:rPr lang="en-US" altLang="ko-KR" sz="1600" dirty="0"/>
                        <a:t> }</a:t>
                      </a:r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680081826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C219B5C6-0AE5-4263-A9F2-75353E97CDF5}"/>
              </a:ext>
            </a:extLst>
          </p:cNvPr>
          <p:cNvSpPr/>
          <p:nvPr/>
        </p:nvSpPr>
        <p:spPr>
          <a:xfrm>
            <a:off x="4438718" y="2427704"/>
            <a:ext cx="2674521" cy="4178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예외가 발생되었을 경우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638008B-5DCB-48C5-AC6D-29DEFF3A3C13}"/>
              </a:ext>
            </a:extLst>
          </p:cNvPr>
          <p:cNvCxnSpPr>
            <a:cxnSpLocks/>
          </p:cNvCxnSpPr>
          <p:nvPr/>
        </p:nvCxnSpPr>
        <p:spPr>
          <a:xfrm>
            <a:off x="5711490" y="3222134"/>
            <a:ext cx="0" cy="6185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A13A081F-E92D-4424-B44F-5BA5C7415702}"/>
              </a:ext>
            </a:extLst>
          </p:cNvPr>
          <p:cNvSpPr/>
          <p:nvPr/>
        </p:nvSpPr>
        <p:spPr>
          <a:xfrm>
            <a:off x="5698802" y="3833861"/>
            <a:ext cx="838374" cy="730756"/>
          </a:xfrm>
          <a:custGeom>
            <a:avLst/>
            <a:gdLst>
              <a:gd name="connsiteX0" fmla="*/ 0 w 1031845"/>
              <a:gd name="connsiteY0" fmla="*/ 0 h 1468073"/>
              <a:gd name="connsiteX1" fmla="*/ 1031845 w 1031845"/>
              <a:gd name="connsiteY1" fmla="*/ 0 h 1468073"/>
              <a:gd name="connsiteX2" fmla="*/ 1031845 w 1031845"/>
              <a:gd name="connsiteY2" fmla="*/ 1459684 h 1468073"/>
              <a:gd name="connsiteX3" fmla="*/ 92278 w 1031845"/>
              <a:gd name="connsiteY3" fmla="*/ 1459684 h 1468073"/>
              <a:gd name="connsiteX4" fmla="*/ 92278 w 1031845"/>
              <a:gd name="connsiteY4" fmla="*/ 1468073 h 1468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1845" h="1468073">
                <a:moveTo>
                  <a:pt x="0" y="0"/>
                </a:moveTo>
                <a:lnTo>
                  <a:pt x="1031845" y="0"/>
                </a:lnTo>
                <a:lnTo>
                  <a:pt x="1031845" y="1459684"/>
                </a:lnTo>
                <a:lnTo>
                  <a:pt x="92278" y="1459684"/>
                </a:lnTo>
                <a:lnTo>
                  <a:pt x="92278" y="1468073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877FE69-F490-4F58-9334-6341DE441B7B}"/>
              </a:ext>
            </a:extLst>
          </p:cNvPr>
          <p:cNvCxnSpPr>
            <a:cxnSpLocks/>
          </p:cNvCxnSpPr>
          <p:nvPr/>
        </p:nvCxnSpPr>
        <p:spPr>
          <a:xfrm>
            <a:off x="5804946" y="4564617"/>
            <a:ext cx="0" cy="5040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폭발: 8pt 10">
            <a:extLst>
              <a:ext uri="{FF2B5EF4-FFF2-40B4-BE49-F238E27FC236}">
                <a16:creationId xmlns:a16="http://schemas.microsoft.com/office/drawing/2014/main" id="{B59CA6E6-A16B-484D-AE76-E0FD84644D19}"/>
              </a:ext>
            </a:extLst>
          </p:cNvPr>
          <p:cNvSpPr/>
          <p:nvPr/>
        </p:nvSpPr>
        <p:spPr>
          <a:xfrm>
            <a:off x="4774062" y="3209186"/>
            <a:ext cx="1611698" cy="579018"/>
          </a:xfrm>
          <a:prstGeom prst="irregularSeal1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ysClr val="windowText" lastClr="000000"/>
                </a:solidFill>
              </a:rPr>
              <a:t>예외발생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E845100-C62B-44F7-9A27-1F4713327C8C}"/>
              </a:ext>
            </a:extLst>
          </p:cNvPr>
          <p:cNvCxnSpPr>
            <a:cxnSpLocks/>
          </p:cNvCxnSpPr>
          <p:nvPr/>
        </p:nvCxnSpPr>
        <p:spPr>
          <a:xfrm>
            <a:off x="5804946" y="5173783"/>
            <a:ext cx="0" cy="5100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제목 5"/>
          <p:cNvSpPr txBox="1">
            <a:spLocks/>
          </p:cNvSpPr>
          <p:nvPr/>
        </p:nvSpPr>
        <p:spPr>
          <a:xfrm>
            <a:off x="0" y="-27384"/>
            <a:ext cx="638575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en-US" altLang="ko-KR" dirty="0" err="1"/>
              <a:t>try~catch~finally</a:t>
            </a:r>
            <a:r>
              <a:rPr lang="ko-KR" altLang="en-US" dirty="0"/>
              <a:t>문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58080" y="1052736"/>
            <a:ext cx="8991464" cy="15550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 </a:t>
            </a:r>
            <a:r>
              <a:rPr lang="en-US" altLang="ko-KR" sz="2000" b="1" dirty="0" err="1">
                <a:solidFill>
                  <a:srgbClr val="C00000"/>
                </a:solidFill>
              </a:rPr>
              <a:t>try~catch~finally</a:t>
            </a:r>
            <a:r>
              <a:rPr lang="ko-KR" altLang="en-US" sz="2000" b="1" dirty="0">
                <a:solidFill>
                  <a:srgbClr val="C00000"/>
                </a:solidFill>
              </a:rPr>
              <a:t>문 사용하기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solidFill>
                  <a:srgbClr val="C00000"/>
                </a:solidFill>
              </a:rPr>
              <a:t>     </a:t>
            </a:r>
            <a:r>
              <a:rPr lang="ko-KR" altLang="en-US" sz="1600" dirty="0"/>
              <a:t>프로그램에서 외부장치와의 </a:t>
            </a:r>
            <a:r>
              <a:rPr lang="ko-KR" altLang="en-US" sz="1600" dirty="0" err="1"/>
              <a:t>연동시</a:t>
            </a:r>
            <a:r>
              <a:rPr lang="ko-KR" altLang="en-US" sz="1600" dirty="0"/>
              <a:t> 초기화나 마무리 </a:t>
            </a:r>
            <a:r>
              <a:rPr lang="ko-KR" altLang="en-US" sz="1600" dirty="0" err="1"/>
              <a:t>작업시</a:t>
            </a:r>
            <a:r>
              <a:rPr lang="ko-KR" altLang="en-US" sz="1600" dirty="0"/>
              <a:t> 주로 사용한다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r>
              <a:rPr lang="en-US" altLang="ko-KR" sz="1600" dirty="0"/>
              <a:t>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/>
              <a:t>      </a:t>
            </a:r>
            <a:r>
              <a:rPr lang="ko-KR" altLang="en-US" sz="1600" dirty="0"/>
              <a:t>이때 사용하는 블록이 </a:t>
            </a:r>
            <a:r>
              <a:rPr lang="en-US" altLang="ko-KR" sz="1600" dirty="0"/>
              <a:t>finally</a:t>
            </a:r>
            <a:r>
              <a:rPr lang="ko-KR" altLang="en-US" sz="1600" dirty="0"/>
              <a:t>인데 일단 </a:t>
            </a:r>
            <a:r>
              <a:rPr lang="en-US" altLang="ko-KR" sz="1600" dirty="0"/>
              <a:t>try</a:t>
            </a:r>
            <a:r>
              <a:rPr lang="ko-KR" altLang="en-US" sz="1600" dirty="0"/>
              <a:t>블록이 수행되면 어떤 경우에도 반드시 수행된다</a:t>
            </a:r>
            <a:r>
              <a:rPr lang="en-US" altLang="ko-KR" sz="1600" dirty="0"/>
              <a:t>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2025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5"/>
          <p:cNvSpPr txBox="1">
            <a:spLocks/>
          </p:cNvSpPr>
          <p:nvPr/>
        </p:nvSpPr>
        <p:spPr>
          <a:xfrm>
            <a:off x="0" y="-27384"/>
            <a:ext cx="638575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en-US" altLang="ko-KR" dirty="0" err="1"/>
              <a:t>try~catch~finally</a:t>
            </a:r>
            <a:r>
              <a:rPr lang="ko-KR" altLang="en-US" dirty="0"/>
              <a:t>문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30088" y="1034124"/>
            <a:ext cx="5967128" cy="6666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try~catch~finally</a:t>
            </a:r>
            <a:r>
              <a:rPr lang="ko-KR" altLang="en-US" sz="2000" b="1" dirty="0">
                <a:solidFill>
                  <a:srgbClr val="C00000"/>
                </a:solidFill>
              </a:rPr>
              <a:t>문 사용하기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solidFill>
                  <a:srgbClr val="C00000"/>
                </a:solidFill>
              </a:rPr>
              <a:t>  </a:t>
            </a: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1774506"/>
            <a:ext cx="6988146" cy="30330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944" y="4365104"/>
            <a:ext cx="4715167" cy="18365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796666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5"/>
          <p:cNvSpPr txBox="1">
            <a:spLocks/>
          </p:cNvSpPr>
          <p:nvPr/>
        </p:nvSpPr>
        <p:spPr>
          <a:xfrm>
            <a:off x="0" y="-27384"/>
            <a:ext cx="444894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다중 예외 처리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65453" y="980728"/>
            <a:ext cx="6391803" cy="4867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다중 예외 </a:t>
            </a:r>
            <a:r>
              <a:rPr lang="en-US" altLang="ko-KR" sz="2000" b="1" dirty="0">
                <a:solidFill>
                  <a:srgbClr val="C00000"/>
                </a:solidFill>
              </a:rPr>
              <a:t>– </a:t>
            </a:r>
            <a:r>
              <a:rPr lang="ko-KR" altLang="en-US" sz="2000" b="1" dirty="0">
                <a:solidFill>
                  <a:srgbClr val="C00000"/>
                </a:solidFill>
              </a:rPr>
              <a:t>동시에 여러 개의 예외가 발생한 경우 </a:t>
            </a: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54979"/>
            <a:ext cx="6293267" cy="37581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90748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5"/>
          <p:cNvSpPr txBox="1">
            <a:spLocks/>
          </p:cNvSpPr>
          <p:nvPr/>
        </p:nvSpPr>
        <p:spPr>
          <a:xfrm>
            <a:off x="0" y="-27384"/>
            <a:ext cx="444894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다중 예외 처리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65453" y="980728"/>
            <a:ext cx="5311683" cy="4867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다중 예외 처리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413" y="3898197"/>
            <a:ext cx="8709929" cy="14841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413" y="2171071"/>
            <a:ext cx="8538069" cy="7538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865453" y="1634613"/>
            <a:ext cx="58326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Consolas" panose="020B0609020204030204" pitchFamily="49" charset="0"/>
              </a:rPr>
              <a:t>[ </a:t>
            </a:r>
            <a:r>
              <a:rPr lang="en-US" altLang="ko-KR" dirty="0" err="1">
                <a:latin typeface="Consolas" panose="020B0609020204030204" pitchFamily="49" charset="0"/>
              </a:rPr>
              <a:t>java.lang.ArrayIndexOutOfBoundsException</a:t>
            </a:r>
            <a:r>
              <a:rPr lang="en-US" altLang="ko-KR" dirty="0">
                <a:latin typeface="Consolas" panose="020B0609020204030204" pitchFamily="49" charset="0"/>
              </a:rPr>
              <a:t> ]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853748" y="3388471"/>
            <a:ext cx="46474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Consolas" panose="020B0609020204030204" pitchFamily="49" charset="0"/>
              </a:rPr>
              <a:t>[ </a:t>
            </a:r>
            <a:r>
              <a:rPr lang="en-US" altLang="ko-KR" dirty="0" err="1">
                <a:latin typeface="Consolas" panose="020B0609020204030204" pitchFamily="49" charset="0"/>
              </a:rPr>
              <a:t>java.lang.NumberFormatException</a:t>
            </a:r>
            <a:r>
              <a:rPr lang="en-US" altLang="ko-KR" dirty="0">
                <a:latin typeface="Consolas" panose="020B0609020204030204" pitchFamily="49" charset="0"/>
              </a:rPr>
              <a:t> 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55566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5"/>
          <p:cNvSpPr txBox="1">
            <a:spLocks/>
          </p:cNvSpPr>
          <p:nvPr/>
        </p:nvSpPr>
        <p:spPr>
          <a:xfrm>
            <a:off x="0" y="-27384"/>
            <a:ext cx="444894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다중 예외 처리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65453" y="980728"/>
            <a:ext cx="3439475" cy="4867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다중 예외 처리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503" y="1636778"/>
            <a:ext cx="7118444" cy="43468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168" y="5229200"/>
            <a:ext cx="2808312" cy="10194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755269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1" y="980728"/>
            <a:ext cx="4968553" cy="5306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throw </a:t>
            </a:r>
            <a:r>
              <a:rPr lang="ko-KR" altLang="en-US" sz="2000" b="1" dirty="0">
                <a:solidFill>
                  <a:srgbClr val="C00000"/>
                </a:solidFill>
              </a:rPr>
              <a:t>로 예외 발생 시키기</a:t>
            </a:r>
            <a:endParaRPr lang="en-US" altLang="ko-KR" sz="2000" dirty="0">
              <a:latin typeface="+mn-ea"/>
            </a:endParaRPr>
          </a:p>
        </p:txBody>
      </p:sp>
      <p:sp>
        <p:nvSpPr>
          <p:cNvPr id="11" name="제목 5"/>
          <p:cNvSpPr txBox="1">
            <a:spLocks/>
          </p:cNvSpPr>
          <p:nvPr/>
        </p:nvSpPr>
        <p:spPr>
          <a:xfrm>
            <a:off x="0" y="-27384"/>
            <a:ext cx="567307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예외 발생 시키기 </a:t>
            </a:r>
            <a:r>
              <a:rPr lang="en-US" altLang="ko-KR" dirty="0"/>
              <a:t>- throw 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80592" y="1592510"/>
            <a:ext cx="5516703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throw new</a:t>
            </a:r>
            <a:r>
              <a:rPr lang="ko-KR" altLang="en-US" dirty="0"/>
              <a:t>는 직접 예외를 발생시키는 기능을 한다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throw new </a:t>
            </a:r>
            <a:r>
              <a:rPr lang="ko-KR" altLang="en-US" b="1" dirty="0"/>
              <a:t>예외 클래스</a:t>
            </a:r>
            <a:r>
              <a:rPr lang="en-US" altLang="ko-KR" b="1" dirty="0"/>
              <a:t>(“</a:t>
            </a:r>
            <a:r>
              <a:rPr lang="ko-KR" altLang="en-US" b="1" dirty="0"/>
              <a:t>메시지</a:t>
            </a:r>
            <a:r>
              <a:rPr lang="en-US" altLang="ko-KR" b="1" dirty="0"/>
              <a:t>”)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sz="1600" dirty="0"/>
              <a:t>-&gt; </a:t>
            </a:r>
            <a:r>
              <a:rPr lang="ko-KR" altLang="en-US" sz="1600" dirty="0"/>
              <a:t>예외 객체를 생성하고 강제로 던짐</a:t>
            </a:r>
            <a:endParaRPr lang="en-US" altLang="ko-KR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1280592" y="2966335"/>
            <a:ext cx="8280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</a:pPr>
            <a:r>
              <a:rPr lang="en-US" altLang="ko-KR" dirty="0" err="1">
                <a:latin typeface="Arial Unicode MS" panose="020B0604020202020204"/>
              </a:rPr>
              <a:t>i</a:t>
            </a:r>
            <a:r>
              <a:rPr lang="ko-KR" altLang="ko-KR" dirty="0" err="1">
                <a:latin typeface="Arial Unicode MS" panose="020B0604020202020204"/>
              </a:rPr>
              <a:t>llegalArgumentExceptio</a:t>
            </a:r>
            <a:r>
              <a:rPr lang="en-US" altLang="ko-KR" dirty="0">
                <a:latin typeface="Arial Unicode MS" panose="020B0604020202020204"/>
              </a:rPr>
              <a:t>n :</a:t>
            </a:r>
            <a:r>
              <a:rPr lang="ko-KR" altLang="ko-KR" sz="800" dirty="0"/>
              <a:t> </a:t>
            </a:r>
            <a:r>
              <a:rPr lang="en-US" altLang="ko-KR" sz="800" dirty="0"/>
              <a:t> </a:t>
            </a:r>
            <a:r>
              <a:rPr lang="ko-KR" altLang="en-US" dirty="0"/>
              <a:t>잘못된 인자가 메서드에 전달될 때 사용하는 예외</a:t>
            </a:r>
            <a:r>
              <a:rPr lang="en-US" altLang="ko-KR" dirty="0"/>
              <a:t>.</a:t>
            </a:r>
          </a:p>
          <a:p>
            <a:pPr lvl="0">
              <a:lnSpc>
                <a:spcPct val="200000"/>
              </a:lnSpc>
            </a:pPr>
            <a:r>
              <a:rPr lang="ko-KR" altLang="ko-KR" dirty="0" err="1">
                <a:latin typeface="Arial Unicode MS" panose="020B0604020202020204"/>
              </a:rPr>
              <a:t>ArithmeticExceptio</a:t>
            </a:r>
            <a:r>
              <a:rPr lang="en-US" altLang="ko-KR" dirty="0">
                <a:latin typeface="Arial Unicode MS" panose="020B0604020202020204"/>
              </a:rPr>
              <a:t>n : </a:t>
            </a:r>
            <a:r>
              <a:rPr lang="ko-KR" altLang="en-US" dirty="0"/>
              <a:t>수학적 오류가 발생했을 때 주로 사용됨</a:t>
            </a:r>
            <a:endParaRPr lang="ko-KR" altLang="ko-K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0435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1" y="983835"/>
            <a:ext cx="4968553" cy="5306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throw </a:t>
            </a:r>
            <a:r>
              <a:rPr lang="ko-KR" altLang="en-US" sz="2000" b="1" dirty="0">
                <a:solidFill>
                  <a:srgbClr val="C00000"/>
                </a:solidFill>
              </a:rPr>
              <a:t>로 예외 발생 시키기</a:t>
            </a:r>
            <a:endParaRPr lang="en-US" altLang="ko-KR" sz="2000" dirty="0">
              <a:latin typeface="+mn-ea"/>
            </a:endParaRPr>
          </a:p>
        </p:txBody>
      </p:sp>
      <p:sp>
        <p:nvSpPr>
          <p:cNvPr id="11" name="제목 5"/>
          <p:cNvSpPr txBox="1">
            <a:spLocks/>
          </p:cNvSpPr>
          <p:nvPr/>
        </p:nvSpPr>
        <p:spPr>
          <a:xfrm>
            <a:off x="0" y="-27384"/>
            <a:ext cx="567307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예외 발생 시키기 </a:t>
            </a:r>
            <a:r>
              <a:rPr lang="en-US" altLang="ko-KR" dirty="0"/>
              <a:t>- throw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14481"/>
            <a:ext cx="7168042" cy="47948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902750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1" y="941020"/>
            <a:ext cx="4968553" cy="5306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throws </a:t>
            </a:r>
            <a:r>
              <a:rPr lang="ko-KR" altLang="en-US" sz="2000" b="1" dirty="0">
                <a:solidFill>
                  <a:srgbClr val="C00000"/>
                </a:solidFill>
              </a:rPr>
              <a:t>로 예외처리 미루기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ko-KR" altLang="en-US" sz="2000" b="1" dirty="0">
                <a:solidFill>
                  <a:srgbClr val="C00000"/>
                </a:solidFill>
              </a:rPr>
              <a:t>떠넘기기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  <a:endParaRPr lang="en-US" altLang="ko-KR" sz="2000" dirty="0">
              <a:latin typeface="+mn-ea"/>
            </a:endParaRPr>
          </a:p>
        </p:txBody>
      </p:sp>
      <p:sp>
        <p:nvSpPr>
          <p:cNvPr id="11" name="제목 5"/>
          <p:cNvSpPr txBox="1">
            <a:spLocks/>
          </p:cNvSpPr>
          <p:nvPr/>
        </p:nvSpPr>
        <p:spPr>
          <a:xfrm>
            <a:off x="0" y="-27384"/>
            <a:ext cx="567307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예외 처리 미루기 </a:t>
            </a:r>
            <a:r>
              <a:rPr lang="en-US" altLang="ko-KR" dirty="0"/>
              <a:t>- throws 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280592" y="14262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예외 처리를 해당 </a:t>
            </a:r>
            <a:r>
              <a:rPr lang="ko-KR" altLang="en-US" sz="1600" dirty="0" err="1"/>
              <a:t>메서드에서</a:t>
            </a:r>
            <a:r>
              <a:rPr lang="ko-KR" altLang="en-US" sz="1600" dirty="0"/>
              <a:t> 하지 않고 미룬 후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메서드를</a:t>
            </a:r>
            <a:r>
              <a:rPr lang="ko-KR" altLang="en-US" sz="1600" dirty="0"/>
              <a:t> 호출하여 사용하는 곳에서 예외를 처리하는 방법이다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1568624" y="2545277"/>
            <a:ext cx="5472608" cy="1021556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rgbClr val="C00000"/>
                </a:solidFill>
              </a:rPr>
              <a:t> </a:t>
            </a:r>
            <a:r>
              <a:rPr lang="ko-KR" altLang="en-US" b="1" dirty="0" err="1"/>
              <a:t>메서드명</a:t>
            </a:r>
            <a:r>
              <a:rPr lang="ko-KR" altLang="en-US" b="1" dirty="0">
                <a:solidFill>
                  <a:srgbClr val="C00000"/>
                </a:solidFill>
              </a:rPr>
              <a:t> </a:t>
            </a:r>
            <a:r>
              <a:rPr lang="en-US" altLang="ko-KR" b="1" dirty="0">
                <a:solidFill>
                  <a:srgbClr val="C00000"/>
                </a:solidFill>
              </a:rPr>
              <a:t>throws </a:t>
            </a:r>
            <a:r>
              <a:rPr lang="ko-KR" altLang="en-US" b="1" dirty="0"/>
              <a:t>예외클래스</a:t>
            </a:r>
            <a:r>
              <a:rPr lang="en-US" altLang="ko-KR" b="1" dirty="0"/>
              <a:t>1, </a:t>
            </a:r>
            <a:r>
              <a:rPr lang="ko-KR" altLang="en-US" b="1" dirty="0"/>
              <a:t>예외클래스</a:t>
            </a:r>
            <a:r>
              <a:rPr lang="en-US" altLang="ko-KR" b="1" dirty="0"/>
              <a:t>2,..{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}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3965356"/>
            <a:ext cx="5976664" cy="14798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8" name="직선 연결선 7"/>
          <p:cNvCxnSpPr/>
          <p:nvPr/>
        </p:nvCxnSpPr>
        <p:spPr>
          <a:xfrm flipV="1">
            <a:off x="5673079" y="4290260"/>
            <a:ext cx="648073" cy="611200"/>
          </a:xfrm>
          <a:prstGeom prst="line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77136" y="3881636"/>
            <a:ext cx="3209757" cy="40862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Add throws declaration </a:t>
            </a:r>
            <a:r>
              <a:rPr lang="ko-KR" altLang="en-US" dirty="0"/>
              <a:t>선택</a:t>
            </a:r>
          </a:p>
        </p:txBody>
      </p:sp>
    </p:spTree>
    <p:extLst>
      <p:ext uri="{BB962C8B-B14F-4D97-AF65-F5344CB8AC3E}">
        <p14:creationId xmlns:p14="http://schemas.microsoft.com/office/powerpoint/2010/main" val="34430256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908720"/>
            <a:ext cx="6192689" cy="5306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throws </a:t>
            </a:r>
            <a:r>
              <a:rPr lang="ko-KR" altLang="en-US" sz="2000" b="1" dirty="0">
                <a:solidFill>
                  <a:srgbClr val="C00000"/>
                </a:solidFill>
              </a:rPr>
              <a:t>로 예외처리 미루기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ko-KR" altLang="en-US" sz="2000" b="1" dirty="0">
                <a:solidFill>
                  <a:srgbClr val="C00000"/>
                </a:solidFill>
              </a:rPr>
              <a:t>떠넘기기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  <a:endParaRPr lang="en-US" altLang="ko-KR" sz="2000" dirty="0">
              <a:latin typeface="+mn-ea"/>
            </a:endParaRPr>
          </a:p>
        </p:txBody>
      </p:sp>
      <p:sp>
        <p:nvSpPr>
          <p:cNvPr id="11" name="제목 5"/>
          <p:cNvSpPr txBox="1">
            <a:spLocks/>
          </p:cNvSpPr>
          <p:nvPr/>
        </p:nvSpPr>
        <p:spPr>
          <a:xfrm>
            <a:off x="0" y="-27384"/>
            <a:ext cx="567307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예외 처리 미루기 </a:t>
            </a:r>
            <a:r>
              <a:rPr lang="en-US" altLang="ko-KR" dirty="0"/>
              <a:t>- throws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08" y="1573313"/>
            <a:ext cx="6768752" cy="36920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880" y="5461745"/>
            <a:ext cx="6728397" cy="4251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8533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6432</TotalTime>
  <Words>2024</Words>
  <Application>Microsoft Office PowerPoint</Application>
  <PresentationFormat>A4 용지(210x297mm)</PresentationFormat>
  <Paragraphs>468</Paragraphs>
  <Slides>64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64</vt:i4>
      </vt:variant>
    </vt:vector>
  </HeadingPairs>
  <TitlesOfParts>
    <vt:vector size="73" baseType="lpstr">
      <vt:lpstr>Arial Unicode MS</vt:lpstr>
      <vt:lpstr>HY헤드라인M</vt:lpstr>
      <vt:lpstr>맑은 고딕</vt:lpstr>
      <vt:lpstr>휴먼모음T</vt:lpstr>
      <vt:lpstr>휴먼엑스포</vt:lpstr>
      <vt:lpstr>Arial</vt:lpstr>
      <vt:lpstr>Consolas</vt:lpstr>
      <vt:lpstr>Wingdings</vt:lpstr>
      <vt:lpstr>Office 테마</vt:lpstr>
      <vt:lpstr>7장. 기본클래스, 예외처리</vt:lpstr>
      <vt:lpstr>  java lang 패키지</vt:lpstr>
      <vt:lpstr>  java lang 패키지</vt:lpstr>
      <vt:lpstr>  Object 클래스</vt:lpstr>
      <vt:lpstr>  Object 클래스</vt:lpstr>
      <vt:lpstr>  Object 클래스</vt:lpstr>
      <vt:lpstr>  toString() 메서드</vt:lpstr>
      <vt:lpstr>  toString() 메서드</vt:lpstr>
      <vt:lpstr>  equals() 메서드</vt:lpstr>
      <vt:lpstr>  equals() 메서드</vt:lpstr>
      <vt:lpstr>  equals() 메서드</vt:lpstr>
      <vt:lpstr>  실습 문제 1 – Object 클래스  </vt:lpstr>
      <vt:lpstr>  String 클래스</vt:lpstr>
      <vt:lpstr>  String 클래스</vt:lpstr>
      <vt:lpstr>  String 클래스</vt:lpstr>
      <vt:lpstr>  String의 주요 메서드</vt:lpstr>
      <vt:lpstr>  String의 주요 메서드</vt:lpstr>
      <vt:lpstr>  String의 주요 메서드</vt:lpstr>
      <vt:lpstr>  String의 주요 메서드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 실습 문제 2 – 정규 표현식</vt:lpstr>
      <vt:lpstr>  Wrapper 클래스</vt:lpstr>
      <vt:lpstr>  Wrapper 클래스</vt:lpstr>
      <vt:lpstr>  Wrapper 클래스</vt:lpstr>
      <vt:lpstr>  난수 생성</vt:lpstr>
      <vt:lpstr>  Random 클래스</vt:lpstr>
      <vt:lpstr>  Random 클래스</vt:lpstr>
      <vt:lpstr>  숫자 추측 게임</vt:lpstr>
      <vt:lpstr>PowerPoint 프레젠테이션</vt:lpstr>
      <vt:lpstr>  영어 타자 게임</vt:lpstr>
      <vt:lpstr>PowerPoint 프레젠테이션</vt:lpstr>
      <vt:lpstr>PowerPoint 프레젠테이션</vt:lpstr>
      <vt:lpstr>  jar 파일 배포</vt:lpstr>
      <vt:lpstr>  Jar 파일 명령 프롬프트에서 실행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giyong kim</cp:lastModifiedBy>
  <cp:revision>505</cp:revision>
  <dcterms:created xsi:type="dcterms:W3CDTF">2019-03-04T02:36:55Z</dcterms:created>
  <dcterms:modified xsi:type="dcterms:W3CDTF">2026-07-28T06:30:01Z</dcterms:modified>
</cp:coreProperties>
</file>