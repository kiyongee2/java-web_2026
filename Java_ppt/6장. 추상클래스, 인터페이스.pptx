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256" r:id="rId2"/>
    <p:sldId id="308" r:id="rId3"/>
    <p:sldId id="414" r:id="rId4"/>
    <p:sldId id="312" r:id="rId5"/>
    <p:sldId id="313" r:id="rId6"/>
    <p:sldId id="314" r:id="rId7"/>
    <p:sldId id="342" r:id="rId8"/>
    <p:sldId id="315" r:id="rId9"/>
    <p:sldId id="320" r:id="rId10"/>
    <p:sldId id="321" r:id="rId11"/>
    <p:sldId id="344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72" r:id="rId31"/>
    <p:sldId id="373" r:id="rId32"/>
    <p:sldId id="374" r:id="rId33"/>
    <p:sldId id="375" r:id="rId34"/>
    <p:sldId id="376" r:id="rId35"/>
    <p:sldId id="377" r:id="rId36"/>
    <p:sldId id="379" r:id="rId37"/>
    <p:sldId id="416" r:id="rId38"/>
    <p:sldId id="380" r:id="rId39"/>
    <p:sldId id="381" r:id="rId40"/>
    <p:sldId id="382" r:id="rId41"/>
    <p:sldId id="415" r:id="rId42"/>
    <p:sldId id="384" r:id="rId43"/>
    <p:sldId id="385" r:id="rId44"/>
    <p:sldId id="386" r:id="rId45"/>
    <p:sldId id="387" r:id="rId46"/>
    <p:sldId id="388" r:id="rId47"/>
    <p:sldId id="390" r:id="rId48"/>
    <p:sldId id="417" r:id="rId49"/>
    <p:sldId id="391" r:id="rId50"/>
    <p:sldId id="392" r:id="rId51"/>
    <p:sldId id="393" r:id="rId52"/>
    <p:sldId id="400" r:id="rId53"/>
    <p:sldId id="401" r:id="rId54"/>
    <p:sldId id="402" r:id="rId55"/>
    <p:sldId id="403" r:id="rId56"/>
    <p:sldId id="404" r:id="rId57"/>
    <p:sldId id="405" r:id="rId58"/>
    <p:sldId id="406" r:id="rId59"/>
    <p:sldId id="407" r:id="rId60"/>
    <p:sldId id="408" r:id="rId61"/>
    <p:sldId id="409" r:id="rId62"/>
    <p:sldId id="410" r:id="rId63"/>
    <p:sldId id="411" r:id="rId64"/>
    <p:sldId id="412" r:id="rId65"/>
    <p:sldId id="413" r:id="rId6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>
      <p:cViewPr varScale="1">
        <p:scale>
          <a:sx n="84" d="100"/>
          <a:sy n="84" d="100"/>
        </p:scale>
        <p:origin x="1224" y="-8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6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추상클래스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인터페이스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i="1" dirty="0">
                <a:solidFill>
                  <a:schemeClr val="bg1"/>
                </a:solidFill>
              </a:rPr>
              <a:t>abstract class, interface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클래스</a:t>
            </a:r>
            <a:r>
              <a:rPr lang="en-US" altLang="ko-KR" dirty="0"/>
              <a:t>(abstract class)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70657" y="963739"/>
            <a:ext cx="2708775" cy="5210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추상 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96616" y="1502176"/>
            <a:ext cx="74168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객체를 직접 생성할 수 있는 클래스를 실체 클래스라고 한다면 이 클래스들의 공통적인 특성을 추출해서 선언한 클래스를 추상 클래스라 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추상클래스와 실체 클래스는 상속 관계를 구성한다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왜 추상클래스를 사용하는가</a:t>
            </a:r>
            <a:r>
              <a:rPr lang="en-US" altLang="ko-KR" sz="1600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실체 클래스의 필드와 메서드의 이름을 통일할 목적으로 사용한다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(</a:t>
            </a:r>
            <a:r>
              <a:rPr lang="ko-KR" altLang="en-US" sz="1600" dirty="0"/>
              <a:t>전화와 스마트폰 클래스 멤버의 이름이 달라 복잡하고 유지보수 등 작업이 느려질 수 있다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err="1"/>
              <a:t>TelePhone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 </a:t>
            </a:r>
            <a:r>
              <a:rPr lang="en-US" altLang="ko-KR" sz="1600" dirty="0"/>
              <a:t>– owner(</a:t>
            </a:r>
            <a:r>
              <a:rPr lang="ko-KR" altLang="en-US" sz="1600" dirty="0"/>
              <a:t>소유자</a:t>
            </a:r>
            <a:r>
              <a:rPr lang="en-US" altLang="ko-KR" sz="1600" dirty="0"/>
              <a:t>),  </a:t>
            </a:r>
            <a:r>
              <a:rPr lang="en-US" altLang="ko-KR" sz="1600" dirty="0" err="1"/>
              <a:t>powerOn</a:t>
            </a:r>
            <a:r>
              <a:rPr lang="en-US" altLang="ko-KR" sz="1600" dirty="0"/>
              <a:t>() - </a:t>
            </a:r>
            <a:r>
              <a:rPr lang="ko-KR" altLang="en-US" sz="1600" dirty="0"/>
              <a:t>전원을 켜다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err="1"/>
              <a:t>SmartPhone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 </a:t>
            </a:r>
            <a:r>
              <a:rPr lang="en-US" altLang="ko-KR" sz="1600" dirty="0"/>
              <a:t>– user(</a:t>
            </a:r>
            <a:r>
              <a:rPr lang="ko-KR" altLang="en-US" sz="1600" dirty="0"/>
              <a:t>소유자</a:t>
            </a:r>
            <a:r>
              <a:rPr lang="en-US" altLang="ko-KR" sz="1600" dirty="0"/>
              <a:t>), </a:t>
            </a:r>
            <a:r>
              <a:rPr lang="en-US" altLang="ko-KR" sz="1600" dirty="0" err="1"/>
              <a:t>trunOn</a:t>
            </a:r>
            <a:r>
              <a:rPr lang="en-US" altLang="ko-KR" sz="1600" dirty="0"/>
              <a:t>() – </a:t>
            </a:r>
            <a:r>
              <a:rPr lang="ko-KR" altLang="en-US" sz="1600" dirty="0"/>
              <a:t>전원을 켜다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83433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클래스</a:t>
            </a:r>
            <a:r>
              <a:rPr lang="en-US" altLang="ko-KR" dirty="0"/>
              <a:t>(abstract class)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70657" y="963739"/>
            <a:ext cx="2708775" cy="5210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추상 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640632" y="1464149"/>
            <a:ext cx="3442620" cy="5210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/>
              <a:t>추상 클래스의 선언</a:t>
            </a:r>
            <a:endParaRPr lang="en-US" altLang="ko-KR" sz="1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000216" y="2080353"/>
            <a:ext cx="4005831" cy="1481257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public </a:t>
            </a:r>
            <a:r>
              <a:rPr lang="en-US" altLang="ko-KR" b="1" dirty="0">
                <a:solidFill>
                  <a:srgbClr val="C00000"/>
                </a:solidFill>
              </a:rPr>
              <a:t>abstract</a:t>
            </a:r>
            <a:r>
              <a:rPr lang="en-US" altLang="ko-KR" dirty="0"/>
              <a:t> class </a:t>
            </a:r>
            <a:r>
              <a:rPr lang="ko-KR" altLang="en-US" dirty="0"/>
              <a:t>클래스이름</a:t>
            </a:r>
            <a:r>
              <a:rPr lang="en-US" altLang="ko-KR" dirty="0"/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필드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생성자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메서드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712640" y="3717032"/>
            <a:ext cx="7821343" cy="1800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/>
              <a:t>추상 </a:t>
            </a:r>
            <a:r>
              <a:rPr lang="ko-KR" altLang="en-US" sz="1800" b="1" dirty="0" err="1"/>
              <a:t>메서드</a:t>
            </a:r>
            <a:endParaRPr lang="en-US" altLang="ko-KR" sz="1800" b="1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추상 </a:t>
            </a:r>
            <a:r>
              <a:rPr lang="ko-KR" altLang="en-US" sz="1600" dirty="0" err="1"/>
              <a:t>메서드도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C00000"/>
                </a:solidFill>
              </a:rPr>
              <a:t>abstract</a:t>
            </a:r>
            <a:r>
              <a:rPr lang="en-US" altLang="ko-KR" sz="1600" dirty="0"/>
              <a:t> </a:t>
            </a:r>
            <a:r>
              <a:rPr lang="ko-KR" altLang="en-US" sz="1600" dirty="0" err="1"/>
              <a:t>예약어를</a:t>
            </a:r>
            <a:r>
              <a:rPr lang="ko-KR" altLang="en-US" sz="1600" dirty="0"/>
              <a:t> 사용한다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err="1"/>
              <a:t>메서드를</a:t>
            </a:r>
            <a:r>
              <a:rPr lang="ko-KR" altLang="en-US" sz="1600" dirty="0"/>
              <a:t> 구현하지 않고 선언만 한다</a:t>
            </a:r>
            <a:r>
              <a:rPr lang="en-US" altLang="ko-KR" sz="1600" dirty="0"/>
              <a:t>. { } </a:t>
            </a:r>
            <a:r>
              <a:rPr lang="ko-KR" altLang="en-US" sz="1600" dirty="0"/>
              <a:t>구현부가 없다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상속받는 실체 클래스는 </a:t>
            </a:r>
            <a:r>
              <a:rPr lang="ko-KR" altLang="en-US" sz="1600" dirty="0" err="1"/>
              <a:t>추상메서드를</a:t>
            </a:r>
            <a:r>
              <a:rPr lang="ko-KR" altLang="en-US" sz="1600" dirty="0"/>
              <a:t> 필수적으로 구현해야 한다</a:t>
            </a:r>
            <a:r>
              <a:rPr lang="en-US" altLang="ko-KR" sz="1600" dirty="0"/>
              <a:t>.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46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클래스</a:t>
            </a:r>
            <a:r>
              <a:rPr lang="en-US" altLang="ko-KR" dirty="0"/>
              <a:t>(abstract class)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152800" y="1916832"/>
            <a:ext cx="188855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  </a:t>
            </a:r>
          </a:p>
          <a:p>
            <a:pPr algn="ctr"/>
            <a:r>
              <a:rPr lang="en-US" altLang="ko-KR" b="1" i="1" dirty="0">
                <a:latin typeface="+mn-ea"/>
              </a:rPr>
              <a:t>Animal</a:t>
            </a:r>
          </a:p>
          <a:p>
            <a:pPr algn="ctr"/>
            <a:endParaRPr lang="en-US" altLang="ko-KR" b="1" dirty="0">
              <a:latin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985925" y="3305326"/>
            <a:ext cx="119329" cy="356688"/>
            <a:chOff x="4357443" y="3272952"/>
            <a:chExt cx="235517" cy="444080"/>
          </a:xfrm>
        </p:grpSpPr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57443" y="3272952"/>
              <a:ext cx="235517" cy="154551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4475202" y="3427503"/>
              <a:ext cx="0" cy="28952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13" name="직사각형 12"/>
          <p:cNvSpPr/>
          <p:nvPr/>
        </p:nvSpPr>
        <p:spPr>
          <a:xfrm>
            <a:off x="2097367" y="3911354"/>
            <a:ext cx="1888558" cy="353312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Cat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3021830" y="3662014"/>
            <a:ext cx="2271555" cy="250610"/>
            <a:chOff x="1406902" y="3597087"/>
            <a:chExt cx="2271555" cy="440159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1406902" y="3597087"/>
              <a:ext cx="2271555" cy="0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1406902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3678457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3152800" y="2273349"/>
            <a:ext cx="1888558" cy="956616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dirty="0">
                <a:latin typeface="+mn-ea"/>
              </a:rPr>
              <a:t>breathe()</a:t>
            </a:r>
          </a:p>
          <a:p>
            <a:pPr algn="ctr"/>
            <a:r>
              <a:rPr lang="en-US" altLang="ko-KR" i="1" dirty="0">
                <a:latin typeface="+mn-ea"/>
              </a:rPr>
              <a:t>cry();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97367" y="4257958"/>
            <a:ext cx="1888558" cy="628191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cry()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537302" y="3911354"/>
            <a:ext cx="1888558" cy="353312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Dog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537302" y="4257958"/>
            <a:ext cx="1888558" cy="628191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cry()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64106" y="1005769"/>
            <a:ext cx="587712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동물의 소리를 구현한 </a:t>
            </a:r>
            <a:r>
              <a:rPr lang="ko-KR" altLang="en-US" sz="2000" b="1" dirty="0" err="1"/>
              <a:t>추상클래스</a:t>
            </a:r>
            <a:r>
              <a:rPr lang="ko-KR" altLang="en-US" sz="2000" b="1" dirty="0"/>
              <a:t> 상속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53689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메서드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695420"/>
            <a:ext cx="5760639" cy="34910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64106" y="1005769"/>
            <a:ext cx="587712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동물의 소리를 구현한 </a:t>
            </a:r>
            <a:r>
              <a:rPr lang="ko-KR" altLang="en-US" sz="2000" b="1" dirty="0" err="1"/>
              <a:t>추상클래스</a:t>
            </a:r>
            <a:r>
              <a:rPr lang="ko-KR" altLang="en-US" sz="2000" b="1" dirty="0"/>
              <a:t> 상속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60309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805156"/>
            <a:ext cx="4968552" cy="18889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776" y="3356992"/>
            <a:ext cx="4758686" cy="25206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메서드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64106" y="1005769"/>
            <a:ext cx="587712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동물의 소리를 구현한 </a:t>
            </a:r>
            <a:r>
              <a:rPr lang="ko-KR" altLang="en-US" sz="2000" b="1" dirty="0" err="1"/>
              <a:t>추상클래스</a:t>
            </a:r>
            <a:r>
              <a:rPr lang="ko-KR" altLang="en-US" sz="2000" b="1" dirty="0"/>
              <a:t> 상속 </a:t>
            </a:r>
            <a:endParaRPr lang="en-US" altLang="ko-KR" sz="2000" b="1" dirty="0"/>
          </a:p>
        </p:txBody>
      </p:sp>
      <p:cxnSp>
        <p:nvCxnSpPr>
          <p:cNvPr id="11" name="직선 연결선 10"/>
          <p:cNvCxnSpPr/>
          <p:nvPr/>
        </p:nvCxnSpPr>
        <p:spPr>
          <a:xfrm flipV="1">
            <a:off x="4124908" y="2895222"/>
            <a:ext cx="261005" cy="1829922"/>
          </a:xfrm>
          <a:prstGeom prst="line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21051" y="2655329"/>
            <a:ext cx="367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추상메서드는</a:t>
            </a:r>
            <a:r>
              <a:rPr lang="ko-KR" altLang="en-US" dirty="0"/>
              <a:t> 반드시 구현해야 함</a:t>
            </a:r>
          </a:p>
        </p:txBody>
      </p:sp>
    </p:spTree>
    <p:extLst>
      <p:ext uri="{BB962C8B-B14F-4D97-AF65-F5344CB8AC3E}">
        <p14:creationId xmlns:p14="http://schemas.microsoft.com/office/powerpoint/2010/main" val="392421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메서드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678882"/>
            <a:ext cx="4755872" cy="28083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64106" y="1005769"/>
            <a:ext cx="587712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동물의 소리를 구현한 </a:t>
            </a:r>
            <a:r>
              <a:rPr lang="ko-KR" altLang="en-US" sz="2000" b="1" dirty="0" err="1"/>
              <a:t>추상클래스</a:t>
            </a:r>
            <a:r>
              <a:rPr lang="ko-KR" altLang="en-US" sz="2000" b="1" dirty="0"/>
              <a:t> 상속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52720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메서드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556792"/>
            <a:ext cx="5507657" cy="48965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272" y="4005064"/>
            <a:ext cx="2071921" cy="1512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64106" y="1005769"/>
            <a:ext cx="587712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동물의 소리를 구현한 </a:t>
            </a:r>
            <a:r>
              <a:rPr lang="ko-KR" altLang="en-US" sz="2000" b="1" dirty="0" err="1"/>
              <a:t>추상클래스</a:t>
            </a:r>
            <a:r>
              <a:rPr lang="ko-KR" altLang="en-US" sz="2000" b="1" dirty="0"/>
              <a:t> 상속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118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클래스</a:t>
            </a:r>
            <a:r>
              <a:rPr lang="en-US" altLang="ko-KR" dirty="0"/>
              <a:t>(abstract class)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278810" y="1124744"/>
            <a:ext cx="5978446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자동차를 구현한 추상 클래스 상속 예</a:t>
            </a:r>
            <a:r>
              <a:rPr lang="en-US" altLang="ko-KR" sz="2000" b="1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626234" y="2045942"/>
            <a:ext cx="188855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latin typeface="+mn-ea"/>
              </a:rPr>
              <a:t>  </a:t>
            </a:r>
          </a:p>
          <a:p>
            <a:pPr algn="ctr"/>
            <a:r>
              <a:rPr lang="en-US" altLang="ko-KR" b="1" i="1" dirty="0">
                <a:latin typeface="+mn-ea"/>
              </a:rPr>
              <a:t>Car</a:t>
            </a:r>
          </a:p>
          <a:p>
            <a:pPr algn="ctr"/>
            <a:endParaRPr lang="en-US" altLang="ko-KR" b="1" i="1" dirty="0">
              <a:latin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4379176" y="3486102"/>
            <a:ext cx="119329" cy="356688"/>
            <a:chOff x="4357443" y="3272952"/>
            <a:chExt cx="235517" cy="444080"/>
          </a:xfrm>
        </p:grpSpPr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57443" y="3272952"/>
              <a:ext cx="235517" cy="154551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4475202" y="3427503"/>
              <a:ext cx="0" cy="28952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13" name="직사각형 12"/>
          <p:cNvSpPr/>
          <p:nvPr/>
        </p:nvSpPr>
        <p:spPr>
          <a:xfrm>
            <a:off x="2072680" y="4092130"/>
            <a:ext cx="2306496" cy="353312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Bus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3415081" y="3842790"/>
            <a:ext cx="2271555" cy="250610"/>
            <a:chOff x="1406902" y="3597087"/>
            <a:chExt cx="2271555" cy="440159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1406902" y="3597087"/>
              <a:ext cx="2271555" cy="0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1406902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3678457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3626234" y="2402459"/>
            <a:ext cx="1888558" cy="956616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+mn-ea"/>
            </a:endParaRPr>
          </a:p>
          <a:p>
            <a:pPr algn="ctr"/>
            <a:r>
              <a:rPr lang="en-US" altLang="ko-KR" dirty="0">
                <a:latin typeface="+mn-ea"/>
              </a:rPr>
              <a:t> </a:t>
            </a:r>
            <a:r>
              <a:rPr lang="en-US" altLang="ko-KR" i="1" dirty="0">
                <a:latin typeface="+mn-ea"/>
              </a:rPr>
              <a:t>run() </a:t>
            </a:r>
          </a:p>
          <a:p>
            <a:pPr algn="ctr"/>
            <a:r>
              <a:rPr lang="en-US" altLang="ko-KR" i="1" dirty="0">
                <a:latin typeface="+mn-ea"/>
              </a:rPr>
              <a:t>refuel();</a:t>
            </a:r>
          </a:p>
          <a:p>
            <a:pPr algn="ctr"/>
            <a:r>
              <a:rPr lang="en-US" altLang="ko-KR" dirty="0">
                <a:latin typeface="+mn-ea"/>
              </a:rPr>
              <a:t>stop()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72680" y="4438734"/>
            <a:ext cx="2306496" cy="628191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takePassenger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786536" y="4093400"/>
            <a:ext cx="2254695" cy="353312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Truck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786536" y="4440004"/>
            <a:ext cx="2254695" cy="628191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load()</a:t>
            </a:r>
          </a:p>
        </p:txBody>
      </p:sp>
    </p:spTree>
    <p:extLst>
      <p:ext uri="{BB962C8B-B14F-4D97-AF65-F5344CB8AC3E}">
        <p14:creationId xmlns:p14="http://schemas.microsoft.com/office/powerpoint/2010/main" val="368860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클래스 실습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996" y="1772816"/>
            <a:ext cx="5085204" cy="2376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8" y="1052736"/>
            <a:ext cx="5661102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자동차를 구현한 추상 클래스 상속 예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681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클래스 실습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772816"/>
            <a:ext cx="5388290" cy="36724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8" y="1052736"/>
            <a:ext cx="5661102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자동차를 구현한 추상 클래스 상속 예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19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클래스 실습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727177"/>
            <a:ext cx="5328592" cy="3790055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8" y="1052736"/>
            <a:ext cx="5661102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자동차를 구현한 추상 클래스 상속 예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920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추상 클래스 실습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8" y="1052736"/>
            <a:ext cx="5661102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자동차를 구현한 추상 클래스 상속 예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72816"/>
            <a:ext cx="3600400" cy="3278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068" y="3356992"/>
            <a:ext cx="2376264" cy="15725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1021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final </a:t>
            </a: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4073" y="1052736"/>
            <a:ext cx="8337399" cy="10801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상수를 의미하는 </a:t>
            </a:r>
            <a:r>
              <a:rPr lang="en-US" altLang="ko-KR" sz="2000" b="1" dirty="0">
                <a:solidFill>
                  <a:srgbClr val="C00000"/>
                </a:solidFill>
              </a:rPr>
              <a:t>final </a:t>
            </a:r>
            <a:r>
              <a:rPr lang="ko-KR" altLang="en-US" sz="2000" b="1" dirty="0">
                <a:solidFill>
                  <a:srgbClr val="C00000"/>
                </a:solidFill>
              </a:rPr>
              <a:t>변수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 dirty="0"/>
              <a:t>해당 선언이 최종 상태이고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결코 수정될 수 없음을 뜻한다</a:t>
            </a:r>
            <a:r>
              <a:rPr lang="en-US" altLang="ko-KR" sz="1800" b="1" dirty="0"/>
              <a:t>.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2164729"/>
            <a:ext cx="5472608" cy="36912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14030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final </a:t>
            </a:r>
            <a:r>
              <a:rPr lang="ko-KR" altLang="en-US" dirty="0"/>
              <a:t>상수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1052736"/>
            <a:ext cx="4220943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여러 파일에서 공유하는 상수</a:t>
            </a: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3" y="1763865"/>
            <a:ext cx="7155801" cy="1920407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58736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final </a:t>
            </a:r>
            <a:r>
              <a:rPr lang="ko-KR" altLang="en-US" dirty="0"/>
              <a:t>상수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1052736"/>
            <a:ext cx="4220943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여러 파일에서 공유하는 상수</a:t>
            </a: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31" y="1700808"/>
            <a:ext cx="8176969" cy="2438611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120" y="4509120"/>
            <a:ext cx="2758679" cy="1196444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3803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final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1052736"/>
            <a:ext cx="7317287" cy="11521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보안과 관련되어 있거나 기반클래스가 변하면 안 되는 경우</a:t>
            </a:r>
            <a:endParaRPr lang="en-US" altLang="ko-KR" sz="20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/>
              <a:t>String</a:t>
            </a:r>
            <a:r>
              <a:rPr lang="ko-KR" altLang="en-US" sz="1800" dirty="0"/>
              <a:t>이나 </a:t>
            </a:r>
            <a:r>
              <a:rPr lang="en-US" altLang="ko-KR" sz="1800" dirty="0"/>
              <a:t>Integer </a:t>
            </a:r>
            <a:r>
              <a:rPr lang="ko-KR" altLang="en-US" sz="1800" dirty="0"/>
              <a:t>클래스 등</a:t>
            </a:r>
            <a:r>
              <a:rPr lang="en-US" altLang="ko-KR" sz="1800" dirty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2240118"/>
            <a:ext cx="7056784" cy="22826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15835" t="-399" r="39824" b="69384"/>
          <a:stretch/>
        </p:blipFill>
        <p:spPr>
          <a:xfrm>
            <a:off x="3434832" y="3911447"/>
            <a:ext cx="5490609" cy="2160240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>
            <a:off x="5181695" y="4451507"/>
            <a:ext cx="770357" cy="0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7"/>
          <p:cNvSpPr/>
          <p:nvPr/>
        </p:nvSpPr>
        <p:spPr>
          <a:xfrm>
            <a:off x="6681192" y="4175115"/>
            <a:ext cx="2808312" cy="695300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String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final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클래스이므로 상속받을 수 없다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11" name="직선 화살표 연결선 10"/>
          <p:cNvCxnSpPr>
            <a:stCxn id="8" idx="2"/>
          </p:cNvCxnSpPr>
          <p:nvPr/>
        </p:nvCxnSpPr>
        <p:spPr>
          <a:xfrm flipH="1">
            <a:off x="7673502" y="4870415"/>
            <a:ext cx="411846" cy="5532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22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템플릿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4073" y="980728"/>
            <a:ext cx="8337399" cy="14401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템플릿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템플릿 </a:t>
            </a:r>
            <a:r>
              <a:rPr lang="ko-KR" altLang="en-US" sz="1800" dirty="0" err="1"/>
              <a:t>메서드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추상 </a:t>
            </a:r>
            <a:r>
              <a:rPr lang="ko-KR" altLang="en-US" sz="1800" dirty="0" err="1"/>
              <a:t>메서드나</a:t>
            </a:r>
            <a:r>
              <a:rPr lang="ko-KR" altLang="en-US" sz="1800" dirty="0"/>
              <a:t> 구현된 </a:t>
            </a:r>
            <a:r>
              <a:rPr lang="ko-KR" altLang="en-US" sz="1800" dirty="0" err="1"/>
              <a:t>메서드를</a:t>
            </a:r>
            <a:r>
              <a:rPr lang="ko-KR" altLang="en-US" sz="1800" dirty="0"/>
              <a:t> 활용하여 전체 기능의 흐름</a:t>
            </a:r>
            <a:r>
              <a:rPr lang="en-US" altLang="ko-KR" sz="1800" dirty="0"/>
              <a:t>(</a:t>
            </a:r>
            <a:r>
              <a:rPr lang="ko-KR" altLang="en-US" sz="1800" dirty="0"/>
              <a:t>시나리오</a:t>
            </a:r>
            <a:r>
              <a:rPr lang="en-US" altLang="ko-KR" sz="1800" dirty="0"/>
              <a:t>)</a:t>
            </a:r>
            <a:r>
              <a:rPr lang="ko-KR" altLang="en-US" sz="1800" dirty="0"/>
              <a:t>를 정의하는 </a:t>
            </a:r>
            <a:r>
              <a:rPr lang="ko-KR" altLang="en-US" sz="1800" dirty="0" err="1"/>
              <a:t>메서드</a:t>
            </a:r>
            <a:r>
              <a:rPr lang="en-US" altLang="ko-KR" sz="1800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800" dirty="0">
                <a:solidFill>
                  <a:srgbClr val="C00000"/>
                </a:solidFill>
              </a:rPr>
              <a:t>final</a:t>
            </a:r>
            <a:r>
              <a:rPr lang="ko-KR" altLang="en-US" sz="1800" dirty="0"/>
              <a:t>로 선언하면 하위 클래스에서 재정의 할 수 없음</a:t>
            </a:r>
            <a:endParaRPr lang="en-US" altLang="ko-KR" sz="1800" dirty="0"/>
          </a:p>
        </p:txBody>
      </p:sp>
      <p:sp>
        <p:nvSpPr>
          <p:cNvPr id="8" name="직사각형 7"/>
          <p:cNvSpPr/>
          <p:nvPr/>
        </p:nvSpPr>
        <p:spPr>
          <a:xfrm>
            <a:off x="3080792" y="2687230"/>
            <a:ext cx="188855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latin typeface="+mn-ea"/>
              </a:rPr>
              <a:t>  </a:t>
            </a:r>
          </a:p>
          <a:p>
            <a:pPr algn="ctr"/>
            <a:r>
              <a:rPr lang="en-US" altLang="ko-KR" i="1" dirty="0">
                <a:latin typeface="+mn-ea"/>
              </a:rPr>
              <a:t>Car</a:t>
            </a:r>
          </a:p>
          <a:p>
            <a:pPr algn="ctr"/>
            <a:endParaRPr lang="en-US" altLang="ko-KR" i="1" dirty="0">
              <a:latin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897567" y="4494478"/>
            <a:ext cx="119329" cy="356688"/>
            <a:chOff x="4357443" y="3272952"/>
            <a:chExt cx="235517" cy="444080"/>
          </a:xfrm>
        </p:grpSpPr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57443" y="3272952"/>
              <a:ext cx="235517" cy="154551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4475202" y="3427503"/>
              <a:ext cx="0" cy="28952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13" name="직사각형 12"/>
          <p:cNvSpPr/>
          <p:nvPr/>
        </p:nvSpPr>
        <p:spPr>
          <a:xfrm>
            <a:off x="2009009" y="5100505"/>
            <a:ext cx="1888558" cy="56074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 err="1">
                <a:latin typeface="+mn-ea"/>
              </a:rPr>
              <a:t>AICar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260748" y="5107290"/>
            <a:ext cx="1888559" cy="553958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 err="1">
                <a:latin typeface="+mn-ea"/>
              </a:rPr>
              <a:t>ManualCar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2933472" y="4851166"/>
            <a:ext cx="2271555" cy="250610"/>
            <a:chOff x="1406902" y="3597087"/>
            <a:chExt cx="2271555" cy="440159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1406902" y="3597087"/>
              <a:ext cx="2271555" cy="0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1406902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3678457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3080792" y="3043746"/>
            <a:ext cx="1888558" cy="1450732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 err="1">
                <a:latin typeface="+mn-ea"/>
              </a:rPr>
              <a:t>startCar</a:t>
            </a:r>
            <a:r>
              <a:rPr lang="en-US" altLang="ko-KR" dirty="0">
                <a:latin typeface="+mn-ea"/>
              </a:rPr>
              <a:t>()</a:t>
            </a:r>
          </a:p>
          <a:p>
            <a:pPr algn="ctr"/>
            <a:r>
              <a:rPr lang="en-US" altLang="ko-KR" i="1" dirty="0">
                <a:latin typeface="+mn-ea"/>
              </a:rPr>
              <a:t>drive()</a:t>
            </a:r>
          </a:p>
          <a:p>
            <a:pPr algn="ctr"/>
            <a:r>
              <a:rPr lang="en-US" altLang="ko-KR" i="1" dirty="0">
                <a:latin typeface="+mn-ea"/>
              </a:rPr>
              <a:t>stop()</a:t>
            </a:r>
          </a:p>
          <a:p>
            <a:pPr algn="ctr"/>
            <a:r>
              <a:rPr lang="en-US" altLang="ko-KR" dirty="0">
                <a:latin typeface="+mn-ea"/>
              </a:rPr>
              <a:t>turnoff()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+mn-ea"/>
              </a:rPr>
              <a:t>run()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29064" y="3701590"/>
            <a:ext cx="3030543" cy="830997"/>
          </a:xfrm>
          <a:prstGeom prst="borderCallout1">
            <a:avLst>
              <a:gd name="adj1" fmla="val 47949"/>
              <a:gd name="adj2" fmla="val 473"/>
              <a:gd name="adj3" fmla="val 76108"/>
              <a:gd name="adj4" fmla="val -4075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템플릿 </a:t>
            </a:r>
            <a:r>
              <a:rPr lang="ko-KR" altLang="en-US" sz="1600" dirty="0" err="1">
                <a:latin typeface="+mn-ea"/>
              </a:rPr>
              <a:t>메서드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자동차가 달리는 방법을 순서대로 구현함</a:t>
            </a:r>
          </a:p>
        </p:txBody>
      </p:sp>
    </p:spTree>
    <p:extLst>
      <p:ext uri="{BB962C8B-B14F-4D97-AF65-F5344CB8AC3E}">
        <p14:creationId xmlns:p14="http://schemas.microsoft.com/office/powerpoint/2010/main" val="1098709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템플릿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70" y="1628801"/>
            <a:ext cx="5102480" cy="43924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1" name="모서리가 둥근 직사각형 20"/>
          <p:cNvSpPr/>
          <p:nvPr/>
        </p:nvSpPr>
        <p:spPr>
          <a:xfrm>
            <a:off x="6045791" y="4583041"/>
            <a:ext cx="3155681" cy="1006199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+mn-ea"/>
              </a:rPr>
              <a:t>final</a:t>
            </a:r>
            <a:r>
              <a:rPr lang="ko-KR" altLang="en-US" dirty="0">
                <a:solidFill>
                  <a:srgbClr val="C00000"/>
                </a:solidFill>
                <a:latin typeface="+mn-ea"/>
              </a:rPr>
              <a:t>로 선언</a:t>
            </a:r>
            <a:endParaRPr lang="en-US" altLang="ko-KR" dirty="0">
              <a:solidFill>
                <a:srgbClr val="C00000"/>
              </a:solidFill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상속받은 하위 클래스가 </a:t>
            </a:r>
            <a:r>
              <a:rPr lang="ko-KR" altLang="en-US" sz="1600" dirty="0" err="1">
                <a:latin typeface="+mn-ea"/>
              </a:rPr>
              <a:t>메서드를</a:t>
            </a:r>
            <a:r>
              <a:rPr lang="ko-KR" altLang="en-US" sz="1600" dirty="0">
                <a:latin typeface="+mn-ea"/>
              </a:rPr>
              <a:t> 재정의 할 수 없다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1712641" y="4295009"/>
            <a:ext cx="3744416" cy="1582263"/>
          </a:xfrm>
          <a:prstGeom prst="roundRect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5" y="980728"/>
            <a:ext cx="659720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템플릿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메서드를</a:t>
            </a:r>
            <a:r>
              <a:rPr lang="ko-KR" altLang="en-US" sz="2000" b="1" dirty="0">
                <a:solidFill>
                  <a:srgbClr val="C00000"/>
                </a:solidFill>
              </a:rPr>
              <a:t> 사용한 추상클래스 상속 예</a:t>
            </a:r>
            <a:r>
              <a:rPr lang="en-US" altLang="ko-KR" sz="2000" b="1" dirty="0">
                <a:solidFill>
                  <a:srgbClr val="C00000"/>
                </a:solidFill>
              </a:rPr>
              <a:t>.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 flipH="1">
            <a:off x="5601073" y="5086140"/>
            <a:ext cx="385179" cy="1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4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템플릿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8" y="1052736"/>
            <a:ext cx="659720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템플릿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메서드를</a:t>
            </a:r>
            <a:r>
              <a:rPr lang="ko-KR" altLang="en-US" sz="2000" b="1" dirty="0">
                <a:solidFill>
                  <a:srgbClr val="C00000"/>
                </a:solidFill>
              </a:rPr>
              <a:t> 사용한 추상클래스 상속 예</a:t>
            </a:r>
            <a:r>
              <a:rPr lang="en-US" altLang="ko-KR" sz="2000" b="1" dirty="0">
                <a:solidFill>
                  <a:srgbClr val="C00000"/>
                </a:solidFill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38793"/>
            <a:ext cx="6565518" cy="29052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1943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템플릿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8" y="1052736"/>
            <a:ext cx="659720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템플릿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메서드를</a:t>
            </a:r>
            <a:r>
              <a:rPr lang="ko-KR" altLang="en-US" sz="2000" b="1" dirty="0">
                <a:solidFill>
                  <a:srgbClr val="C00000"/>
                </a:solidFill>
              </a:rPr>
              <a:t> 사용한 추상클래스 상속 예</a:t>
            </a:r>
            <a:r>
              <a:rPr lang="en-US" altLang="ko-KR" sz="2000" b="1" dirty="0">
                <a:solidFill>
                  <a:srgbClr val="C00000"/>
                </a:solidFill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72816"/>
            <a:ext cx="6382966" cy="28983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96365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템플릿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64106" y="1052736"/>
            <a:ext cx="659720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템플릿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메서드를</a:t>
            </a:r>
            <a:r>
              <a:rPr lang="ko-KR" altLang="en-US" sz="2000" b="1" dirty="0">
                <a:solidFill>
                  <a:srgbClr val="C00000"/>
                </a:solidFill>
              </a:rPr>
              <a:t> 사용한 추상클래스 상속 예</a:t>
            </a:r>
            <a:r>
              <a:rPr lang="en-US" altLang="ko-KR" sz="2000" b="1" dirty="0">
                <a:solidFill>
                  <a:srgbClr val="C00000"/>
                </a:solidFill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32425"/>
            <a:ext cx="6861086" cy="31112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283" y="4077072"/>
            <a:ext cx="3299142" cy="2160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3021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Game Level  App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100528" y="2439086"/>
            <a:ext cx="188855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+mn-ea"/>
              </a:rPr>
              <a:t> </a:t>
            </a:r>
          </a:p>
          <a:p>
            <a:pPr algn="ctr"/>
            <a:r>
              <a:rPr lang="en-US" altLang="ko-KR" sz="1600" b="1" i="1" dirty="0" err="1">
                <a:latin typeface="+mn-ea"/>
              </a:rPr>
              <a:t>PlayerLevel</a:t>
            </a:r>
            <a:endParaRPr lang="en-US" altLang="ko-KR" sz="1600" b="1" i="1" dirty="0">
              <a:latin typeface="+mn-ea"/>
            </a:endParaRPr>
          </a:p>
          <a:p>
            <a:pPr algn="ctr"/>
            <a:endParaRPr lang="en-US" altLang="ko-KR" sz="1600" b="1" dirty="0">
              <a:latin typeface="+mn-ea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4853470" y="4030310"/>
            <a:ext cx="119329" cy="356688"/>
            <a:chOff x="4357443" y="3272952"/>
            <a:chExt cx="235517" cy="444080"/>
          </a:xfrm>
        </p:grpSpPr>
        <p:sp>
          <p:nvSpPr>
            <p:cNvPr id="33" name="이등변 삼각형 3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57443" y="3272952"/>
              <a:ext cx="235517" cy="154551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4475202" y="3427503"/>
              <a:ext cx="0" cy="28952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grpSp>
        <p:nvGrpSpPr>
          <p:cNvPr id="37" name="그룹 36"/>
          <p:cNvGrpSpPr/>
          <p:nvPr/>
        </p:nvGrpSpPr>
        <p:grpSpPr>
          <a:xfrm>
            <a:off x="2640714" y="4386998"/>
            <a:ext cx="2271555" cy="250610"/>
            <a:chOff x="1406902" y="3597087"/>
            <a:chExt cx="2271555" cy="440159"/>
          </a:xfrm>
        </p:grpSpPr>
        <p:cxnSp>
          <p:nvCxnSpPr>
            <p:cNvPr id="38" name="직선 연결선 37"/>
            <p:cNvCxnSpPr/>
            <p:nvPr/>
          </p:nvCxnSpPr>
          <p:spPr>
            <a:xfrm>
              <a:off x="1406902" y="3597087"/>
              <a:ext cx="2271555" cy="0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1406902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3678457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41" name="직사각형 40"/>
          <p:cNvSpPr/>
          <p:nvPr/>
        </p:nvSpPr>
        <p:spPr>
          <a:xfrm>
            <a:off x="4100528" y="2795603"/>
            <a:ext cx="1888558" cy="1227658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  </a:t>
            </a:r>
          </a:p>
          <a:p>
            <a:pPr algn="ctr"/>
            <a:r>
              <a:rPr lang="en-US" altLang="ko-KR" sz="1400" i="1" dirty="0">
                <a:latin typeface="+mn-ea"/>
              </a:rPr>
              <a:t>run()</a:t>
            </a:r>
          </a:p>
          <a:p>
            <a:pPr algn="ctr"/>
            <a:r>
              <a:rPr lang="en-US" altLang="ko-KR" sz="1400" i="1" dirty="0">
                <a:latin typeface="+mn-ea"/>
              </a:rPr>
              <a:t>jump()</a:t>
            </a:r>
          </a:p>
          <a:p>
            <a:pPr algn="ctr"/>
            <a:r>
              <a:rPr lang="en-US" altLang="ko-KR" sz="1400" i="1" dirty="0">
                <a:latin typeface="+mn-ea"/>
              </a:rPr>
              <a:t>turn()</a:t>
            </a:r>
          </a:p>
          <a:p>
            <a:pPr algn="ctr"/>
            <a:r>
              <a:rPr lang="en-US" altLang="ko-KR" sz="1400" i="1" dirty="0" err="1">
                <a:latin typeface="+mn-ea"/>
              </a:rPr>
              <a:t>showLevelMessage</a:t>
            </a:r>
            <a:r>
              <a:rPr lang="en-US" altLang="ko-KR" sz="1400" i="1" dirty="0">
                <a:latin typeface="+mn-ea"/>
              </a:rPr>
              <a:t>()</a:t>
            </a:r>
          </a:p>
          <a:p>
            <a:pPr algn="ctr"/>
            <a:r>
              <a:rPr lang="en-US" altLang="ko-KR" sz="1400" dirty="0">
                <a:latin typeface="+mn-ea"/>
              </a:rPr>
              <a:t>go(</a:t>
            </a:r>
            <a:r>
              <a:rPr lang="en-US" altLang="ko-KR" sz="1400" dirty="0" err="1">
                <a:latin typeface="+mn-ea"/>
              </a:rPr>
              <a:t>int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algn="ctr"/>
            <a:endParaRPr lang="en-US" altLang="ko-KR" sz="1400" dirty="0">
              <a:latin typeface="+mn-ea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071319" y="2439086"/>
            <a:ext cx="223224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+mn-ea"/>
              </a:rPr>
              <a:t>  </a:t>
            </a:r>
          </a:p>
          <a:p>
            <a:pPr algn="ctr"/>
            <a:r>
              <a:rPr lang="en-US" altLang="ko-KR" sz="1600" b="1" dirty="0">
                <a:latin typeface="+mn-ea"/>
              </a:rPr>
              <a:t>Player</a:t>
            </a:r>
          </a:p>
          <a:p>
            <a:pPr algn="ctr"/>
            <a:endParaRPr lang="en-US" altLang="ko-KR" sz="1600" b="1" dirty="0"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071319" y="3087158"/>
            <a:ext cx="2232248" cy="829242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  </a:t>
            </a:r>
          </a:p>
          <a:p>
            <a:pPr algn="ctr"/>
            <a:r>
              <a:rPr lang="en-US" altLang="ko-KR" sz="1400" dirty="0" err="1">
                <a:latin typeface="+mn-ea"/>
              </a:rPr>
              <a:t>getLevel</a:t>
            </a:r>
            <a:r>
              <a:rPr lang="en-US" altLang="ko-KR" sz="1400" dirty="0">
                <a:latin typeface="+mn-ea"/>
              </a:rPr>
              <a:t>()</a:t>
            </a:r>
          </a:p>
          <a:p>
            <a:pPr algn="ctr"/>
            <a:r>
              <a:rPr lang="en-US" altLang="ko-KR" sz="1400" dirty="0" err="1">
                <a:latin typeface="+mn-ea"/>
              </a:rPr>
              <a:t>upgradeLevel</a:t>
            </a:r>
            <a:r>
              <a:rPr lang="en-US" altLang="ko-KR" sz="1400" dirty="0">
                <a:latin typeface="+mn-ea"/>
              </a:rPr>
              <a:t>(</a:t>
            </a:r>
            <a:r>
              <a:rPr lang="en-US" altLang="ko-KR" sz="1400" dirty="0" err="1">
                <a:latin typeface="+mn-ea"/>
              </a:rPr>
              <a:t>PlayerLevel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algn="ctr"/>
            <a:r>
              <a:rPr lang="en-US" altLang="ko-KR" sz="1400" dirty="0">
                <a:latin typeface="+mn-ea"/>
              </a:rPr>
              <a:t>Play()</a:t>
            </a:r>
          </a:p>
          <a:p>
            <a:pPr algn="ctr"/>
            <a:endParaRPr lang="en-US" altLang="ko-KR" sz="1400" dirty="0">
              <a:latin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4914372" y="4386998"/>
            <a:ext cx="2271555" cy="250610"/>
            <a:chOff x="1406902" y="3597087"/>
            <a:chExt cx="2271555" cy="440159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1406902" y="3597087"/>
              <a:ext cx="2271555" cy="0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51" name="직선 연결선 50"/>
            <p:cNvCxnSpPr/>
            <p:nvPr/>
          </p:nvCxnSpPr>
          <p:spPr>
            <a:xfrm>
              <a:off x="1406902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>
              <a:off x="3678457" y="3597087"/>
              <a:ext cx="0" cy="440159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grpSp>
        <p:nvGrpSpPr>
          <p:cNvPr id="7" name="그룹 6"/>
          <p:cNvGrpSpPr/>
          <p:nvPr/>
        </p:nvGrpSpPr>
        <p:grpSpPr>
          <a:xfrm>
            <a:off x="3303568" y="3176585"/>
            <a:ext cx="796959" cy="126597"/>
            <a:chOff x="2936777" y="2078267"/>
            <a:chExt cx="796959" cy="126597"/>
          </a:xfrm>
        </p:grpSpPr>
        <p:sp>
          <p:nvSpPr>
            <p:cNvPr id="60" name="이등변 삼각형 59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5400000">
              <a:off x="3618735" y="2066685"/>
              <a:ext cx="85985" cy="144017"/>
            </a:xfrm>
            <a:prstGeom prst="triangl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 flipH="1">
              <a:off x="3080793" y="2138694"/>
              <a:ext cx="508926" cy="0"/>
            </a:xfrm>
            <a:prstGeom prst="lin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sp>
          <p:nvSpPr>
            <p:cNvPr id="2" name="다이아몬드 1"/>
            <p:cNvSpPr/>
            <p:nvPr/>
          </p:nvSpPr>
          <p:spPr>
            <a:xfrm>
              <a:off x="2936777" y="2078267"/>
              <a:ext cx="144016" cy="126597"/>
            </a:xfrm>
            <a:prstGeom prst="diamond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모서리가 둥근 직사각형 7"/>
          <p:cNvSpPr/>
          <p:nvPr/>
        </p:nvSpPr>
        <p:spPr>
          <a:xfrm>
            <a:off x="6386008" y="2439085"/>
            <a:ext cx="3031488" cy="1584176"/>
          </a:xfrm>
          <a:prstGeom prst="roundRect">
            <a:avLst/>
          </a:prstGeom>
          <a:ln w="190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+mn-ea"/>
              </a:rPr>
              <a:t>Player</a:t>
            </a:r>
            <a:r>
              <a:rPr lang="ko-KR" altLang="en-US" sz="1600" dirty="0">
                <a:latin typeface="+mn-ea"/>
              </a:rPr>
              <a:t>는 한 개의 </a:t>
            </a:r>
            <a:r>
              <a:rPr lang="en-US" altLang="ko-KR" sz="1600" dirty="0">
                <a:latin typeface="+mn-ea"/>
              </a:rPr>
              <a:t>level</a:t>
            </a:r>
            <a:r>
              <a:rPr lang="ko-KR" altLang="en-US" sz="1600" dirty="0">
                <a:latin typeface="+mn-ea"/>
              </a:rPr>
              <a:t>변수를 가지고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이는 </a:t>
            </a:r>
            <a:r>
              <a:rPr lang="en-US" altLang="ko-KR" sz="1600" dirty="0" err="1">
                <a:latin typeface="+mn-ea"/>
              </a:rPr>
              <a:t>PlayerLevel</a:t>
            </a:r>
            <a:r>
              <a:rPr lang="ko-KR" altLang="en-US" sz="1600" dirty="0">
                <a:latin typeface="+mn-ea"/>
              </a:rPr>
              <a:t>형입니다</a:t>
            </a:r>
            <a:r>
              <a:rPr lang="en-US" altLang="ko-KR" sz="1600" dirty="0">
                <a:latin typeface="+mn-ea"/>
              </a:rPr>
              <a:t>. </a:t>
            </a:r>
            <a:r>
              <a:rPr lang="en-US" altLang="ko-KR" sz="1600" dirty="0" err="1">
                <a:latin typeface="+mn-ea"/>
              </a:rPr>
              <a:t>PlayerLevel</a:t>
            </a:r>
            <a:r>
              <a:rPr lang="ko-KR" altLang="en-US" sz="1600" dirty="0">
                <a:latin typeface="+mn-ea"/>
              </a:rPr>
              <a:t>은 </a:t>
            </a:r>
            <a:r>
              <a:rPr lang="ko-KR" altLang="en-US" sz="1600" b="1" dirty="0">
                <a:solidFill>
                  <a:srgbClr val="C00000"/>
                </a:solidFill>
                <a:latin typeface="+mn-ea"/>
              </a:rPr>
              <a:t>추상클래</a:t>
            </a:r>
            <a:r>
              <a:rPr lang="ko-KR" altLang="en-US" sz="1600" b="1" dirty="0">
                <a:latin typeface="+mn-ea"/>
              </a:rPr>
              <a:t>스</a:t>
            </a:r>
            <a:r>
              <a:rPr lang="ko-KR" altLang="en-US" sz="1600" dirty="0">
                <a:latin typeface="+mn-ea"/>
              </a:rPr>
              <a:t>임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다이아몬드 기호는 포함관계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071319" y="2790066"/>
            <a:ext cx="223224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  </a:t>
            </a:r>
          </a:p>
          <a:p>
            <a:pPr algn="ctr"/>
            <a:r>
              <a:rPr lang="en-US" altLang="ko-KR" sz="1400" dirty="0">
                <a:latin typeface="+mn-ea"/>
              </a:rPr>
              <a:t>level</a:t>
            </a:r>
          </a:p>
          <a:p>
            <a:pPr algn="ctr"/>
            <a:endParaRPr lang="en-US" altLang="ko-KR" sz="1400" dirty="0">
              <a:latin typeface="+mn-ea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4100528" y="4653137"/>
            <a:ext cx="188855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+mn-ea"/>
              </a:rPr>
              <a:t> </a:t>
            </a:r>
          </a:p>
          <a:p>
            <a:pPr algn="ctr"/>
            <a:r>
              <a:rPr lang="en-US" altLang="ko-KR" sz="1600" b="1" dirty="0" err="1">
                <a:latin typeface="+mn-ea"/>
              </a:rPr>
              <a:t>AdvancedLevel</a:t>
            </a:r>
            <a:endParaRPr lang="en-US" altLang="ko-KR" sz="1600" b="1" dirty="0">
              <a:latin typeface="+mn-ea"/>
            </a:endParaRPr>
          </a:p>
          <a:p>
            <a:pPr algn="ctr"/>
            <a:endParaRPr lang="en-US" altLang="ko-KR" sz="1600" b="1" dirty="0">
              <a:latin typeface="+mn-ea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100528" y="5009654"/>
            <a:ext cx="1888558" cy="1227658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  </a:t>
            </a:r>
          </a:p>
          <a:p>
            <a:pPr algn="ctr"/>
            <a:r>
              <a:rPr lang="en-US" altLang="ko-KR" sz="1400" dirty="0">
                <a:latin typeface="+mn-ea"/>
              </a:rPr>
              <a:t>run()</a:t>
            </a:r>
          </a:p>
          <a:p>
            <a:pPr algn="ctr"/>
            <a:r>
              <a:rPr lang="en-US" altLang="ko-KR" sz="1400" dirty="0">
                <a:latin typeface="+mn-ea"/>
              </a:rPr>
              <a:t>jump()</a:t>
            </a:r>
          </a:p>
          <a:p>
            <a:pPr algn="ctr"/>
            <a:r>
              <a:rPr lang="en-US" altLang="ko-KR" sz="1400" dirty="0">
                <a:latin typeface="+mn-ea"/>
              </a:rPr>
              <a:t>turn()</a:t>
            </a:r>
          </a:p>
          <a:p>
            <a:pPr algn="ctr"/>
            <a:r>
              <a:rPr lang="en-US" altLang="ko-KR" sz="1400" dirty="0" err="1">
                <a:latin typeface="+mn-ea"/>
              </a:rPr>
              <a:t>showLevelMessage</a:t>
            </a:r>
            <a:r>
              <a:rPr lang="en-US" altLang="ko-KR" sz="1400" dirty="0">
                <a:latin typeface="+mn-ea"/>
              </a:rPr>
              <a:t>()</a:t>
            </a:r>
          </a:p>
          <a:p>
            <a:pPr algn="ctr"/>
            <a:endParaRPr lang="en-US" altLang="ko-KR" sz="1400" dirty="0">
              <a:latin typeface="+mn-ea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1791399" y="4653137"/>
            <a:ext cx="188855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+mn-ea"/>
              </a:rPr>
              <a:t> </a:t>
            </a:r>
          </a:p>
          <a:p>
            <a:pPr algn="ctr"/>
            <a:r>
              <a:rPr lang="en-US" altLang="ko-KR" sz="1600" b="1" dirty="0" err="1">
                <a:latin typeface="+mn-ea"/>
              </a:rPr>
              <a:t>BeginnerLevel</a:t>
            </a:r>
            <a:endParaRPr lang="en-US" altLang="ko-KR" sz="1600" b="1" dirty="0">
              <a:latin typeface="+mn-ea"/>
            </a:endParaRPr>
          </a:p>
          <a:p>
            <a:pPr algn="ctr"/>
            <a:endParaRPr lang="en-US" altLang="ko-KR" sz="1600" b="1" dirty="0">
              <a:latin typeface="+mn-ea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791399" y="5009654"/>
            <a:ext cx="1888558" cy="1227658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  </a:t>
            </a:r>
          </a:p>
          <a:p>
            <a:pPr algn="ctr"/>
            <a:r>
              <a:rPr lang="en-US" altLang="ko-KR" sz="1400" dirty="0">
                <a:latin typeface="+mn-ea"/>
              </a:rPr>
              <a:t>run()</a:t>
            </a:r>
          </a:p>
          <a:p>
            <a:pPr algn="ctr"/>
            <a:r>
              <a:rPr lang="en-US" altLang="ko-KR" sz="1400" dirty="0">
                <a:latin typeface="+mn-ea"/>
              </a:rPr>
              <a:t>jump()</a:t>
            </a:r>
          </a:p>
          <a:p>
            <a:pPr algn="ctr"/>
            <a:r>
              <a:rPr lang="en-US" altLang="ko-KR" sz="1400" dirty="0">
                <a:latin typeface="+mn-ea"/>
              </a:rPr>
              <a:t>turn()</a:t>
            </a:r>
          </a:p>
          <a:p>
            <a:pPr algn="ctr"/>
            <a:r>
              <a:rPr lang="en-US" altLang="ko-KR" sz="1400" dirty="0" err="1">
                <a:latin typeface="+mn-ea"/>
              </a:rPr>
              <a:t>showLevelMessage</a:t>
            </a:r>
            <a:r>
              <a:rPr lang="en-US" altLang="ko-KR" sz="1400" dirty="0">
                <a:latin typeface="+mn-ea"/>
              </a:rPr>
              <a:t>()</a:t>
            </a:r>
          </a:p>
          <a:p>
            <a:pPr algn="ctr"/>
            <a:endParaRPr lang="en-US" altLang="ko-KR" sz="1400" dirty="0">
              <a:latin typeface="+mn-ea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6376810" y="4653137"/>
            <a:ext cx="1888558" cy="36004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+mn-ea"/>
              </a:rPr>
              <a:t> </a:t>
            </a:r>
          </a:p>
          <a:p>
            <a:pPr algn="ctr"/>
            <a:r>
              <a:rPr lang="en-US" altLang="ko-KR" sz="1600" b="1" dirty="0" err="1">
                <a:latin typeface="+mn-ea"/>
              </a:rPr>
              <a:t>SuperLevel</a:t>
            </a:r>
            <a:endParaRPr lang="en-US" altLang="ko-KR" sz="1600" b="1" dirty="0">
              <a:latin typeface="+mn-ea"/>
            </a:endParaRPr>
          </a:p>
          <a:p>
            <a:pPr algn="ctr"/>
            <a:endParaRPr lang="en-US" altLang="ko-KR" sz="1600" b="1" dirty="0">
              <a:latin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376810" y="5009654"/>
            <a:ext cx="1888558" cy="1227658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  </a:t>
            </a:r>
          </a:p>
          <a:p>
            <a:pPr algn="ctr"/>
            <a:r>
              <a:rPr lang="en-US" altLang="ko-KR" sz="1400" dirty="0">
                <a:latin typeface="+mn-ea"/>
              </a:rPr>
              <a:t>run()</a:t>
            </a:r>
          </a:p>
          <a:p>
            <a:pPr algn="ctr"/>
            <a:r>
              <a:rPr lang="en-US" altLang="ko-KR" sz="1400" dirty="0">
                <a:latin typeface="+mn-ea"/>
              </a:rPr>
              <a:t>jump()</a:t>
            </a:r>
          </a:p>
          <a:p>
            <a:pPr algn="ctr"/>
            <a:r>
              <a:rPr lang="en-US" altLang="ko-KR" sz="1400" dirty="0">
                <a:latin typeface="+mn-ea"/>
              </a:rPr>
              <a:t>turn()</a:t>
            </a:r>
          </a:p>
          <a:p>
            <a:pPr algn="ctr"/>
            <a:r>
              <a:rPr lang="en-US" altLang="ko-KR" sz="1400" dirty="0" err="1">
                <a:latin typeface="+mn-ea"/>
              </a:rPr>
              <a:t>showLevelMessage</a:t>
            </a:r>
            <a:r>
              <a:rPr lang="en-US" altLang="ko-KR" sz="1400" dirty="0">
                <a:latin typeface="+mn-ea"/>
              </a:rPr>
              <a:t>()</a:t>
            </a:r>
          </a:p>
          <a:p>
            <a:pPr algn="ctr"/>
            <a:endParaRPr lang="en-US" altLang="ko-KR" sz="1400" dirty="0">
              <a:latin typeface="+mn-ea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 rot="5400000" flipV="1">
            <a:off x="6078556" y="2354291"/>
            <a:ext cx="0" cy="628406"/>
          </a:xfrm>
          <a:prstGeom prst="line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42"/>
          <p:cNvSpPr/>
          <p:nvPr/>
        </p:nvSpPr>
        <p:spPr>
          <a:xfrm>
            <a:off x="969604" y="1052736"/>
            <a:ext cx="7871828" cy="1080120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/>
              <a:t>예제 시나리오</a:t>
            </a:r>
            <a:endParaRPr lang="en-US" altLang="ko-KR" b="1" dirty="0"/>
          </a:p>
          <a:p>
            <a:r>
              <a:rPr lang="en-US" altLang="ko-KR" sz="1600" dirty="0"/>
              <a:t>Player</a:t>
            </a:r>
            <a:r>
              <a:rPr lang="ko-KR" altLang="en-US" sz="1600" dirty="0"/>
              <a:t>가 있고 이 플레이어가 게임을 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게임에서 </a:t>
            </a:r>
            <a:r>
              <a:rPr lang="en-US" altLang="ko-KR" sz="1600" dirty="0"/>
              <a:t>Player</a:t>
            </a:r>
            <a:r>
              <a:rPr lang="ko-KR" altLang="en-US" sz="1600" dirty="0"/>
              <a:t>가 가지는 레벨에 따라 세가지 기능이 있는데 </a:t>
            </a:r>
            <a:r>
              <a:rPr lang="en-US" altLang="ko-KR" sz="1600" dirty="0"/>
              <a:t>run(), jump(), turn()</a:t>
            </a:r>
            <a:r>
              <a:rPr lang="ko-KR" altLang="en-US" sz="1600" dirty="0"/>
              <a:t>입니다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0890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Game Level  App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7" y="1844823"/>
            <a:ext cx="4968553" cy="34600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8" name="직선 화살표 연결선 7"/>
          <p:cNvCxnSpPr/>
          <p:nvPr/>
        </p:nvCxnSpPr>
        <p:spPr>
          <a:xfrm>
            <a:off x="4334039" y="4878418"/>
            <a:ext cx="0" cy="504057"/>
          </a:xfrm>
          <a:prstGeom prst="straightConnector1">
            <a:avLst/>
          </a:prstGeom>
          <a:ln w="1905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2805624" y="5405161"/>
            <a:ext cx="3155681" cy="688135"/>
          </a:xfrm>
          <a:prstGeom prst="roundRect">
            <a:avLst>
              <a:gd name="adj" fmla="val 1311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한번 </a:t>
            </a:r>
            <a:r>
              <a:rPr lang="en-US" altLang="ko-KR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run</a:t>
            </a:r>
            <a:r>
              <a:rPr lang="ko-KR" altLang="en-US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하고</a:t>
            </a:r>
            <a:r>
              <a:rPr lang="en-US" altLang="ko-KR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, count</a:t>
            </a:r>
            <a:r>
              <a:rPr lang="ko-KR" altLang="en-US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만큼 </a:t>
            </a:r>
            <a:r>
              <a:rPr lang="en-US" altLang="ko-KR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jump</a:t>
            </a:r>
            <a:r>
              <a:rPr lang="ko-KR" altLang="en-US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하고</a:t>
            </a:r>
            <a:r>
              <a:rPr lang="en-US" altLang="ko-KR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한번 </a:t>
            </a:r>
            <a:r>
              <a:rPr lang="en-US" altLang="ko-KR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turn</a:t>
            </a:r>
            <a:r>
              <a:rPr lang="ko-KR" altLang="en-US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한다</a:t>
            </a:r>
            <a:r>
              <a:rPr lang="en-US" altLang="ko-KR" sz="1600" dirty="0">
                <a:solidFill>
                  <a:schemeClr val="tx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rPr>
              <a:t>.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2072680" y="3068960"/>
            <a:ext cx="4464496" cy="1809458"/>
          </a:xfrm>
          <a:prstGeom prst="roundRect">
            <a:avLst/>
          </a:prstGeom>
          <a:noFill/>
          <a:ln>
            <a:solidFill>
              <a:srgbClr val="92D05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08720"/>
            <a:ext cx="2852790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/>
              <a:t>  </a:t>
            </a:r>
            <a:r>
              <a:rPr lang="en-US" altLang="ko-KR" sz="1800" b="1" dirty="0" err="1"/>
              <a:t>PlayerLevel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클래스</a:t>
            </a:r>
            <a:endParaRPr lang="en-US" altLang="ko-KR" sz="1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68624" y="1362254"/>
            <a:ext cx="6768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각 레벨에서 수행할 공통 기능은 </a:t>
            </a:r>
            <a:r>
              <a:rPr lang="en-US" altLang="ko-KR" sz="1600" dirty="0" err="1"/>
              <a:t>PlayLevel</a:t>
            </a:r>
            <a:r>
              <a:rPr lang="en-US" altLang="ko-KR" sz="1600" dirty="0"/>
              <a:t> </a:t>
            </a:r>
            <a:r>
              <a:rPr lang="ko-KR" altLang="en-US" sz="1600" dirty="0"/>
              <a:t>추상 클래스에서 선언한다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2838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Game Level  App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08720"/>
            <a:ext cx="2852790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/>
              <a:t>  Beginner </a:t>
            </a:r>
            <a:r>
              <a:rPr lang="ko-KR" altLang="en-US" sz="1800" b="1" dirty="0"/>
              <a:t>클래스</a:t>
            </a:r>
            <a:endParaRPr lang="en-US" altLang="ko-KR" sz="18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30" y="1777970"/>
            <a:ext cx="5454403" cy="4531350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568624" y="1412776"/>
            <a:ext cx="6768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초보자 레벨에서는 천천히 달리 수만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점프나 턴을 할 수 없다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89228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Game Level  App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08720"/>
            <a:ext cx="2852790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/>
              <a:t>  Advanced </a:t>
            </a:r>
            <a:r>
              <a:rPr lang="ko-KR" altLang="en-US" sz="1800" b="1" dirty="0"/>
              <a:t>클래스</a:t>
            </a:r>
            <a:endParaRPr lang="en-US" altLang="ko-KR" sz="1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568624" y="1412776"/>
            <a:ext cx="7560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중급자</a:t>
            </a:r>
            <a:r>
              <a:rPr lang="ko-KR" altLang="en-US" sz="1600" dirty="0"/>
              <a:t> 레벨에서는 빠르게 달릴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높이 점프할 수 있다</a:t>
            </a:r>
            <a:r>
              <a:rPr lang="en-US" altLang="ko-KR" sz="1600" dirty="0"/>
              <a:t>. </a:t>
            </a:r>
            <a:r>
              <a:rPr lang="ko-KR" altLang="en-US" sz="1600" dirty="0"/>
              <a:t>턴을 할 수 없다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56" y="1781791"/>
            <a:ext cx="5409685" cy="4527530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9864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Game Level  App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08720"/>
            <a:ext cx="2852790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/>
              <a:t>  </a:t>
            </a:r>
            <a:r>
              <a:rPr lang="en-US" altLang="ko-KR" sz="1800" b="1" dirty="0" err="1"/>
              <a:t>SuperLevel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클래스</a:t>
            </a:r>
            <a:endParaRPr lang="en-US" altLang="ko-KR" sz="1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568624" y="1412776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고급자</a:t>
            </a:r>
            <a:r>
              <a:rPr lang="ko-KR" altLang="en-US" sz="1600" dirty="0"/>
              <a:t> 레벨에서는 매우 빠르게 달릴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매우 높이 점프할 수 있다</a:t>
            </a:r>
            <a:r>
              <a:rPr lang="en-US" altLang="ko-KR" sz="1600" dirty="0"/>
              <a:t>. </a:t>
            </a:r>
            <a:r>
              <a:rPr lang="ko-KR" altLang="en-US" sz="1600" dirty="0"/>
              <a:t>턴하는 기술도 사용할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65" y="1997551"/>
            <a:ext cx="5184576" cy="4340142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66413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Game Level  App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80728"/>
            <a:ext cx="2852790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/>
              <a:t>  Player </a:t>
            </a:r>
            <a:r>
              <a:rPr lang="ko-KR" altLang="en-US" sz="1800" b="1" dirty="0"/>
              <a:t>클래스</a:t>
            </a:r>
            <a:endParaRPr lang="en-US" altLang="ko-KR" sz="18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605311"/>
            <a:ext cx="6911939" cy="39932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모서리가 둥근 사각형 설명선 1"/>
          <p:cNvSpPr/>
          <p:nvPr/>
        </p:nvSpPr>
        <p:spPr>
          <a:xfrm>
            <a:off x="4808984" y="2037359"/>
            <a:ext cx="1944216" cy="720080"/>
          </a:xfrm>
          <a:prstGeom prst="wedgeRoundRectCallout">
            <a:avLst>
              <a:gd name="adj1" fmla="val -63325"/>
              <a:gd name="adj2" fmla="val 50406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부모 타입으로 객체 생성</a:t>
            </a:r>
            <a:r>
              <a:rPr lang="en-US" altLang="ko-KR" sz="1600" dirty="0"/>
              <a:t>(</a:t>
            </a:r>
            <a:r>
              <a:rPr lang="ko-KR" altLang="en-US" sz="1600" dirty="0" err="1"/>
              <a:t>다형성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57098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Game Level  App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2852790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/>
              <a:t>  </a:t>
            </a:r>
            <a:r>
              <a:rPr lang="ko-KR" altLang="en-US" sz="1800" b="1" dirty="0"/>
              <a:t>테스트 프로그램 실행</a:t>
            </a:r>
            <a:endParaRPr lang="en-US" altLang="ko-KR" sz="1800" b="1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550" y="2204864"/>
            <a:ext cx="2283122" cy="2736304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628800"/>
            <a:ext cx="5391543" cy="3325044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5606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  <a:r>
              <a:rPr lang="en-US" altLang="ko-KR" dirty="0"/>
              <a:t>(Interface)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2060703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인터페이스란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00121" y="1480716"/>
            <a:ext cx="820135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모든 메서드가 </a:t>
            </a:r>
            <a:r>
              <a:rPr lang="ko-KR" altLang="en-US" sz="1600" dirty="0" err="1"/>
              <a:t>추상메서드</a:t>
            </a:r>
            <a:r>
              <a:rPr lang="en-US" altLang="ko-KR" sz="1600" dirty="0"/>
              <a:t>(abstract method)</a:t>
            </a:r>
            <a:r>
              <a:rPr lang="ko-KR" altLang="en-US" sz="1600" dirty="0"/>
              <a:t>로 이루어진 클래스이다</a:t>
            </a:r>
            <a:r>
              <a:rPr lang="en-US" altLang="ko-KR" sz="16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C00000"/>
                </a:solidFill>
              </a:rPr>
              <a:t>형식적인 선언만 있고 구현은 없다</a:t>
            </a:r>
            <a:r>
              <a:rPr lang="en-US" altLang="ko-KR" sz="1600" b="1" dirty="0">
                <a:solidFill>
                  <a:srgbClr val="C00000"/>
                </a:solidFill>
              </a:rPr>
              <a:t>.</a:t>
            </a:r>
            <a:r>
              <a:rPr lang="en-US" altLang="ko-KR" sz="1600" dirty="0"/>
              <a:t> </a:t>
            </a:r>
            <a:r>
              <a:rPr lang="ko-KR" altLang="en-US" sz="1600" b="1" i="1" dirty="0"/>
              <a:t>추상클래스처럼 상속 관계는 아님</a:t>
            </a:r>
            <a:endParaRPr lang="en-US" altLang="ko-KR" sz="1600" b="1" i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인터페이스의 역할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클래스 혹은 프로그램이 제공하는 기능을 명시적으로 선언하는 역할을 한다</a:t>
            </a:r>
            <a:r>
              <a:rPr lang="en-US" altLang="ko-KR" sz="1600" dirty="0"/>
              <a:t>. </a:t>
            </a:r>
            <a:r>
              <a:rPr lang="ko-KR" altLang="en-US" sz="1600" dirty="0"/>
              <a:t>즉 인터페이스만 봐도 어떤 매개변수가 사용되는지 또는 어떤 </a:t>
            </a:r>
            <a:r>
              <a:rPr lang="ko-KR" altLang="en-US" sz="1600" dirty="0" err="1"/>
              <a:t>자료형이</a:t>
            </a:r>
            <a:r>
              <a:rPr lang="ko-KR" altLang="en-US" sz="1600" dirty="0"/>
              <a:t> 반환되는지 알 수 있다</a:t>
            </a:r>
            <a:r>
              <a:rPr lang="en-US" altLang="ko-KR" sz="1600" dirty="0"/>
              <a:t>.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2720752" y="3684754"/>
            <a:ext cx="576064" cy="187220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인터페이스</a:t>
            </a:r>
          </a:p>
        </p:txBody>
      </p:sp>
      <p:sp>
        <p:nvSpPr>
          <p:cNvPr id="9" name="육각형 8"/>
          <p:cNvSpPr/>
          <p:nvPr/>
        </p:nvSpPr>
        <p:spPr>
          <a:xfrm>
            <a:off x="5344840" y="3742036"/>
            <a:ext cx="1008112" cy="828092"/>
          </a:xfrm>
          <a:prstGeom prst="hexagon">
            <a:avLst/>
          </a:prstGeom>
          <a:solidFill>
            <a:schemeClr val="accent5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객체</a:t>
            </a:r>
          </a:p>
        </p:txBody>
      </p:sp>
      <p:sp>
        <p:nvSpPr>
          <p:cNvPr id="11" name="육각형 10"/>
          <p:cNvSpPr/>
          <p:nvPr/>
        </p:nvSpPr>
        <p:spPr>
          <a:xfrm>
            <a:off x="5344840" y="4853141"/>
            <a:ext cx="1008112" cy="828092"/>
          </a:xfrm>
          <a:prstGeom prst="hexagon">
            <a:avLst/>
          </a:prstGeom>
          <a:solidFill>
            <a:schemeClr val="accent5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</a:t>
            </a: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3836876" y="4097057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>
            <a:off x="3836876" y="4255214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00872" y="378928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메서드호출</a:t>
            </a:r>
            <a:endParaRPr lang="ko-KR" alt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3850279" y="431308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리턴값</a:t>
            </a:r>
            <a:endParaRPr lang="ko-KR" altLang="en-US" sz="1400" dirty="0"/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3836876" y="5160918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H="1">
            <a:off x="3836876" y="5319075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800872" y="485314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메서드호출</a:t>
            </a:r>
            <a:endParaRPr lang="ko-KR" alt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3850279" y="537694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리턴값</a:t>
            </a:r>
            <a:endParaRPr lang="ko-KR" alt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5313040" y="3448985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구현 객체</a:t>
            </a:r>
          </a:p>
        </p:txBody>
      </p:sp>
    </p:spTree>
    <p:extLst>
      <p:ext uri="{BB962C8B-B14F-4D97-AF65-F5344CB8AC3E}">
        <p14:creationId xmlns:p14="http://schemas.microsoft.com/office/powerpoint/2010/main" val="3554836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  <a:r>
              <a:rPr lang="en-US" altLang="ko-KR" dirty="0"/>
              <a:t>(Interface)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1622872" y="1571764"/>
            <a:ext cx="4953000" cy="1872853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1"/>
            <a:r>
              <a:rPr lang="en-US" altLang="ko-KR" b="1" dirty="0">
                <a:solidFill>
                  <a:srgbClr val="C00000"/>
                </a:solidFill>
              </a:rPr>
              <a:t>interface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인터페이스 이름</a:t>
            </a:r>
            <a:r>
              <a:rPr lang="en-US" altLang="ko-KR" b="1" dirty="0"/>
              <a:t>{</a:t>
            </a:r>
          </a:p>
          <a:p>
            <a:pPr lvl="1"/>
            <a:r>
              <a:rPr lang="en-US" altLang="ko-KR" b="1" dirty="0"/>
              <a:t>      </a:t>
            </a:r>
            <a:endParaRPr lang="en-US" altLang="ko-KR" sz="1600" dirty="0"/>
          </a:p>
          <a:p>
            <a:pPr lvl="1"/>
            <a:r>
              <a:rPr lang="en-US" altLang="ko-KR" sz="1600" dirty="0"/>
              <a:t>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추상메서드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</a:t>
            </a:r>
            <a:r>
              <a:rPr lang="ko-KR" altLang="en-US" sz="1600" dirty="0" err="1"/>
              <a:t>메서드</a:t>
            </a:r>
            <a:r>
              <a:rPr lang="ko-KR" altLang="en-US" sz="1600" dirty="0"/>
              <a:t> 이름</a:t>
            </a:r>
            <a:r>
              <a:rPr lang="en-US" altLang="ko-KR" sz="1600" dirty="0"/>
              <a:t>(</a:t>
            </a:r>
            <a:r>
              <a:rPr lang="ko-KR" altLang="en-US" sz="1600" dirty="0"/>
              <a:t>매개변수</a:t>
            </a:r>
            <a:r>
              <a:rPr lang="en-US" altLang="ko-KR" sz="1600" dirty="0"/>
              <a:t>, …)</a:t>
            </a:r>
            <a:endParaRPr lang="en-US" altLang="ko-KR" dirty="0"/>
          </a:p>
          <a:p>
            <a:pPr lvl="1"/>
            <a:r>
              <a:rPr lang="en-US" altLang="ko-KR" b="1" dirty="0"/>
              <a:t> </a:t>
            </a:r>
          </a:p>
          <a:p>
            <a:pPr lvl="1"/>
            <a:r>
              <a:rPr lang="en-US" altLang="ko-KR" b="1" dirty="0"/>
              <a:t>}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1209" y="995700"/>
            <a:ext cx="3284839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인터페이스 선언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1209" y="3880835"/>
            <a:ext cx="3284839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구현 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622872" y="4528907"/>
            <a:ext cx="6417592" cy="1328023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altLang="ko-KR" b="1" dirty="0">
                <a:solidFill>
                  <a:srgbClr val="C00000"/>
                </a:solidFill>
              </a:rPr>
              <a:t>class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구현클래스 이름 </a:t>
            </a:r>
            <a:r>
              <a:rPr lang="en-US" altLang="ko-KR" b="1" dirty="0">
                <a:solidFill>
                  <a:srgbClr val="C00000"/>
                </a:solidFill>
              </a:rPr>
              <a:t>implements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인터페이스 이름</a:t>
            </a:r>
            <a:r>
              <a:rPr lang="en-US" altLang="ko-KR" b="1" dirty="0"/>
              <a:t>{</a:t>
            </a:r>
          </a:p>
          <a:p>
            <a:pPr lvl="1"/>
            <a:r>
              <a:rPr lang="en-US" altLang="ko-KR" b="1" dirty="0"/>
              <a:t>	</a:t>
            </a:r>
          </a:p>
          <a:p>
            <a:pPr lvl="1"/>
            <a:r>
              <a:rPr lang="en-US" altLang="ko-KR" b="1" dirty="0"/>
              <a:t>	</a:t>
            </a:r>
            <a:r>
              <a:rPr lang="ko-KR" altLang="en-US" dirty="0"/>
              <a:t>실체 </a:t>
            </a:r>
            <a:r>
              <a:rPr lang="ko-KR" altLang="en-US" dirty="0" err="1"/>
              <a:t>메서드</a:t>
            </a:r>
            <a:r>
              <a:rPr lang="ko-KR" altLang="en-US" dirty="0"/>
              <a:t> 구현</a:t>
            </a:r>
            <a:endParaRPr lang="en-US" altLang="ko-KR" dirty="0"/>
          </a:p>
          <a:p>
            <a:pPr lvl="1"/>
            <a:r>
              <a:rPr lang="en-US" altLang="ko-KR" b="1" dirty="0"/>
              <a:t>}</a:t>
            </a:r>
          </a:p>
        </p:txBody>
      </p:sp>
      <p:sp>
        <p:nvSpPr>
          <p:cNvPr id="8" name="모서리가 둥근 사각형 설명선 7"/>
          <p:cNvSpPr/>
          <p:nvPr/>
        </p:nvSpPr>
        <p:spPr>
          <a:xfrm>
            <a:off x="4664968" y="3861048"/>
            <a:ext cx="2664296" cy="500762"/>
          </a:xfrm>
          <a:prstGeom prst="wedgeRoundRectCallout">
            <a:avLst>
              <a:gd name="adj1" fmla="val -38455"/>
              <a:gd name="adj2" fmla="val 109638"/>
              <a:gd name="adj3" fmla="val 16667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/>
              <a:t>Implements </a:t>
            </a:r>
            <a:r>
              <a:rPr lang="ko-KR" altLang="en-US" sz="1600" dirty="0"/>
              <a:t>키워드 사용</a:t>
            </a:r>
          </a:p>
        </p:txBody>
      </p:sp>
    </p:spTree>
    <p:extLst>
      <p:ext uri="{BB962C8B-B14F-4D97-AF65-F5344CB8AC3E}">
        <p14:creationId xmlns:p14="http://schemas.microsoft.com/office/powerpoint/2010/main" val="3757551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  <a:r>
              <a:rPr lang="en-US" altLang="ko-KR" dirty="0"/>
              <a:t>(Interface)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58551" y="1052736"/>
            <a:ext cx="5622641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정수형 계산기를 인터페이스로 구현하기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000" b="1" dirty="0">
              <a:solidFill>
                <a:srgbClr val="C00000"/>
              </a:solidFill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4788520" y="2938678"/>
            <a:ext cx="1244600" cy="135636"/>
            <a:chOff x="7617297" y="4088181"/>
            <a:chExt cx="605520" cy="130282"/>
          </a:xfrm>
        </p:grpSpPr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4738180" y="2276872"/>
            <a:ext cx="1360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    구현</a:t>
            </a:r>
            <a:endParaRPr lang="en-US" altLang="ko-KR" sz="1600" dirty="0"/>
          </a:p>
          <a:p>
            <a:r>
              <a:rPr lang="en-US" altLang="ko-KR" sz="1600" dirty="0"/>
              <a:t>(implements)</a:t>
            </a:r>
            <a:endParaRPr lang="ko-KR" altLang="en-US" sz="1600" dirty="0"/>
          </a:p>
        </p:txBody>
      </p:sp>
      <p:sp>
        <p:nvSpPr>
          <p:cNvPr id="32" name="직사각형 31"/>
          <p:cNvSpPr/>
          <p:nvPr/>
        </p:nvSpPr>
        <p:spPr>
          <a:xfrm>
            <a:off x="1526498" y="1988840"/>
            <a:ext cx="2850438" cy="72182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solidFill>
                  <a:sysClr val="windowText" lastClr="000000"/>
                </a:solidFill>
              </a:rPr>
              <a:t>&lt;&lt;interface&gt;&gt;</a:t>
            </a:r>
          </a:p>
          <a:p>
            <a:pPr algn="ctr"/>
            <a:r>
              <a:rPr lang="en-US" altLang="ko-KR" i="1" dirty="0">
                <a:solidFill>
                  <a:sysClr val="windowText" lastClr="000000"/>
                </a:solidFill>
              </a:rPr>
              <a:t>Calculator</a:t>
            </a:r>
            <a:endParaRPr lang="ko-KR" altLang="en-US" i="1" dirty="0">
              <a:solidFill>
                <a:sysClr val="windowText" lastClr="000000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526498" y="2710661"/>
            <a:ext cx="2850438" cy="167413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add(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n1, 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n2)</a:t>
            </a:r>
          </a:p>
          <a:p>
            <a:pPr algn="ctr"/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subtract(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n1, 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n2)</a:t>
            </a:r>
            <a:endParaRPr lang="ko-KR" altLang="en-US" sz="1600" i="1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times(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n1, 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n2)</a:t>
            </a:r>
            <a:endParaRPr lang="ko-KR" altLang="en-US" sz="1600" i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divide(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n1, 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 n2)</a:t>
            </a:r>
            <a:endParaRPr lang="ko-KR" altLang="en-US" sz="1600" i="1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1600" i="1" dirty="0">
              <a:solidFill>
                <a:sysClr val="windowText" lastClr="000000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249144" y="2682404"/>
            <a:ext cx="1800200" cy="75444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MyCalculator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111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  <a:r>
              <a:rPr lang="en-US" altLang="ko-KR" dirty="0"/>
              <a:t>(Interface)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64568" y="1043444"/>
            <a:ext cx="3102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Calculator </a:t>
            </a:r>
            <a:r>
              <a:rPr lang="ko-KR" altLang="en-US" b="1" dirty="0"/>
              <a:t>인터페이스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890" y="1700808"/>
            <a:ext cx="4737261" cy="26004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4952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  <a:r>
              <a:rPr lang="en-US" altLang="ko-KR" dirty="0"/>
              <a:t>(Interface)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80592" y="1052736"/>
            <a:ext cx="28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MyCalculator</a:t>
            </a:r>
            <a:r>
              <a:rPr lang="en-US" altLang="ko-KR" b="1" dirty="0"/>
              <a:t> </a:t>
            </a:r>
            <a:r>
              <a:rPr lang="ko-KR" altLang="en-US" b="1" dirty="0"/>
              <a:t>클래스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484784"/>
            <a:ext cx="6073293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003" y="5979077"/>
            <a:ext cx="6276697" cy="5164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54933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  <a:r>
              <a:rPr lang="en-US" altLang="ko-KR" dirty="0"/>
              <a:t>(Interface)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82234" y="1084674"/>
            <a:ext cx="3726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CalculatorTest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8800"/>
            <a:ext cx="6914720" cy="43512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1832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구성 요소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80728"/>
            <a:ext cx="8208912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인터페이스의 요소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인터페이스 상수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인스턴스를</a:t>
            </a:r>
            <a:r>
              <a:rPr lang="ko-KR" altLang="en-US" sz="1600" dirty="0"/>
              <a:t> 생성할 수 없으며 멤버 변수도 사용할 수 없다</a:t>
            </a:r>
            <a:r>
              <a:rPr lang="en-US" altLang="ko-KR" sz="1600" dirty="0"/>
              <a:t>. -&gt; </a:t>
            </a:r>
            <a:r>
              <a:rPr lang="ko-KR" altLang="en-US" sz="1600" dirty="0"/>
              <a:t>변수를 선언해도 오류가 나지 않는 이유는 상수로 변환됨 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b="1" dirty="0" err="1"/>
              <a:t>추상메서드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구현부가 없는 </a:t>
            </a:r>
            <a:r>
              <a:rPr lang="ko-KR" altLang="en-US" sz="1600" dirty="0" err="1"/>
              <a:t>추상메서드로</a:t>
            </a:r>
            <a:r>
              <a:rPr lang="ko-KR" altLang="en-US" sz="1600" dirty="0"/>
              <a:t> 구성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디폴트 </a:t>
            </a:r>
            <a:r>
              <a:rPr lang="ko-KR" altLang="en-US" sz="1600" b="1" dirty="0" err="1"/>
              <a:t>메서드</a:t>
            </a:r>
            <a:r>
              <a:rPr lang="ko-KR" altLang="en-US" sz="1600" b="1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기본 구현을 가지는 </a:t>
            </a:r>
            <a:r>
              <a:rPr lang="ko-KR" altLang="en-US" sz="1600" dirty="0" err="1"/>
              <a:t>메서드</a:t>
            </a:r>
            <a:r>
              <a:rPr lang="en-US" altLang="ko-KR" sz="1600" dirty="0"/>
              <a:t>, </a:t>
            </a:r>
            <a:r>
              <a:rPr lang="ko-KR" altLang="en-US" sz="1600" dirty="0"/>
              <a:t>구현 클래스에서 재정의 </a:t>
            </a:r>
            <a:r>
              <a:rPr lang="ko-KR" altLang="en-US" sz="1600" dirty="0" err="1"/>
              <a:t>할수</a:t>
            </a:r>
            <a:r>
              <a:rPr lang="ko-KR" altLang="en-US" sz="1600" dirty="0"/>
              <a:t> 있음</a:t>
            </a:r>
            <a:r>
              <a:rPr lang="en-US" altLang="ko-KR" sz="1600" dirty="0"/>
              <a:t>(</a:t>
            </a:r>
            <a:r>
              <a:rPr lang="ko-KR" altLang="en-US" sz="1600" dirty="0">
                <a:solidFill>
                  <a:srgbClr val="C00000"/>
                </a:solidFill>
              </a:rPr>
              <a:t>자바 </a:t>
            </a:r>
            <a:r>
              <a:rPr lang="en-US" altLang="ko-KR" sz="1600" dirty="0">
                <a:solidFill>
                  <a:srgbClr val="C00000"/>
                </a:solidFill>
              </a:rPr>
              <a:t>8</a:t>
            </a:r>
            <a:r>
              <a:rPr lang="ko-KR" altLang="en-US" sz="1600" dirty="0"/>
              <a:t>부터 가능</a:t>
            </a:r>
            <a:r>
              <a:rPr lang="en-US" altLang="ko-KR" sz="16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정적 </a:t>
            </a:r>
            <a:r>
              <a:rPr lang="ko-KR" altLang="en-US" sz="1600" b="1" dirty="0" err="1"/>
              <a:t>메서드</a:t>
            </a:r>
            <a:r>
              <a:rPr lang="ko-KR" altLang="en-US" sz="1600" b="1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인스턴스</a:t>
            </a:r>
            <a:r>
              <a:rPr lang="ko-KR" altLang="en-US" sz="1600" dirty="0"/>
              <a:t> 생성과 상관없이 인터페이스 타입으로 사용할 수 있는 </a:t>
            </a:r>
            <a:r>
              <a:rPr lang="ko-KR" altLang="en-US" sz="1600" dirty="0" err="1"/>
              <a:t>메서드</a:t>
            </a:r>
            <a:r>
              <a:rPr lang="en-US" altLang="ko-KR" sz="1600" dirty="0"/>
              <a:t>(</a:t>
            </a:r>
            <a:r>
              <a:rPr lang="ko-KR" altLang="en-US" sz="1600" dirty="0">
                <a:solidFill>
                  <a:srgbClr val="C00000"/>
                </a:solidFill>
              </a:rPr>
              <a:t>자바 </a:t>
            </a:r>
            <a:r>
              <a:rPr lang="en-US" altLang="ko-KR" sz="1600" dirty="0">
                <a:solidFill>
                  <a:srgbClr val="C00000"/>
                </a:solidFill>
              </a:rPr>
              <a:t>8</a:t>
            </a:r>
            <a:r>
              <a:rPr lang="ko-KR" altLang="en-US" sz="1600" dirty="0"/>
              <a:t>부터 가능</a:t>
            </a:r>
            <a:r>
              <a:rPr lang="en-US" altLang="ko-KR" sz="1600" dirty="0"/>
              <a:t>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112" y="4293096"/>
            <a:ext cx="2765107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19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인터페이스와 </a:t>
            </a:r>
            <a:r>
              <a:rPr lang="ko-KR" altLang="en-US" dirty="0" err="1"/>
              <a:t>다형성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80728"/>
            <a:ext cx="2780783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타입 변환과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endParaRPr lang="en-US" altLang="ko-KR" sz="1600" dirty="0"/>
          </a:p>
        </p:txBody>
      </p:sp>
      <p:sp>
        <p:nvSpPr>
          <p:cNvPr id="2" name="직사각형 1"/>
          <p:cNvSpPr/>
          <p:nvPr/>
        </p:nvSpPr>
        <p:spPr>
          <a:xfrm>
            <a:off x="1208584" y="1504456"/>
            <a:ext cx="80648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인터페이스도 </a:t>
            </a:r>
            <a:r>
              <a:rPr lang="ko-KR" altLang="en-US" sz="1600" dirty="0" err="1"/>
              <a:t>다형성을</a:t>
            </a:r>
            <a:r>
              <a:rPr lang="ko-KR" altLang="en-US" sz="1600" dirty="0"/>
              <a:t> 구현하는 기술이 사용된다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다형성</a:t>
            </a:r>
            <a:r>
              <a:rPr lang="ko-KR" altLang="en-US" sz="1600" dirty="0"/>
              <a:t>은 하나의 타입에 대입되는 객체에 따라서 실행 결과가 다양한 형태로 나오는 성질을 말한다</a:t>
            </a:r>
            <a:r>
              <a:rPr lang="en-US" altLang="ko-KR" sz="1600" dirty="0"/>
              <a:t>. </a:t>
            </a:r>
            <a:r>
              <a:rPr lang="ko-KR" altLang="en-US" sz="1600" dirty="0"/>
              <a:t>부모 타입에 어떤 지식 객체를 대입하느냐에 따라 실행 결과가 달라지듯이</a:t>
            </a:r>
            <a:r>
              <a:rPr lang="en-US" altLang="ko-KR" sz="1600" dirty="0"/>
              <a:t>, </a:t>
            </a:r>
            <a:r>
              <a:rPr lang="ko-KR" altLang="en-US" sz="1600" dirty="0"/>
              <a:t>인터페이스 타입에 어떤 구현 객체를 대입하느냐에 따라 실행 결과가 달라진다</a:t>
            </a:r>
            <a:r>
              <a:rPr lang="en-US" altLang="ko-KR" sz="1600" dirty="0"/>
              <a:t>.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1856656" y="3613145"/>
            <a:ext cx="3240360" cy="1328023"/>
          </a:xfrm>
          <a:prstGeom prst="round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altLang="ko-KR" b="1" dirty="0"/>
              <a:t>interface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IFace</a:t>
            </a:r>
            <a:r>
              <a:rPr lang="en-US" altLang="ko-KR" b="1" dirty="0"/>
              <a:t>{</a:t>
            </a:r>
          </a:p>
          <a:p>
            <a:pPr lvl="1"/>
            <a:r>
              <a:rPr lang="en-US" altLang="ko-KR" b="1" dirty="0"/>
              <a:t>     </a:t>
            </a:r>
            <a:r>
              <a:rPr lang="en-US" altLang="ko-KR" dirty="0"/>
              <a:t>void mehtod1();</a:t>
            </a:r>
          </a:p>
          <a:p>
            <a:pPr lvl="1"/>
            <a:r>
              <a:rPr lang="en-US" altLang="ko-KR" dirty="0"/>
              <a:t>     void method2();</a:t>
            </a:r>
          </a:p>
          <a:p>
            <a:pPr lvl="1"/>
            <a:r>
              <a:rPr lang="en-US" altLang="ko-KR" b="1" dirty="0"/>
              <a:t> }</a:t>
            </a:r>
          </a:p>
        </p:txBody>
      </p:sp>
      <p:sp>
        <p:nvSpPr>
          <p:cNvPr id="3" name="육각형 2"/>
          <p:cNvSpPr/>
          <p:nvPr/>
        </p:nvSpPr>
        <p:spPr>
          <a:xfrm>
            <a:off x="6321152" y="3356992"/>
            <a:ext cx="1296144" cy="864096"/>
          </a:xfrm>
          <a:prstGeom prst="hexagon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A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클래스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객체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5" name="육각형 24"/>
          <p:cNvSpPr/>
          <p:nvPr/>
        </p:nvSpPr>
        <p:spPr>
          <a:xfrm>
            <a:off x="6321152" y="4365104"/>
            <a:ext cx="1296144" cy="864096"/>
          </a:xfrm>
          <a:prstGeom prst="hexagon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B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클래스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객체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5169024" y="3789040"/>
            <a:ext cx="1080120" cy="130282"/>
            <a:chOff x="7617297" y="4088181"/>
            <a:chExt cx="605520" cy="130282"/>
          </a:xfrm>
        </p:grpSpPr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5444808" y="3501008"/>
            <a:ext cx="6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구현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5169024" y="4530606"/>
            <a:ext cx="1080120" cy="130282"/>
            <a:chOff x="7617297" y="4088181"/>
            <a:chExt cx="605520" cy="130282"/>
          </a:xfrm>
        </p:grpSpPr>
        <p:sp>
          <p:nvSpPr>
            <p:cNvPr id="33" name="이등변 삼각형 3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5444808" y="4674622"/>
            <a:ext cx="6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1188081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1052736"/>
            <a:ext cx="5661103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리모컨으로 </a:t>
            </a:r>
            <a:r>
              <a:rPr lang="en-US" altLang="ko-KR" sz="2000" b="1" dirty="0">
                <a:solidFill>
                  <a:srgbClr val="C00000"/>
                </a:solidFill>
              </a:rPr>
              <a:t>TV</a:t>
            </a:r>
            <a:r>
              <a:rPr lang="ko-KR" altLang="en-US" sz="2000" b="1" dirty="0">
                <a:solidFill>
                  <a:srgbClr val="C00000"/>
                </a:solidFill>
              </a:rPr>
              <a:t>와 오디오 구현하기 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endParaRPr lang="en-US" altLang="ko-KR" sz="1600" dirty="0"/>
          </a:p>
        </p:txBody>
      </p:sp>
      <p:grpSp>
        <p:nvGrpSpPr>
          <p:cNvPr id="39" name="그룹 38"/>
          <p:cNvGrpSpPr/>
          <p:nvPr/>
        </p:nvGrpSpPr>
        <p:grpSpPr>
          <a:xfrm rot="20670372">
            <a:off x="4347179" y="2727020"/>
            <a:ext cx="1080120" cy="130282"/>
            <a:chOff x="7617297" y="4088181"/>
            <a:chExt cx="605520" cy="130282"/>
          </a:xfrm>
        </p:grpSpPr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4589657" y="2301102"/>
            <a:ext cx="6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구현</a:t>
            </a:r>
          </a:p>
        </p:txBody>
      </p:sp>
      <p:grpSp>
        <p:nvGrpSpPr>
          <p:cNvPr id="43" name="그룹 42"/>
          <p:cNvGrpSpPr/>
          <p:nvPr/>
        </p:nvGrpSpPr>
        <p:grpSpPr>
          <a:xfrm rot="1169996">
            <a:off x="4346848" y="3530780"/>
            <a:ext cx="1080120" cy="130282"/>
            <a:chOff x="7617297" y="4088181"/>
            <a:chExt cx="605520" cy="130282"/>
          </a:xfrm>
        </p:grpSpPr>
        <p:sp>
          <p:nvSpPr>
            <p:cNvPr id="44" name="이등변 삼각형 43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4622632" y="3847824"/>
            <a:ext cx="6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구현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5529064" y="1988840"/>
            <a:ext cx="1800200" cy="75444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Television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529064" y="3682671"/>
            <a:ext cx="1800200" cy="75444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Audio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712640" y="1916832"/>
            <a:ext cx="2376264" cy="59324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solidFill>
                  <a:sysClr val="windowText" lastClr="000000"/>
                </a:solidFill>
              </a:rPr>
              <a:t>&lt;&lt;interface&gt;&gt;</a:t>
            </a:r>
            <a:endParaRPr lang="ko-KR" altLang="en-US" i="1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i="1" dirty="0" err="1">
                <a:solidFill>
                  <a:sysClr val="windowText" lastClr="000000"/>
                </a:solidFill>
              </a:rPr>
              <a:t>RemoteControl</a:t>
            </a:r>
            <a:endParaRPr lang="en-US" altLang="ko-KR" i="1" dirty="0">
              <a:solidFill>
                <a:sysClr val="windowText" lastClr="00000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712640" y="2507724"/>
            <a:ext cx="2376264" cy="20734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i="1" dirty="0" err="1">
                <a:solidFill>
                  <a:sysClr val="windowText" lastClr="000000"/>
                </a:solidFill>
              </a:rPr>
              <a:t>turnOn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()</a:t>
            </a:r>
          </a:p>
          <a:p>
            <a:pPr algn="ctr">
              <a:lnSpc>
                <a:spcPct val="150000"/>
              </a:lnSpc>
            </a:pPr>
            <a:r>
              <a:rPr lang="en-US" altLang="ko-KR" sz="1600" i="1" dirty="0" err="1">
                <a:solidFill>
                  <a:sysClr val="windowText" lastClr="000000"/>
                </a:solidFill>
              </a:rPr>
              <a:t>turnOff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()</a:t>
            </a:r>
          </a:p>
          <a:p>
            <a:pPr algn="ctr">
              <a:lnSpc>
                <a:spcPct val="150000"/>
              </a:lnSpc>
            </a:pPr>
            <a:r>
              <a:rPr lang="en-US" altLang="ko-KR" sz="1600" i="1" dirty="0" err="1">
                <a:solidFill>
                  <a:sysClr val="windowText" lastClr="000000"/>
                </a:solidFill>
              </a:rPr>
              <a:t>setVolumn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(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 err="1">
                <a:solidFill>
                  <a:sysClr val="windowText" lastClr="000000"/>
                </a:solidFill>
              </a:rPr>
              <a:t>setMute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(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boolean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 err="1">
                <a:solidFill>
                  <a:sysClr val="windowText" lastClr="000000"/>
                </a:solidFill>
              </a:rPr>
              <a:t>replaceBattery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()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9571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3644879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RemoteControl</a:t>
            </a:r>
            <a:r>
              <a:rPr lang="ko-KR" altLang="en-US" sz="2000" b="1" dirty="0">
                <a:solidFill>
                  <a:srgbClr val="C00000"/>
                </a:solidFill>
              </a:rPr>
              <a:t> 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6935721" cy="47525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464165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2492751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Television</a:t>
            </a:r>
            <a:r>
              <a:rPr lang="ko-KR" altLang="en-US" sz="2000" b="1" dirty="0">
                <a:solidFill>
                  <a:srgbClr val="C00000"/>
                </a:solidFill>
              </a:rPr>
              <a:t> 클래스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6146215" cy="41764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3850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2492751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Television</a:t>
            </a:r>
            <a:r>
              <a:rPr lang="ko-KR" altLang="en-US" sz="2000" b="1" dirty="0">
                <a:solidFill>
                  <a:srgbClr val="C00000"/>
                </a:solidFill>
              </a:rPr>
              <a:t> 클래스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7272808" cy="28387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719033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6086" y="980728"/>
            <a:ext cx="5253058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RemoteControl</a:t>
            </a:r>
            <a:r>
              <a:rPr lang="ko-KR" altLang="en-US" sz="2000" b="1" dirty="0">
                <a:solidFill>
                  <a:srgbClr val="C00000"/>
                </a:solidFill>
              </a:rPr>
              <a:t> 테스트 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endParaRPr lang="en-US" altLang="ko-KR" sz="16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5795095" cy="41448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43" y="4293096"/>
            <a:ext cx="2265035" cy="1584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7656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다중 인터페이스 구현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43</a:t>
            </a:fld>
            <a:endParaRPr lang="ko-KR" altLang="en-US"/>
          </a:p>
        </p:txBody>
      </p:sp>
      <p:grpSp>
        <p:nvGrpSpPr>
          <p:cNvPr id="39" name="그룹 38"/>
          <p:cNvGrpSpPr/>
          <p:nvPr/>
        </p:nvGrpSpPr>
        <p:grpSpPr>
          <a:xfrm rot="1361024">
            <a:off x="4542613" y="3248648"/>
            <a:ext cx="1080120" cy="130282"/>
            <a:chOff x="7617297" y="4088181"/>
            <a:chExt cx="605520" cy="130282"/>
          </a:xfrm>
        </p:grpSpPr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4982877" y="3020573"/>
            <a:ext cx="6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구현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5889104" y="3586344"/>
            <a:ext cx="1800200" cy="75444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smartTV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44688" y="2060848"/>
            <a:ext cx="2232248" cy="59324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i="1" dirty="0">
                <a:solidFill>
                  <a:sysClr val="windowText" lastClr="000000"/>
                </a:solidFill>
              </a:rPr>
              <a:t>&lt;&lt;interface&gt;&gt;</a:t>
            </a:r>
            <a:endParaRPr lang="ko-KR" altLang="en-US" sz="1600" i="1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i="1" dirty="0" err="1">
                <a:solidFill>
                  <a:sysClr val="windowText" lastClr="000000"/>
                </a:solidFill>
              </a:rPr>
              <a:t>RemoteControl</a:t>
            </a:r>
            <a:endParaRPr lang="en-US" altLang="ko-KR" i="1" dirty="0">
              <a:solidFill>
                <a:sysClr val="windowText" lastClr="0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144688" y="2651740"/>
            <a:ext cx="2232248" cy="152643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i="1" dirty="0" err="1">
                <a:solidFill>
                  <a:sysClr val="windowText" lastClr="000000"/>
                </a:solidFill>
              </a:rPr>
              <a:t>turnOn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()</a:t>
            </a:r>
          </a:p>
          <a:p>
            <a:pPr algn="ctr"/>
            <a:r>
              <a:rPr lang="en-US" altLang="ko-KR" sz="1600" i="1" dirty="0" err="1">
                <a:solidFill>
                  <a:sysClr val="windowText" lastClr="000000"/>
                </a:solidFill>
              </a:rPr>
              <a:t>turnOff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()</a:t>
            </a:r>
          </a:p>
          <a:p>
            <a:pPr algn="ctr"/>
            <a:r>
              <a:rPr lang="en-US" altLang="ko-KR" sz="1600" i="1" dirty="0" err="1">
                <a:solidFill>
                  <a:sysClr val="windowText" lastClr="000000"/>
                </a:solidFill>
              </a:rPr>
              <a:t>setVolumn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(</a:t>
            </a:r>
            <a:r>
              <a:rPr lang="en-US" altLang="ko-KR" sz="1600" i="1" dirty="0" err="1">
                <a:solidFill>
                  <a:sysClr val="windowText" lastClr="000000"/>
                </a:solidFill>
              </a:rPr>
              <a:t>int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600" dirty="0" err="1">
                <a:solidFill>
                  <a:sysClr val="windowText" lastClr="000000"/>
                </a:solidFill>
              </a:rPr>
              <a:t>setMute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(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boolean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600" dirty="0" err="1">
                <a:solidFill>
                  <a:sysClr val="windowText" lastClr="000000"/>
                </a:solidFill>
              </a:rPr>
              <a:t>replaceBattery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()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144688" y="4585990"/>
            <a:ext cx="2232248" cy="59324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i="1" dirty="0">
                <a:solidFill>
                  <a:sysClr val="windowText" lastClr="000000"/>
                </a:solidFill>
              </a:rPr>
              <a:t>&lt;&lt;interface&gt;&gt;</a:t>
            </a:r>
            <a:br>
              <a:rPr lang="en-US" altLang="ko-KR" i="1" dirty="0">
                <a:solidFill>
                  <a:sysClr val="windowText" lastClr="000000"/>
                </a:solidFill>
              </a:rPr>
            </a:br>
            <a:r>
              <a:rPr lang="en-US" altLang="ko-KR" i="1" dirty="0" err="1">
                <a:solidFill>
                  <a:sysClr val="windowText" lastClr="000000"/>
                </a:solidFill>
              </a:rPr>
              <a:t>WebSearchable</a:t>
            </a:r>
            <a:endParaRPr lang="ko-KR" altLang="en-US" i="1" dirty="0">
              <a:solidFill>
                <a:sysClr val="windowText" lastClr="00000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144688" y="5185350"/>
            <a:ext cx="2232248" cy="63324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i="1" dirty="0" err="1">
                <a:solidFill>
                  <a:sysClr val="windowText" lastClr="000000"/>
                </a:solidFill>
              </a:rPr>
              <a:t>searchWeb</a:t>
            </a:r>
            <a:r>
              <a:rPr lang="en-US" altLang="ko-KR" sz="1600" i="1" dirty="0">
                <a:solidFill>
                  <a:sysClr val="windowText" lastClr="000000"/>
                </a:solidFill>
              </a:rPr>
              <a:t>()</a:t>
            </a:r>
          </a:p>
        </p:txBody>
      </p:sp>
      <p:grpSp>
        <p:nvGrpSpPr>
          <p:cNvPr id="21" name="그룹 20"/>
          <p:cNvGrpSpPr/>
          <p:nvPr/>
        </p:nvGrpSpPr>
        <p:grpSpPr>
          <a:xfrm rot="19660051">
            <a:off x="4640172" y="4738732"/>
            <a:ext cx="1080120" cy="130282"/>
            <a:chOff x="7617297" y="4088181"/>
            <a:chExt cx="605520" cy="130282"/>
          </a:xfrm>
        </p:grpSpPr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4065" y="1124744"/>
            <a:ext cx="8469415" cy="10801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None/>
            </a:pPr>
            <a:endParaRPr lang="en-US" altLang="ko-KR" sz="16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61112" y="437843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&lt;class&gt;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92605" y="1556548"/>
            <a:ext cx="7126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ko-KR" altLang="en-US" sz="1600" dirty="0"/>
              <a:t>인터페이스는 한 클래스가 여러 인터페이스를 다중 구현할 수 있다</a:t>
            </a:r>
            <a:r>
              <a:rPr lang="en-US" altLang="ko-KR" sz="1600" dirty="0"/>
              <a:t>.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52736"/>
            <a:ext cx="5661103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리모컨</a:t>
            </a:r>
            <a:r>
              <a:rPr lang="en-US" altLang="ko-KR" sz="2000" b="1" dirty="0">
                <a:solidFill>
                  <a:srgbClr val="C00000"/>
                </a:solidFill>
              </a:rPr>
              <a:t>, </a:t>
            </a:r>
            <a:r>
              <a:rPr lang="ko-KR" altLang="en-US" sz="2000" b="1" dirty="0">
                <a:solidFill>
                  <a:srgbClr val="C00000"/>
                </a:solidFill>
              </a:rPr>
              <a:t>검색 인터페이스를 구현한 스마트</a:t>
            </a:r>
            <a:r>
              <a:rPr lang="en-US" altLang="ko-KR" sz="2000" b="1" dirty="0">
                <a:solidFill>
                  <a:srgbClr val="C00000"/>
                </a:solidFill>
              </a:rPr>
              <a:t>TV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8287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다중 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36576" y="1052736"/>
            <a:ext cx="4464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err="1"/>
              <a:t>WebSearchable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인터페이스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67558"/>
            <a:ext cx="5688632" cy="15877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6632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다중 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36576" y="105273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err="1"/>
              <a:t>SmartTV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56" y="1556792"/>
            <a:ext cx="7283095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27907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다중 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36576" y="105273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err="1"/>
              <a:t>SmartTV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테스트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56792"/>
            <a:ext cx="5862900" cy="45813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246148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인터페이스와 </a:t>
            </a:r>
            <a:r>
              <a:rPr lang="ko-KR" altLang="en-US" dirty="0" err="1"/>
              <a:t>다형성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77520"/>
            <a:ext cx="3932911" cy="523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고객 상담 전화 배분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80592" y="1480716"/>
            <a:ext cx="74168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예제 시나리오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고객 센터에는 전화 상담을 하는 상담원들이 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일단 고객센터로 전화가 오면 </a:t>
            </a:r>
            <a:r>
              <a:rPr lang="ko-KR" altLang="en-US" sz="1600" dirty="0" err="1"/>
              <a:t>대기열에</a:t>
            </a:r>
            <a:r>
              <a:rPr lang="ko-KR" altLang="en-US" sz="1600" dirty="0"/>
              <a:t> 저장됩니다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상담원이 지정되기 전까지는 대기 상태가 됩니다</a:t>
            </a:r>
            <a:r>
              <a:rPr lang="en-US" altLang="ko-KR" sz="1600" dirty="0"/>
              <a:t>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/>
              <a:t>순서대로 배분하기 </a:t>
            </a:r>
            <a:r>
              <a:rPr lang="en-US" altLang="ko-KR" sz="1600" dirty="0"/>
              <a:t>- </a:t>
            </a:r>
            <a:r>
              <a:rPr lang="en-US" altLang="ko-KR" sz="1600" dirty="0" err="1"/>
              <a:t>RoundRobin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/>
              <a:t>짧은 </a:t>
            </a:r>
            <a:r>
              <a:rPr lang="ko-KR" altLang="en-US" sz="1600" dirty="0" err="1"/>
              <a:t>대기열</a:t>
            </a:r>
            <a:r>
              <a:rPr lang="ko-KR" altLang="en-US" sz="1600" dirty="0"/>
              <a:t> 찾아 배분하기 </a:t>
            </a:r>
            <a:r>
              <a:rPr lang="en-US" altLang="ko-KR" sz="1600" dirty="0"/>
              <a:t>- </a:t>
            </a:r>
            <a:r>
              <a:rPr lang="en-US" altLang="ko-KR" sz="1600" dirty="0" err="1"/>
              <a:t>LeastJob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/>
              <a:t>우선순위에 따라 배분하기 </a:t>
            </a:r>
            <a:r>
              <a:rPr lang="en-US" altLang="ko-KR" sz="1600" dirty="0"/>
              <a:t>- </a:t>
            </a:r>
            <a:r>
              <a:rPr lang="en-US" altLang="ko-KR" sz="1600" dirty="0" err="1"/>
              <a:t>PriorityAllocation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2624832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인터페이스와 </a:t>
            </a:r>
            <a:r>
              <a:rPr lang="ko-KR" altLang="en-US" dirty="0" err="1"/>
              <a:t>다형성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61056"/>
            <a:ext cx="3932911" cy="523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고객 상담 전화 배분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368824" y="1916832"/>
            <a:ext cx="2220257" cy="650708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600" dirty="0">
              <a:latin typeface="+mn-ea"/>
            </a:endParaRPr>
          </a:p>
          <a:p>
            <a:pPr algn="ctr"/>
            <a:r>
              <a:rPr lang="en-US" altLang="ko-KR" sz="1600" dirty="0">
                <a:latin typeface="+mn-ea"/>
              </a:rPr>
              <a:t>&lt;&lt;interface&gt;&gt; </a:t>
            </a:r>
          </a:p>
          <a:p>
            <a:pPr algn="ctr"/>
            <a:r>
              <a:rPr lang="en-US" altLang="ko-KR" i="1" dirty="0">
                <a:latin typeface="+mn-ea"/>
              </a:rPr>
              <a:t>Scheduler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68824" y="2673031"/>
            <a:ext cx="2220257" cy="936104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  </a:t>
            </a:r>
          </a:p>
          <a:p>
            <a:pPr algn="ctr">
              <a:lnSpc>
                <a:spcPct val="150000"/>
              </a:lnSpc>
            </a:pPr>
            <a:r>
              <a:rPr lang="en-US" altLang="ko-KR" sz="1600" i="1" dirty="0" err="1">
                <a:latin typeface="+mn-ea"/>
              </a:rPr>
              <a:t>getNextCall</a:t>
            </a:r>
            <a:r>
              <a:rPr lang="en-US" altLang="ko-KR" sz="1600" i="1" dirty="0">
                <a:latin typeface="+mn-ea"/>
              </a:rPr>
              <a:t>()</a:t>
            </a:r>
          </a:p>
          <a:p>
            <a:pPr algn="ctr">
              <a:lnSpc>
                <a:spcPct val="150000"/>
              </a:lnSpc>
            </a:pPr>
            <a:r>
              <a:rPr lang="en-US" altLang="ko-KR" sz="1600" i="1" dirty="0" err="1">
                <a:latin typeface="+mn-ea"/>
              </a:rPr>
              <a:t>sendCallToAgent</a:t>
            </a:r>
            <a:r>
              <a:rPr lang="en-US" altLang="ko-KR" sz="1600" i="1" dirty="0">
                <a:latin typeface="+mn-ea"/>
              </a:rPr>
              <a:t>()</a:t>
            </a:r>
            <a:endParaRPr lang="en-US" altLang="ko-KR" sz="1600" dirty="0">
              <a:latin typeface="+mn-ea"/>
            </a:endParaRP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4442057" y="3618361"/>
            <a:ext cx="119329" cy="607298"/>
            <a:chOff x="4486679" y="2931992"/>
            <a:chExt cx="119329" cy="607298"/>
          </a:xfrm>
        </p:grpSpPr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486679" y="2931992"/>
              <a:ext cx="119329" cy="124136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4546344" y="3056128"/>
              <a:ext cx="0" cy="232552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4547581" y="3288680"/>
              <a:ext cx="0" cy="25061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cxnSp>
        <p:nvCxnSpPr>
          <p:cNvPr id="23" name="직선 연결선 22"/>
          <p:cNvCxnSpPr/>
          <p:nvPr/>
        </p:nvCxnSpPr>
        <p:spPr>
          <a:xfrm>
            <a:off x="2179646" y="3972872"/>
            <a:ext cx="2271555" cy="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2179646" y="3972872"/>
            <a:ext cx="0" cy="25061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453304" y="3972872"/>
            <a:ext cx="2271555" cy="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6724859" y="3972872"/>
            <a:ext cx="0" cy="25061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37" name="직사각형 36"/>
          <p:cNvSpPr/>
          <p:nvPr/>
        </p:nvSpPr>
        <p:spPr>
          <a:xfrm>
            <a:off x="3639460" y="4239010"/>
            <a:ext cx="1888558" cy="666269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dirty="0" err="1">
                <a:latin typeface="+mn-ea"/>
              </a:rPr>
              <a:t>LeastJob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330331" y="4239010"/>
            <a:ext cx="1888558" cy="666269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dirty="0" err="1">
                <a:latin typeface="+mn-ea"/>
              </a:rPr>
              <a:t>RoundRobin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915742" y="4239010"/>
            <a:ext cx="1985092" cy="666269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dirty="0" err="1">
                <a:latin typeface="+mn-ea"/>
              </a:rPr>
              <a:t>PriotityAllocation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22102" y="3571182"/>
            <a:ext cx="148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implements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333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인터페이스와 </a:t>
            </a:r>
            <a:r>
              <a:rPr lang="ko-KR" altLang="en-US" dirty="0" err="1"/>
              <a:t>다형성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965" y="3495899"/>
            <a:ext cx="7128792" cy="2525389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705" y="1682847"/>
            <a:ext cx="3888691" cy="1619056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12" name="굽은 화살표 11"/>
          <p:cNvSpPr/>
          <p:nvPr/>
        </p:nvSpPr>
        <p:spPr>
          <a:xfrm rot="16200000" flipH="1" flipV="1">
            <a:off x="5512603" y="2936853"/>
            <a:ext cx="936104" cy="566451"/>
          </a:xfrm>
          <a:prstGeom prst="bent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01486" y="2941451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052736"/>
            <a:ext cx="3788895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C00000"/>
                </a:solidFill>
              </a:rPr>
              <a:t>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b="1" dirty="0">
                <a:solidFill>
                  <a:srgbClr val="C00000"/>
                </a:solidFill>
              </a:rPr>
              <a:t>  </a:t>
            </a:r>
            <a:endParaRPr lang="en-US" altLang="ko-KR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1064568" y="1084674"/>
            <a:ext cx="388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b="1" dirty="0"/>
              <a:t>Scheduler </a:t>
            </a:r>
            <a:r>
              <a:rPr lang="ko-KR" altLang="en-US" b="1" dirty="0"/>
              <a:t>인터페이스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3721" y="3310783"/>
            <a:ext cx="2563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Scheduler </a:t>
            </a:r>
            <a:r>
              <a:rPr lang="ko-KR" altLang="en-US" sz="1600" dirty="0"/>
              <a:t>인터페이스를 구현한 </a:t>
            </a:r>
            <a:r>
              <a:rPr lang="en-US" altLang="ko-KR" sz="1600" dirty="0" err="1"/>
              <a:t>LeastJob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 </a:t>
            </a:r>
          </a:p>
        </p:txBody>
      </p:sp>
    </p:spTree>
    <p:extLst>
      <p:ext uri="{BB962C8B-B14F-4D97-AF65-F5344CB8AC3E}">
        <p14:creationId xmlns:p14="http://schemas.microsoft.com/office/powerpoint/2010/main" val="12746175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인터페이스와 </a:t>
            </a:r>
            <a:r>
              <a:rPr lang="ko-KR" altLang="en-US" dirty="0" err="1"/>
              <a:t>다형성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33" y="1540794"/>
            <a:ext cx="5755399" cy="2536278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64568" y="1052736"/>
            <a:ext cx="304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RoundRobin</a:t>
            </a:r>
            <a:r>
              <a:rPr lang="en-US" altLang="ko-KR" b="1" dirty="0"/>
              <a:t> </a:t>
            </a:r>
            <a:r>
              <a:rPr lang="ko-KR" altLang="en-US" b="1" dirty="0"/>
              <a:t>클래스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941" y="3384158"/>
            <a:ext cx="2996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 dirty="0" err="1"/>
              <a:t>PriorityAllocation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클래스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720" y="3745077"/>
            <a:ext cx="6984776" cy="2323096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661813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인터페이스와 </a:t>
            </a:r>
            <a:r>
              <a:rPr lang="ko-KR" altLang="en-US" dirty="0" err="1"/>
              <a:t>다형성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51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980728"/>
            <a:ext cx="6768752" cy="5293331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112" y="3429000"/>
            <a:ext cx="3770054" cy="1152128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222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8" y="980728"/>
            <a:ext cx="7761336" cy="1368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인터페이스 상속하기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600" dirty="0"/>
              <a:t>인터페이스간에도 상속이 가능하다</a:t>
            </a:r>
            <a:r>
              <a:rPr lang="en-US" altLang="ko-KR" sz="1600" dirty="0"/>
              <a:t>.  </a:t>
            </a:r>
            <a:r>
              <a:rPr lang="ko-KR" altLang="en-US" sz="1600" dirty="0"/>
              <a:t>구현 코드를 통해 기능을 상속하는 것이 아니므로 </a:t>
            </a:r>
            <a:r>
              <a:rPr lang="ko-KR" altLang="en-US" sz="1600" b="1" dirty="0"/>
              <a:t>형 상속</a:t>
            </a:r>
            <a:r>
              <a:rPr lang="en-US" altLang="ko-KR" sz="1600" b="1" dirty="0"/>
              <a:t>(type inheritance)</a:t>
            </a:r>
            <a:r>
              <a:rPr lang="ko-KR" altLang="en-US" sz="1600" dirty="0"/>
              <a:t>라고 한다</a:t>
            </a:r>
            <a:r>
              <a:rPr lang="en-US" altLang="ko-KR" sz="1600" dirty="0"/>
              <a:t>. </a:t>
            </a:r>
            <a:r>
              <a:rPr lang="ko-KR" altLang="en-US" sz="1600" dirty="0"/>
              <a:t>클래스의 경우는 단일 상속이지만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인터페이스는 다중 상속이 가능하다</a:t>
            </a:r>
            <a:r>
              <a:rPr lang="en-US" altLang="ko-KR" sz="1600" dirty="0"/>
              <a:t>.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835135" y="2557057"/>
            <a:ext cx="1673217" cy="33354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latin typeface="+mn-ea"/>
              </a:rPr>
              <a:t>x</a:t>
            </a:r>
          </a:p>
        </p:txBody>
      </p:sp>
      <p:grpSp>
        <p:nvGrpSpPr>
          <p:cNvPr id="2" name="그룹 1"/>
          <p:cNvGrpSpPr/>
          <p:nvPr/>
        </p:nvGrpSpPr>
        <p:grpSpPr>
          <a:xfrm flipV="1">
            <a:off x="3572250" y="3358932"/>
            <a:ext cx="2232248" cy="252385"/>
            <a:chOff x="2273923" y="2853997"/>
            <a:chExt cx="4545213" cy="250610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2273923" y="2853997"/>
              <a:ext cx="2271555" cy="0"/>
            </a:xfrm>
            <a:prstGeom prst="line">
              <a:avLst/>
            </a:prstGeom>
            <a:ln w="1905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>
              <a:off x="2273923" y="2853997"/>
              <a:ext cx="0" cy="250610"/>
            </a:xfrm>
            <a:prstGeom prst="line">
              <a:avLst/>
            </a:prstGeom>
            <a:ln w="1905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4547581" y="2853997"/>
              <a:ext cx="2271555" cy="0"/>
            </a:xfrm>
            <a:prstGeom prst="line">
              <a:avLst/>
            </a:prstGeom>
            <a:ln w="1905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819136" y="2853997"/>
              <a:ext cx="0" cy="250610"/>
            </a:xfrm>
            <a:prstGeom prst="line">
              <a:avLst/>
            </a:prstGeom>
            <a:ln w="1905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grpSp>
        <p:nvGrpSpPr>
          <p:cNvPr id="38" name="그룹 37"/>
          <p:cNvGrpSpPr/>
          <p:nvPr/>
        </p:nvGrpSpPr>
        <p:grpSpPr>
          <a:xfrm>
            <a:off x="3494049" y="3278591"/>
            <a:ext cx="156402" cy="321006"/>
            <a:chOff x="4645010" y="4116106"/>
            <a:chExt cx="156402" cy="321006"/>
          </a:xfrm>
        </p:grpSpPr>
        <p:sp>
          <p:nvSpPr>
            <p:cNvPr id="33" name="이등변 삼각형 3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645010" y="4116106"/>
              <a:ext cx="156402" cy="62068"/>
            </a:xfrm>
            <a:prstGeom prst="triangle">
              <a:avLst/>
            </a:prstGeom>
            <a:ln w="1270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>
              <a:off x="4723211" y="4196384"/>
              <a:ext cx="0" cy="240728"/>
            </a:xfrm>
            <a:prstGeom prst="line">
              <a:avLst/>
            </a:prstGeom>
            <a:ln w="1905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15E6F92-B9C8-4563-8C4E-646F583209B9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664968" y="3611317"/>
            <a:ext cx="0" cy="529096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grpSp>
        <p:nvGrpSpPr>
          <p:cNvPr id="39" name="그룹 38"/>
          <p:cNvGrpSpPr/>
          <p:nvPr/>
        </p:nvGrpSpPr>
        <p:grpSpPr>
          <a:xfrm>
            <a:off x="5725172" y="3260388"/>
            <a:ext cx="156402" cy="321006"/>
            <a:chOff x="4645010" y="4116106"/>
            <a:chExt cx="156402" cy="321006"/>
          </a:xfrm>
        </p:grpSpPr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645010" y="4116106"/>
              <a:ext cx="156402" cy="62068"/>
            </a:xfrm>
            <a:prstGeom prst="triangle">
              <a:avLst/>
            </a:prstGeom>
            <a:ln w="1270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>
              <a:off x="4723211" y="4196384"/>
              <a:ext cx="0" cy="240728"/>
            </a:xfrm>
            <a:prstGeom prst="line">
              <a:avLst/>
            </a:prstGeom>
            <a:ln w="1905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24" name="직사각형 23"/>
          <p:cNvSpPr/>
          <p:nvPr/>
        </p:nvSpPr>
        <p:spPr>
          <a:xfrm>
            <a:off x="2835135" y="2882571"/>
            <a:ext cx="1673217" cy="33354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latin typeface="+mn-ea"/>
              </a:rPr>
              <a:t>x()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4966764" y="2557057"/>
            <a:ext cx="1673217" cy="33354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latin typeface="+mn-ea"/>
              </a:rPr>
              <a:t>y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4966764" y="2882571"/>
            <a:ext cx="1673217" cy="33354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latin typeface="+mn-ea"/>
              </a:rPr>
              <a:t>y()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656856" y="4140413"/>
            <a:ext cx="2016224" cy="33354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i="1" dirty="0" err="1">
                <a:latin typeface="+mn-ea"/>
              </a:rPr>
              <a:t>Myinterface</a:t>
            </a:r>
            <a:endParaRPr lang="en-US" altLang="ko-KR" i="1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656856" y="4465927"/>
            <a:ext cx="2016224" cy="33354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i="1" dirty="0" err="1">
                <a:latin typeface="+mn-ea"/>
              </a:rPr>
              <a:t>myMethod</a:t>
            </a:r>
            <a:r>
              <a:rPr lang="en-US" altLang="ko-KR" i="1" dirty="0">
                <a:latin typeface="+mn-ea"/>
              </a:rPr>
              <a:t>()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656856" y="5255697"/>
            <a:ext cx="2016224" cy="33354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MyClass</a:t>
            </a:r>
            <a:endParaRPr lang="en-US" altLang="ko-KR" dirty="0"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4586767" y="4867080"/>
            <a:ext cx="156402" cy="321006"/>
            <a:chOff x="2851258" y="4405397"/>
            <a:chExt cx="156402" cy="321006"/>
          </a:xfrm>
        </p:grpSpPr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2851258" y="4405397"/>
              <a:ext cx="156402" cy="62068"/>
            </a:xfrm>
            <a:prstGeom prst="triangle">
              <a:avLst/>
            </a:prstGeom>
            <a:ln w="1270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>
              <a:off x="2929459" y="4485675"/>
              <a:ext cx="0" cy="240728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4746124" y="4854743"/>
            <a:ext cx="148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implements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803069" y="3555057"/>
            <a:ext cx="148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extends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83184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53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200" y="1685958"/>
            <a:ext cx="3671334" cy="1380960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1064568" y="119675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X </a:t>
            </a:r>
            <a:r>
              <a:rPr lang="ko-KR" altLang="en-US" sz="1600" b="1" dirty="0"/>
              <a:t>인터페이스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3200" y="119675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Y </a:t>
            </a:r>
            <a:r>
              <a:rPr lang="ko-KR" altLang="en-US" sz="1600" b="1" dirty="0"/>
              <a:t>인터페이스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6239" y="3430556"/>
            <a:ext cx="340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/>
              <a:t>MyInterface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인터페이스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645" y="3916052"/>
            <a:ext cx="5282728" cy="13443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87" y="1663667"/>
            <a:ext cx="3930122" cy="14568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884483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54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5" y="1626814"/>
            <a:ext cx="5372480" cy="39624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4568" y="1052736"/>
            <a:ext cx="304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MyClass</a:t>
            </a:r>
            <a:r>
              <a:rPr lang="en-US" altLang="ko-KR" b="1" dirty="0"/>
              <a:t> </a:t>
            </a:r>
            <a:r>
              <a:rPr lang="ko-KR" altLang="en-US" b="1" dirty="0"/>
              <a:t>구현</a:t>
            </a:r>
            <a:r>
              <a:rPr lang="en-US" altLang="ko-KR" b="1" dirty="0"/>
              <a:t> </a:t>
            </a:r>
            <a:r>
              <a:rPr lang="ko-KR" altLang="en-US" b="1" dirty="0"/>
              <a:t>클래스 </a:t>
            </a:r>
          </a:p>
        </p:txBody>
      </p:sp>
    </p:spTree>
    <p:extLst>
      <p:ext uri="{BB962C8B-B14F-4D97-AF65-F5344CB8AC3E}">
        <p14:creationId xmlns:p14="http://schemas.microsoft.com/office/powerpoint/2010/main" val="12955983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638092"/>
            <a:ext cx="6120680" cy="40141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4568" y="1052736"/>
            <a:ext cx="304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MyClass</a:t>
            </a:r>
            <a:r>
              <a:rPr lang="en-US" altLang="ko-KR" b="1" dirty="0"/>
              <a:t> </a:t>
            </a:r>
            <a:r>
              <a:rPr lang="ko-KR" altLang="en-US" b="1" dirty="0"/>
              <a:t>테스트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920" y="4563441"/>
            <a:ext cx="1432752" cy="13048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139952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활용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52736"/>
            <a:ext cx="8346132" cy="995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인터페이스 구현과 클래스 상속 함께 사용하기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/>
              <a:t>Queue </a:t>
            </a:r>
            <a:r>
              <a:rPr lang="ko-KR" altLang="en-US" sz="1800" dirty="0"/>
              <a:t>인터페이스를 구현하고 </a:t>
            </a:r>
            <a:r>
              <a:rPr lang="en-US" altLang="ko-KR" sz="1800" dirty="0"/>
              <a:t>shelf </a:t>
            </a:r>
            <a:r>
              <a:rPr lang="ko-KR" altLang="en-US" sz="1800" dirty="0"/>
              <a:t>클래스를 상속받는 </a:t>
            </a:r>
            <a:r>
              <a:rPr lang="en-US" altLang="ko-KR" sz="1800" dirty="0" err="1"/>
              <a:t>BookShelf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endParaRPr lang="en-US" altLang="ko-KR" sz="1800" dirty="0"/>
          </a:p>
        </p:txBody>
      </p:sp>
      <p:sp>
        <p:nvSpPr>
          <p:cNvPr id="8" name="직사각형 7"/>
          <p:cNvSpPr/>
          <p:nvPr/>
        </p:nvSpPr>
        <p:spPr>
          <a:xfrm>
            <a:off x="2144688" y="2536933"/>
            <a:ext cx="1673217" cy="69979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Shelf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368824" y="4242950"/>
            <a:ext cx="1689168" cy="54203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dirty="0" err="1">
                <a:latin typeface="+mn-ea"/>
              </a:rPr>
              <a:t>BookShelf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863959" y="2536933"/>
            <a:ext cx="1673217" cy="693727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600" dirty="0">
              <a:latin typeface="+mn-ea"/>
            </a:endParaRPr>
          </a:p>
          <a:p>
            <a:pPr algn="ctr"/>
            <a:r>
              <a:rPr lang="en-US" altLang="ko-KR" sz="1600" dirty="0">
                <a:latin typeface="+mn-ea"/>
              </a:rPr>
              <a:t>&lt;&lt;interface&gt;&gt; </a:t>
            </a:r>
          </a:p>
          <a:p>
            <a:pPr algn="ctr"/>
            <a:r>
              <a:rPr lang="en-US" altLang="ko-KR" i="1" dirty="0">
                <a:latin typeface="+mn-ea"/>
              </a:rPr>
              <a:t>Queue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V="1">
            <a:off x="3195622" y="3581169"/>
            <a:ext cx="1115608" cy="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3195622" y="3328784"/>
            <a:ext cx="0" cy="252385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4312262" y="3581169"/>
            <a:ext cx="1115608" cy="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5427870" y="3328784"/>
            <a:ext cx="0" cy="252385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grpSp>
        <p:nvGrpSpPr>
          <p:cNvPr id="14" name="그룹 13"/>
          <p:cNvGrpSpPr/>
          <p:nvPr/>
        </p:nvGrpSpPr>
        <p:grpSpPr>
          <a:xfrm>
            <a:off x="3117421" y="3248443"/>
            <a:ext cx="156402" cy="321006"/>
            <a:chOff x="4645010" y="4116106"/>
            <a:chExt cx="156402" cy="321006"/>
          </a:xfrm>
        </p:grpSpPr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645010" y="4116106"/>
              <a:ext cx="156402" cy="62068"/>
            </a:xfrm>
            <a:prstGeom prst="triangle">
              <a:avLst/>
            </a:prstGeom>
            <a:ln w="1270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>
              <a:off x="4723211" y="4196384"/>
              <a:ext cx="0" cy="240728"/>
            </a:xfrm>
            <a:prstGeom prst="line">
              <a:avLst/>
            </a:prstGeom>
            <a:ln w="19050"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15E6F92-B9C8-4563-8C4E-646F583209B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213408" y="3594670"/>
            <a:ext cx="0" cy="64828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grpSp>
        <p:nvGrpSpPr>
          <p:cNvPr id="16" name="그룹 15"/>
          <p:cNvGrpSpPr/>
          <p:nvPr/>
        </p:nvGrpSpPr>
        <p:grpSpPr>
          <a:xfrm>
            <a:off x="5348544" y="3230240"/>
            <a:ext cx="156402" cy="321006"/>
            <a:chOff x="4645010" y="4116106"/>
            <a:chExt cx="156402" cy="321006"/>
          </a:xfrm>
        </p:grpSpPr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645010" y="4116106"/>
              <a:ext cx="156402" cy="62068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>
              <a:off x="4723211" y="4196384"/>
              <a:ext cx="0" cy="240728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4620368" y="3569667"/>
            <a:ext cx="148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implements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817906" y="3594709"/>
            <a:ext cx="112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extends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28267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활용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57</a:t>
            </a:fld>
            <a:endParaRPr lang="ko-KR" altLang="en-US"/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188834"/>
              </p:ext>
            </p:extLst>
          </p:nvPr>
        </p:nvGraphicFramePr>
        <p:xfrm>
          <a:off x="3374060" y="2071663"/>
          <a:ext cx="2621284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미생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미생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미생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784648" y="2056799"/>
            <a:ext cx="115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deQueue</a:t>
            </a:r>
            <a:endParaRPr lang="ko-KR" altLang="en-US" dirty="0"/>
          </a:p>
        </p:txBody>
      </p:sp>
      <p:cxnSp>
        <p:nvCxnSpPr>
          <p:cNvPr id="30" name="직선 화살표 연결선 29"/>
          <p:cNvCxnSpPr/>
          <p:nvPr/>
        </p:nvCxnSpPr>
        <p:spPr>
          <a:xfrm flipH="1">
            <a:off x="2988882" y="2279352"/>
            <a:ext cx="385178" cy="0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H="1">
            <a:off x="5995344" y="2279352"/>
            <a:ext cx="385178" cy="0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6364034" y="2060938"/>
            <a:ext cx="1132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enQueue</a:t>
            </a:r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0175" y="1052736"/>
            <a:ext cx="7831257" cy="946919"/>
          </a:xfrm>
          <a:prstGeom prst="roundRect">
            <a:avLst/>
          </a:prstGeom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002060"/>
                </a:solidFill>
              </a:rPr>
              <a:t>큐</a:t>
            </a:r>
            <a:r>
              <a:rPr lang="en-US" altLang="ko-KR" sz="1800" b="1" dirty="0">
                <a:solidFill>
                  <a:srgbClr val="002060"/>
                </a:solidFill>
              </a:rPr>
              <a:t>(Queue) </a:t>
            </a:r>
            <a:r>
              <a:rPr lang="ko-KR" altLang="en-US" sz="1800" b="1" dirty="0">
                <a:solidFill>
                  <a:srgbClr val="002060"/>
                </a:solidFill>
              </a:rPr>
              <a:t>자료 구조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 </a:t>
            </a:r>
            <a:r>
              <a:rPr lang="en-US" altLang="ko-KR" sz="1800" b="1" dirty="0"/>
              <a:t>Queue</a:t>
            </a:r>
            <a:r>
              <a:rPr lang="en-US" altLang="ko-KR" sz="1600" dirty="0">
                <a:solidFill>
                  <a:srgbClr val="002060"/>
                </a:solidFill>
              </a:rPr>
              <a:t> : </a:t>
            </a:r>
            <a:r>
              <a:rPr lang="ko-KR" altLang="en-US" sz="1600" dirty="0">
                <a:solidFill>
                  <a:srgbClr val="002060"/>
                </a:solidFill>
              </a:rPr>
              <a:t>선입선출</a:t>
            </a:r>
            <a:r>
              <a:rPr lang="en-US" altLang="ko-KR" sz="1600" dirty="0">
                <a:solidFill>
                  <a:srgbClr val="002060"/>
                </a:solidFill>
              </a:rPr>
              <a:t>(</a:t>
            </a:r>
            <a:r>
              <a:rPr lang="ko-KR" altLang="en-US" sz="1600" dirty="0">
                <a:solidFill>
                  <a:srgbClr val="002060"/>
                </a:solidFill>
              </a:rPr>
              <a:t>먼저 들어온 자료가 먼저 나옴</a:t>
            </a:r>
            <a:r>
              <a:rPr lang="en-US" altLang="ko-KR" sz="1600" dirty="0">
                <a:solidFill>
                  <a:srgbClr val="002060"/>
                </a:solidFill>
              </a:rPr>
              <a:t>) -&gt; </a:t>
            </a:r>
            <a:r>
              <a:rPr lang="ko-KR" altLang="en-US" sz="1600" dirty="0">
                <a:solidFill>
                  <a:srgbClr val="002060"/>
                </a:solidFill>
              </a:rPr>
              <a:t>선착순</a:t>
            </a:r>
            <a:r>
              <a:rPr lang="en-US" altLang="ko-KR" sz="1600" dirty="0">
                <a:solidFill>
                  <a:srgbClr val="002060"/>
                </a:solidFill>
              </a:rPr>
              <a:t>, </a:t>
            </a:r>
            <a:r>
              <a:rPr lang="ko-KR" altLang="en-US" sz="1600" dirty="0">
                <a:solidFill>
                  <a:srgbClr val="002060"/>
                </a:solidFill>
              </a:rPr>
              <a:t>지하철 타기</a:t>
            </a:r>
            <a:endParaRPr lang="en-US" altLang="ko-KR" sz="1600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2737521"/>
            <a:ext cx="6870745" cy="26465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85465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활용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64568" y="112474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Shelf </a:t>
            </a:r>
            <a:r>
              <a:rPr lang="ko-KR" altLang="en-US" b="1" dirty="0"/>
              <a:t>클래스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628800"/>
            <a:ext cx="5828888" cy="30963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892163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445" y="1701150"/>
            <a:ext cx="6911939" cy="41761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활용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4228789" y="1607656"/>
            <a:ext cx="1449253" cy="432049"/>
          </a:xfrm>
          <a:prstGeom prst="roundRect">
            <a:avLst>
              <a:gd name="adj" fmla="val 13110"/>
            </a:avLst>
          </a:prstGeom>
          <a:noFill/>
          <a:ln w="285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740957" y="1590366"/>
            <a:ext cx="1944216" cy="432048"/>
          </a:xfrm>
          <a:prstGeom prst="roundRect">
            <a:avLst>
              <a:gd name="adj" fmla="val 13110"/>
            </a:avLst>
          </a:prstGeom>
          <a:noFill/>
          <a:ln w="285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 flipH="1">
            <a:off x="4804853" y="2133198"/>
            <a:ext cx="710327" cy="338554"/>
          </a:xfrm>
          <a:prstGeom prst="borderCallout1">
            <a:avLst>
              <a:gd name="adj1" fmla="val 19362"/>
              <a:gd name="adj2" fmla="val 53994"/>
              <a:gd name="adj3" fmla="val -69510"/>
              <a:gd name="adj4" fmla="val 4639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>
                <a:solidFill>
                  <a:srgbClr val="002060"/>
                </a:solidFill>
                <a:latin typeface="+mn-ea"/>
              </a:rPr>
              <a:t>상속</a:t>
            </a:r>
            <a:endParaRPr lang="ko-KR" altLang="en-US" sz="1600" dirty="0">
              <a:solidFill>
                <a:srgbClr val="C0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 flipH="1">
            <a:off x="6677061" y="2205206"/>
            <a:ext cx="710327" cy="338554"/>
          </a:xfrm>
          <a:prstGeom prst="borderCallout1">
            <a:avLst>
              <a:gd name="adj1" fmla="val -644"/>
              <a:gd name="adj2" fmla="val 48034"/>
              <a:gd name="adj3" fmla="val -89517"/>
              <a:gd name="adj4" fmla="val 7309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2060"/>
                </a:solidFill>
                <a:latin typeface="+mn-ea"/>
              </a:rPr>
              <a:t>구현</a:t>
            </a:r>
            <a:endParaRPr lang="ko-KR" altLang="en-US" sz="1600" dirty="0">
              <a:solidFill>
                <a:srgbClr val="C0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4568" y="112508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BookShelf</a:t>
            </a:r>
            <a:r>
              <a:rPr lang="en-US" altLang="ko-KR" b="1" dirty="0"/>
              <a:t> </a:t>
            </a:r>
            <a:r>
              <a:rPr lang="ko-KR" altLang="en-US" b="1" dirty="0"/>
              <a:t>클래스</a:t>
            </a:r>
          </a:p>
        </p:txBody>
      </p:sp>
    </p:spTree>
    <p:extLst>
      <p:ext uri="{BB962C8B-B14F-4D97-AF65-F5344CB8AC3E}">
        <p14:creationId xmlns:p14="http://schemas.microsoft.com/office/powerpoint/2010/main" val="131895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인터페이스 활용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64568" y="1124744"/>
            <a:ext cx="3043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BookShelfTest</a:t>
            </a:r>
            <a:r>
              <a:rPr lang="en-US" altLang="ko-KR" b="1" dirty="0"/>
              <a:t> </a:t>
            </a:r>
            <a:r>
              <a:rPr lang="ko-KR" altLang="en-US" b="1" dirty="0"/>
              <a:t>클래스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628800"/>
            <a:ext cx="7290276" cy="44499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57767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내부</a:t>
            </a:r>
            <a:r>
              <a:rPr lang="en-US" altLang="ko-KR" dirty="0"/>
              <a:t>(</a:t>
            </a:r>
            <a:r>
              <a:rPr lang="ko-KR" altLang="en-US" dirty="0"/>
              <a:t>중첩</a:t>
            </a:r>
            <a:r>
              <a:rPr lang="en-US" altLang="ko-KR" dirty="0"/>
              <a:t>)</a:t>
            </a:r>
            <a:r>
              <a:rPr lang="ko-KR" altLang="en-US" dirty="0"/>
              <a:t> 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7" y="980728"/>
            <a:ext cx="4508975" cy="7200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내부 인터페이스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712639" y="3016019"/>
            <a:ext cx="5544616" cy="23571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C00000"/>
                </a:solidFill>
                <a:latin typeface="+mn-ea"/>
              </a:rPr>
              <a:t>class</a:t>
            </a:r>
            <a:r>
              <a:rPr lang="en-US" altLang="ko-KR" dirty="0">
                <a:latin typeface="+mn-ea"/>
              </a:rPr>
              <a:t> Button{</a:t>
            </a:r>
          </a:p>
          <a:p>
            <a:endParaRPr lang="en-US" altLang="ko-KR" dirty="0">
              <a:latin typeface="+mn-ea"/>
            </a:endParaRPr>
          </a:p>
          <a:p>
            <a:r>
              <a:rPr lang="en-US" altLang="ko-KR" b="1" dirty="0">
                <a:latin typeface="+mn-ea"/>
              </a:rPr>
              <a:t>    interface </a:t>
            </a:r>
            <a:r>
              <a:rPr lang="en-US" altLang="ko-KR" dirty="0" err="1">
                <a:latin typeface="+mn-ea"/>
              </a:rPr>
              <a:t>OnClickListener</a:t>
            </a:r>
            <a:r>
              <a:rPr lang="en-US" altLang="ko-KR" dirty="0">
                <a:latin typeface="+mn-ea"/>
              </a:rPr>
              <a:t>{</a:t>
            </a:r>
          </a:p>
          <a:p>
            <a:r>
              <a:rPr lang="en-US" altLang="ko-KR" dirty="0">
                <a:latin typeface="+mn-ea"/>
              </a:rPr>
              <a:t>      …..</a:t>
            </a:r>
          </a:p>
          <a:p>
            <a:r>
              <a:rPr lang="en-US" altLang="ko-KR" dirty="0">
                <a:latin typeface="+mn-ea"/>
              </a:rPr>
              <a:t>    }</a:t>
            </a:r>
          </a:p>
          <a:p>
            <a:r>
              <a:rPr lang="en-US" altLang="ko-KR" dirty="0">
                <a:latin typeface="+mn-ea"/>
              </a:rPr>
              <a:t>}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640631" y="3284984"/>
            <a:ext cx="4248470" cy="1728192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000671" y="3861048"/>
            <a:ext cx="2916322" cy="1061053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692418" y="3501009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4952999" y="4261799"/>
            <a:ext cx="8910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5784367" y="3284985"/>
            <a:ext cx="1364044" cy="432048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외부 클래스</a:t>
            </a:r>
            <a:endParaRPr lang="ko-KR" altLang="en-US" sz="16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5821203" y="4032647"/>
            <a:ext cx="2012116" cy="432048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내부 인터페이스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80050" y="1516142"/>
            <a:ext cx="7749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클래스의 멤버로 선언된 인터페이스를 중첩 인터페이스라 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인터페이스를 클래스 내부에 선언하는 이유는 해당 클래스와 긴밀한 관계를 맺는 구현 클래스를 만들기 위함이다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091309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내부</a:t>
            </a:r>
            <a:r>
              <a:rPr lang="en-US" altLang="ko-KR" dirty="0"/>
              <a:t>(</a:t>
            </a:r>
            <a:r>
              <a:rPr lang="ko-KR" altLang="en-US" dirty="0"/>
              <a:t>중첩</a:t>
            </a:r>
            <a:r>
              <a:rPr lang="en-US" altLang="ko-KR" dirty="0"/>
              <a:t>)</a:t>
            </a:r>
            <a:r>
              <a:rPr lang="ko-KR" altLang="en-US" dirty="0"/>
              <a:t> 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62</a:t>
            </a:fld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4608228" y="2856397"/>
            <a:ext cx="156199" cy="755249"/>
            <a:chOff x="4486679" y="2931992"/>
            <a:chExt cx="119329" cy="607298"/>
          </a:xfrm>
        </p:grpSpPr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486679" y="2931992"/>
              <a:ext cx="119329" cy="124136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4546344" y="3056128"/>
              <a:ext cx="0" cy="232552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>
              <a:off x="4547581" y="3288680"/>
              <a:ext cx="0" cy="25061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cxnSp>
        <p:nvCxnSpPr>
          <p:cNvPr id="24" name="직선 연결선 23"/>
          <p:cNvCxnSpPr/>
          <p:nvPr/>
        </p:nvCxnSpPr>
        <p:spPr>
          <a:xfrm>
            <a:off x="2504728" y="3375065"/>
            <a:ext cx="2271555" cy="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2504728" y="3375065"/>
            <a:ext cx="0" cy="25061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4778386" y="3375065"/>
            <a:ext cx="2271555" cy="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7049941" y="3375065"/>
            <a:ext cx="0" cy="25061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28" name="직사각형 27"/>
          <p:cNvSpPr/>
          <p:nvPr/>
        </p:nvSpPr>
        <p:spPr>
          <a:xfrm>
            <a:off x="3800872" y="3641203"/>
            <a:ext cx="1949621" cy="666269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dirty="0" err="1">
                <a:latin typeface="+mn-ea"/>
              </a:rPr>
              <a:t>MessageListener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568624" y="3641203"/>
            <a:ext cx="1888558" cy="666269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dirty="0" err="1">
                <a:latin typeface="+mn-ea"/>
              </a:rPr>
              <a:t>CallListener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033120" y="3641203"/>
            <a:ext cx="1944216" cy="666269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dirty="0" err="1">
                <a:latin typeface="+mn-ea"/>
              </a:rPr>
              <a:t>PhotoListener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75682" y="2966188"/>
            <a:ext cx="148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implements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714219" y="1988840"/>
            <a:ext cx="1944216" cy="815427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</a:t>
            </a:r>
          </a:p>
          <a:p>
            <a:pPr algn="ctr"/>
            <a:r>
              <a:rPr lang="en-US" altLang="ko-KR" sz="1600" dirty="0">
                <a:latin typeface="+mn-ea"/>
              </a:rPr>
              <a:t>&lt;&lt;interface&gt;&gt;</a:t>
            </a:r>
          </a:p>
          <a:p>
            <a:pPr algn="ctr"/>
            <a:r>
              <a:rPr lang="en-US" altLang="ko-KR" i="1" dirty="0" err="1">
                <a:latin typeface="+mn-ea"/>
              </a:rPr>
              <a:t>OnClickListener</a:t>
            </a:r>
            <a:endParaRPr lang="en-US" altLang="ko-KR" i="1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568" y="1124744"/>
            <a:ext cx="6768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버튼을 </a:t>
            </a:r>
            <a:r>
              <a:rPr lang="ko-KR" altLang="en-US" sz="2000" b="1" dirty="0" err="1">
                <a:solidFill>
                  <a:srgbClr val="C00000"/>
                </a:solidFill>
              </a:rPr>
              <a:t>클릭했을때</a:t>
            </a:r>
            <a:r>
              <a:rPr lang="ko-KR" altLang="en-US" sz="2000" b="1" dirty="0">
                <a:solidFill>
                  <a:srgbClr val="C00000"/>
                </a:solidFill>
              </a:rPr>
              <a:t> 이벤트를 처리하는 객체 만들기</a:t>
            </a:r>
          </a:p>
        </p:txBody>
      </p:sp>
    </p:spTree>
    <p:extLst>
      <p:ext uri="{BB962C8B-B14F-4D97-AF65-F5344CB8AC3E}">
        <p14:creationId xmlns:p14="http://schemas.microsoft.com/office/powerpoint/2010/main" val="26514089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내부</a:t>
            </a:r>
            <a:r>
              <a:rPr lang="en-US" altLang="ko-KR" dirty="0"/>
              <a:t>(</a:t>
            </a:r>
            <a:r>
              <a:rPr lang="ko-KR" altLang="en-US" dirty="0"/>
              <a:t>중첩</a:t>
            </a:r>
            <a:r>
              <a:rPr lang="en-US" altLang="ko-KR" dirty="0"/>
              <a:t>)</a:t>
            </a:r>
            <a:r>
              <a:rPr lang="ko-KR" altLang="en-US" dirty="0"/>
              <a:t> 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7" y="980728"/>
            <a:ext cx="4508975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내부 인터페이스 사용 예제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628800"/>
            <a:ext cx="6763734" cy="4320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8" name="모서리가 둥근 직사각형 17"/>
          <p:cNvSpPr/>
          <p:nvPr/>
        </p:nvSpPr>
        <p:spPr>
          <a:xfrm>
            <a:off x="1640632" y="2861236"/>
            <a:ext cx="5328592" cy="936104"/>
          </a:xfrm>
          <a:prstGeom prst="roundRect">
            <a:avLst>
              <a:gd name="adj" fmla="val 13110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3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내부</a:t>
            </a:r>
            <a:r>
              <a:rPr lang="en-US" altLang="ko-KR" dirty="0"/>
              <a:t>(</a:t>
            </a:r>
            <a:r>
              <a:rPr lang="ko-KR" altLang="en-US" dirty="0"/>
              <a:t>중첩</a:t>
            </a:r>
            <a:r>
              <a:rPr lang="en-US" altLang="ko-KR" dirty="0"/>
              <a:t>)</a:t>
            </a:r>
            <a:r>
              <a:rPr lang="ko-KR" altLang="en-US" dirty="0"/>
              <a:t> 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4941023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내부 인터페이스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구현 클래스 만들기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273" y="1772816"/>
            <a:ext cx="7049111" cy="19127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273" y="3861048"/>
            <a:ext cx="7049111" cy="16765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310296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내부</a:t>
            </a:r>
            <a:r>
              <a:rPr lang="en-US" altLang="ko-KR" dirty="0"/>
              <a:t>(</a:t>
            </a:r>
            <a:r>
              <a:rPr lang="ko-KR" altLang="en-US" dirty="0"/>
              <a:t>중첩</a:t>
            </a:r>
            <a:r>
              <a:rPr lang="en-US" altLang="ko-KR" dirty="0"/>
              <a:t>)</a:t>
            </a:r>
            <a:r>
              <a:rPr lang="ko-KR" altLang="en-US" dirty="0"/>
              <a:t> 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00"/>
          <a:stretch/>
        </p:blipFill>
        <p:spPr>
          <a:xfrm>
            <a:off x="7905328" y="4437112"/>
            <a:ext cx="1650423" cy="5400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1700808"/>
            <a:ext cx="6368160" cy="37304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80728"/>
            <a:ext cx="5445079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내부 인터페이스 테스트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75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6161</TotalTime>
  <Words>1538</Words>
  <Application>Microsoft Office PowerPoint</Application>
  <PresentationFormat>A4 용지(210x297mm)</PresentationFormat>
  <Paragraphs>455</Paragraphs>
  <Slides>65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4" baseType="lpstr">
      <vt:lpstr>HY엽서M</vt:lpstr>
      <vt:lpstr>HY헤드라인M</vt:lpstr>
      <vt:lpstr>맑은 고딕</vt:lpstr>
      <vt:lpstr>한컴산뜻돋움</vt:lpstr>
      <vt:lpstr>휴먼모음T</vt:lpstr>
      <vt:lpstr>휴먼엑스포</vt:lpstr>
      <vt:lpstr>Arial</vt:lpstr>
      <vt:lpstr>Wingdings</vt:lpstr>
      <vt:lpstr>Office 테마</vt:lpstr>
      <vt:lpstr>6장. 추상클래스, 인터페이스</vt:lpstr>
      <vt:lpstr> 추상 클래스(abstract class)</vt:lpstr>
      <vt:lpstr> 추상 클래스(abstract class)</vt:lpstr>
      <vt:lpstr> 추상 클래스(abstract class)</vt:lpstr>
      <vt:lpstr> 추상 메서드</vt:lpstr>
      <vt:lpstr> 추상 메서드</vt:lpstr>
      <vt:lpstr> 추상 메서드</vt:lpstr>
      <vt:lpstr> 추상 메서드</vt:lpstr>
      <vt:lpstr> 추상 클래스(abstract class)</vt:lpstr>
      <vt:lpstr> 추상 클래스 실습</vt:lpstr>
      <vt:lpstr> 추상 클래스 실습</vt:lpstr>
      <vt:lpstr> 추상 클래스 실습</vt:lpstr>
      <vt:lpstr> 추상 클래스 실습</vt:lpstr>
      <vt:lpstr> final 예약어</vt:lpstr>
      <vt:lpstr> final 상수</vt:lpstr>
      <vt:lpstr> final 상수</vt:lpstr>
      <vt:lpstr> final 클래스</vt:lpstr>
      <vt:lpstr> 템플릿 메서드</vt:lpstr>
      <vt:lpstr> 템플릿 메서드</vt:lpstr>
      <vt:lpstr> 템플릿 메서드</vt:lpstr>
      <vt:lpstr> 템플릿 메서드</vt:lpstr>
      <vt:lpstr> 템플릿 메서드</vt:lpstr>
      <vt:lpstr> Game Level  App</vt:lpstr>
      <vt:lpstr> Game Level  App</vt:lpstr>
      <vt:lpstr> Game Level  App</vt:lpstr>
      <vt:lpstr> Game Level  App</vt:lpstr>
      <vt:lpstr> Game Level  App</vt:lpstr>
      <vt:lpstr> Game Level  App</vt:lpstr>
      <vt:lpstr> Game Level  App</vt:lpstr>
      <vt:lpstr> 인터페이스(Interface)</vt:lpstr>
      <vt:lpstr> 인터페이스(Interface)</vt:lpstr>
      <vt:lpstr> 인터페이스(Interface)</vt:lpstr>
      <vt:lpstr> 인터페이스(Interface)</vt:lpstr>
      <vt:lpstr> 인터페이스(Interface)</vt:lpstr>
      <vt:lpstr> 인터페이스(Interface)</vt:lpstr>
      <vt:lpstr> 인터페이스 구성 요소</vt:lpstr>
      <vt:lpstr> 인터페이스와 다형성</vt:lpstr>
      <vt:lpstr> 인터페이스</vt:lpstr>
      <vt:lpstr> 인터페이스</vt:lpstr>
      <vt:lpstr> 인터페이스</vt:lpstr>
      <vt:lpstr> 인터페이스</vt:lpstr>
      <vt:lpstr> 인터페이스</vt:lpstr>
      <vt:lpstr> 다중 인터페이스 구현</vt:lpstr>
      <vt:lpstr> 다중 인터페이스</vt:lpstr>
      <vt:lpstr> 다중 인터페이스</vt:lpstr>
      <vt:lpstr> 다중 인터페이스</vt:lpstr>
      <vt:lpstr> 인터페이스와 다형성</vt:lpstr>
      <vt:lpstr> 인터페이스와 다형성</vt:lpstr>
      <vt:lpstr> 인터페이스와 다형성</vt:lpstr>
      <vt:lpstr> 인터페이스와 다형성</vt:lpstr>
      <vt:lpstr> 인터페이스와 다형성</vt:lpstr>
      <vt:lpstr> 인터페이스 상속</vt:lpstr>
      <vt:lpstr> 인터페이스 상속</vt:lpstr>
      <vt:lpstr> 인터페이스 상속</vt:lpstr>
      <vt:lpstr> 인터페이스 상속</vt:lpstr>
      <vt:lpstr> 인터페이스 활용</vt:lpstr>
      <vt:lpstr> 인터페이스 활용</vt:lpstr>
      <vt:lpstr> 인터페이스 활용</vt:lpstr>
      <vt:lpstr> 인터페이스 활용</vt:lpstr>
      <vt:lpstr> 인터페이스 활용</vt:lpstr>
      <vt:lpstr> 내부(중첩) 인터페이스</vt:lpstr>
      <vt:lpstr> 내부(중첩) 인터페이스</vt:lpstr>
      <vt:lpstr> 내부(중첩) 인터페이스</vt:lpstr>
      <vt:lpstr> 내부(중첩) 인터페이스</vt:lpstr>
      <vt:lpstr> 내부(중첩) 인터페이스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488</cp:revision>
  <dcterms:created xsi:type="dcterms:W3CDTF">2019-03-04T02:36:55Z</dcterms:created>
  <dcterms:modified xsi:type="dcterms:W3CDTF">2026-07-28T08:31:41Z</dcterms:modified>
</cp:coreProperties>
</file>