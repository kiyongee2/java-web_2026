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72"/>
  </p:notesMasterIdLst>
  <p:sldIdLst>
    <p:sldId id="256" r:id="rId2"/>
    <p:sldId id="412" r:id="rId3"/>
    <p:sldId id="413" r:id="rId4"/>
    <p:sldId id="414" r:id="rId5"/>
    <p:sldId id="415" r:id="rId6"/>
    <p:sldId id="416" r:id="rId7"/>
    <p:sldId id="483" r:id="rId8"/>
    <p:sldId id="419" r:id="rId9"/>
    <p:sldId id="418" r:id="rId10"/>
    <p:sldId id="484" r:id="rId11"/>
    <p:sldId id="423" r:id="rId12"/>
    <p:sldId id="485" r:id="rId13"/>
    <p:sldId id="422" r:id="rId14"/>
    <p:sldId id="425" r:id="rId15"/>
    <p:sldId id="486" r:id="rId16"/>
    <p:sldId id="427" r:id="rId17"/>
    <p:sldId id="428" r:id="rId18"/>
    <p:sldId id="439" r:id="rId19"/>
    <p:sldId id="430" r:id="rId20"/>
    <p:sldId id="429" r:id="rId21"/>
    <p:sldId id="487" r:id="rId22"/>
    <p:sldId id="488" r:id="rId23"/>
    <p:sldId id="489" r:id="rId24"/>
    <p:sldId id="490" r:id="rId25"/>
    <p:sldId id="432" r:id="rId26"/>
    <p:sldId id="482" r:id="rId27"/>
    <p:sldId id="433" r:id="rId28"/>
    <p:sldId id="434" r:id="rId29"/>
    <p:sldId id="435" r:id="rId30"/>
    <p:sldId id="436" r:id="rId31"/>
    <p:sldId id="437" r:id="rId32"/>
    <p:sldId id="438" r:id="rId33"/>
    <p:sldId id="441" r:id="rId34"/>
    <p:sldId id="491" r:id="rId35"/>
    <p:sldId id="442" r:id="rId36"/>
    <p:sldId id="443" r:id="rId37"/>
    <p:sldId id="445" r:id="rId38"/>
    <p:sldId id="446" r:id="rId39"/>
    <p:sldId id="447" r:id="rId40"/>
    <p:sldId id="448" r:id="rId41"/>
    <p:sldId id="449" r:id="rId42"/>
    <p:sldId id="450" r:id="rId43"/>
    <p:sldId id="492" r:id="rId44"/>
    <p:sldId id="493" r:id="rId45"/>
    <p:sldId id="454" r:id="rId46"/>
    <p:sldId id="455" r:id="rId47"/>
    <p:sldId id="456" r:id="rId48"/>
    <p:sldId id="464" r:id="rId49"/>
    <p:sldId id="466" r:id="rId50"/>
    <p:sldId id="478" r:id="rId51"/>
    <p:sldId id="505" r:id="rId52"/>
    <p:sldId id="494" r:id="rId53"/>
    <p:sldId id="501" r:id="rId54"/>
    <p:sldId id="495" r:id="rId55"/>
    <p:sldId id="496" r:id="rId56"/>
    <p:sldId id="465" r:id="rId57"/>
    <p:sldId id="499" r:id="rId58"/>
    <p:sldId id="500" r:id="rId59"/>
    <p:sldId id="467" r:id="rId60"/>
    <p:sldId id="468" r:id="rId61"/>
    <p:sldId id="469" r:id="rId62"/>
    <p:sldId id="470" r:id="rId63"/>
    <p:sldId id="471" r:id="rId64"/>
    <p:sldId id="472" r:id="rId65"/>
    <p:sldId id="504" r:id="rId66"/>
    <p:sldId id="502" r:id="rId67"/>
    <p:sldId id="503" r:id="rId68"/>
    <p:sldId id="473" r:id="rId69"/>
    <p:sldId id="474" r:id="rId70"/>
    <p:sldId id="475" r:id="rId71"/>
  </p:sldIdLst>
  <p:sldSz cx="9906000" cy="6858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6C0A"/>
    <a:srgbClr val="548235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8B1032C-EA38-4F05-BA0D-38AFFFC7BED3}" styleName="밝은 스타일 3 - 강조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34" autoAdjust="0"/>
    <p:restoredTop sz="94660"/>
  </p:normalViewPr>
  <p:slideViewPr>
    <p:cSldViewPr>
      <p:cViewPr varScale="1">
        <p:scale>
          <a:sx n="88" d="100"/>
          <a:sy n="88" d="100"/>
        </p:scale>
        <p:origin x="974" y="67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65CDAC-D627-4E87-877A-1B781DD4CADC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ADDD8A-FD4C-4C63-90D4-202AFE8080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964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DDD8A-FD4C-4C63-90D4-202AFE8080B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88635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222697" y="1379513"/>
            <a:ext cx="6862345" cy="1226567"/>
          </a:xfrm>
        </p:spPr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222696" y="2667615"/>
            <a:ext cx="7683303" cy="478904"/>
          </a:xfrm>
          <a:solidFill>
            <a:schemeClr val="accent5">
              <a:lumMod val="60000"/>
              <a:lumOff val="40000"/>
            </a:schemeClr>
          </a:solidFill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81B4-D91A-4578-85B3-829E63FCFE17}" type="datetime1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/>
          <p:cNvSpPr/>
          <p:nvPr userDrawn="1"/>
        </p:nvSpPr>
        <p:spPr>
          <a:xfrm>
            <a:off x="0" y="0"/>
            <a:ext cx="2144688" cy="68580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 userDrawn="1"/>
        </p:nvSpPr>
        <p:spPr>
          <a:xfrm>
            <a:off x="0" y="2691044"/>
            <a:ext cx="2144688" cy="48618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" name="이등변 삼각형 8"/>
          <p:cNvSpPr/>
          <p:nvPr userDrawn="1"/>
        </p:nvSpPr>
        <p:spPr>
          <a:xfrm rot="5400000">
            <a:off x="1333915" y="2721729"/>
            <a:ext cx="432048" cy="370679"/>
          </a:xfrm>
          <a:prstGeom prst="triangle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" name="이등변 삼각형 9"/>
          <p:cNvSpPr/>
          <p:nvPr userDrawn="1"/>
        </p:nvSpPr>
        <p:spPr>
          <a:xfrm rot="5400000">
            <a:off x="1704594" y="2721730"/>
            <a:ext cx="432048" cy="370679"/>
          </a:xfrm>
          <a:prstGeom prst="triangle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6718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ko-KR" altLang="en-US" dirty="0" smtClean="0"/>
              <a:t> 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FDEC8-1339-42E8-9704-2977280C2FD3}" type="datetime1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9342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8DC76-A282-4817-B790-197F054E1215}" type="datetime1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5474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555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0AA6C-13D8-43E4-90F0-E6C88A2B9F16}" type="datetime1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6685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5B03B-20CC-436E-8601-C933C6C1F4A6}" type="datetime1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3145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5A15D-8B08-482F-AB47-E416EC355EB6}" type="datetime1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5068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7D7F8-7B64-44F8-A411-CBD22F28CBFF}" type="datetime1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5332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DBD9B-2BB6-4D1F-BCB4-1E48829C93C3}" type="datetime1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1044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64C48-0CD7-40EB-BE64-BBF4DB8C56AF}" type="datetime1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0273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77542-37E5-48F2-BAE7-80CC6B0EB6A3}" type="datetime1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7806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CF174-B5AC-4A98-B673-0BE8126D3F27}" type="datetime1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1854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124744"/>
            <a:ext cx="8915400" cy="5040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6BCB4-B68B-4638-8167-F4BDC0A30DA1}" type="datetime1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-39555" y="6525344"/>
            <a:ext cx="9945555" cy="332656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906000" cy="836712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0" y="-18256"/>
            <a:ext cx="6201139" cy="854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 smtClean="0"/>
              <a:t>  마스터 제목 스타일 편집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841432" y="6525344"/>
            <a:ext cx="5572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bg1"/>
                </a:solidFill>
              </a:defRPr>
            </a:lvl1pPr>
          </a:lstStyle>
          <a:p>
            <a:fld id="{1BDE3FE7-3AEA-4B05-AC5A-802D1816ACF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9" name="그림 8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928" y="6412104"/>
            <a:ext cx="381583" cy="352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25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3200" kern="1200">
          <a:solidFill>
            <a:schemeClr val="bg1">
              <a:lumMod val="95000"/>
            </a:schemeClr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222697" y="1379513"/>
            <a:ext cx="7050783" cy="1226567"/>
          </a:xfrm>
        </p:spPr>
        <p:txBody>
          <a:bodyPr>
            <a:normAutofit/>
          </a:bodyPr>
          <a:lstStyle/>
          <a:p>
            <a:r>
              <a:rPr lang="en-US" altLang="ko-KR" sz="2800" b="1" dirty="0" smtClean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3</a:t>
            </a:r>
            <a:r>
              <a:rPr lang="ko-KR" altLang="en-US" sz="2800" b="1" dirty="0" smtClean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장</a:t>
            </a:r>
            <a:r>
              <a:rPr lang="en-US" altLang="ko-KR" sz="2800" b="1" dirty="0" smtClean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. Spring Data</a:t>
            </a:r>
            <a:r>
              <a:rPr lang="ko-KR" altLang="en-US" sz="2800" b="1" dirty="0" smtClean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 </a:t>
            </a:r>
            <a:r>
              <a:rPr lang="en-US" altLang="ko-KR" sz="2800" b="1" dirty="0" smtClean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JPA</a:t>
            </a:r>
            <a:endParaRPr lang="ko-KR" altLang="en-US" sz="2800" b="1" dirty="0">
              <a:solidFill>
                <a:schemeClr val="tx1"/>
              </a:solidFill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222697" y="2670822"/>
            <a:ext cx="7683303" cy="504055"/>
          </a:xfrm>
          <a:solidFill>
            <a:schemeClr val="accent5">
              <a:lumMod val="40000"/>
              <a:lumOff val="60000"/>
            </a:schemeClr>
          </a:solidFill>
        </p:spPr>
        <p:txBody>
          <a:bodyPr anchor="ctr" anchorCtr="0">
            <a:noAutofit/>
          </a:bodyPr>
          <a:lstStyle/>
          <a:p>
            <a:pPr algn="l"/>
            <a:r>
              <a:rPr lang="en-US" altLang="ko-KR" sz="1600" i="1" dirty="0" smtClean="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JPA – </a:t>
            </a:r>
            <a:r>
              <a:rPr lang="en-US" altLang="ko-KR" sz="1600" i="1" dirty="0" err="1" smtClean="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mysql</a:t>
            </a:r>
            <a:r>
              <a:rPr lang="en-US" altLang="ko-KR" sz="1600" i="1" dirty="0" smtClean="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, </a:t>
            </a:r>
            <a:r>
              <a:rPr lang="en-US" altLang="ko-KR" sz="1600" i="1" dirty="0" err="1" smtClean="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jUnit</a:t>
            </a:r>
            <a:endParaRPr lang="ko-KR" altLang="en-US" sz="1600" i="1" dirty="0">
              <a:solidFill>
                <a:schemeClr val="tx1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4" name="AutoShape 5" descr="C++ì ëí ì´ë¯¸ì§ ê²ìê²°ê³¼"/>
          <p:cNvSpPr>
            <a:spLocks noChangeAspect="1" noChangeArrowheads="1"/>
          </p:cNvSpPr>
          <p:nvPr/>
        </p:nvSpPr>
        <p:spPr bwMode="auto">
          <a:xfrm>
            <a:off x="182298" y="-144463"/>
            <a:ext cx="3302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64" t="28912" r="14106" b="28639"/>
          <a:stretch/>
        </p:blipFill>
        <p:spPr>
          <a:xfrm>
            <a:off x="5745088" y="4583970"/>
            <a:ext cx="3528392" cy="1048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58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/>
              <a:t>스프링과 </a:t>
            </a:r>
            <a:r>
              <a:rPr lang="en-US" altLang="ko-KR" b="1" dirty="0"/>
              <a:t>JPA</a:t>
            </a:r>
            <a:r>
              <a:rPr lang="ko-KR" altLang="en-US" b="1" dirty="0"/>
              <a:t> 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042004"/>
            <a:ext cx="33123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스프링과 </a:t>
            </a:r>
            <a:r>
              <a:rPr lang="en-US" altLang="ko-KR" sz="2000" b="1" dirty="0" smtClean="0"/>
              <a:t>JPA</a:t>
            </a:r>
            <a:r>
              <a:rPr lang="ko-KR" altLang="en-US" sz="2000" b="1" dirty="0" smtClean="0"/>
              <a:t> </a:t>
            </a:r>
            <a:endParaRPr lang="ko-KR" altLang="en-US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1136576" y="1496973"/>
            <a:ext cx="828092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 smtClean="0"/>
              <a:t>데이터베이스 연동에 사용되는 기술은 전통적인 </a:t>
            </a:r>
            <a:r>
              <a:rPr lang="en-US" altLang="ko-KR" sz="1600" dirty="0" smtClean="0"/>
              <a:t>JDBC,  </a:t>
            </a:r>
            <a:r>
              <a:rPr lang="ko-KR" altLang="en-US" sz="1600" dirty="0" smtClean="0"/>
              <a:t>스프링 </a:t>
            </a:r>
            <a:r>
              <a:rPr lang="en-US" altLang="ko-KR" sz="1600" dirty="0" err="1" smtClean="0"/>
              <a:t>MyBatis</a:t>
            </a:r>
            <a:r>
              <a:rPr lang="en-US" altLang="ko-KR" sz="1600" dirty="0" smtClean="0"/>
              <a:t>,  </a:t>
            </a:r>
            <a:r>
              <a:rPr lang="ko-KR" altLang="en-US" sz="1600" dirty="0" err="1" smtClean="0"/>
              <a:t>하이버네이트</a:t>
            </a:r>
            <a:r>
              <a:rPr lang="ko-KR" altLang="en-US" sz="1600" dirty="0" smtClean="0"/>
              <a:t> </a:t>
            </a:r>
            <a:r>
              <a:rPr lang="en-US" altLang="ko-KR" sz="1600" dirty="0" smtClean="0"/>
              <a:t>ORM(Object Relational Mapping)</a:t>
            </a:r>
            <a:r>
              <a:rPr lang="ko-KR" altLang="en-US" sz="1600" dirty="0" smtClean="0"/>
              <a:t>에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이르기 까지 다양하다</a:t>
            </a:r>
            <a:r>
              <a:rPr lang="en-US" altLang="ko-KR" sz="1600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dirty="0" smtClean="0"/>
              <a:t>이 중에서 </a:t>
            </a:r>
            <a:r>
              <a:rPr lang="ko-KR" altLang="en-US" sz="1600" dirty="0" err="1" smtClean="0"/>
              <a:t>하이버네이트</a:t>
            </a:r>
            <a:r>
              <a:rPr lang="ko-KR" altLang="en-US" sz="1600" dirty="0" smtClean="0"/>
              <a:t> </a:t>
            </a:r>
            <a:r>
              <a:rPr lang="en-US" altLang="ko-KR" sz="1600" dirty="0" smtClean="0"/>
              <a:t>ORM</a:t>
            </a:r>
            <a:r>
              <a:rPr lang="ko-KR" altLang="en-US" sz="1600" dirty="0" smtClean="0"/>
              <a:t>은 애플리케이션에서 사용하는 </a:t>
            </a:r>
            <a:r>
              <a:rPr lang="en-US" altLang="ko-KR" sz="1600" dirty="0" smtClean="0"/>
              <a:t>SQL</a:t>
            </a:r>
            <a:r>
              <a:rPr lang="ko-KR" altLang="en-US" sz="1600" dirty="0" smtClean="0"/>
              <a:t>까지도 프레임워크에서 제공하기 때문에 개발자가 처리해야 할 일들을 많이 줄여준다</a:t>
            </a:r>
            <a:r>
              <a:rPr lang="en-US" altLang="ko-KR" sz="1600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600" dirty="0"/>
              <a:t>ORM</a:t>
            </a:r>
            <a:r>
              <a:rPr lang="ko-KR" altLang="en-US" sz="1600" dirty="0"/>
              <a:t>이란</a:t>
            </a:r>
            <a:r>
              <a:rPr lang="en-US" altLang="ko-KR" sz="1600" dirty="0"/>
              <a:t> “</a:t>
            </a:r>
            <a:r>
              <a:rPr lang="ko-KR" altLang="en-US" sz="1600" dirty="0"/>
              <a:t>객체지향 구조를 </a:t>
            </a:r>
            <a:r>
              <a:rPr lang="ko-KR" altLang="en-US" sz="1600" dirty="0" err="1"/>
              <a:t>관계형</a:t>
            </a:r>
            <a:r>
              <a:rPr lang="ko-KR" altLang="en-US" sz="1600" dirty="0"/>
              <a:t> 구조로 </a:t>
            </a:r>
            <a:r>
              <a:rPr lang="ko-KR" altLang="en-US" sz="1600" dirty="0" err="1"/>
              <a:t>매핑</a:t>
            </a:r>
            <a:r>
              <a:rPr lang="en-US" altLang="ko-KR" sz="1600" dirty="0"/>
              <a:t>”</a:t>
            </a:r>
            <a:r>
              <a:rPr lang="ko-KR" altLang="en-US" sz="1600" dirty="0"/>
              <a:t>하는 기술이다</a:t>
            </a:r>
            <a:r>
              <a:rPr lang="en-US" altLang="ko-KR" sz="1600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dirty="0" smtClean="0"/>
              <a:t>이런 </a:t>
            </a:r>
            <a:r>
              <a:rPr lang="en-US" altLang="ko-KR" sz="1600" b="1" dirty="0" smtClean="0">
                <a:solidFill>
                  <a:srgbClr val="C00000"/>
                </a:solidFill>
              </a:rPr>
              <a:t>ORM</a:t>
            </a:r>
            <a:r>
              <a:rPr lang="ko-KR" altLang="en-US" sz="1600" b="1" dirty="0" smtClean="0">
                <a:solidFill>
                  <a:srgbClr val="C00000"/>
                </a:solidFill>
              </a:rPr>
              <a:t>을 보다 쉽게 사용할 수 있도록 표준화 시킨 것이 </a:t>
            </a:r>
            <a:r>
              <a:rPr lang="en-US" altLang="ko-KR" sz="1600" b="1" dirty="0" smtClean="0">
                <a:solidFill>
                  <a:srgbClr val="C00000"/>
                </a:solidFill>
              </a:rPr>
              <a:t>JPA(Java Persistence API) </a:t>
            </a:r>
            <a:r>
              <a:rPr lang="ko-KR" altLang="en-US" sz="1600" dirty="0" smtClean="0"/>
              <a:t>이다</a:t>
            </a:r>
            <a:r>
              <a:rPr lang="en-US" altLang="ko-KR" sz="1600" dirty="0" smtClean="0"/>
              <a:t>.</a:t>
            </a:r>
            <a:r>
              <a:rPr lang="en-US" altLang="ko-KR" sz="1600" dirty="0"/>
              <a:t> </a:t>
            </a:r>
            <a:r>
              <a:rPr lang="ko-KR" altLang="en-US" sz="1600" dirty="0" smtClean="0"/>
              <a:t>다시 말하면</a:t>
            </a:r>
            <a:r>
              <a:rPr lang="en-US" altLang="ko-KR" sz="1600" dirty="0" smtClean="0"/>
              <a:t> ORM </a:t>
            </a:r>
            <a:r>
              <a:rPr lang="ko-KR" altLang="en-US" sz="1600" dirty="0" smtClean="0"/>
              <a:t>기술을 </a:t>
            </a:r>
            <a:r>
              <a:rPr lang="en-US" altLang="ko-KR" sz="1600" dirty="0" smtClean="0"/>
              <a:t>Java </a:t>
            </a:r>
            <a:r>
              <a:rPr lang="ko-KR" altLang="en-US" sz="1600" dirty="0" smtClean="0"/>
              <a:t>언어에 맞도록 </a:t>
            </a:r>
            <a:r>
              <a:rPr lang="ko-KR" altLang="en-US" sz="1600" dirty="0" err="1" smtClean="0"/>
              <a:t>스펙으로</a:t>
            </a:r>
            <a:r>
              <a:rPr lang="ko-KR" altLang="en-US" sz="1600" dirty="0" smtClean="0"/>
              <a:t> 정리한 것이라 할 수 있다</a:t>
            </a:r>
            <a:r>
              <a:rPr lang="en-US" altLang="ko-KR" sz="1600" dirty="0" smtClean="0"/>
              <a:t>..</a:t>
            </a:r>
          </a:p>
          <a:p>
            <a:pPr>
              <a:lnSpc>
                <a:spcPct val="150000"/>
              </a:lnSpc>
            </a:pPr>
            <a:endParaRPr lang="en-US" altLang="ko-KR" sz="1600" dirty="0"/>
          </a:p>
          <a:p>
            <a:pPr>
              <a:lnSpc>
                <a:spcPct val="150000"/>
              </a:lnSpc>
            </a:pPr>
            <a:r>
              <a:rPr lang="en-US" altLang="ko-KR" sz="1600" dirty="0" smtClean="0"/>
              <a:t>JPA </a:t>
            </a:r>
            <a:r>
              <a:rPr lang="ko-KR" altLang="en-US" sz="1600" dirty="0" smtClean="0"/>
              <a:t>구현체는 </a:t>
            </a:r>
            <a:r>
              <a:rPr lang="ko-KR" altLang="en-US" sz="1600" dirty="0" err="1" smtClean="0"/>
              <a:t>하이버네이트</a:t>
            </a:r>
            <a:r>
              <a:rPr lang="en-US" altLang="ko-KR" sz="1600" dirty="0" smtClean="0"/>
              <a:t>, </a:t>
            </a:r>
            <a:r>
              <a:rPr lang="en-US" altLang="ko-KR" sz="1600" dirty="0" err="1" smtClean="0"/>
              <a:t>EclipseLink</a:t>
            </a:r>
            <a:r>
              <a:rPr lang="en-US" altLang="ko-KR" sz="1600" dirty="0" smtClean="0"/>
              <a:t>, </a:t>
            </a:r>
            <a:r>
              <a:rPr lang="en-US" altLang="ko-KR" sz="1600" dirty="0" err="1" smtClean="0"/>
              <a:t>DaraNucleus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등 </a:t>
            </a:r>
            <a:r>
              <a:rPr lang="ko-KR" altLang="en-US" sz="1600" dirty="0" err="1" smtClean="0"/>
              <a:t>여러가지가</a:t>
            </a:r>
            <a:r>
              <a:rPr lang="ko-KR" altLang="en-US" sz="1600" dirty="0" smtClean="0"/>
              <a:t> 있는데 </a:t>
            </a:r>
            <a:r>
              <a:rPr lang="ko-KR" altLang="en-US" sz="1600" b="1" dirty="0" smtClean="0"/>
              <a:t>스프링 부트</a:t>
            </a:r>
            <a:r>
              <a:rPr lang="ko-KR" altLang="en-US" sz="1600" dirty="0" smtClean="0"/>
              <a:t>에서는 기본적으로 </a:t>
            </a:r>
            <a:r>
              <a:rPr lang="ko-KR" altLang="en-US" sz="1600" b="1" dirty="0" err="1" smtClean="0"/>
              <a:t>하이버네이트를</a:t>
            </a:r>
            <a:r>
              <a:rPr lang="ko-KR" altLang="en-US" sz="1600" b="1" dirty="0" smtClean="0"/>
              <a:t> </a:t>
            </a:r>
            <a:r>
              <a:rPr lang="en-US" altLang="ko-KR" sz="1600" b="1" dirty="0" smtClean="0"/>
              <a:t>JPA </a:t>
            </a:r>
            <a:r>
              <a:rPr lang="ko-KR" altLang="en-US" sz="1600" b="1" dirty="0" smtClean="0"/>
              <a:t>구현체</a:t>
            </a:r>
            <a:r>
              <a:rPr lang="ko-KR" altLang="en-US" sz="1600" dirty="0" smtClean="0"/>
              <a:t>로 이용한다</a:t>
            </a:r>
            <a:r>
              <a:rPr lang="en-US" altLang="ko-KR" sz="16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92528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/>
              <a:t>스프링과 </a:t>
            </a:r>
            <a:r>
              <a:rPr lang="en-US" altLang="ko-KR" b="1" dirty="0"/>
              <a:t>JPA</a:t>
            </a:r>
            <a:r>
              <a:rPr lang="ko-KR" altLang="en-US" b="1" dirty="0"/>
              <a:t> 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029815"/>
            <a:ext cx="3960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SQL</a:t>
            </a:r>
            <a:r>
              <a:rPr lang="ko-KR" altLang="en-US" sz="2000" b="1" dirty="0" smtClean="0"/>
              <a:t>을 직접 다루는 기술 </a:t>
            </a:r>
            <a:endParaRPr lang="ko-KR" altLang="en-US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1136576" y="1412776"/>
            <a:ext cx="84249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/>
              <a:t> </a:t>
            </a:r>
            <a:r>
              <a:rPr lang="ko-KR" altLang="en-US" sz="1600" dirty="0" smtClean="0"/>
              <a:t>애플리케이션은 사용자가 입력한 데이터나 운용 과정에서 생성된 데이터를 재사용 </a:t>
            </a:r>
            <a:r>
              <a:rPr lang="ko-KR" altLang="en-US" sz="1600" dirty="0" err="1" smtClean="0"/>
              <a:t>하기위해</a:t>
            </a:r>
            <a:r>
              <a:rPr lang="ko-KR" altLang="en-US" sz="1600" dirty="0" smtClean="0"/>
              <a:t> 데이터베이스 같은 저장공간에 저장해야 한다</a:t>
            </a:r>
            <a:r>
              <a:rPr lang="en-US" altLang="ko-KR" sz="1600" dirty="0" smtClean="0"/>
              <a:t>. </a:t>
            </a:r>
            <a:r>
              <a:rPr lang="ko-KR" altLang="en-US" sz="1600" dirty="0" smtClean="0"/>
              <a:t>이 때 </a:t>
            </a:r>
            <a:r>
              <a:rPr lang="en-US" altLang="ko-KR" sz="1600" dirty="0" smtClean="0"/>
              <a:t>SQL</a:t>
            </a:r>
            <a:r>
              <a:rPr lang="ko-KR" altLang="en-US" sz="1600" dirty="0" smtClean="0"/>
              <a:t>이 사용된다</a:t>
            </a:r>
            <a:r>
              <a:rPr lang="en-US" altLang="ko-KR" sz="1600" dirty="0" smtClean="0"/>
              <a:t>.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9044" y="2814227"/>
            <a:ext cx="3223540" cy="227095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3" name="TextBox 2"/>
          <p:cNvSpPr txBox="1"/>
          <p:nvPr/>
        </p:nvSpPr>
        <p:spPr>
          <a:xfrm>
            <a:off x="1280592" y="5085184"/>
            <a:ext cx="770485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>
                <a:solidFill>
                  <a:srgbClr val="00B050"/>
                </a:solidFill>
              </a:rPr>
              <a:t>// </a:t>
            </a:r>
            <a:r>
              <a:rPr lang="ko-KR" altLang="en-US" sz="1600" dirty="0" smtClean="0">
                <a:solidFill>
                  <a:srgbClr val="00B050"/>
                </a:solidFill>
              </a:rPr>
              <a:t>글 등록</a:t>
            </a:r>
            <a:endParaRPr lang="en-US" altLang="ko-KR" sz="1600" dirty="0" smtClean="0">
              <a:solidFill>
                <a:srgbClr val="00B050"/>
              </a:solidFill>
            </a:endParaRPr>
          </a:p>
          <a:p>
            <a:r>
              <a:rPr lang="en-US" altLang="ko-KR" sz="1600" dirty="0" smtClean="0"/>
              <a:t>INSERT INTO board(</a:t>
            </a:r>
            <a:r>
              <a:rPr lang="en-US" altLang="ko-KR" sz="1600" dirty="0" err="1" smtClean="0"/>
              <a:t>seq</a:t>
            </a:r>
            <a:r>
              <a:rPr lang="en-US" altLang="ko-KR" sz="1600" dirty="0" smtClean="0"/>
              <a:t>, title, writer, content) VALUES(</a:t>
            </a:r>
            <a:r>
              <a:rPr lang="en-US" altLang="ko-KR" sz="1600" dirty="0" err="1" smtClean="0"/>
              <a:t>seq.nextval</a:t>
            </a:r>
            <a:r>
              <a:rPr lang="en-US" altLang="ko-KR" sz="1600" dirty="0" smtClean="0"/>
              <a:t>, ?,  ?,  ?,  ?);</a:t>
            </a:r>
          </a:p>
          <a:p>
            <a:r>
              <a:rPr lang="en-US" altLang="ko-KR" sz="1600" dirty="0" smtClean="0">
                <a:solidFill>
                  <a:srgbClr val="00B050"/>
                </a:solidFill>
              </a:rPr>
              <a:t>//</a:t>
            </a:r>
            <a:r>
              <a:rPr lang="ko-KR" altLang="en-US" sz="1600" dirty="0" smtClean="0">
                <a:solidFill>
                  <a:srgbClr val="00B050"/>
                </a:solidFill>
              </a:rPr>
              <a:t>글 목록 조회</a:t>
            </a:r>
            <a:endParaRPr lang="en-US" altLang="ko-KR" sz="1600" dirty="0" smtClean="0">
              <a:solidFill>
                <a:srgbClr val="00B050"/>
              </a:solidFill>
            </a:endParaRPr>
          </a:p>
          <a:p>
            <a:r>
              <a:rPr lang="en-US" altLang="ko-KR" sz="1600" dirty="0" smtClean="0"/>
              <a:t>SELECT * FROM board;</a:t>
            </a:r>
            <a:endParaRPr lang="ko-KR" altLang="en-US" sz="16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3698" y="2770056"/>
            <a:ext cx="3543607" cy="202709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1383698" y="2420888"/>
            <a:ext cx="19851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err="1" smtClean="0"/>
              <a:t>오라클</a:t>
            </a:r>
            <a:r>
              <a:rPr lang="ko-KR" altLang="en-US" sz="1600" b="1" dirty="0" smtClean="0"/>
              <a:t> </a:t>
            </a:r>
            <a:r>
              <a:rPr lang="en-US" altLang="ko-KR" sz="1600" b="1" dirty="0" smtClean="0"/>
              <a:t>DB </a:t>
            </a:r>
            <a:r>
              <a:rPr lang="ko-KR" altLang="en-US" sz="1600" b="1" dirty="0" smtClean="0"/>
              <a:t>테이블</a:t>
            </a:r>
            <a:endParaRPr lang="ko-KR" altLang="en-US" sz="16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5349044" y="2420888"/>
            <a:ext cx="17718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/>
              <a:t>VO </a:t>
            </a:r>
            <a:r>
              <a:rPr lang="ko-KR" altLang="en-US" sz="1600" b="1" dirty="0" smtClean="0"/>
              <a:t>클래스</a:t>
            </a:r>
            <a:endParaRPr lang="ko-KR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819574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/>
              <a:t>스프링과 </a:t>
            </a:r>
            <a:r>
              <a:rPr lang="en-US" altLang="ko-KR" b="1" dirty="0"/>
              <a:t>JPA</a:t>
            </a:r>
            <a:r>
              <a:rPr lang="ko-KR" altLang="en-US" b="1" dirty="0"/>
              <a:t> 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029815"/>
            <a:ext cx="3960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SQL</a:t>
            </a:r>
            <a:r>
              <a:rPr lang="ko-KR" altLang="en-US" sz="2000" b="1" dirty="0" smtClean="0"/>
              <a:t>을 직접 다루지 않는 기술 </a:t>
            </a:r>
            <a:endParaRPr lang="ko-KR" altLang="en-US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1136576" y="1430800"/>
            <a:ext cx="59766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 err="1" smtClean="0"/>
              <a:t>BoardVO</a:t>
            </a:r>
            <a:r>
              <a:rPr lang="ko-KR" altLang="en-US" sz="1600" dirty="0" smtClean="0"/>
              <a:t>를 </a:t>
            </a:r>
            <a:r>
              <a:rPr lang="en-US" altLang="ko-KR" sz="1600" dirty="0" smtClean="0"/>
              <a:t>Map</a:t>
            </a:r>
            <a:r>
              <a:rPr lang="ko-KR" altLang="en-US" sz="1600" dirty="0" smtClean="0"/>
              <a:t>에 저장하고 </a:t>
            </a:r>
            <a:r>
              <a:rPr lang="ko-KR" altLang="en-US" sz="1600" dirty="0" err="1" smtClean="0"/>
              <a:t>관리했을때의</a:t>
            </a:r>
            <a:r>
              <a:rPr lang="ko-KR" altLang="en-US" sz="1600" dirty="0" smtClean="0"/>
              <a:t> </a:t>
            </a:r>
            <a:r>
              <a:rPr lang="en-US" altLang="ko-KR" sz="1600" dirty="0" smtClean="0"/>
              <a:t>CRUD </a:t>
            </a:r>
            <a:r>
              <a:rPr lang="ko-KR" altLang="en-US" sz="1600" dirty="0" smtClean="0"/>
              <a:t>코드</a:t>
            </a:r>
            <a:endParaRPr lang="en-US" altLang="ko-KR" sz="1600" dirty="0" smtClean="0"/>
          </a:p>
        </p:txBody>
      </p:sp>
      <p:sp>
        <p:nvSpPr>
          <p:cNvPr id="5" name="TextBox 4"/>
          <p:cNvSpPr txBox="1"/>
          <p:nvPr/>
        </p:nvSpPr>
        <p:spPr>
          <a:xfrm>
            <a:off x="1136576" y="4709156"/>
            <a:ext cx="84249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 err="1" smtClean="0"/>
              <a:t>BoardVO</a:t>
            </a:r>
            <a:r>
              <a:rPr lang="ko-KR" altLang="en-US" sz="1600" dirty="0" smtClean="0"/>
              <a:t> 객체를 </a:t>
            </a:r>
            <a:r>
              <a:rPr lang="en-US" altLang="ko-KR" sz="1600" dirty="0" smtClean="0"/>
              <a:t>Map</a:t>
            </a:r>
            <a:r>
              <a:rPr lang="ko-KR" altLang="en-US" sz="1600" dirty="0" smtClean="0"/>
              <a:t>에 저장했기 때문에 소스 어디에도 </a:t>
            </a:r>
            <a:r>
              <a:rPr lang="en-US" altLang="ko-KR" sz="1600" dirty="0" smtClean="0"/>
              <a:t>BOARD </a:t>
            </a:r>
            <a:r>
              <a:rPr lang="ko-KR" altLang="en-US" sz="1600" dirty="0" smtClean="0"/>
              <a:t>테이블</a:t>
            </a:r>
            <a:r>
              <a:rPr lang="en-US" altLang="ko-KR" sz="1600" dirty="0" smtClean="0"/>
              <a:t>(DB)</a:t>
            </a:r>
            <a:r>
              <a:rPr lang="ko-KR" altLang="en-US" sz="1600" dirty="0" smtClean="0"/>
              <a:t>과 관련된 </a:t>
            </a:r>
            <a:r>
              <a:rPr lang="en-US" altLang="ko-KR" sz="1600" dirty="0" smtClean="0"/>
              <a:t>SQL</a:t>
            </a:r>
            <a:r>
              <a:rPr lang="ko-KR" altLang="en-US" sz="1600" dirty="0" smtClean="0"/>
              <a:t>이 사용되지 않는다</a:t>
            </a:r>
            <a:r>
              <a:rPr lang="en-US" altLang="ko-KR" sz="1600" dirty="0" smtClean="0"/>
              <a:t>.</a:t>
            </a:r>
            <a:r>
              <a:rPr lang="ko-KR" altLang="en-US" sz="1600" dirty="0" smtClean="0"/>
              <a:t> </a:t>
            </a:r>
            <a:endParaRPr lang="en-US" altLang="ko-KR" sz="1600" dirty="0" smtClean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2600" y="2058689"/>
            <a:ext cx="5502117" cy="252243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156334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/>
              <a:t>스프링과 </a:t>
            </a:r>
            <a:r>
              <a:rPr lang="en-US" altLang="ko-KR" b="1" dirty="0"/>
              <a:t>JPA</a:t>
            </a:r>
            <a:r>
              <a:rPr lang="ko-KR" altLang="en-US" b="1" dirty="0"/>
              <a:t> 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052736"/>
            <a:ext cx="3960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JPA </a:t>
            </a:r>
            <a:r>
              <a:rPr lang="ko-KR" altLang="en-US" sz="2000" b="1" dirty="0" smtClean="0"/>
              <a:t>동작 원리 </a:t>
            </a:r>
            <a:endParaRPr lang="ko-KR" altLang="en-US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1136576" y="1435697"/>
            <a:ext cx="842493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 smtClean="0"/>
              <a:t>JPA</a:t>
            </a:r>
            <a:r>
              <a:rPr lang="ko-KR" altLang="en-US" sz="1600" dirty="0" smtClean="0"/>
              <a:t>는 </a:t>
            </a:r>
            <a:r>
              <a:rPr lang="ko-KR" altLang="en-US" sz="1600" b="1" dirty="0" smtClean="0"/>
              <a:t>자바 객체를 컬렉션에 저장하고 관리</a:t>
            </a:r>
            <a:r>
              <a:rPr lang="ko-KR" altLang="en-US" sz="1600" dirty="0" smtClean="0"/>
              <a:t>하는 것과 비슷한 개념이다</a:t>
            </a:r>
            <a:r>
              <a:rPr lang="en-US" altLang="ko-KR" sz="1600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dirty="0" smtClean="0"/>
              <a:t>하지만 결국 컬렉션에 저장된 객체를 테이블의 </a:t>
            </a:r>
            <a:r>
              <a:rPr lang="ko-KR" altLang="en-US" sz="1600" dirty="0" err="1" smtClean="0"/>
              <a:t>로우와</a:t>
            </a:r>
            <a:r>
              <a:rPr lang="ko-KR" altLang="en-US" sz="1600" dirty="0" smtClean="0"/>
              <a:t> </a:t>
            </a:r>
            <a:r>
              <a:rPr lang="ko-KR" altLang="en-US" sz="1600" dirty="0" err="1" smtClean="0"/>
              <a:t>매핑하기</a:t>
            </a:r>
            <a:r>
              <a:rPr lang="ko-KR" altLang="en-US" sz="1600" dirty="0" smtClean="0"/>
              <a:t> 위해서는 누군가가 </a:t>
            </a:r>
            <a:r>
              <a:rPr lang="en-US" altLang="ko-KR" sz="1600" dirty="0" smtClean="0"/>
              <a:t>JDBC API</a:t>
            </a:r>
            <a:r>
              <a:rPr lang="ko-KR" altLang="en-US" sz="1600" dirty="0" smtClean="0"/>
              <a:t>를 이용해서 실질적인 연동 작업을 처리해야 한다</a:t>
            </a:r>
            <a:r>
              <a:rPr lang="en-US" altLang="ko-KR" sz="1600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600" dirty="0" smtClean="0"/>
              <a:t>JPA</a:t>
            </a:r>
            <a:r>
              <a:rPr lang="ko-KR" altLang="en-US" sz="1600" dirty="0" smtClean="0"/>
              <a:t>는 자바 애플리케이션과 </a:t>
            </a:r>
            <a:r>
              <a:rPr lang="en-US" altLang="ko-KR" sz="1600" dirty="0" smtClean="0"/>
              <a:t>JDBC </a:t>
            </a:r>
            <a:r>
              <a:rPr lang="ko-KR" altLang="en-US" sz="1600" dirty="0" smtClean="0"/>
              <a:t>사이에 존재하면서 </a:t>
            </a:r>
            <a:r>
              <a:rPr lang="en-US" altLang="ko-KR" sz="1600" dirty="0" smtClean="0"/>
              <a:t>JDBC</a:t>
            </a:r>
            <a:r>
              <a:rPr lang="ko-KR" altLang="en-US" sz="1600" dirty="0" smtClean="0"/>
              <a:t>의 복잡한 절차를 대신 처리해준다</a:t>
            </a:r>
            <a:r>
              <a:rPr lang="en-US" altLang="ko-KR" sz="1600" dirty="0" smtClean="0"/>
              <a:t>.</a:t>
            </a:r>
          </a:p>
        </p:txBody>
      </p:sp>
      <p:sp>
        <p:nvSpPr>
          <p:cNvPr id="7" name="모서리가 둥근 직사각형 6"/>
          <p:cNvSpPr/>
          <p:nvPr/>
        </p:nvSpPr>
        <p:spPr>
          <a:xfrm>
            <a:off x="1064568" y="3573016"/>
            <a:ext cx="1933990" cy="108012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>
                <a:solidFill>
                  <a:sysClr val="windowText" lastClr="000000"/>
                </a:solidFill>
              </a:rPr>
              <a:t>Java</a:t>
            </a:r>
          </a:p>
          <a:p>
            <a:pPr algn="ctr"/>
            <a:r>
              <a:rPr lang="ko-KR" altLang="en-US" sz="1600" dirty="0" smtClean="0">
                <a:solidFill>
                  <a:sysClr val="windowText" lastClr="000000"/>
                </a:solidFill>
              </a:rPr>
              <a:t>애플리케이션</a:t>
            </a:r>
            <a:endParaRPr lang="ko-KR" altLang="en-US" sz="1600" dirty="0">
              <a:solidFill>
                <a:sysClr val="windowText" lastClr="000000"/>
              </a:solidFill>
            </a:endParaRPr>
          </a:p>
        </p:txBody>
      </p:sp>
      <p:sp>
        <p:nvSpPr>
          <p:cNvPr id="10" name="모서리가 둥근 직사각형 9"/>
          <p:cNvSpPr/>
          <p:nvPr/>
        </p:nvSpPr>
        <p:spPr>
          <a:xfrm>
            <a:off x="3728864" y="3573016"/>
            <a:ext cx="2880320" cy="108012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dirty="0" smtClean="0">
                <a:solidFill>
                  <a:sysClr val="windowText" lastClr="000000"/>
                </a:solidFill>
              </a:rPr>
              <a:t>   </a:t>
            </a:r>
            <a:r>
              <a:rPr lang="en-US" altLang="ko-KR" dirty="0" smtClean="0">
                <a:solidFill>
                  <a:sysClr val="windowText" lastClr="000000"/>
                </a:solidFill>
              </a:rPr>
              <a:t>JPA</a:t>
            </a:r>
            <a:r>
              <a:rPr lang="en-US" altLang="ko-KR" sz="1600" dirty="0" smtClean="0">
                <a:solidFill>
                  <a:sysClr val="windowText" lastClr="000000"/>
                </a:solidFill>
              </a:rPr>
              <a:t>   </a:t>
            </a:r>
            <a:endParaRPr lang="ko-KR" altLang="en-US" sz="1600" dirty="0">
              <a:solidFill>
                <a:sysClr val="windowText" lastClr="000000"/>
              </a:solidFill>
            </a:endParaRPr>
          </a:p>
        </p:txBody>
      </p:sp>
      <p:sp>
        <p:nvSpPr>
          <p:cNvPr id="3" name="원통 2"/>
          <p:cNvSpPr/>
          <p:nvPr/>
        </p:nvSpPr>
        <p:spPr>
          <a:xfrm>
            <a:off x="7617296" y="3501008"/>
            <a:ext cx="1944216" cy="1152128"/>
          </a:xfrm>
          <a:prstGeom prst="can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ysClr val="windowText" lastClr="000000"/>
                </a:solidFill>
              </a:rPr>
              <a:t>데이터베이</a:t>
            </a:r>
            <a:r>
              <a:rPr lang="ko-KR" altLang="en-US" dirty="0">
                <a:solidFill>
                  <a:sysClr val="windowText" lastClr="000000"/>
                </a:solidFill>
              </a:rPr>
              <a:t>스</a:t>
            </a:r>
          </a:p>
        </p:txBody>
      </p:sp>
      <p:sp>
        <p:nvSpPr>
          <p:cNvPr id="4" name="모서리가 둥근 직사각형 3"/>
          <p:cNvSpPr/>
          <p:nvPr/>
        </p:nvSpPr>
        <p:spPr>
          <a:xfrm>
            <a:off x="5385048" y="3789040"/>
            <a:ext cx="1008112" cy="720080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sysClr val="windowText" lastClr="000000"/>
                </a:solidFill>
              </a:rPr>
              <a:t>JDBC</a:t>
            </a:r>
          </a:p>
          <a:p>
            <a:pPr algn="ctr"/>
            <a:r>
              <a:rPr lang="en-US" altLang="ko-KR" sz="1400" dirty="0" smtClean="0">
                <a:solidFill>
                  <a:sysClr val="windowText" lastClr="000000"/>
                </a:solidFill>
              </a:rPr>
              <a:t>API</a:t>
            </a:r>
            <a:endParaRPr lang="ko-KR" altLang="en-US" sz="1400" dirty="0">
              <a:solidFill>
                <a:sysClr val="windowText" lastClr="000000"/>
              </a:solidFill>
            </a:endParaRPr>
          </a:p>
        </p:txBody>
      </p:sp>
      <p:cxnSp>
        <p:nvCxnSpPr>
          <p:cNvPr id="12" name="직선 화살표 연결선 11"/>
          <p:cNvCxnSpPr/>
          <p:nvPr/>
        </p:nvCxnSpPr>
        <p:spPr>
          <a:xfrm>
            <a:off x="6393160" y="4005064"/>
            <a:ext cx="1368152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/>
          <p:cNvCxnSpPr/>
          <p:nvPr/>
        </p:nvCxnSpPr>
        <p:spPr>
          <a:xfrm flipH="1">
            <a:off x="6393160" y="4221088"/>
            <a:ext cx="1368152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65168" y="3697287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/>
              <a:t>SQL </a:t>
            </a:r>
            <a:r>
              <a:rPr lang="ko-KR" altLang="en-US" sz="1400" dirty="0" smtClean="0"/>
              <a:t>전송</a:t>
            </a:r>
            <a:endParaRPr lang="ko-KR" altLang="en-US" sz="1400" dirty="0"/>
          </a:p>
        </p:txBody>
      </p:sp>
      <p:sp>
        <p:nvSpPr>
          <p:cNvPr id="19" name="TextBox 18"/>
          <p:cNvSpPr txBox="1"/>
          <p:nvPr/>
        </p:nvSpPr>
        <p:spPr>
          <a:xfrm>
            <a:off x="6393160" y="4221088"/>
            <a:ext cx="14315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/>
              <a:t>검색결</a:t>
            </a:r>
            <a:r>
              <a:rPr lang="ko-KR" altLang="en-US" sz="1400" dirty="0"/>
              <a:t>과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전송</a:t>
            </a:r>
            <a:endParaRPr lang="ko-KR" altLang="en-US" sz="1400" dirty="0"/>
          </a:p>
        </p:txBody>
      </p:sp>
      <p:sp>
        <p:nvSpPr>
          <p:cNvPr id="20" name="왼쪽/오른쪽 화살표 19"/>
          <p:cNvSpPr/>
          <p:nvPr/>
        </p:nvSpPr>
        <p:spPr>
          <a:xfrm>
            <a:off x="4664968" y="4005064"/>
            <a:ext cx="504056" cy="216024"/>
          </a:xfrm>
          <a:prstGeom prst="leftRightArrow">
            <a:avLst/>
          </a:prstGeom>
          <a:solidFill>
            <a:schemeClr val="tx2">
              <a:lumMod val="60000"/>
              <a:lumOff val="4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왼쪽/오른쪽 화살표 20"/>
          <p:cNvSpPr/>
          <p:nvPr/>
        </p:nvSpPr>
        <p:spPr>
          <a:xfrm>
            <a:off x="3080792" y="4005064"/>
            <a:ext cx="504056" cy="216024"/>
          </a:xfrm>
          <a:prstGeom prst="leftRightArrow">
            <a:avLst/>
          </a:prstGeom>
          <a:solidFill>
            <a:schemeClr val="tx2">
              <a:lumMod val="60000"/>
              <a:lumOff val="4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1136576" y="4862464"/>
            <a:ext cx="84249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 smtClean="0"/>
              <a:t>JPA</a:t>
            </a:r>
            <a:r>
              <a:rPr lang="ko-KR" altLang="en-US" sz="1600" b="1" dirty="0" smtClean="0"/>
              <a:t>가 데이터베이스 연동에 사용되는 코드 뿐만 아니라 </a:t>
            </a:r>
            <a:r>
              <a:rPr lang="en-US" altLang="ko-KR" sz="1600" b="1" dirty="0" smtClean="0"/>
              <a:t>SQL</a:t>
            </a:r>
            <a:r>
              <a:rPr lang="ko-KR" altLang="en-US" sz="1600" b="1" dirty="0" smtClean="0"/>
              <a:t>까지도 제공한다</a:t>
            </a:r>
            <a:r>
              <a:rPr lang="en-US" altLang="ko-KR" sz="1600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dirty="0" smtClean="0"/>
              <a:t>테이블과 </a:t>
            </a:r>
            <a:r>
              <a:rPr lang="en-US" altLang="ko-KR" sz="1600" dirty="0" smtClean="0"/>
              <a:t>VO </a:t>
            </a:r>
            <a:r>
              <a:rPr lang="ko-KR" altLang="en-US" sz="1600" dirty="0" smtClean="0"/>
              <a:t>클래스 이름을 똑같이 </a:t>
            </a:r>
            <a:r>
              <a:rPr lang="ko-KR" altLang="en-US" sz="1600" dirty="0" err="1" smtClean="0"/>
              <a:t>매핑하고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테이블의 칼럼을 </a:t>
            </a:r>
            <a:r>
              <a:rPr lang="en-US" altLang="ko-KR" sz="1600" dirty="0" smtClean="0"/>
              <a:t>VO </a:t>
            </a:r>
            <a:r>
              <a:rPr lang="ko-KR" altLang="en-US" sz="1600" dirty="0" smtClean="0"/>
              <a:t>클래스의 멤버 변수와 </a:t>
            </a:r>
            <a:r>
              <a:rPr lang="ko-KR" altLang="en-US" sz="1600" dirty="0" err="1" smtClean="0"/>
              <a:t>매핑하여</a:t>
            </a:r>
            <a:r>
              <a:rPr lang="ko-KR" altLang="en-US" sz="1600" dirty="0" smtClean="0"/>
              <a:t> 동작한다</a:t>
            </a:r>
            <a:r>
              <a:rPr lang="en-US" altLang="ko-KR" sz="16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54856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/>
              <a:t>스프링 데이터 </a:t>
            </a:r>
            <a:r>
              <a:rPr lang="en-US" altLang="ko-KR" b="1" dirty="0" smtClean="0"/>
              <a:t>JPA</a:t>
            </a:r>
            <a:r>
              <a:rPr lang="ko-KR" altLang="en-US" b="1" dirty="0" smtClean="0"/>
              <a:t> 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052736"/>
            <a:ext cx="3960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프로젝트 생성 및 기본 설정 </a:t>
            </a:r>
            <a:endParaRPr lang="ko-KR" altLang="en-US" sz="2000" dirty="0"/>
          </a:p>
        </p:txBody>
      </p:sp>
      <p:sp>
        <p:nvSpPr>
          <p:cNvPr id="18" name="TextBox 17"/>
          <p:cNvSpPr txBox="1"/>
          <p:nvPr/>
        </p:nvSpPr>
        <p:spPr>
          <a:xfrm>
            <a:off x="5745088" y="2155777"/>
            <a:ext cx="3240360" cy="414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 smtClean="0"/>
              <a:t>[New] -&gt; [Spring Starter Project]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5889104" y="2803849"/>
            <a:ext cx="2808312" cy="300082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Name – </a:t>
            </a:r>
            <a:r>
              <a:rPr lang="en-US" altLang="ko-KR" dirty="0" smtClean="0"/>
              <a:t>Spring-JPA </a:t>
            </a:r>
          </a:p>
          <a:p>
            <a:pPr>
              <a:lnSpc>
                <a:spcPct val="150000"/>
              </a:lnSpc>
            </a:pPr>
            <a:r>
              <a:rPr lang="en-US" altLang="ko-KR" dirty="0" smtClean="0"/>
              <a:t>Type - Maven</a:t>
            </a:r>
          </a:p>
          <a:p>
            <a:pPr>
              <a:lnSpc>
                <a:spcPct val="150000"/>
              </a:lnSpc>
            </a:pPr>
            <a:r>
              <a:rPr lang="en-US" altLang="ko-KR" dirty="0" smtClean="0"/>
              <a:t>Packing – Jar</a:t>
            </a:r>
          </a:p>
          <a:p>
            <a:pPr>
              <a:lnSpc>
                <a:spcPct val="150000"/>
              </a:lnSpc>
            </a:pPr>
            <a:r>
              <a:rPr lang="en-US" altLang="ko-KR" dirty="0" smtClean="0"/>
              <a:t>Java Version – 21 </a:t>
            </a:r>
          </a:p>
          <a:p>
            <a:pPr>
              <a:lnSpc>
                <a:spcPct val="150000"/>
              </a:lnSpc>
            </a:pPr>
            <a:r>
              <a:rPr lang="en-US" altLang="ko-KR" dirty="0" smtClean="0"/>
              <a:t>Group </a:t>
            </a:r>
            <a:r>
              <a:rPr lang="en-US" altLang="ko-KR" dirty="0"/>
              <a:t>– </a:t>
            </a:r>
            <a:r>
              <a:rPr lang="en-US" altLang="ko-KR" dirty="0" err="1" smtClean="0"/>
              <a:t>com.jpa</a:t>
            </a:r>
            <a:endParaRPr lang="en-US" altLang="ko-KR" dirty="0" smtClean="0"/>
          </a:p>
          <a:p>
            <a:pPr>
              <a:lnSpc>
                <a:spcPct val="150000"/>
              </a:lnSpc>
            </a:pPr>
            <a:r>
              <a:rPr lang="en-US" altLang="ko-KR" dirty="0" smtClean="0"/>
              <a:t>Package</a:t>
            </a:r>
            <a:r>
              <a:rPr lang="ko-KR" altLang="en-US" dirty="0" smtClean="0"/>
              <a:t> </a:t>
            </a:r>
            <a:r>
              <a:rPr lang="en-US" altLang="ko-KR" dirty="0"/>
              <a:t>– </a:t>
            </a:r>
            <a:r>
              <a:rPr lang="en-US" altLang="ko-KR" dirty="0" err="1" smtClean="0"/>
              <a:t>com.springboot.jpa</a:t>
            </a:r>
            <a:endParaRPr lang="en-US" altLang="ko-KR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5831" y="1939753"/>
            <a:ext cx="3986201" cy="328435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585070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/>
              <a:t>스프링 데이터 </a:t>
            </a:r>
            <a:r>
              <a:rPr lang="en-US" altLang="ko-KR" b="1" dirty="0" smtClean="0"/>
              <a:t>JPA</a:t>
            </a:r>
            <a:r>
              <a:rPr lang="ko-KR" altLang="en-US" b="1" dirty="0" smtClean="0"/>
              <a:t> 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052736"/>
            <a:ext cx="3960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프로젝트 생성 및 기본 설정 </a:t>
            </a:r>
            <a:endParaRPr lang="ko-KR" altLang="en-US" sz="20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600" y="1651721"/>
            <a:ext cx="4824536" cy="362666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588812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/>
              <a:t>스프링과 </a:t>
            </a:r>
            <a:r>
              <a:rPr lang="en-US" altLang="ko-KR" b="1" dirty="0"/>
              <a:t>JPA</a:t>
            </a:r>
            <a:r>
              <a:rPr lang="ko-KR" altLang="en-US" b="1" dirty="0"/>
              <a:t> 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3" y="1052736"/>
            <a:ext cx="5741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JPA </a:t>
            </a:r>
            <a:r>
              <a:rPr lang="ko-KR" altLang="en-US" sz="2000" b="1" dirty="0" smtClean="0"/>
              <a:t>환경 설정 </a:t>
            </a:r>
            <a:r>
              <a:rPr lang="en-US" altLang="ko-KR" sz="2000" b="1" dirty="0" smtClean="0"/>
              <a:t>– pom.xml</a:t>
            </a:r>
            <a:r>
              <a:rPr lang="ko-KR" altLang="en-US" sz="2000" b="1" dirty="0" smtClean="0"/>
              <a:t> </a:t>
            </a:r>
            <a:endParaRPr lang="ko-KR" altLang="en-US" sz="20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584" y="1772816"/>
            <a:ext cx="7569516" cy="234294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24239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/>
              <a:t>스프링 데이터 </a:t>
            </a:r>
            <a:r>
              <a:rPr lang="en-US" altLang="ko-KR" b="1" dirty="0" smtClean="0"/>
              <a:t>JPA</a:t>
            </a:r>
            <a:r>
              <a:rPr lang="ko-KR" altLang="en-US" b="1" dirty="0" smtClean="0"/>
              <a:t> 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87118" y="1052736"/>
            <a:ext cx="3960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 err="1" smtClean="0"/>
              <a:t>Mysql</a:t>
            </a:r>
            <a:r>
              <a:rPr lang="en-US" altLang="ko-KR" sz="2000" b="1" dirty="0" smtClean="0"/>
              <a:t> </a:t>
            </a:r>
            <a:r>
              <a:rPr lang="ko-KR" altLang="en-US" sz="2000" b="1" dirty="0" smtClean="0"/>
              <a:t>설정 </a:t>
            </a:r>
            <a:endParaRPr lang="ko-KR" altLang="en-US" sz="20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496" y="4423728"/>
            <a:ext cx="9283892" cy="140971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1175150" y="1581033"/>
            <a:ext cx="79208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 err="1" smtClean="0"/>
              <a:t>톰캣</a:t>
            </a:r>
            <a:r>
              <a:rPr lang="ko-KR" altLang="en-US" dirty="0" smtClean="0"/>
              <a:t> 서버를 </a:t>
            </a:r>
            <a:r>
              <a:rPr lang="ko-KR" altLang="en-US" dirty="0" err="1" smtClean="0"/>
              <a:t>실행할때</a:t>
            </a:r>
            <a:r>
              <a:rPr lang="ko-KR" altLang="en-US" dirty="0" smtClean="0"/>
              <a:t> 데이터 베이스 설정이 되어 있지 않으면 서버 오류가 발생하므로</a:t>
            </a:r>
            <a:r>
              <a:rPr lang="en-US" altLang="ko-KR" dirty="0"/>
              <a:t> </a:t>
            </a:r>
            <a:r>
              <a:rPr lang="en-US" altLang="ko-KR" dirty="0" err="1" smtClean="0"/>
              <a:t>mysql</a:t>
            </a:r>
            <a:r>
              <a:rPr lang="ko-KR" altLang="en-US" dirty="0" smtClean="0"/>
              <a:t>의 </a:t>
            </a:r>
            <a:r>
              <a:rPr lang="en-US" altLang="ko-KR" dirty="0" err="1" smtClean="0"/>
              <a:t>datasource</a:t>
            </a:r>
            <a:r>
              <a:rPr lang="ko-KR" altLang="en-US" dirty="0" smtClean="0"/>
              <a:t>를 설정함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3448" y="2792486"/>
            <a:ext cx="7108220" cy="133719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792DA8B4-17B2-454B-97AC-17311A4832C5}"/>
              </a:ext>
            </a:extLst>
          </p:cNvPr>
          <p:cNvSpPr/>
          <p:nvPr/>
        </p:nvSpPr>
        <p:spPr>
          <a:xfrm>
            <a:off x="6897216" y="4264903"/>
            <a:ext cx="2664296" cy="31765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ysClr val="windowText" lastClr="000000"/>
                </a:solidFill>
              </a:rPr>
              <a:t>a</a:t>
            </a:r>
            <a:r>
              <a:rPr lang="en-US" altLang="ko-KR" sz="1600" dirty="0" err="1" smtClean="0">
                <a:solidFill>
                  <a:sysClr val="windowText" lastClr="000000"/>
                </a:solidFill>
              </a:rPr>
              <a:t>pplication.properties</a:t>
            </a:r>
            <a:endParaRPr lang="en-US" altLang="ko-KR" sz="1600" dirty="0" smtClean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0624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/>
              <a:t>스프링 데이터 </a:t>
            </a:r>
            <a:r>
              <a:rPr lang="en-US" altLang="ko-KR" b="1" dirty="0" smtClean="0"/>
              <a:t>JPA</a:t>
            </a:r>
            <a:r>
              <a:rPr lang="ko-KR" altLang="en-US" b="1" dirty="0" smtClean="0"/>
              <a:t> 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3960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홈페이지 화면 띄우기 </a:t>
            </a:r>
            <a:endParaRPr lang="ko-KR" altLang="en-US" sz="2000" dirty="0"/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792DA8B4-17B2-454B-97AC-17311A4832C5}"/>
              </a:ext>
            </a:extLst>
          </p:cNvPr>
          <p:cNvSpPr/>
          <p:nvPr/>
        </p:nvSpPr>
        <p:spPr>
          <a:xfrm>
            <a:off x="7761312" y="2652785"/>
            <a:ext cx="1728192" cy="31765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ysClr val="windowText" lastClr="000000"/>
                </a:solidFill>
              </a:rPr>
              <a:t>h</a:t>
            </a:r>
            <a:r>
              <a:rPr lang="en-US" altLang="ko-KR" sz="1600" dirty="0" smtClean="0">
                <a:solidFill>
                  <a:sysClr val="windowText" lastClr="000000"/>
                </a:solidFill>
              </a:rPr>
              <a:t>ome.html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592" y="3125039"/>
            <a:ext cx="4215615" cy="224405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3080" y="3125039"/>
            <a:ext cx="4028350" cy="259816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592" y="1765029"/>
            <a:ext cx="3275705" cy="114389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73057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/>
              <a:t>스프링 데이터 </a:t>
            </a:r>
            <a:r>
              <a:rPr lang="en-US" altLang="ko-KR" b="1" dirty="0" smtClean="0"/>
              <a:t>JPA</a:t>
            </a:r>
            <a:r>
              <a:rPr lang="ko-KR" altLang="en-US" b="1" dirty="0" smtClean="0"/>
              <a:t> 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47525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JPA</a:t>
            </a:r>
            <a:r>
              <a:rPr lang="ko-KR" altLang="en-US" sz="2000" b="1" dirty="0" smtClean="0"/>
              <a:t>를 활용한 데이터 관리 </a:t>
            </a:r>
            <a:endParaRPr lang="ko-KR" altLang="en-US" sz="2000" dirty="0"/>
          </a:p>
        </p:txBody>
      </p:sp>
      <p:sp>
        <p:nvSpPr>
          <p:cNvPr id="2" name="TextBox 1"/>
          <p:cNvSpPr txBox="1"/>
          <p:nvPr/>
        </p:nvSpPr>
        <p:spPr>
          <a:xfrm>
            <a:off x="1208584" y="1628800"/>
            <a:ext cx="7056784" cy="869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 smtClean="0"/>
              <a:t>JPA</a:t>
            </a:r>
            <a:r>
              <a:rPr lang="ko-KR" altLang="en-US" dirty="0" smtClean="0"/>
              <a:t>로 데이터베이스 연동하여 데이터를 생성하고 조회한다</a:t>
            </a:r>
            <a:r>
              <a:rPr lang="en-US" altLang="ko-KR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dirty="0" smtClean="0"/>
              <a:t>먼저 </a:t>
            </a:r>
            <a:r>
              <a:rPr lang="en-US" altLang="ko-KR" dirty="0" smtClean="0"/>
              <a:t>JPA </a:t>
            </a:r>
            <a:r>
              <a:rPr lang="ko-KR" altLang="en-US" dirty="0" smtClean="0"/>
              <a:t>기본 설정을 해야 함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507" y="2780928"/>
            <a:ext cx="8615903" cy="159650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59944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/>
              <a:t>스프링 데이터 </a:t>
            </a:r>
            <a:r>
              <a:rPr lang="en-US" altLang="ko-KR" b="1" dirty="0" smtClean="0"/>
              <a:t>JPA</a:t>
            </a:r>
            <a:r>
              <a:rPr lang="ko-KR" altLang="en-US" b="1" dirty="0" smtClean="0"/>
              <a:t> 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47525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000" b="1" dirty="0" err="1" smtClean="0"/>
              <a:t>엔티티</a:t>
            </a:r>
            <a:r>
              <a:rPr lang="ko-KR" altLang="en-US" sz="2000" b="1" dirty="0" smtClean="0"/>
              <a:t> 매핑하기</a:t>
            </a:r>
            <a:endParaRPr lang="ko-KR" altLang="en-US" sz="2000" dirty="0"/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7658368"/>
              </p:ext>
            </p:extLst>
          </p:nvPr>
        </p:nvGraphicFramePr>
        <p:xfrm>
          <a:off x="1280592" y="1776172"/>
          <a:ext cx="7992888" cy="3352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384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54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74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 smtClean="0"/>
                        <a:t>어노테이션</a:t>
                      </a:r>
                      <a:endParaRPr lang="ko-KR" altLang="en-US" sz="1600" dirty="0"/>
                    </a:p>
                  </a:txBody>
                  <a:tcPr anchor="ctr">
                    <a:lnL w="12700" cmpd="sng">
                      <a:noFill/>
                    </a:lnL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/>
                        <a:t>의미</a:t>
                      </a:r>
                      <a:endParaRPr lang="ko-KR" altLang="en-US" sz="1600" dirty="0"/>
                    </a:p>
                  </a:txBody>
                  <a:tcPr anchor="ctr">
                    <a:lnR w="12700" cmpd="sng">
                      <a:noFill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618"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800" b="0" baseline="0" dirty="0" smtClean="0"/>
                        <a:t> @Entity</a:t>
                      </a:r>
                      <a:endParaRPr lang="en-US" altLang="ko-KR" sz="1800" b="0" dirty="0" smtClean="0"/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600" b="0" dirty="0" smtClean="0"/>
                        <a:t> </a:t>
                      </a:r>
                      <a:r>
                        <a:rPr lang="en-US" altLang="ko-KR" sz="1600" b="0" baseline="0" dirty="0" smtClean="0"/>
                        <a:t>@Entity</a:t>
                      </a:r>
                      <a:r>
                        <a:rPr lang="ko-KR" altLang="en-US" sz="1600" b="0" baseline="0" dirty="0" smtClean="0"/>
                        <a:t>가 설정된 클래스를 </a:t>
                      </a:r>
                      <a:r>
                        <a:rPr lang="ko-KR" altLang="en-US" sz="1600" b="0" baseline="0" dirty="0" err="1" smtClean="0"/>
                        <a:t>엔티티라</a:t>
                      </a:r>
                      <a:r>
                        <a:rPr lang="ko-KR" altLang="en-US" sz="1600" b="0" baseline="0" dirty="0" smtClean="0"/>
                        <a:t> 하며</a:t>
                      </a:r>
                      <a:r>
                        <a:rPr lang="en-US" altLang="ko-KR" sz="1600" b="0" baseline="0" dirty="0" smtClean="0"/>
                        <a:t>, </a:t>
                      </a:r>
                      <a:r>
                        <a:rPr lang="ko-KR" altLang="en-US" sz="1600" b="0" baseline="0" dirty="0" smtClean="0"/>
                        <a:t>기본적으로 클래스 이름과 동일한 테이블과 </a:t>
                      </a:r>
                      <a:r>
                        <a:rPr lang="ko-KR" altLang="en-US" sz="1600" b="0" baseline="0" dirty="0" err="1" smtClean="0"/>
                        <a:t>매핑된다</a:t>
                      </a:r>
                      <a:r>
                        <a:rPr lang="en-US" altLang="ko-KR" sz="1600" b="0" baseline="0" dirty="0" smtClean="0"/>
                        <a:t>.</a:t>
                      </a:r>
                      <a:endParaRPr lang="en-US" altLang="ko-KR" sz="1600" b="0" dirty="0" smtClean="0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6618"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800" b="0" dirty="0" smtClean="0"/>
                        <a:t> @Table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600" b="0" dirty="0" smtClean="0"/>
                        <a:t> </a:t>
                      </a:r>
                      <a:r>
                        <a:rPr lang="ko-KR" altLang="en-US" sz="1600" b="0" dirty="0" err="1" smtClean="0"/>
                        <a:t>엔티티</a:t>
                      </a:r>
                      <a:r>
                        <a:rPr lang="ko-KR" altLang="en-US" sz="1600" b="0" dirty="0" smtClean="0"/>
                        <a:t> 이름과 </a:t>
                      </a:r>
                      <a:r>
                        <a:rPr lang="ko-KR" altLang="en-US" sz="1600" b="0" dirty="0" err="1" smtClean="0"/>
                        <a:t>매핑될</a:t>
                      </a:r>
                      <a:r>
                        <a:rPr lang="ko-KR" altLang="en-US" sz="1600" b="0" dirty="0" smtClean="0"/>
                        <a:t> 테이블 이름이 다른 경우 </a:t>
                      </a:r>
                      <a:r>
                        <a:rPr lang="en-US" altLang="ko-KR" sz="1600" b="0" dirty="0" smtClean="0"/>
                        <a:t>name </a:t>
                      </a:r>
                    </a:p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600" b="0" dirty="0" smtClean="0"/>
                        <a:t> </a:t>
                      </a:r>
                      <a:r>
                        <a:rPr lang="ko-KR" altLang="en-US" sz="1600" b="0" dirty="0" smtClean="0"/>
                        <a:t>속성을 사용하여 </a:t>
                      </a:r>
                      <a:r>
                        <a:rPr lang="ko-KR" altLang="en-US" sz="1600" b="0" dirty="0" err="1" smtClean="0"/>
                        <a:t>매핑한다</a:t>
                      </a:r>
                      <a:r>
                        <a:rPr lang="en-US" altLang="ko-KR" sz="1600" b="0" dirty="0" smtClean="0"/>
                        <a:t>.</a:t>
                      </a:r>
                    </a:p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600" b="0" dirty="0" smtClean="0"/>
                        <a:t> </a:t>
                      </a:r>
                      <a:r>
                        <a:rPr lang="ko-KR" altLang="en-US" sz="1600" b="0" dirty="0" err="1" smtClean="0"/>
                        <a:t>엔티티</a:t>
                      </a:r>
                      <a:r>
                        <a:rPr lang="ko-KR" altLang="en-US" sz="1600" b="0" dirty="0" smtClean="0"/>
                        <a:t> 이름과 테이블 이름이 동일하면 생략해도 됨</a:t>
                      </a:r>
                      <a:endParaRPr lang="ko-KR" altLang="en-US" sz="1600" b="0" dirty="0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6618"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800" b="0" dirty="0" smtClean="0"/>
                        <a:t> @Id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600" b="0" dirty="0" smtClean="0"/>
                        <a:t> </a:t>
                      </a:r>
                      <a:r>
                        <a:rPr lang="ko-KR" altLang="en-US" sz="1600" b="0" dirty="0" smtClean="0"/>
                        <a:t>테이블의 기본 키를 </a:t>
                      </a:r>
                      <a:r>
                        <a:rPr lang="ko-KR" altLang="en-US" sz="1600" b="0" dirty="0" err="1" smtClean="0"/>
                        <a:t>매핑한다</a:t>
                      </a:r>
                      <a:r>
                        <a:rPr lang="en-US" altLang="ko-KR" sz="1600" b="0" dirty="0" smtClean="0"/>
                        <a:t>.</a:t>
                      </a:r>
                      <a:endParaRPr lang="ko-KR" altLang="en-US" sz="1600" b="0" dirty="0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6618"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800" b="0" dirty="0" smtClean="0"/>
                        <a:t> @</a:t>
                      </a:r>
                      <a:r>
                        <a:rPr lang="en-US" altLang="ko-KR" sz="1800" b="0" dirty="0" err="1" smtClean="0"/>
                        <a:t>GeneratedValue</a:t>
                      </a:r>
                      <a:endParaRPr lang="en-US" altLang="ko-KR" sz="1800" b="0" dirty="0" smtClean="0"/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600" b="0" dirty="0" smtClean="0"/>
                        <a:t> </a:t>
                      </a:r>
                      <a:r>
                        <a:rPr lang="en-US" altLang="ko-KR" sz="1600" b="0" baseline="0" dirty="0" smtClean="0"/>
                        <a:t>@Id</a:t>
                      </a:r>
                      <a:r>
                        <a:rPr lang="ko-KR" altLang="en-US" sz="1600" b="0" baseline="0" dirty="0" smtClean="0"/>
                        <a:t>가 선언된 필드에 기본 키 값을 자동으로 할당한다</a:t>
                      </a:r>
                      <a:r>
                        <a:rPr lang="en-US" altLang="ko-KR" sz="1600" b="0" baseline="0" dirty="0" smtClean="0"/>
                        <a:t>.</a:t>
                      </a:r>
                      <a:endParaRPr lang="ko-KR" altLang="en-US" sz="1600" b="0" dirty="0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6736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/>
              <a:t>스프링 데이터 </a:t>
            </a:r>
            <a:r>
              <a:rPr lang="en-US" altLang="ko-KR" b="1" dirty="0" smtClean="0"/>
              <a:t>JPA</a:t>
            </a:r>
            <a:r>
              <a:rPr lang="ko-KR" altLang="en-US" b="1" dirty="0" smtClean="0"/>
              <a:t> 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48245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Board </a:t>
            </a:r>
            <a:r>
              <a:rPr lang="ko-KR" altLang="en-US" sz="2000" b="1" dirty="0" err="1" smtClean="0"/>
              <a:t>엔티티</a:t>
            </a:r>
            <a:r>
              <a:rPr lang="ko-KR" altLang="en-US" sz="2000" b="1" dirty="0" smtClean="0"/>
              <a:t> 매핑하기 </a:t>
            </a:r>
            <a:endParaRPr lang="ko-KR" altLang="en-US" sz="2000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600" y="1628799"/>
            <a:ext cx="5616624" cy="475917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645860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/>
              <a:t>스프링 데이터 </a:t>
            </a:r>
            <a:r>
              <a:rPr lang="en-US" altLang="ko-KR" b="1" dirty="0" smtClean="0"/>
              <a:t>JPA</a:t>
            </a:r>
            <a:r>
              <a:rPr lang="ko-KR" altLang="en-US" b="1" dirty="0" smtClean="0"/>
              <a:t> 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848544" y="1101823"/>
            <a:ext cx="48245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Board </a:t>
            </a:r>
            <a:r>
              <a:rPr lang="ko-KR" altLang="en-US" sz="2000" b="1" dirty="0" err="1" smtClean="0"/>
              <a:t>엔티티</a:t>
            </a:r>
            <a:r>
              <a:rPr lang="ko-KR" altLang="en-US" sz="2000" b="1" dirty="0" smtClean="0"/>
              <a:t> 매핑하기 </a:t>
            </a:r>
            <a:endParaRPr lang="ko-KR" altLang="en-US" sz="20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592" y="1628800"/>
            <a:ext cx="6889783" cy="303403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082161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/>
              <a:t>스프링 데이터 </a:t>
            </a:r>
            <a:r>
              <a:rPr lang="en-US" altLang="ko-KR" b="1" dirty="0" smtClean="0"/>
              <a:t>JPA</a:t>
            </a:r>
            <a:r>
              <a:rPr lang="ko-KR" altLang="en-US" b="1" dirty="0" smtClean="0"/>
              <a:t> 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848544" y="1101823"/>
            <a:ext cx="48245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 err="1" smtClean="0"/>
              <a:t>Mysql</a:t>
            </a:r>
            <a:r>
              <a:rPr lang="en-US" altLang="ko-KR" sz="2000" b="1" dirty="0" smtClean="0"/>
              <a:t> </a:t>
            </a:r>
            <a:r>
              <a:rPr lang="en-US" altLang="ko-KR" sz="2000" b="1" dirty="0" err="1" smtClean="0"/>
              <a:t>WorkBench</a:t>
            </a:r>
            <a:r>
              <a:rPr lang="en-US" altLang="ko-KR" sz="2000" b="1" dirty="0" smtClean="0"/>
              <a:t> - DB </a:t>
            </a:r>
            <a:r>
              <a:rPr lang="ko-KR" altLang="en-US" sz="2000" b="1" dirty="0" smtClean="0"/>
              <a:t>확인 </a:t>
            </a:r>
            <a:endParaRPr lang="ko-KR" altLang="en-US" sz="20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592" y="1700808"/>
            <a:ext cx="5616624" cy="356768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431526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/>
              <a:t>스프링 데이터 </a:t>
            </a:r>
            <a:r>
              <a:rPr lang="en-US" altLang="ko-KR" b="1" dirty="0" smtClean="0"/>
              <a:t>JPA</a:t>
            </a:r>
            <a:r>
              <a:rPr lang="ko-KR" altLang="en-US" b="1" dirty="0" smtClean="0"/>
              <a:t> 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69847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000" b="1" dirty="0" err="1" smtClean="0"/>
              <a:t>리포지터리</a:t>
            </a:r>
            <a:r>
              <a:rPr lang="ko-KR" altLang="en-US" sz="2000" b="1" dirty="0" smtClean="0"/>
              <a:t> 작성하기 </a:t>
            </a:r>
            <a:r>
              <a:rPr lang="en-US" altLang="ko-KR" sz="2000" b="1" dirty="0" smtClean="0"/>
              <a:t>- </a:t>
            </a:r>
            <a:r>
              <a:rPr lang="en-US" altLang="ko-KR" sz="2000" dirty="0"/>
              <a:t>Repository </a:t>
            </a:r>
            <a:r>
              <a:rPr lang="ko-KR" altLang="en-US" sz="2000" dirty="0"/>
              <a:t>인터페이스</a:t>
            </a:r>
            <a:r>
              <a:rPr lang="ko-KR" altLang="en-US" sz="2000" b="1" dirty="0" smtClean="0"/>
              <a:t> </a:t>
            </a:r>
            <a:endParaRPr lang="ko-KR" altLang="en-US" sz="2000" dirty="0"/>
          </a:p>
        </p:txBody>
      </p:sp>
      <p:sp>
        <p:nvSpPr>
          <p:cNvPr id="11" name="직사각형 10"/>
          <p:cNvSpPr/>
          <p:nvPr/>
        </p:nvSpPr>
        <p:spPr>
          <a:xfrm>
            <a:off x="1568624" y="1776172"/>
            <a:ext cx="3312368" cy="61572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ysClr val="windowText" lastClr="000000"/>
                </a:solidFill>
              </a:rPr>
              <a:t>Repository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1568624" y="2832289"/>
            <a:ext cx="3312368" cy="61572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>
                <a:solidFill>
                  <a:sysClr val="windowText" lastClr="000000"/>
                </a:solidFill>
              </a:rPr>
              <a:t>CrudRepository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1568624" y="3888406"/>
            <a:ext cx="3312368" cy="61572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>
                <a:solidFill>
                  <a:sysClr val="windowText" lastClr="000000"/>
                </a:solidFill>
              </a:rPr>
              <a:t>PagingAndSotingRepository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1568624" y="4944524"/>
            <a:ext cx="3312368" cy="61572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err="1" smtClean="0">
                <a:solidFill>
                  <a:sysClr val="windowText" lastClr="000000"/>
                </a:solidFill>
              </a:rPr>
              <a:t>JpaRepository</a:t>
            </a:r>
            <a:endParaRPr lang="ko-KR" altLang="en-US" b="1" dirty="0">
              <a:solidFill>
                <a:sysClr val="windowText" lastClr="000000"/>
              </a:solidFill>
            </a:endParaRPr>
          </a:p>
        </p:txBody>
      </p:sp>
      <p:grpSp>
        <p:nvGrpSpPr>
          <p:cNvPr id="16" name="그룹 15"/>
          <p:cNvGrpSpPr/>
          <p:nvPr/>
        </p:nvGrpSpPr>
        <p:grpSpPr>
          <a:xfrm rot="5400000">
            <a:off x="2937761" y="2514020"/>
            <a:ext cx="439241" cy="266014"/>
            <a:chOff x="7617297" y="4088181"/>
            <a:chExt cx="605520" cy="130282"/>
          </a:xfrm>
        </p:grpSpPr>
        <p:sp>
          <p:nvSpPr>
            <p:cNvPr id="17" name="이등변 삼각형 16">
              <a:extLst>
                <a:ext uri="{FF2B5EF4-FFF2-40B4-BE49-F238E27FC236}">
                  <a16:creationId xmlns:a16="http://schemas.microsoft.com/office/drawing/2014/main" id="{A928C65B-0F62-4DFC-9220-DF40E5958238}"/>
                </a:ext>
              </a:extLst>
            </p:cNvPr>
            <p:cNvSpPr/>
            <p:nvPr/>
          </p:nvSpPr>
          <p:spPr>
            <a:xfrm rot="16200000">
              <a:off x="7611916" y="4093562"/>
              <a:ext cx="130282" cy="119519"/>
            </a:xfrm>
            <a:prstGeom prst="triangle">
              <a:avLst/>
            </a:prstGeom>
            <a:ln w="12700"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D15E6F92-B9C8-4563-8C4E-646F583209B9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979817" y="3912384"/>
              <a:ext cx="0" cy="486000"/>
            </a:xfrm>
            <a:prstGeom prst="line">
              <a:avLst/>
            </a:prstGeom>
            <a:ln w="19050">
              <a:prstDash val="sysDash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cxnSp>
      </p:grpSp>
      <p:grpSp>
        <p:nvGrpSpPr>
          <p:cNvPr id="19" name="그룹 18"/>
          <p:cNvGrpSpPr/>
          <p:nvPr/>
        </p:nvGrpSpPr>
        <p:grpSpPr>
          <a:xfrm rot="5400000">
            <a:off x="2937761" y="3534623"/>
            <a:ext cx="439241" cy="266014"/>
            <a:chOff x="7617297" y="4088181"/>
            <a:chExt cx="605520" cy="130282"/>
          </a:xfrm>
        </p:grpSpPr>
        <p:sp>
          <p:nvSpPr>
            <p:cNvPr id="20" name="이등변 삼각형 19">
              <a:extLst>
                <a:ext uri="{FF2B5EF4-FFF2-40B4-BE49-F238E27FC236}">
                  <a16:creationId xmlns:a16="http://schemas.microsoft.com/office/drawing/2014/main" id="{A928C65B-0F62-4DFC-9220-DF40E5958238}"/>
                </a:ext>
              </a:extLst>
            </p:cNvPr>
            <p:cNvSpPr/>
            <p:nvPr/>
          </p:nvSpPr>
          <p:spPr>
            <a:xfrm rot="16200000">
              <a:off x="7611916" y="4093562"/>
              <a:ext cx="130282" cy="119519"/>
            </a:xfrm>
            <a:prstGeom prst="triangle">
              <a:avLst/>
            </a:prstGeom>
            <a:ln w="12700"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15E6F92-B9C8-4563-8C4E-646F583209B9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979817" y="3912384"/>
              <a:ext cx="0" cy="486000"/>
            </a:xfrm>
            <a:prstGeom prst="line">
              <a:avLst/>
            </a:prstGeom>
            <a:ln w="19050">
              <a:prstDash val="sysDash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cxnSp>
      </p:grpSp>
      <p:grpSp>
        <p:nvGrpSpPr>
          <p:cNvPr id="22" name="그룹 21"/>
          <p:cNvGrpSpPr/>
          <p:nvPr/>
        </p:nvGrpSpPr>
        <p:grpSpPr>
          <a:xfrm rot="5400000">
            <a:off x="2937761" y="4580634"/>
            <a:ext cx="439241" cy="266014"/>
            <a:chOff x="7617297" y="4088181"/>
            <a:chExt cx="605520" cy="130282"/>
          </a:xfrm>
        </p:grpSpPr>
        <p:sp>
          <p:nvSpPr>
            <p:cNvPr id="23" name="이등변 삼각형 22">
              <a:extLst>
                <a:ext uri="{FF2B5EF4-FFF2-40B4-BE49-F238E27FC236}">
                  <a16:creationId xmlns:a16="http://schemas.microsoft.com/office/drawing/2014/main" id="{A928C65B-0F62-4DFC-9220-DF40E5958238}"/>
                </a:ext>
              </a:extLst>
            </p:cNvPr>
            <p:cNvSpPr/>
            <p:nvPr/>
          </p:nvSpPr>
          <p:spPr>
            <a:xfrm rot="16200000">
              <a:off x="7611916" y="4093562"/>
              <a:ext cx="130282" cy="119519"/>
            </a:xfrm>
            <a:prstGeom prst="triangle">
              <a:avLst/>
            </a:prstGeom>
            <a:ln w="12700"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15E6F92-B9C8-4563-8C4E-646F583209B9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979817" y="3912384"/>
              <a:ext cx="0" cy="486000"/>
            </a:xfrm>
            <a:prstGeom prst="line">
              <a:avLst/>
            </a:prstGeom>
            <a:ln w="19050">
              <a:prstDash val="sysDash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cxnSp>
      </p:grpSp>
      <p:sp>
        <p:nvSpPr>
          <p:cNvPr id="2" name="TextBox 1"/>
          <p:cNvSpPr txBox="1"/>
          <p:nvPr/>
        </p:nvSpPr>
        <p:spPr>
          <a:xfrm>
            <a:off x="5061012" y="2958714"/>
            <a:ext cx="29523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smtClean="0"/>
              <a:t>기본적인 </a:t>
            </a:r>
            <a:r>
              <a:rPr lang="en-US" altLang="ko-KR" sz="1600" dirty="0" smtClean="0"/>
              <a:t>CRUD </a:t>
            </a:r>
            <a:r>
              <a:rPr lang="ko-KR" altLang="en-US" sz="1600" dirty="0" smtClean="0"/>
              <a:t>기능 제공</a:t>
            </a:r>
            <a:endParaRPr lang="ko-KR" altLang="en-US" sz="1600" dirty="0"/>
          </a:p>
        </p:txBody>
      </p:sp>
      <p:sp>
        <p:nvSpPr>
          <p:cNvPr id="25" name="TextBox 24"/>
          <p:cNvSpPr txBox="1"/>
          <p:nvPr/>
        </p:nvSpPr>
        <p:spPr>
          <a:xfrm>
            <a:off x="5169024" y="4026989"/>
            <a:ext cx="29523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smtClean="0"/>
              <a:t>검색기능 및 화면 </a:t>
            </a:r>
            <a:r>
              <a:rPr lang="ko-KR" altLang="en-US" sz="1600" dirty="0" err="1" smtClean="0"/>
              <a:t>페이징</a:t>
            </a:r>
            <a:r>
              <a:rPr lang="ko-KR" altLang="en-US" sz="1600" dirty="0" smtClean="0"/>
              <a:t> 처리</a:t>
            </a:r>
            <a:endParaRPr lang="ko-KR" altLang="en-US" sz="1600" dirty="0"/>
          </a:p>
        </p:txBody>
      </p:sp>
      <p:sp>
        <p:nvSpPr>
          <p:cNvPr id="26" name="TextBox 25"/>
          <p:cNvSpPr txBox="1"/>
          <p:nvPr/>
        </p:nvSpPr>
        <p:spPr>
          <a:xfrm>
            <a:off x="5169024" y="5083107"/>
            <a:ext cx="29523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smtClean="0"/>
              <a:t>이외에 </a:t>
            </a:r>
            <a:r>
              <a:rPr lang="en-US" altLang="ko-KR" sz="1600" dirty="0" smtClean="0"/>
              <a:t>JPA</a:t>
            </a:r>
            <a:r>
              <a:rPr lang="ko-KR" altLang="en-US" sz="1600" dirty="0" smtClean="0"/>
              <a:t>에서 추가한 기능</a:t>
            </a:r>
            <a:endParaRPr lang="ko-KR" altLang="en-US" sz="1600" dirty="0"/>
          </a:p>
        </p:txBody>
      </p:sp>
      <p:sp>
        <p:nvSpPr>
          <p:cNvPr id="27" name="모서리가 둥근 직사각형 26">
            <a:extLst>
              <a:ext uri="{FF2B5EF4-FFF2-40B4-BE49-F238E27FC236}">
                <a16:creationId xmlns:a16="http://schemas.microsoft.com/office/drawing/2014/main" id="{792DA8B4-17B2-454B-97AC-17311A4832C5}"/>
              </a:ext>
            </a:extLst>
          </p:cNvPr>
          <p:cNvSpPr/>
          <p:nvPr/>
        </p:nvSpPr>
        <p:spPr>
          <a:xfrm>
            <a:off x="1352600" y="4857824"/>
            <a:ext cx="6912768" cy="878276"/>
          </a:xfrm>
          <a:prstGeom prst="roundRect">
            <a:avLst/>
          </a:prstGeom>
          <a:noFill/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3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9742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/>
              <a:t>스프링 데이터 </a:t>
            </a:r>
            <a:r>
              <a:rPr lang="en-US" altLang="ko-KR" b="1" dirty="0" smtClean="0"/>
              <a:t>JPA</a:t>
            </a:r>
            <a:r>
              <a:rPr lang="ko-KR" altLang="en-US" b="1" dirty="0" smtClean="0"/>
              <a:t> </a:t>
            </a:r>
            <a:endParaRPr lang="ko-KR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1302146" y="1628800"/>
            <a:ext cx="5832648" cy="161582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/>
              <a:t> </a:t>
            </a:r>
            <a:r>
              <a:rPr lang="en-US" altLang="ko-KR" sz="1600" dirty="0" smtClean="0"/>
              <a:t> </a:t>
            </a:r>
            <a:r>
              <a:rPr lang="en-US" altLang="ko-KR" b="1" dirty="0" err="1" smtClean="0"/>
              <a:t>JPARepository</a:t>
            </a:r>
            <a:r>
              <a:rPr lang="en-US" altLang="ko-KR" b="1" dirty="0" smtClean="0"/>
              <a:t>&lt;T, ID&gt;</a:t>
            </a:r>
          </a:p>
          <a:p>
            <a:pPr>
              <a:lnSpc>
                <a:spcPct val="150000"/>
              </a:lnSpc>
            </a:pPr>
            <a:endParaRPr lang="en-US" altLang="ko-KR" sz="1600" dirty="0" smtClean="0"/>
          </a:p>
          <a:p>
            <a:pPr>
              <a:lnSpc>
                <a:spcPct val="150000"/>
              </a:lnSpc>
            </a:pPr>
            <a:r>
              <a:rPr lang="en-US" altLang="ko-KR" sz="1600" dirty="0"/>
              <a:t> </a:t>
            </a:r>
            <a:r>
              <a:rPr lang="en-US" altLang="ko-KR" sz="1600" dirty="0" smtClean="0"/>
              <a:t> T : </a:t>
            </a:r>
            <a:r>
              <a:rPr lang="ko-KR" altLang="en-US" sz="1600" dirty="0" err="1" smtClean="0"/>
              <a:t>엔티티의</a:t>
            </a:r>
            <a:r>
              <a:rPr lang="ko-KR" altLang="en-US" sz="1600" dirty="0" smtClean="0"/>
              <a:t> 클래스 타입</a:t>
            </a:r>
            <a:endParaRPr lang="en-US" altLang="ko-KR" sz="1600" dirty="0" smtClean="0"/>
          </a:p>
          <a:p>
            <a:pPr>
              <a:lnSpc>
                <a:spcPct val="150000"/>
              </a:lnSpc>
            </a:pPr>
            <a:r>
              <a:rPr lang="en-US" altLang="ko-KR" sz="1600" dirty="0"/>
              <a:t> </a:t>
            </a:r>
            <a:r>
              <a:rPr lang="en-US" altLang="ko-KR" sz="1600" dirty="0" smtClean="0"/>
              <a:t>ID :  </a:t>
            </a:r>
            <a:r>
              <a:rPr lang="ko-KR" altLang="en-US" sz="1600" dirty="0" err="1" smtClean="0"/>
              <a:t>식별자</a:t>
            </a:r>
            <a:r>
              <a:rPr lang="en-US" altLang="ko-KR" sz="1600" dirty="0" smtClean="0"/>
              <a:t>(PK)</a:t>
            </a:r>
            <a:r>
              <a:rPr lang="ko-KR" altLang="en-US" sz="1600" dirty="0" smtClean="0"/>
              <a:t> 타입</a:t>
            </a:r>
            <a:r>
              <a:rPr lang="en-US" altLang="ko-KR" sz="1600" dirty="0" smtClean="0"/>
              <a:t>(@Id</a:t>
            </a:r>
            <a:r>
              <a:rPr lang="ko-KR" altLang="en-US" sz="1600" dirty="0" smtClean="0"/>
              <a:t>로 </a:t>
            </a:r>
            <a:r>
              <a:rPr lang="ko-KR" altLang="en-US" sz="1600" dirty="0" err="1" smtClean="0"/>
              <a:t>매핑한</a:t>
            </a:r>
            <a:r>
              <a:rPr lang="ko-KR" altLang="en-US" sz="1600" dirty="0" smtClean="0"/>
              <a:t> </a:t>
            </a:r>
            <a:r>
              <a:rPr lang="ko-KR" altLang="en-US" sz="1600" dirty="0" err="1" smtClean="0"/>
              <a:t>식별자</a:t>
            </a:r>
            <a:r>
              <a:rPr lang="ko-KR" altLang="en-US" sz="1600" dirty="0" smtClean="0"/>
              <a:t> 변수의 </a:t>
            </a:r>
            <a:r>
              <a:rPr lang="ko-KR" altLang="en-US" sz="1600" dirty="0" err="1" smtClean="0"/>
              <a:t>자료형</a:t>
            </a:r>
            <a:r>
              <a:rPr lang="en-US" altLang="ko-KR" sz="1600" dirty="0" smtClean="0"/>
              <a:t>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52599" y="3309385"/>
            <a:ext cx="80648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 smtClean="0"/>
              <a:t>별도의 구현 클래스를 만들지 않고 인터페이스만 정의함으로써 기능을 사용할 수 있음</a:t>
            </a:r>
            <a:endParaRPr lang="en-US" altLang="ko-KR" sz="1600" dirty="0" smtClean="0"/>
          </a:p>
        </p:txBody>
      </p:sp>
      <p:sp>
        <p:nvSpPr>
          <p:cNvPr id="10" name="TextBox 9"/>
          <p:cNvSpPr txBox="1"/>
          <p:nvPr/>
        </p:nvSpPr>
        <p:spPr>
          <a:xfrm>
            <a:off x="848544" y="1101823"/>
            <a:ext cx="3960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000" b="1" err="1" smtClean="0"/>
              <a:t>리포지터리</a:t>
            </a:r>
            <a:r>
              <a:rPr lang="ko-KR" altLang="en-US" sz="2000" b="1" dirty="0" smtClean="0"/>
              <a:t> 작성하기 </a:t>
            </a:r>
            <a:endParaRPr lang="ko-KR" altLang="en-US" sz="20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984" y="3953998"/>
            <a:ext cx="8628049" cy="208457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640373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/>
              <a:t>스프링 데이터 </a:t>
            </a:r>
            <a:r>
              <a:rPr lang="en-US" altLang="ko-KR" b="1" dirty="0" smtClean="0"/>
              <a:t>JPA</a:t>
            </a:r>
            <a:r>
              <a:rPr lang="ko-KR" altLang="en-US" b="1" dirty="0" smtClean="0"/>
              <a:t> </a:t>
            </a:r>
            <a:endParaRPr lang="ko-KR" altLang="en-US" dirty="0"/>
          </a:p>
        </p:txBody>
      </p:sp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8474484"/>
              </p:ext>
            </p:extLst>
          </p:nvPr>
        </p:nvGraphicFramePr>
        <p:xfrm>
          <a:off x="1136576" y="1772816"/>
          <a:ext cx="7992888" cy="296449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384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54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989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/>
                        <a:t>작업</a:t>
                      </a:r>
                      <a:endParaRPr lang="ko-KR" altLang="en-US" sz="1800" dirty="0"/>
                    </a:p>
                  </a:txBody>
                  <a:tcPr anchor="ctr">
                    <a:lnL w="12700" cmpd="sng">
                      <a:noFill/>
                    </a:lnL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/>
                        <a:t>메 서 </a:t>
                      </a:r>
                      <a:r>
                        <a:rPr lang="ko-KR" altLang="en-US" sz="1800" dirty="0" err="1" smtClean="0"/>
                        <a:t>드</a:t>
                      </a:r>
                      <a:endParaRPr lang="ko-KR" altLang="en-US" sz="1800" dirty="0"/>
                    </a:p>
                  </a:txBody>
                  <a:tcPr anchor="ctr">
                    <a:lnR w="12700" cmpd="sng">
                      <a:noFill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898"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800" b="0" dirty="0" smtClean="0"/>
                        <a:t> INSERT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800" b="0" dirty="0" smtClean="0"/>
                        <a:t> save(</a:t>
                      </a:r>
                      <a:r>
                        <a:rPr lang="ko-KR" altLang="en-US" sz="1800" b="0" dirty="0" err="1" smtClean="0"/>
                        <a:t>엔티티</a:t>
                      </a:r>
                      <a:r>
                        <a:rPr lang="ko-KR" altLang="en-US" sz="1800" b="0" dirty="0" smtClean="0"/>
                        <a:t> 객체</a:t>
                      </a:r>
                      <a:r>
                        <a:rPr lang="en-US" altLang="ko-KR" sz="1800" b="0" dirty="0" smtClean="0"/>
                        <a:t>)</a:t>
                      </a:r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898">
                <a:tc rowSpan="2"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800" b="0" dirty="0" smtClean="0"/>
                        <a:t> SELECT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800" b="0" dirty="0" smtClean="0"/>
                        <a:t> </a:t>
                      </a:r>
                      <a:r>
                        <a:rPr lang="en-US" altLang="ko-KR" sz="1800" b="0" dirty="0" err="1" smtClean="0"/>
                        <a:t>findById</a:t>
                      </a:r>
                      <a:r>
                        <a:rPr lang="en-US" altLang="ko-KR" sz="1800" b="0" dirty="0" smtClean="0"/>
                        <a:t>(</a:t>
                      </a:r>
                      <a:r>
                        <a:rPr lang="ko-KR" altLang="en-US" sz="1800" b="0" dirty="0" smtClean="0"/>
                        <a:t>키 타입</a:t>
                      </a:r>
                      <a:r>
                        <a:rPr lang="en-US" altLang="ko-KR" sz="1800" b="0" dirty="0" smtClean="0"/>
                        <a:t>), get()</a:t>
                      </a:r>
                      <a:endParaRPr lang="ko-KR" altLang="en-US" sz="1800" b="0" dirty="0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9898">
                <a:tc vMerge="1"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endParaRPr lang="en-US" altLang="ko-KR" sz="1800" b="0" dirty="0" smtClean="0"/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800" b="0" dirty="0" smtClean="0"/>
                        <a:t> </a:t>
                      </a:r>
                      <a:r>
                        <a:rPr lang="en-US" altLang="ko-KR" sz="1800" b="0" dirty="0" err="1" smtClean="0"/>
                        <a:t>findAll</a:t>
                      </a:r>
                      <a:r>
                        <a:rPr lang="en-US" altLang="ko-KR" sz="1800" b="0" dirty="0" smtClean="0"/>
                        <a:t>() - </a:t>
                      </a:r>
                      <a:r>
                        <a:rPr lang="ko-KR" altLang="en-US" sz="1800" b="0" dirty="0" smtClean="0"/>
                        <a:t>목록</a:t>
                      </a:r>
                      <a:endParaRPr lang="ko-KR" altLang="en-US" sz="1800" b="0" dirty="0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9898"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800" b="0" dirty="0" smtClean="0"/>
                        <a:t> UPDATE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 smtClean="0"/>
                        <a:t> save(</a:t>
                      </a:r>
                      <a:r>
                        <a:rPr lang="ko-KR" altLang="en-US" sz="1800" b="0" dirty="0" err="1" smtClean="0"/>
                        <a:t>엔티티</a:t>
                      </a:r>
                      <a:r>
                        <a:rPr lang="ko-KR" altLang="en-US" sz="1800" b="0" dirty="0" smtClean="0"/>
                        <a:t> 객체</a:t>
                      </a:r>
                      <a:r>
                        <a:rPr lang="en-US" altLang="ko-KR" sz="1800" b="0" dirty="0" smtClean="0"/>
                        <a:t>)</a:t>
                      </a:r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9898"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800" b="0" dirty="0" smtClean="0"/>
                        <a:t> DELETE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800" b="0" dirty="0" smtClean="0"/>
                        <a:t> </a:t>
                      </a:r>
                      <a:r>
                        <a:rPr lang="en-US" altLang="ko-KR" sz="1800" b="0" dirty="0" err="1" smtClean="0"/>
                        <a:t>deleteById</a:t>
                      </a:r>
                      <a:r>
                        <a:rPr lang="en-US" altLang="ko-KR" sz="1800" b="0" dirty="0" smtClean="0"/>
                        <a:t>(</a:t>
                      </a:r>
                      <a:r>
                        <a:rPr lang="ko-KR" altLang="en-US" sz="1800" b="0" dirty="0" smtClean="0"/>
                        <a:t>키 타입</a:t>
                      </a:r>
                      <a:r>
                        <a:rPr lang="en-US" altLang="ko-KR" sz="1800" b="0" dirty="0" smtClean="0"/>
                        <a:t>), delete(</a:t>
                      </a:r>
                      <a:r>
                        <a:rPr lang="ko-KR" altLang="en-US" sz="1800" b="0" dirty="0" smtClean="0"/>
                        <a:t>객체 타입</a:t>
                      </a:r>
                      <a:r>
                        <a:rPr lang="en-US" altLang="ko-KR" sz="1800" b="0" dirty="0" smtClean="0"/>
                        <a:t>)</a:t>
                      </a:r>
                      <a:endParaRPr lang="ko-KR" altLang="en-US" sz="1800" b="0" dirty="0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48544" y="1101823"/>
            <a:ext cx="3960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JPA</a:t>
            </a:r>
            <a:r>
              <a:rPr lang="ko-KR" altLang="en-US" sz="2000" b="1" dirty="0" smtClean="0"/>
              <a:t>를 활용한 </a:t>
            </a:r>
            <a:r>
              <a:rPr lang="en-US" altLang="ko-KR" sz="2000" b="1" dirty="0" smtClean="0"/>
              <a:t>CRUD </a:t>
            </a:r>
            <a:r>
              <a:rPr lang="ko-KR" altLang="en-US" sz="2000" b="1" dirty="0" smtClean="0"/>
              <a:t>테스트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085343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/>
              <a:t>스프링 데이터 </a:t>
            </a:r>
            <a:r>
              <a:rPr lang="en-US" altLang="ko-KR" b="1" dirty="0" smtClean="0"/>
              <a:t>JPA</a:t>
            </a:r>
            <a:r>
              <a:rPr lang="ko-KR" altLang="en-US" b="1" dirty="0" smtClean="0"/>
              <a:t> 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3960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JPA</a:t>
            </a:r>
            <a:r>
              <a:rPr lang="ko-KR" altLang="en-US" sz="2000" b="1" dirty="0" smtClean="0"/>
              <a:t>를 활용한 </a:t>
            </a:r>
            <a:r>
              <a:rPr lang="en-US" altLang="ko-KR" sz="2000" b="1" dirty="0" smtClean="0"/>
              <a:t>CRUD </a:t>
            </a:r>
            <a:r>
              <a:rPr lang="ko-KR" altLang="en-US" sz="2000" b="1" dirty="0" smtClean="0"/>
              <a:t>테스트</a:t>
            </a:r>
            <a:endParaRPr lang="ko-KR" altLang="en-US" sz="20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1136576" y="1611902"/>
            <a:ext cx="5472608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 smtClean="0"/>
              <a:t>- </a:t>
            </a:r>
            <a:r>
              <a:rPr lang="ko-KR" altLang="en-US" dirty="0" err="1" smtClean="0"/>
              <a:t>실행전</a:t>
            </a:r>
            <a:r>
              <a:rPr lang="ko-KR" altLang="en-US" dirty="0" smtClean="0"/>
              <a:t> 테이블 자동생성 기능을 </a:t>
            </a:r>
            <a:r>
              <a:rPr lang="en-US" altLang="ko-KR" dirty="0" smtClean="0"/>
              <a:t>update</a:t>
            </a:r>
            <a:r>
              <a:rPr lang="ko-KR" altLang="en-US" dirty="0" smtClean="0"/>
              <a:t>로 변경</a:t>
            </a:r>
            <a:endParaRPr lang="en-US" altLang="ko-KR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600" y="2348880"/>
            <a:ext cx="7911482" cy="142390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116288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/>
              <a:t>스프링 데이터 </a:t>
            </a:r>
            <a:r>
              <a:rPr lang="en-US" altLang="ko-KR" b="1" dirty="0" smtClean="0"/>
              <a:t>JPA</a:t>
            </a:r>
            <a:r>
              <a:rPr lang="ko-KR" altLang="en-US" b="1" dirty="0" smtClean="0"/>
              <a:t> 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3960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JUnit </a:t>
            </a:r>
            <a:r>
              <a:rPr lang="ko-KR" altLang="en-US" sz="2000" b="1" dirty="0" smtClean="0"/>
              <a:t>도구를 활용한 테스트</a:t>
            </a:r>
            <a:endParaRPr lang="ko-KR" altLang="en-US" sz="2000" b="1" dirty="0"/>
          </a:p>
        </p:txBody>
      </p:sp>
      <p:sp>
        <p:nvSpPr>
          <p:cNvPr id="2" name="직사각형 1"/>
          <p:cNvSpPr/>
          <p:nvPr/>
        </p:nvSpPr>
        <p:spPr>
          <a:xfrm>
            <a:off x="1208584" y="1556792"/>
            <a:ext cx="7560840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b="1" dirty="0" err="1"/>
              <a:t>JUnit</a:t>
            </a:r>
            <a:r>
              <a:rPr lang="ko-KR" altLang="en-US" sz="1600" dirty="0" err="1"/>
              <a:t>은</a:t>
            </a:r>
            <a:r>
              <a:rPr lang="ko-KR" altLang="en-US" sz="1600" dirty="0"/>
              <a:t> 자바(</a:t>
            </a:r>
            <a:r>
              <a:rPr lang="ko-KR" altLang="en-US" sz="1600" dirty="0" err="1"/>
              <a:t>Java</a:t>
            </a:r>
            <a:r>
              <a:rPr lang="ko-KR" altLang="en-US" sz="1600" dirty="0"/>
              <a:t>)</a:t>
            </a:r>
            <a:r>
              <a:rPr lang="ko-KR" altLang="en-US" sz="1600" dirty="0" err="1"/>
              <a:t>를</a:t>
            </a:r>
            <a:r>
              <a:rPr lang="ko-KR" altLang="en-US" sz="1600" dirty="0"/>
              <a:t> 위한 단위 테스트 프레임워크로, 코드의 특정 부분(함수, </a:t>
            </a:r>
            <a:r>
              <a:rPr lang="ko-KR" altLang="en-US" sz="1600" dirty="0" err="1"/>
              <a:t>메소드</a:t>
            </a:r>
            <a:r>
              <a:rPr lang="ko-KR" altLang="en-US" sz="1600" dirty="0"/>
              <a:t>, 클래스 등)이 </a:t>
            </a:r>
            <a:r>
              <a:rPr lang="ko-KR" altLang="en-US" sz="1600" dirty="0" smtClean="0"/>
              <a:t>의도한 </a:t>
            </a:r>
            <a:r>
              <a:rPr lang="ko-KR" altLang="en-US" sz="1600" dirty="0"/>
              <a:t>대로 작동하는지 </a:t>
            </a:r>
            <a:r>
              <a:rPr lang="ko-KR" altLang="en-US" sz="1600" dirty="0" smtClean="0"/>
              <a:t>검증한다. </a:t>
            </a:r>
            <a:endParaRPr lang="en-US" altLang="ko-KR" sz="1600" dirty="0" smtClean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smtClean="0"/>
              <a:t>테스트 </a:t>
            </a:r>
            <a:r>
              <a:rPr lang="ko-KR" altLang="en-US" sz="1600" dirty="0"/>
              <a:t>시간 단축, 쉬운 코드 변경, 안정성 향상에 도움을 </a:t>
            </a:r>
            <a:r>
              <a:rPr lang="ko-KR" altLang="en-US" sz="1600" dirty="0" smtClean="0"/>
              <a:t>준다</a:t>
            </a:r>
            <a:r>
              <a:rPr lang="en-US" altLang="ko-KR" sz="1600" dirty="0" smtClean="0"/>
              <a:t>.</a:t>
            </a:r>
            <a:endParaRPr lang="ko-KR" altLang="en-US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@</a:t>
            </a:r>
            <a:r>
              <a:rPr lang="ko-KR" altLang="en-US" sz="1600" dirty="0" err="1"/>
              <a:t>Test와</a:t>
            </a:r>
            <a:r>
              <a:rPr lang="ko-KR" altLang="en-US" sz="1600" dirty="0"/>
              <a:t> 같은 </a:t>
            </a:r>
            <a:r>
              <a:rPr lang="ko-KR" altLang="en-US" sz="1600" dirty="0" err="1"/>
              <a:t>어노테이션을</a:t>
            </a:r>
            <a:r>
              <a:rPr lang="ko-KR" altLang="en-US" sz="1600" dirty="0"/>
              <a:t> 사용하여 테스트를 간결하게 </a:t>
            </a:r>
            <a:r>
              <a:rPr lang="ko-KR" altLang="en-US" sz="1600" dirty="0" smtClean="0"/>
              <a:t>작성한다</a:t>
            </a:r>
            <a:r>
              <a:rPr lang="ko-KR" altLang="en-US" sz="1600" dirty="0"/>
              <a:t>.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8821" y="3342490"/>
            <a:ext cx="7121218" cy="1331541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8821" y="4843902"/>
            <a:ext cx="3664726" cy="137752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531665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/>
              <a:t>스프링 데이터 </a:t>
            </a:r>
            <a:r>
              <a:rPr lang="en-US" altLang="ko-KR" b="1" dirty="0" smtClean="0"/>
              <a:t>JPA</a:t>
            </a:r>
            <a:r>
              <a:rPr lang="ko-KR" altLang="en-US" b="1" dirty="0" smtClean="0"/>
              <a:t> 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084674"/>
            <a:ext cx="55446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등록 </a:t>
            </a:r>
            <a:r>
              <a:rPr lang="ko-KR" altLang="en-US" sz="2000" b="1" dirty="0"/>
              <a:t>기능 테스트 </a:t>
            </a:r>
            <a:r>
              <a:rPr lang="en-US" altLang="ko-KR" sz="2000" b="1" dirty="0"/>
              <a:t>– save() </a:t>
            </a:r>
            <a:r>
              <a:rPr lang="ko-KR" altLang="en-US" sz="2000" b="1" dirty="0"/>
              <a:t>메서드 </a:t>
            </a:r>
            <a:r>
              <a:rPr lang="ko-KR" altLang="en-US" sz="2000" b="1" dirty="0" smtClean="0"/>
              <a:t>사용</a:t>
            </a:r>
            <a:endParaRPr lang="en-US" altLang="ko-KR" sz="2000" b="1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600" y="1556792"/>
            <a:ext cx="7128792" cy="470794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913824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/>
              <a:t>스프링 데이터 </a:t>
            </a:r>
            <a:r>
              <a:rPr lang="en-US" altLang="ko-KR" b="1" dirty="0" smtClean="0"/>
              <a:t>JPA</a:t>
            </a:r>
            <a:r>
              <a:rPr lang="ko-KR" altLang="en-US" b="1" dirty="0" smtClean="0"/>
              <a:t> 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084674"/>
            <a:ext cx="54726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등록 </a:t>
            </a:r>
            <a:r>
              <a:rPr lang="ko-KR" altLang="en-US" sz="2000" b="1" dirty="0"/>
              <a:t>기능 테스트 </a:t>
            </a:r>
            <a:r>
              <a:rPr lang="en-US" altLang="ko-KR" sz="2000" b="1" dirty="0"/>
              <a:t>– save() </a:t>
            </a:r>
            <a:r>
              <a:rPr lang="ko-KR" altLang="en-US" sz="2000" b="1" dirty="0"/>
              <a:t>메서드 사용</a:t>
            </a:r>
            <a:endParaRPr lang="en-US" altLang="ko-KR" sz="20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1208584" y="1412552"/>
            <a:ext cx="374441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 smtClean="0"/>
              <a:t>실행</a:t>
            </a:r>
            <a:r>
              <a:rPr lang="en-US" altLang="ko-KR" dirty="0" smtClean="0"/>
              <a:t>: Run As &gt; Junit Test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0632" y="1988879"/>
            <a:ext cx="4464496" cy="191678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0632" y="5301208"/>
            <a:ext cx="7128792" cy="100167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0632" y="4077072"/>
            <a:ext cx="6891744" cy="1235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702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/>
              <a:t>스프링 데이터 </a:t>
            </a:r>
            <a:r>
              <a:rPr lang="en-US" altLang="ko-KR" b="1" dirty="0" smtClean="0"/>
              <a:t>JPA</a:t>
            </a:r>
            <a:r>
              <a:rPr lang="ko-KR" altLang="en-US" b="1" dirty="0" smtClean="0"/>
              <a:t> 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136576" y="1412552"/>
            <a:ext cx="3744416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 smtClean="0"/>
              <a:t>롬복 </a:t>
            </a:r>
            <a:r>
              <a:rPr lang="en-US" altLang="ko-KR" dirty="0" smtClean="0"/>
              <a:t>@Builder </a:t>
            </a:r>
            <a:r>
              <a:rPr lang="ko-KR" altLang="en-US" dirty="0" smtClean="0"/>
              <a:t>사용</a:t>
            </a:r>
            <a:endParaRPr lang="en-US" altLang="ko-KR" dirty="0" smtClean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592" y="3789040"/>
            <a:ext cx="7416824" cy="269906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3"/>
          <a:srcRect b="23412"/>
          <a:stretch/>
        </p:blipFill>
        <p:spPr>
          <a:xfrm>
            <a:off x="1280592" y="1940524"/>
            <a:ext cx="6107782" cy="17045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848544" y="1084674"/>
            <a:ext cx="54726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등록 </a:t>
            </a:r>
            <a:r>
              <a:rPr lang="ko-KR" altLang="en-US" sz="2000" b="1" dirty="0"/>
              <a:t>기능 테스트 </a:t>
            </a:r>
            <a:r>
              <a:rPr lang="en-US" altLang="ko-KR" sz="2000" b="1" dirty="0"/>
              <a:t>– save() </a:t>
            </a:r>
            <a:r>
              <a:rPr lang="ko-KR" altLang="en-US" sz="2000" b="1" dirty="0"/>
              <a:t>메서드 사용</a:t>
            </a:r>
            <a:endParaRPr lang="en-US" altLang="ko-KR" sz="2000" b="1" dirty="0"/>
          </a:p>
        </p:txBody>
      </p:sp>
    </p:spTree>
    <p:extLst>
      <p:ext uri="{BB962C8B-B14F-4D97-AF65-F5344CB8AC3E}">
        <p14:creationId xmlns:p14="http://schemas.microsoft.com/office/powerpoint/2010/main" val="181454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/>
              <a:t>스프링 데이터 </a:t>
            </a:r>
            <a:r>
              <a:rPr lang="en-US" altLang="ko-KR" b="1" dirty="0" smtClean="0"/>
              <a:t>JPA</a:t>
            </a:r>
            <a:r>
              <a:rPr lang="ko-KR" altLang="en-US" b="1" dirty="0" smtClean="0"/>
              <a:t> 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208584" y="1534548"/>
            <a:ext cx="3744416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 err="1" smtClean="0"/>
              <a:t>Mysql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WorkBench</a:t>
            </a:r>
            <a:r>
              <a:rPr lang="ko-KR" altLang="en-US" dirty="0" smtClean="0"/>
              <a:t>에서 </a:t>
            </a:r>
            <a:r>
              <a:rPr lang="en-US" altLang="ko-KR" dirty="0" smtClean="0"/>
              <a:t>Select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816" y="2204864"/>
            <a:ext cx="7314351" cy="136815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848544" y="1084674"/>
            <a:ext cx="54726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등록 </a:t>
            </a:r>
            <a:r>
              <a:rPr lang="ko-KR" altLang="en-US" sz="2000" b="1" dirty="0"/>
              <a:t>기능 테스트 </a:t>
            </a:r>
            <a:r>
              <a:rPr lang="en-US" altLang="ko-KR" sz="2000" b="1" dirty="0"/>
              <a:t>– save() </a:t>
            </a:r>
            <a:r>
              <a:rPr lang="ko-KR" altLang="en-US" sz="2000" b="1" dirty="0"/>
              <a:t>메서드 사용</a:t>
            </a:r>
            <a:endParaRPr lang="en-US" altLang="ko-KR" sz="2000" b="1" dirty="0"/>
          </a:p>
        </p:txBody>
      </p:sp>
    </p:spTree>
    <p:extLst>
      <p:ext uri="{BB962C8B-B14F-4D97-AF65-F5344CB8AC3E}">
        <p14:creationId xmlns:p14="http://schemas.microsoft.com/office/powerpoint/2010/main" val="968122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/>
              <a:t>스프링 데이터 </a:t>
            </a:r>
            <a:r>
              <a:rPr lang="en-US" altLang="ko-KR" b="1" dirty="0" smtClean="0"/>
              <a:t>JPA</a:t>
            </a:r>
            <a:r>
              <a:rPr lang="ko-KR" altLang="en-US" b="1" dirty="0" smtClean="0"/>
              <a:t> 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5806" y="4581128"/>
            <a:ext cx="7277594" cy="110860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848544" y="1084674"/>
            <a:ext cx="51845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목록 </a:t>
            </a:r>
            <a:r>
              <a:rPr lang="ko-KR" altLang="en-US" sz="2000" b="1" dirty="0"/>
              <a:t>조회 기능 테스트 </a:t>
            </a:r>
            <a:r>
              <a:rPr lang="en-US" altLang="ko-KR" sz="2000" b="1" dirty="0"/>
              <a:t>– </a:t>
            </a:r>
            <a:r>
              <a:rPr lang="en-US" altLang="ko-KR" sz="2000" b="1" dirty="0" err="1"/>
              <a:t>findAll</a:t>
            </a:r>
            <a:r>
              <a:rPr lang="en-US" altLang="ko-KR" sz="2000" b="1" dirty="0"/>
              <a:t>() </a:t>
            </a:r>
            <a:r>
              <a:rPr lang="ko-KR" altLang="en-US" sz="2000" b="1" dirty="0"/>
              <a:t>사용 </a:t>
            </a:r>
            <a:endParaRPr lang="en-US" altLang="ko-KR" sz="2000" b="1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5806" y="1700809"/>
            <a:ext cx="6719532" cy="271305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236350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/>
              <a:t>스프링 데이터 </a:t>
            </a:r>
            <a:r>
              <a:rPr lang="en-US" altLang="ko-KR" b="1" dirty="0" smtClean="0"/>
              <a:t>JPA</a:t>
            </a:r>
            <a:r>
              <a:rPr lang="ko-KR" altLang="en-US" b="1" dirty="0" smtClean="0"/>
              <a:t> 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600" y="1733977"/>
            <a:ext cx="6545301" cy="217321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848544" y="1084674"/>
            <a:ext cx="57606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상세 </a:t>
            </a:r>
            <a:r>
              <a:rPr lang="ko-KR" altLang="en-US" sz="2000" b="1" dirty="0"/>
              <a:t>조회 기능 테스트 </a:t>
            </a:r>
            <a:r>
              <a:rPr lang="en-US" altLang="ko-KR" sz="2000" b="1" dirty="0"/>
              <a:t>– </a:t>
            </a:r>
            <a:r>
              <a:rPr lang="en-US" altLang="ko-KR" sz="2000" b="1" dirty="0" err="1"/>
              <a:t>findById</a:t>
            </a:r>
            <a:r>
              <a:rPr lang="en-US" altLang="ko-KR" sz="2000" b="1" dirty="0"/>
              <a:t>(</a:t>
            </a:r>
            <a:r>
              <a:rPr lang="en-US" altLang="ko-KR" sz="2000" b="1" dirty="0" err="1"/>
              <a:t>seq</a:t>
            </a:r>
            <a:r>
              <a:rPr lang="en-US" altLang="ko-KR" sz="2000" b="1" dirty="0"/>
              <a:t>) </a:t>
            </a:r>
            <a:r>
              <a:rPr lang="ko-KR" altLang="en-US" sz="2000" b="1" dirty="0"/>
              <a:t>사용</a:t>
            </a:r>
            <a:endParaRPr lang="en-US" altLang="ko-KR" sz="2000" b="1" dirty="0"/>
          </a:p>
        </p:txBody>
      </p:sp>
    </p:spTree>
    <p:extLst>
      <p:ext uri="{BB962C8B-B14F-4D97-AF65-F5344CB8AC3E}">
        <p14:creationId xmlns:p14="http://schemas.microsoft.com/office/powerpoint/2010/main" val="3827630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/>
              <a:t>스프링 데이터 </a:t>
            </a:r>
            <a:r>
              <a:rPr lang="en-US" altLang="ko-KR" b="1" dirty="0" smtClean="0"/>
              <a:t>JPA</a:t>
            </a:r>
            <a:r>
              <a:rPr lang="ko-KR" altLang="en-US" b="1" dirty="0" smtClean="0"/>
              <a:t> </a:t>
            </a:r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9963" y="5060380"/>
            <a:ext cx="7769818" cy="83111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4608" y="1700808"/>
            <a:ext cx="5823674" cy="314354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848544" y="1084674"/>
            <a:ext cx="66967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글 수정 </a:t>
            </a:r>
            <a:r>
              <a:rPr lang="en-US" altLang="ko-KR" sz="2000" b="1" dirty="0" smtClean="0"/>
              <a:t>- </a:t>
            </a:r>
            <a:r>
              <a:rPr lang="en-US" altLang="ko-KR" sz="2000" b="1" dirty="0" err="1" smtClean="0"/>
              <a:t>findById</a:t>
            </a:r>
            <a:r>
              <a:rPr lang="en-US" altLang="ko-KR" sz="2000" b="1" dirty="0" smtClean="0"/>
              <a:t>(</a:t>
            </a:r>
            <a:r>
              <a:rPr lang="en-US" altLang="ko-KR" sz="2000" b="1" dirty="0" err="1" smtClean="0"/>
              <a:t>seq</a:t>
            </a:r>
            <a:r>
              <a:rPr lang="en-US" altLang="ko-KR" sz="2000" b="1" dirty="0"/>
              <a:t>)</a:t>
            </a:r>
            <a:r>
              <a:rPr lang="ko-KR" altLang="en-US" sz="2000" b="1" dirty="0"/>
              <a:t>로 </a:t>
            </a:r>
            <a:r>
              <a:rPr lang="ko-KR" altLang="en-US" sz="2000" b="1" dirty="0" err="1"/>
              <a:t>조회후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save()</a:t>
            </a:r>
            <a:r>
              <a:rPr lang="ko-KR" altLang="en-US" sz="2000" b="1" dirty="0"/>
              <a:t>로 재등록 </a:t>
            </a:r>
            <a:endParaRPr lang="en-US" altLang="ko-KR" sz="2000" b="1" dirty="0"/>
          </a:p>
        </p:txBody>
      </p:sp>
    </p:spTree>
    <p:extLst>
      <p:ext uri="{BB962C8B-B14F-4D97-AF65-F5344CB8AC3E}">
        <p14:creationId xmlns:p14="http://schemas.microsoft.com/office/powerpoint/2010/main" val="745800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/>
              <a:t>스프링 데이터 </a:t>
            </a:r>
            <a:r>
              <a:rPr lang="en-US" altLang="ko-KR" b="1" dirty="0" smtClean="0"/>
              <a:t>JPA</a:t>
            </a:r>
            <a:r>
              <a:rPr lang="ko-KR" altLang="en-US" b="1" dirty="0" smtClean="0"/>
              <a:t> </a:t>
            </a:r>
            <a:endParaRPr lang="ko-KR" altLang="en-US" dirty="0"/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9537" y="1748405"/>
            <a:ext cx="4320480" cy="18002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5048" y="3140968"/>
            <a:ext cx="1951956" cy="142558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848544" y="1084674"/>
            <a:ext cx="66967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글 </a:t>
            </a:r>
            <a:r>
              <a:rPr lang="ko-KR" altLang="en-US" sz="2000" b="1" dirty="0"/>
              <a:t>삭제 기능 테스트 </a:t>
            </a:r>
            <a:r>
              <a:rPr lang="en-US" altLang="ko-KR" sz="2000" b="1" dirty="0"/>
              <a:t>– </a:t>
            </a:r>
            <a:r>
              <a:rPr lang="en-US" altLang="ko-KR" sz="2000" b="1" dirty="0" err="1"/>
              <a:t>deleteById</a:t>
            </a:r>
            <a:r>
              <a:rPr lang="en-US" altLang="ko-KR" sz="2000" b="1" dirty="0"/>
              <a:t>(</a:t>
            </a:r>
            <a:r>
              <a:rPr lang="en-US" altLang="ko-KR" sz="2000" b="1" dirty="0" err="1"/>
              <a:t>seq</a:t>
            </a:r>
            <a:r>
              <a:rPr lang="en-US" altLang="ko-KR" sz="2000" b="1" dirty="0"/>
              <a:t>) </a:t>
            </a:r>
            <a:r>
              <a:rPr lang="ko-KR" altLang="en-US" sz="2000" b="1" dirty="0"/>
              <a:t>사용 </a:t>
            </a:r>
            <a:endParaRPr lang="en-US" altLang="ko-KR" sz="2000" b="1" dirty="0"/>
          </a:p>
        </p:txBody>
      </p:sp>
    </p:spTree>
    <p:extLst>
      <p:ext uri="{BB962C8B-B14F-4D97-AF65-F5344CB8AC3E}">
        <p14:creationId xmlns:p14="http://schemas.microsoft.com/office/powerpoint/2010/main" val="1047014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/>
              <a:t>쿼리 메서드</a:t>
            </a:r>
            <a:r>
              <a:rPr lang="en-US" altLang="ko-KR" b="1" dirty="0" smtClean="0"/>
              <a:t>(Query Method)</a:t>
            </a:r>
            <a:r>
              <a:rPr lang="ko-KR" altLang="en-US" b="1" dirty="0" smtClean="0"/>
              <a:t> 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084674"/>
            <a:ext cx="3960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쿼리 </a:t>
            </a:r>
            <a:r>
              <a:rPr lang="ko-KR" altLang="en-US" sz="2000" b="1" dirty="0" err="1" smtClean="0"/>
              <a:t>메서드란</a:t>
            </a:r>
            <a:r>
              <a:rPr lang="en-US" altLang="ko-KR" sz="2000" b="1" dirty="0" smtClean="0"/>
              <a:t>?</a:t>
            </a:r>
            <a:endParaRPr lang="ko-KR" altLang="en-US" sz="20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1136576" y="1508591"/>
            <a:ext cx="74888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 err="1" smtClean="0"/>
              <a:t>메서드의</a:t>
            </a:r>
            <a:r>
              <a:rPr lang="ko-KR" altLang="en-US" sz="1600" dirty="0" smtClean="0"/>
              <a:t> 이름으로 필요한 쿼리를 만들어 주는 기능을 한다</a:t>
            </a:r>
            <a:r>
              <a:rPr lang="en-US" altLang="ko-KR" sz="1600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600" dirty="0" err="1" smtClean="0"/>
              <a:t>findBy</a:t>
            </a:r>
            <a:r>
              <a:rPr lang="en-US" altLang="ko-KR" sz="1600" dirty="0" smtClean="0"/>
              <a:t>…, </a:t>
            </a:r>
            <a:r>
              <a:rPr lang="en-US" altLang="ko-KR" sz="1600" dirty="0" err="1" smtClean="0"/>
              <a:t>getBy</a:t>
            </a:r>
            <a:r>
              <a:rPr lang="en-US" altLang="ko-KR" sz="1600" dirty="0" smtClean="0"/>
              <a:t>… </a:t>
            </a:r>
            <a:r>
              <a:rPr lang="ko-KR" altLang="en-US" sz="1600" dirty="0" smtClean="0"/>
              <a:t>등으로 </a:t>
            </a:r>
            <a:r>
              <a:rPr lang="ko-KR" altLang="en-US" sz="1600" dirty="0" err="1" smtClean="0"/>
              <a:t>메서드의</a:t>
            </a:r>
            <a:r>
              <a:rPr lang="ko-KR" altLang="en-US" sz="1600" dirty="0" smtClean="0"/>
              <a:t> 이름을 시작하고 칼럼과 키워드를 연결하는 </a:t>
            </a:r>
            <a:endParaRPr lang="en-US" altLang="ko-KR" sz="1600" dirty="0" smtClean="0"/>
          </a:p>
          <a:p>
            <a:pPr>
              <a:lnSpc>
                <a:spcPct val="150000"/>
              </a:lnSpc>
            </a:pPr>
            <a:r>
              <a:rPr lang="ko-KR" altLang="en-US" sz="1600" dirty="0" smtClean="0"/>
              <a:t>것으로 </a:t>
            </a:r>
            <a:r>
              <a:rPr lang="ko-KR" altLang="en-US" sz="1600" dirty="0" err="1" smtClean="0"/>
              <a:t>메서드를</a:t>
            </a:r>
            <a:r>
              <a:rPr lang="ko-KR" altLang="en-US" sz="1600" dirty="0" smtClean="0"/>
              <a:t> 작성한다</a:t>
            </a:r>
            <a:r>
              <a:rPr lang="en-US" altLang="ko-KR" sz="1600" dirty="0" smtClean="0"/>
              <a:t>.</a:t>
            </a:r>
            <a:r>
              <a:rPr lang="ko-KR" altLang="en-US" sz="1600" dirty="0" smtClean="0"/>
              <a:t> 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 </a:t>
            </a:r>
            <a:r>
              <a:rPr lang="en-US" altLang="ko-KR" sz="1600" dirty="0" smtClean="0"/>
              <a:t>(</a:t>
            </a:r>
            <a:r>
              <a:rPr lang="ko-KR" altLang="en-US" sz="1600" dirty="0" smtClean="0"/>
              <a:t>예</a:t>
            </a:r>
            <a:r>
              <a:rPr lang="en-US" altLang="ko-KR" sz="1600" dirty="0" smtClean="0"/>
              <a:t>, </a:t>
            </a:r>
            <a:r>
              <a:rPr lang="en-US" altLang="ko-KR" sz="1600" dirty="0" err="1" smtClean="0"/>
              <a:t>findByAgeOrderByNameDesc</a:t>
            </a:r>
            <a:r>
              <a:rPr lang="en-US" altLang="ko-KR" sz="1600" dirty="0" smtClean="0"/>
              <a:t>() )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5710" y="2843748"/>
            <a:ext cx="5760640" cy="3049228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  <p:sp>
        <p:nvSpPr>
          <p:cNvPr id="3" name="TextBox 2"/>
          <p:cNvSpPr txBox="1"/>
          <p:nvPr/>
        </p:nvSpPr>
        <p:spPr>
          <a:xfrm>
            <a:off x="7518379" y="4938083"/>
            <a:ext cx="1728192" cy="646331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rgbClr val="C00000"/>
                </a:solidFill>
              </a:rPr>
              <a:t>Spring Data JPA Document</a:t>
            </a:r>
            <a:endParaRPr lang="ko-KR" alt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3534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/>
              <a:t>쿼리 </a:t>
            </a:r>
            <a:r>
              <a:rPr lang="ko-KR" altLang="en-US" b="1" dirty="0"/>
              <a:t>메서드</a:t>
            </a:r>
            <a:r>
              <a:rPr lang="en-US" altLang="ko-KR" b="1" dirty="0"/>
              <a:t>(Query Method</a:t>
            </a:r>
            <a:r>
              <a:rPr lang="en-US" altLang="ko-KR" b="1" dirty="0" smtClean="0"/>
              <a:t>)</a:t>
            </a:r>
            <a:r>
              <a:rPr lang="ko-KR" altLang="en-US" b="1" dirty="0" smtClean="0"/>
              <a:t> 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052736"/>
            <a:ext cx="3960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쿼리 메서드 사용하기</a:t>
            </a:r>
            <a:endParaRPr lang="ko-KR" altLang="en-US" sz="20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1280592" y="1677998"/>
            <a:ext cx="7056784" cy="92333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 smtClean="0"/>
              <a:t>find + </a:t>
            </a:r>
            <a:r>
              <a:rPr lang="ko-KR" altLang="en-US" dirty="0" err="1" smtClean="0"/>
              <a:t>엔티티</a:t>
            </a:r>
            <a:r>
              <a:rPr lang="ko-KR" altLang="en-US" dirty="0" smtClean="0"/>
              <a:t> 이름 </a:t>
            </a:r>
            <a:r>
              <a:rPr lang="en-US" altLang="ko-KR" dirty="0" smtClean="0"/>
              <a:t>+ By + </a:t>
            </a:r>
            <a:r>
              <a:rPr lang="ko-KR" altLang="en-US" dirty="0" smtClean="0"/>
              <a:t>변수 이름 </a:t>
            </a:r>
            <a:r>
              <a:rPr lang="en-US" altLang="ko-KR" dirty="0" smtClean="0"/>
              <a:t>(</a:t>
            </a:r>
            <a:r>
              <a:rPr lang="ko-KR" altLang="en-US" dirty="0" err="1" smtClean="0">
                <a:solidFill>
                  <a:srgbClr val="FF0000"/>
                </a:solidFill>
              </a:rPr>
              <a:t>엔티티</a:t>
            </a:r>
            <a:r>
              <a:rPr lang="ko-KR" altLang="en-US" dirty="0" smtClean="0">
                <a:solidFill>
                  <a:srgbClr val="FF0000"/>
                </a:solidFill>
              </a:rPr>
              <a:t> 이름은 생략 가능</a:t>
            </a:r>
            <a:r>
              <a:rPr lang="en-US" altLang="ko-KR" dirty="0" smtClean="0"/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dirty="0" smtClean="0"/>
              <a:t>예</a:t>
            </a:r>
            <a:r>
              <a:rPr lang="en-US" altLang="ko-KR" dirty="0" smtClean="0"/>
              <a:t>) </a:t>
            </a:r>
            <a:r>
              <a:rPr lang="en-US" altLang="ko-KR" dirty="0" err="1" smtClean="0"/>
              <a:t>findBoardByTitle</a:t>
            </a:r>
            <a:r>
              <a:rPr lang="en-US" altLang="ko-KR" dirty="0" smtClean="0"/>
              <a:t>() : Board </a:t>
            </a:r>
            <a:r>
              <a:rPr lang="ko-KR" altLang="en-US" dirty="0" err="1" smtClean="0"/>
              <a:t>엔티티에서</a:t>
            </a:r>
            <a:r>
              <a:rPr lang="ko-KR" altLang="en-US" dirty="0" smtClean="0"/>
              <a:t> </a:t>
            </a:r>
            <a:r>
              <a:rPr lang="en-US" altLang="ko-KR" dirty="0" smtClean="0"/>
              <a:t>title </a:t>
            </a:r>
            <a:r>
              <a:rPr lang="ko-KR" altLang="en-US" dirty="0" smtClean="0"/>
              <a:t>변수 값만 조회한다</a:t>
            </a:r>
            <a:r>
              <a:rPr lang="en-US" altLang="ko-KR" dirty="0" smtClean="0"/>
              <a:t>.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536" y="2996952"/>
            <a:ext cx="8712968" cy="141912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81105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/>
              <a:t>쿼리 </a:t>
            </a:r>
            <a:r>
              <a:rPr lang="ko-KR" altLang="en-US" b="1" dirty="0"/>
              <a:t>메서드</a:t>
            </a:r>
            <a:r>
              <a:rPr lang="en-US" altLang="ko-KR" b="1" dirty="0"/>
              <a:t>(Query Method)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052736"/>
            <a:ext cx="3960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쿼리 메서드 사용하기</a:t>
            </a:r>
            <a:endParaRPr lang="ko-KR" altLang="en-US" sz="2000" b="1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584" y="1644882"/>
            <a:ext cx="7920880" cy="425599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496268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/>
              <a:t>쿼리 </a:t>
            </a:r>
            <a:r>
              <a:rPr lang="ko-KR" altLang="en-US" b="1" dirty="0"/>
              <a:t>메서드</a:t>
            </a:r>
            <a:r>
              <a:rPr lang="en-US" altLang="ko-KR" b="1" dirty="0"/>
              <a:t>(Query Method)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3960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쿼리 메서드 사용하기</a:t>
            </a:r>
            <a:endParaRPr lang="ko-KR" altLang="en-US" sz="2000" b="1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369" y="1628800"/>
            <a:ext cx="7506351" cy="239288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576" y="4365104"/>
            <a:ext cx="8424936" cy="60838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585663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/>
              <a:t>쿼리 </a:t>
            </a:r>
            <a:r>
              <a:rPr lang="ko-KR" altLang="en-US" b="1" dirty="0"/>
              <a:t>메서드</a:t>
            </a:r>
            <a:r>
              <a:rPr lang="en-US" altLang="ko-KR" b="1" dirty="0"/>
              <a:t>(Query Method)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3960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LIKE </a:t>
            </a:r>
            <a:r>
              <a:rPr lang="ko-KR" altLang="en-US" sz="2000" b="1" dirty="0"/>
              <a:t>연산자 사용하기</a:t>
            </a:r>
            <a:r>
              <a:rPr lang="en-US" altLang="ko-KR" sz="2000" b="1" dirty="0"/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8584" y="1514108"/>
            <a:ext cx="77768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 err="1" smtClean="0"/>
              <a:t>게시글</a:t>
            </a:r>
            <a:r>
              <a:rPr lang="ko-KR" altLang="en-US" dirty="0" smtClean="0"/>
              <a:t> 내용에 특정 단어가 포함된 목록을 검색하려면 </a:t>
            </a:r>
            <a:r>
              <a:rPr lang="en-US" altLang="ko-KR" dirty="0" smtClean="0"/>
              <a:t>LIKE </a:t>
            </a:r>
            <a:r>
              <a:rPr lang="ko-KR" altLang="en-US" dirty="0" smtClean="0"/>
              <a:t>연산자와 </a:t>
            </a:r>
            <a:endParaRPr lang="en-US" altLang="ko-KR" dirty="0" smtClean="0"/>
          </a:p>
          <a:p>
            <a:pPr>
              <a:lnSpc>
                <a:spcPct val="150000"/>
              </a:lnSpc>
            </a:pPr>
            <a:r>
              <a:rPr lang="ko-KR" altLang="en-US" dirty="0" smtClean="0"/>
              <a:t>더불어 </a:t>
            </a:r>
            <a:r>
              <a:rPr lang="en-US" altLang="ko-KR" dirty="0" smtClean="0"/>
              <a:t>Containing </a:t>
            </a:r>
            <a:r>
              <a:rPr lang="ko-KR" altLang="en-US" dirty="0" smtClean="0"/>
              <a:t>키워드를 사용한다</a:t>
            </a:r>
            <a:r>
              <a:rPr lang="en-US" altLang="ko-KR" dirty="0" smtClean="0"/>
              <a:t>.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768" y="2636912"/>
            <a:ext cx="8280921" cy="173091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695819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/>
              <a:t>쿼리 </a:t>
            </a:r>
            <a:r>
              <a:rPr lang="ko-KR" altLang="en-US" b="1" dirty="0"/>
              <a:t>메서드</a:t>
            </a:r>
            <a:r>
              <a:rPr lang="en-US" altLang="ko-KR" b="1" dirty="0"/>
              <a:t>(Query Method)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3960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LIKE </a:t>
            </a:r>
            <a:r>
              <a:rPr lang="ko-KR" altLang="en-US" sz="2000" b="1" dirty="0"/>
              <a:t>연산자 사용하기</a:t>
            </a:r>
            <a:r>
              <a:rPr lang="en-US" altLang="ko-KR" sz="2000" b="1" dirty="0"/>
              <a:t> 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585" y="1700808"/>
            <a:ext cx="7776864" cy="231879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8984" y="3573016"/>
            <a:ext cx="3961834" cy="229851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2072680" y="4398552"/>
            <a:ext cx="32403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 smtClean="0">
                <a:solidFill>
                  <a:srgbClr val="0070C0"/>
                </a:solidFill>
              </a:rPr>
              <a:t>where </a:t>
            </a:r>
            <a:r>
              <a:rPr lang="ko-KR" altLang="en-US" sz="1600" dirty="0" smtClean="0">
                <a:solidFill>
                  <a:srgbClr val="0070C0"/>
                </a:solidFill>
              </a:rPr>
              <a:t>절에  </a:t>
            </a:r>
            <a:r>
              <a:rPr lang="en-US" altLang="ko-KR" sz="1600" dirty="0" smtClean="0">
                <a:solidFill>
                  <a:srgbClr val="0070C0"/>
                </a:solidFill>
              </a:rPr>
              <a:t>like </a:t>
            </a:r>
            <a:r>
              <a:rPr lang="ko-KR" altLang="en-US" sz="1600" dirty="0" smtClean="0">
                <a:solidFill>
                  <a:srgbClr val="0070C0"/>
                </a:solidFill>
              </a:rPr>
              <a:t>연산자가 사용됨</a:t>
            </a:r>
            <a:endParaRPr lang="ko-KR" altLang="en-US" sz="16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0230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/>
              <a:t>쿼리 </a:t>
            </a:r>
            <a:r>
              <a:rPr lang="ko-KR" altLang="en-US" b="1" dirty="0"/>
              <a:t>메서드</a:t>
            </a:r>
            <a:r>
              <a:rPr lang="en-US" altLang="ko-KR" b="1" dirty="0"/>
              <a:t>(Query Method)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848544" y="1101823"/>
            <a:ext cx="3960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LIKE </a:t>
            </a:r>
            <a:r>
              <a:rPr lang="ko-KR" altLang="en-US" sz="2000" b="1" dirty="0"/>
              <a:t>연산자 사용하기</a:t>
            </a:r>
            <a:r>
              <a:rPr lang="en-US" altLang="ko-KR" sz="2000" b="1" dirty="0"/>
              <a:t> 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600" y="1628800"/>
            <a:ext cx="6264696" cy="332618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62499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/>
              <a:t>쿼리 </a:t>
            </a:r>
            <a:r>
              <a:rPr lang="ko-KR" altLang="en-US" b="1" dirty="0"/>
              <a:t>메서드</a:t>
            </a:r>
            <a:r>
              <a:rPr lang="en-US" altLang="ko-KR" b="1" dirty="0"/>
              <a:t>(Query Method)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136576" y="1484784"/>
            <a:ext cx="8016935" cy="869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 smtClean="0"/>
              <a:t>제목 혹은 내용에 특정 검색어가 포함된 게시 글 목록을 검색하는 경우 </a:t>
            </a:r>
            <a:r>
              <a:rPr lang="en-US" altLang="ko-KR" dirty="0" smtClean="0"/>
              <a:t>‘OR’ </a:t>
            </a:r>
            <a:r>
              <a:rPr lang="ko-KR" altLang="en-US" dirty="0" smtClean="0"/>
              <a:t>키워드를 결합하여 사용한다</a:t>
            </a:r>
            <a:r>
              <a:rPr lang="en-US" altLang="ko-KR" dirty="0" smtClean="0"/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8544" y="1101823"/>
            <a:ext cx="3960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여러 </a:t>
            </a:r>
            <a:r>
              <a:rPr lang="ko-KR" altLang="en-US" sz="2000" b="1" dirty="0"/>
              <a:t>조건 사용하기</a:t>
            </a:r>
            <a:r>
              <a:rPr lang="en-US" altLang="ko-KR" sz="2000" b="1" dirty="0"/>
              <a:t> 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568" y="2564904"/>
            <a:ext cx="8609567" cy="278614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980067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/>
              <a:t>쿼리 </a:t>
            </a:r>
            <a:r>
              <a:rPr lang="ko-KR" altLang="en-US" b="1" dirty="0"/>
              <a:t>메서드</a:t>
            </a:r>
            <a:r>
              <a:rPr lang="en-US" altLang="ko-KR" b="1" dirty="0"/>
              <a:t>(Query Method)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164" y="1628800"/>
            <a:ext cx="8390348" cy="240812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848544" y="1101823"/>
            <a:ext cx="3960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여러 </a:t>
            </a:r>
            <a:r>
              <a:rPr lang="ko-KR" altLang="en-US" sz="2000" b="1" dirty="0"/>
              <a:t>조건 사용하기</a:t>
            </a:r>
            <a:r>
              <a:rPr lang="en-US" altLang="ko-KR" sz="2000" b="1" dirty="0"/>
              <a:t> 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7019" y="3717032"/>
            <a:ext cx="4043929" cy="238400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393160" y="4749872"/>
            <a:ext cx="2952328" cy="783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 smtClean="0">
                <a:solidFill>
                  <a:srgbClr val="0070C0"/>
                </a:solidFill>
              </a:rPr>
              <a:t>where </a:t>
            </a:r>
            <a:r>
              <a:rPr lang="ko-KR" altLang="en-US" sz="1600" dirty="0" smtClean="0">
                <a:solidFill>
                  <a:srgbClr val="0070C0"/>
                </a:solidFill>
              </a:rPr>
              <a:t>절에 </a:t>
            </a:r>
            <a:r>
              <a:rPr lang="ko-KR" altLang="en-US" sz="1600" dirty="0" err="1" smtClean="0">
                <a:solidFill>
                  <a:srgbClr val="0070C0"/>
                </a:solidFill>
              </a:rPr>
              <a:t>두개의</a:t>
            </a:r>
            <a:r>
              <a:rPr lang="ko-KR" altLang="en-US" sz="1600" dirty="0" smtClean="0">
                <a:solidFill>
                  <a:srgbClr val="0070C0"/>
                </a:solidFill>
              </a:rPr>
              <a:t> 조건이 </a:t>
            </a:r>
            <a:r>
              <a:rPr lang="en-US" altLang="ko-KR" sz="1600" dirty="0" smtClean="0">
                <a:solidFill>
                  <a:srgbClr val="0070C0"/>
                </a:solidFill>
              </a:rPr>
              <a:t>OR </a:t>
            </a:r>
            <a:r>
              <a:rPr lang="ko-KR" altLang="en-US" sz="1600" dirty="0" smtClean="0">
                <a:solidFill>
                  <a:srgbClr val="0070C0"/>
                </a:solidFill>
              </a:rPr>
              <a:t>연산으로 결합됨</a:t>
            </a:r>
            <a:endParaRPr lang="ko-KR" altLang="en-US" sz="16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8901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/>
              <a:t>쿼리 </a:t>
            </a:r>
            <a:r>
              <a:rPr lang="ko-KR" altLang="en-US" b="1" dirty="0"/>
              <a:t>메서드</a:t>
            </a:r>
            <a:r>
              <a:rPr lang="en-US" altLang="ko-KR" b="1" dirty="0"/>
              <a:t>(Query Method)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136576" y="1532117"/>
            <a:ext cx="7992888" cy="1285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 smtClean="0"/>
              <a:t>데이터를 정렬해서 조회하기 위해서는 </a:t>
            </a:r>
            <a:r>
              <a:rPr lang="en-US" altLang="ko-KR" dirty="0" smtClean="0"/>
              <a:t>“</a:t>
            </a:r>
            <a:r>
              <a:rPr lang="en-US" altLang="ko-KR" dirty="0" err="1" smtClean="0"/>
              <a:t>OrderBy</a:t>
            </a:r>
            <a:r>
              <a:rPr lang="en-US" altLang="ko-KR" dirty="0" smtClean="0"/>
              <a:t>” + </a:t>
            </a:r>
            <a:r>
              <a:rPr lang="ko-KR" altLang="en-US" dirty="0" smtClean="0"/>
              <a:t>변수 </a:t>
            </a:r>
            <a:r>
              <a:rPr lang="en-US" altLang="ko-KR" dirty="0" smtClean="0"/>
              <a:t>+ “</a:t>
            </a:r>
            <a:r>
              <a:rPr lang="en-US" altLang="ko-KR" dirty="0" err="1" smtClean="0"/>
              <a:t>Asc</a:t>
            </a:r>
            <a:r>
              <a:rPr lang="en-US" altLang="ko-KR" dirty="0" smtClean="0"/>
              <a:t> Or </a:t>
            </a:r>
            <a:r>
              <a:rPr lang="en-US" altLang="ko-KR" dirty="0" err="1" smtClean="0"/>
              <a:t>Desc</a:t>
            </a:r>
            <a:r>
              <a:rPr lang="en-US" altLang="ko-KR" dirty="0" smtClean="0"/>
              <a:t>”</a:t>
            </a:r>
            <a:r>
              <a:rPr lang="ko-KR" altLang="en-US" dirty="0" smtClean="0"/>
              <a:t>를 이용함</a:t>
            </a:r>
            <a:r>
              <a:rPr lang="en-US" altLang="ko-KR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dirty="0" err="1" smtClean="0"/>
              <a:t>게시글</a:t>
            </a:r>
            <a:r>
              <a:rPr lang="ko-KR" altLang="en-US" dirty="0" smtClean="0"/>
              <a:t> 제목에 특정 단어가 포함된 글 목록을 내림차순으로 조회하기</a:t>
            </a:r>
            <a:endParaRPr lang="en-US" altLang="ko-KR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848544" y="1101823"/>
            <a:ext cx="28083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데이터 </a:t>
            </a:r>
            <a:r>
              <a:rPr lang="ko-KR" altLang="en-US" sz="2000" b="1" dirty="0"/>
              <a:t>정렬하기</a:t>
            </a:r>
            <a:r>
              <a:rPr lang="en-US" altLang="ko-KR" sz="2000" b="1" dirty="0"/>
              <a:t> 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899" y="3062319"/>
            <a:ext cx="8496944" cy="91923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208965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/>
              <a:t>쿼리 </a:t>
            </a:r>
            <a:r>
              <a:rPr lang="ko-KR" altLang="en-US" b="1" dirty="0"/>
              <a:t>메서드</a:t>
            </a:r>
            <a:r>
              <a:rPr lang="en-US" altLang="ko-KR" b="1" dirty="0"/>
              <a:t>(Query Method)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6384037" y="4699816"/>
            <a:ext cx="29523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 smtClean="0">
                <a:solidFill>
                  <a:srgbClr val="0070C0"/>
                </a:solidFill>
              </a:rPr>
              <a:t>where </a:t>
            </a:r>
            <a:r>
              <a:rPr lang="ko-KR" altLang="en-US" sz="1600" dirty="0" smtClean="0">
                <a:solidFill>
                  <a:srgbClr val="0070C0"/>
                </a:solidFill>
              </a:rPr>
              <a:t>절에 </a:t>
            </a:r>
            <a:r>
              <a:rPr lang="en-US" altLang="ko-KR" sz="1600" dirty="0" smtClean="0">
                <a:solidFill>
                  <a:srgbClr val="0070C0"/>
                </a:solidFill>
              </a:rPr>
              <a:t>order by </a:t>
            </a:r>
            <a:r>
              <a:rPr lang="ko-KR" altLang="en-US" sz="1600" dirty="0" smtClean="0">
                <a:solidFill>
                  <a:srgbClr val="0070C0"/>
                </a:solidFill>
              </a:rPr>
              <a:t>절이 추가되었고 </a:t>
            </a:r>
            <a:r>
              <a:rPr lang="en-US" altLang="ko-KR" sz="1600" dirty="0" smtClean="0">
                <a:solidFill>
                  <a:srgbClr val="0070C0"/>
                </a:solidFill>
              </a:rPr>
              <a:t>id</a:t>
            </a:r>
            <a:r>
              <a:rPr lang="ko-KR" altLang="en-US" sz="1600" dirty="0" smtClean="0">
                <a:solidFill>
                  <a:srgbClr val="0070C0"/>
                </a:solidFill>
              </a:rPr>
              <a:t>가 내림차순으로 정렬되어 있음</a:t>
            </a:r>
            <a:endParaRPr lang="ko-KR" altLang="en-US" sz="1600" dirty="0">
              <a:solidFill>
                <a:srgbClr val="0070C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48544" y="1101823"/>
            <a:ext cx="28083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데이터 </a:t>
            </a:r>
            <a:r>
              <a:rPr lang="ko-KR" altLang="en-US" sz="2000" b="1" dirty="0"/>
              <a:t>정렬하기</a:t>
            </a:r>
            <a:r>
              <a:rPr lang="en-US" altLang="ko-KR" sz="2000" b="1" dirty="0"/>
              <a:t> 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593" y="1643706"/>
            <a:ext cx="7704856" cy="257851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6776" y="3903001"/>
            <a:ext cx="3416564" cy="247473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215190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/>
              <a:t>쿼리 </a:t>
            </a:r>
            <a:r>
              <a:rPr lang="ko-KR" altLang="en-US" b="1" dirty="0"/>
              <a:t>메서드</a:t>
            </a:r>
            <a:r>
              <a:rPr lang="en-US" altLang="ko-KR" b="1" dirty="0"/>
              <a:t>(Query Method)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48544" y="1101823"/>
            <a:ext cx="28083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데이터 </a:t>
            </a:r>
            <a:r>
              <a:rPr lang="ko-KR" altLang="en-US" sz="2000" b="1" dirty="0"/>
              <a:t>정렬하기</a:t>
            </a:r>
            <a:r>
              <a:rPr lang="en-US" altLang="ko-KR" sz="2000" b="1" dirty="0"/>
              <a:t> 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584" y="1700808"/>
            <a:ext cx="8089540" cy="306820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151803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/>
              <a:t>쿼리 </a:t>
            </a:r>
            <a:r>
              <a:rPr lang="ko-KR" altLang="en-US" b="1" dirty="0"/>
              <a:t>메서드</a:t>
            </a:r>
            <a:r>
              <a:rPr lang="en-US" altLang="ko-KR" b="1" dirty="0"/>
              <a:t>(Query Method)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208584" y="1556792"/>
            <a:ext cx="7848872" cy="300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 smtClean="0"/>
              <a:t>모든 쿼리 </a:t>
            </a:r>
            <a:r>
              <a:rPr lang="ko-KR" altLang="en-US" dirty="0" err="1" smtClean="0"/>
              <a:t>메소드는</a:t>
            </a:r>
            <a:r>
              <a:rPr lang="ko-KR" altLang="en-US" dirty="0" smtClean="0"/>
              <a:t> 마지막 </a:t>
            </a:r>
            <a:r>
              <a:rPr lang="ko-KR" altLang="en-US" dirty="0" err="1" smtClean="0"/>
              <a:t>파라미터로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페이징</a:t>
            </a:r>
            <a:r>
              <a:rPr lang="ko-KR" altLang="en-US" dirty="0" smtClean="0"/>
              <a:t> 처리를 위한 </a:t>
            </a:r>
            <a:r>
              <a:rPr lang="en-US" altLang="ko-KR" dirty="0" err="1" smtClean="0"/>
              <a:t>Pageable</a:t>
            </a:r>
            <a:r>
              <a:rPr lang="en-US" altLang="ko-KR" dirty="0" smtClean="0"/>
              <a:t> </a:t>
            </a:r>
            <a:r>
              <a:rPr lang="ko-KR" altLang="en-US" dirty="0" smtClean="0"/>
              <a:t>인터페이스와 정렬을 처리하는 </a:t>
            </a:r>
            <a:r>
              <a:rPr lang="en-US" altLang="ko-KR" dirty="0" smtClean="0"/>
              <a:t>Sort </a:t>
            </a:r>
            <a:r>
              <a:rPr lang="ko-KR" altLang="en-US" dirty="0" smtClean="0"/>
              <a:t>인터페이스를 추가할 수 있다</a:t>
            </a:r>
            <a:r>
              <a:rPr lang="en-US" altLang="ko-KR" dirty="0" smtClean="0"/>
              <a:t>.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b="1" dirty="0"/>
              <a:t>(1) </a:t>
            </a:r>
            <a:r>
              <a:rPr lang="ko-KR" altLang="en-US" b="1" dirty="0" smtClean="0"/>
              <a:t>페이지 </a:t>
            </a:r>
            <a:r>
              <a:rPr lang="ko-KR" altLang="en-US" b="1" dirty="0"/>
              <a:t>처리</a:t>
            </a:r>
            <a:endParaRPr lang="en-US" altLang="ko-KR" b="1" dirty="0"/>
          </a:p>
          <a:p>
            <a:pPr>
              <a:lnSpc>
                <a:spcPct val="150000"/>
              </a:lnSpc>
            </a:pPr>
            <a:r>
              <a:rPr lang="ko-KR" altLang="en-US" dirty="0" smtClean="0"/>
              <a:t>    한 화면에 </a:t>
            </a:r>
            <a:r>
              <a:rPr lang="en-US" altLang="ko-KR" dirty="0" smtClean="0"/>
              <a:t>5</a:t>
            </a:r>
            <a:r>
              <a:rPr lang="ko-KR" altLang="en-US" dirty="0" smtClean="0"/>
              <a:t>개의 데이터를 보여주기로 하고 첫 페이지에 해당하는 </a:t>
            </a:r>
            <a:r>
              <a:rPr lang="en-US" altLang="ko-KR" dirty="0" smtClean="0"/>
              <a:t>0</a:t>
            </a:r>
            <a:r>
              <a:rPr lang="ko-KR" altLang="en-US" dirty="0" smtClean="0"/>
              <a:t>번 </a:t>
            </a:r>
            <a:endParaRPr lang="en-US" altLang="ko-KR" dirty="0" smtClean="0"/>
          </a:p>
          <a:p>
            <a:pPr>
              <a:lnSpc>
                <a:spcPct val="150000"/>
              </a:lnSpc>
            </a:pPr>
            <a:r>
              <a:rPr lang="en-US" altLang="ko-KR" dirty="0"/>
              <a:t> </a:t>
            </a:r>
            <a:r>
              <a:rPr lang="en-US" altLang="ko-KR" dirty="0" smtClean="0"/>
              <a:t>   </a:t>
            </a:r>
            <a:r>
              <a:rPr lang="ko-KR" altLang="en-US" dirty="0" smtClean="0"/>
              <a:t>부터 열 개의 데이터만 조회하기 </a:t>
            </a:r>
            <a:endParaRPr lang="en-US" altLang="ko-KR" dirty="0" smtClean="0"/>
          </a:p>
          <a:p>
            <a:pPr>
              <a:lnSpc>
                <a:spcPct val="150000"/>
              </a:lnSpc>
            </a:pPr>
            <a:r>
              <a:rPr lang="en-US" altLang="ko-KR" b="1" dirty="0"/>
              <a:t>(2) </a:t>
            </a:r>
            <a:r>
              <a:rPr lang="ko-KR" altLang="en-US" b="1" dirty="0"/>
              <a:t>정렬 처리</a:t>
            </a:r>
            <a:endParaRPr lang="en-US" altLang="ko-KR" b="1" dirty="0"/>
          </a:p>
          <a:p>
            <a:pPr>
              <a:lnSpc>
                <a:spcPct val="150000"/>
              </a:lnSpc>
            </a:pPr>
            <a:r>
              <a:rPr lang="en-US" altLang="ko-KR" dirty="0"/>
              <a:t>    </a:t>
            </a:r>
            <a:r>
              <a:rPr lang="ko-KR" altLang="en-US" dirty="0"/>
              <a:t>페이지 처리 시 </a:t>
            </a:r>
            <a:r>
              <a:rPr lang="en-US" altLang="ko-KR" dirty="0"/>
              <a:t>Sort </a:t>
            </a:r>
            <a:r>
              <a:rPr lang="ko-KR" altLang="en-US" dirty="0"/>
              <a:t>클래스를 사용한다</a:t>
            </a:r>
            <a:r>
              <a:rPr lang="en-US" altLang="ko-KR" dirty="0" smtClean="0"/>
              <a:t>.</a:t>
            </a: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848544" y="1101823"/>
            <a:ext cx="45365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검색 및 페이지 처리와 정렬</a:t>
            </a:r>
            <a:r>
              <a:rPr lang="en-US" altLang="ko-KR" sz="2000" b="1" dirty="0" smtClean="0"/>
              <a:t> </a:t>
            </a:r>
            <a:endParaRPr lang="en-US" altLang="ko-KR" sz="2000" b="1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4742010"/>
            <a:ext cx="9331683" cy="83333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571143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/>
              <a:t>쿼리 </a:t>
            </a:r>
            <a:r>
              <a:rPr lang="ko-KR" altLang="en-US" b="1" dirty="0"/>
              <a:t>메서드</a:t>
            </a:r>
            <a:r>
              <a:rPr lang="en-US" altLang="ko-KR" b="1" dirty="0"/>
              <a:t>(Query Method)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576" y="1628800"/>
            <a:ext cx="8316212" cy="446874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848544" y="1101823"/>
            <a:ext cx="45365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검색 및 페이지 처리와 정렬</a:t>
            </a:r>
            <a:r>
              <a:rPr lang="en-US" altLang="ko-KR" sz="2000" b="1" dirty="0" smtClean="0"/>
              <a:t> </a:t>
            </a:r>
            <a:endParaRPr lang="en-US" altLang="ko-KR" sz="2000" b="1" dirty="0"/>
          </a:p>
        </p:txBody>
      </p:sp>
    </p:spTree>
    <p:extLst>
      <p:ext uri="{BB962C8B-B14F-4D97-AF65-F5344CB8AC3E}">
        <p14:creationId xmlns:p14="http://schemas.microsoft.com/office/powerpoint/2010/main" val="1544301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/>
              <a:t>쿼리 </a:t>
            </a:r>
            <a:r>
              <a:rPr lang="ko-KR" altLang="en-US" b="1" dirty="0"/>
              <a:t>메서드</a:t>
            </a:r>
            <a:r>
              <a:rPr lang="en-US" altLang="ko-KR" b="1" dirty="0"/>
              <a:t>(Query Method)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608" y="1658296"/>
            <a:ext cx="3936058" cy="331259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4160912" y="4296545"/>
            <a:ext cx="38164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 err="1" smtClean="0">
                <a:solidFill>
                  <a:srgbClr val="0070C0"/>
                </a:solidFill>
              </a:rPr>
              <a:t>mysql</a:t>
            </a:r>
            <a:r>
              <a:rPr lang="ko-KR" altLang="en-US" sz="1600" dirty="0" smtClean="0">
                <a:solidFill>
                  <a:srgbClr val="0070C0"/>
                </a:solidFill>
              </a:rPr>
              <a:t> 사용함으로써  </a:t>
            </a:r>
            <a:r>
              <a:rPr lang="en-US" altLang="ko-KR" sz="1600" dirty="0">
                <a:solidFill>
                  <a:srgbClr val="0070C0"/>
                </a:solidFill>
              </a:rPr>
              <a:t>where </a:t>
            </a:r>
            <a:r>
              <a:rPr lang="ko-KR" altLang="en-US" sz="1600" dirty="0">
                <a:solidFill>
                  <a:srgbClr val="0070C0"/>
                </a:solidFill>
              </a:rPr>
              <a:t>절에 </a:t>
            </a:r>
            <a:r>
              <a:rPr lang="en-US" altLang="ko-KR" sz="1600" dirty="0" smtClean="0">
                <a:solidFill>
                  <a:srgbClr val="0070C0"/>
                </a:solidFill>
              </a:rPr>
              <a:t>limit </a:t>
            </a:r>
            <a:r>
              <a:rPr lang="ko-KR" altLang="en-US" sz="1600" dirty="0" smtClean="0">
                <a:solidFill>
                  <a:srgbClr val="0070C0"/>
                </a:solidFill>
              </a:rPr>
              <a:t>예약어가 사용됨</a:t>
            </a:r>
            <a:endParaRPr lang="ko-KR" altLang="en-US" sz="1600" dirty="0">
              <a:solidFill>
                <a:srgbClr val="0070C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8544" y="1101823"/>
            <a:ext cx="45365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검색 및 페이지 처리와 정렬</a:t>
            </a:r>
            <a:r>
              <a:rPr lang="en-US" altLang="ko-KR" sz="2000" b="1" dirty="0" smtClean="0"/>
              <a:t> </a:t>
            </a:r>
            <a:endParaRPr lang="en-US" altLang="ko-KR" sz="2000" b="1" dirty="0"/>
          </a:p>
        </p:txBody>
      </p:sp>
    </p:spTree>
    <p:extLst>
      <p:ext uri="{BB962C8B-B14F-4D97-AF65-F5344CB8AC3E}">
        <p14:creationId xmlns:p14="http://schemas.microsoft.com/office/powerpoint/2010/main" val="1908530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/>
              <a:t>쿼리 </a:t>
            </a:r>
            <a:r>
              <a:rPr lang="ko-KR" altLang="en-US" b="1" dirty="0"/>
              <a:t>메서드</a:t>
            </a:r>
            <a:r>
              <a:rPr lang="en-US" altLang="ko-KR" b="1" dirty="0"/>
              <a:t>(Query Method)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/>
          <a:srcRect t="10007"/>
          <a:stretch/>
        </p:blipFill>
        <p:spPr>
          <a:xfrm>
            <a:off x="1286205" y="1669192"/>
            <a:ext cx="5461174" cy="223224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885453" y="2554484"/>
            <a:ext cx="26642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 smtClean="0">
                <a:solidFill>
                  <a:srgbClr val="0070C0"/>
                </a:solidFill>
              </a:rPr>
              <a:t>오름차순 정렬</a:t>
            </a:r>
            <a:r>
              <a:rPr lang="en-US" altLang="ko-KR" sz="1600" dirty="0" smtClean="0">
                <a:solidFill>
                  <a:srgbClr val="0070C0"/>
                </a:solidFill>
              </a:rPr>
              <a:t>(2</a:t>
            </a:r>
            <a:r>
              <a:rPr lang="ko-KR" altLang="en-US" sz="1600" dirty="0" smtClean="0">
                <a:solidFill>
                  <a:srgbClr val="0070C0"/>
                </a:solidFill>
              </a:rPr>
              <a:t> 페이지</a:t>
            </a:r>
            <a:r>
              <a:rPr lang="en-US" altLang="ko-KR" sz="1600" dirty="0" smtClean="0">
                <a:solidFill>
                  <a:srgbClr val="0070C0"/>
                </a:solidFill>
              </a:rPr>
              <a:t>)</a:t>
            </a:r>
            <a:endParaRPr lang="ko-KR" altLang="en-US" sz="1600" dirty="0">
              <a:solidFill>
                <a:srgbClr val="0070C0"/>
              </a:solidFill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/>
          <a:srcRect t="9415"/>
          <a:stretch/>
        </p:blipFill>
        <p:spPr>
          <a:xfrm>
            <a:off x="1286205" y="4100110"/>
            <a:ext cx="5461174" cy="219392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886644" y="4743049"/>
            <a:ext cx="26642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 smtClean="0">
                <a:solidFill>
                  <a:srgbClr val="0070C0"/>
                </a:solidFill>
              </a:rPr>
              <a:t>내림차순 정렬</a:t>
            </a:r>
            <a:r>
              <a:rPr lang="en-US" altLang="ko-KR" sz="1600" dirty="0" smtClean="0">
                <a:solidFill>
                  <a:srgbClr val="0070C0"/>
                </a:solidFill>
              </a:rPr>
              <a:t>(2</a:t>
            </a:r>
            <a:r>
              <a:rPr lang="ko-KR" altLang="en-US" sz="1600" dirty="0" smtClean="0">
                <a:solidFill>
                  <a:srgbClr val="0070C0"/>
                </a:solidFill>
              </a:rPr>
              <a:t> 페이지</a:t>
            </a:r>
            <a:r>
              <a:rPr lang="en-US" altLang="ko-KR" sz="1600" dirty="0" smtClean="0">
                <a:solidFill>
                  <a:srgbClr val="0070C0"/>
                </a:solidFill>
              </a:rPr>
              <a:t>)</a:t>
            </a:r>
            <a:endParaRPr lang="ko-KR" altLang="en-US" sz="1600" dirty="0">
              <a:solidFill>
                <a:srgbClr val="0070C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48544" y="1101823"/>
            <a:ext cx="45365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검색 및 페이지 처리와 정렬</a:t>
            </a:r>
            <a:r>
              <a:rPr lang="en-US" altLang="ko-KR" sz="2000" b="1" dirty="0" smtClean="0"/>
              <a:t> </a:t>
            </a:r>
            <a:endParaRPr lang="en-US" altLang="ko-KR" sz="2000" b="1" dirty="0"/>
          </a:p>
        </p:txBody>
      </p:sp>
    </p:spTree>
    <p:extLst>
      <p:ext uri="{BB962C8B-B14F-4D97-AF65-F5344CB8AC3E}">
        <p14:creationId xmlns:p14="http://schemas.microsoft.com/office/powerpoint/2010/main" val="3727457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/>
              <a:t>쿼리 </a:t>
            </a:r>
            <a:r>
              <a:rPr lang="ko-KR" altLang="en-US" b="1" dirty="0"/>
              <a:t>메서드</a:t>
            </a:r>
            <a:r>
              <a:rPr lang="en-US" altLang="ko-KR" b="1" dirty="0"/>
              <a:t>(Query Method)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208584" y="1551098"/>
            <a:ext cx="82809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 smtClean="0"/>
              <a:t>(3) Page&lt;T&gt; </a:t>
            </a:r>
            <a:r>
              <a:rPr lang="ko-KR" altLang="en-US" dirty="0" smtClean="0"/>
              <a:t>사용하기</a:t>
            </a:r>
            <a:endParaRPr lang="en-US" altLang="ko-KR" dirty="0" smtClean="0"/>
          </a:p>
          <a:p>
            <a:pPr>
              <a:lnSpc>
                <a:spcPct val="150000"/>
              </a:lnSpc>
            </a:pPr>
            <a:r>
              <a:rPr lang="en-US" altLang="ko-KR" dirty="0"/>
              <a:t> </a:t>
            </a:r>
            <a:r>
              <a:rPr lang="en-US" altLang="ko-KR" dirty="0" smtClean="0"/>
              <a:t>   List&lt;T&gt; </a:t>
            </a:r>
            <a:r>
              <a:rPr lang="ko-KR" altLang="en-US" dirty="0" smtClean="0"/>
              <a:t>대신  </a:t>
            </a:r>
            <a:r>
              <a:rPr lang="en-US" altLang="ko-KR" b="1" dirty="0" smtClean="0"/>
              <a:t>Page&lt;T&gt;</a:t>
            </a:r>
            <a:r>
              <a:rPr lang="ko-KR" altLang="en-US" dirty="0" smtClean="0"/>
              <a:t>를 사용하면 다양한 기능을 추가로 이용할 수 있다</a:t>
            </a:r>
            <a:r>
              <a:rPr lang="en-US" altLang="ko-KR" dirty="0" smtClean="0"/>
              <a:t>.</a:t>
            </a: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848544" y="1101823"/>
            <a:ext cx="45365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검색 및 페이지 처리와 정렬</a:t>
            </a:r>
            <a:r>
              <a:rPr lang="en-US" altLang="ko-KR" sz="2000" b="1" dirty="0" smtClean="0"/>
              <a:t> </a:t>
            </a:r>
            <a:endParaRPr lang="en-US" altLang="ko-KR" sz="2000" b="1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512" y="2780928"/>
            <a:ext cx="9073008" cy="73934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839155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/>
              <a:t>쿼리 </a:t>
            </a:r>
            <a:r>
              <a:rPr lang="ko-KR" altLang="en-US" b="1" dirty="0"/>
              <a:t>메서드</a:t>
            </a:r>
            <a:r>
              <a:rPr lang="en-US" altLang="ko-KR" b="1" dirty="0"/>
              <a:t>(Query Method)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592" y="1628800"/>
            <a:ext cx="7465610" cy="482453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848544" y="1101823"/>
            <a:ext cx="45365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검색 및 페이지 처리와 정렬</a:t>
            </a:r>
            <a:r>
              <a:rPr lang="en-US" altLang="ko-KR" sz="2000" b="1" dirty="0" smtClean="0"/>
              <a:t> </a:t>
            </a:r>
            <a:endParaRPr lang="en-US" altLang="ko-KR" sz="2000" b="1" dirty="0"/>
          </a:p>
        </p:txBody>
      </p:sp>
    </p:spTree>
    <p:extLst>
      <p:ext uri="{BB962C8B-B14F-4D97-AF65-F5344CB8AC3E}">
        <p14:creationId xmlns:p14="http://schemas.microsoft.com/office/powerpoint/2010/main" val="879905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/>
              <a:t>쿼리 </a:t>
            </a:r>
            <a:r>
              <a:rPr lang="ko-KR" altLang="en-US" b="1" dirty="0"/>
              <a:t>메서드</a:t>
            </a:r>
            <a:r>
              <a:rPr lang="en-US" altLang="ko-KR" b="1" dirty="0"/>
              <a:t>(Query Method)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48544" y="1101823"/>
            <a:ext cx="45365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검색 및 페이지 처리와 정렬</a:t>
            </a:r>
            <a:r>
              <a:rPr lang="en-US" altLang="ko-KR" sz="2000" b="1" dirty="0" smtClean="0"/>
              <a:t> </a:t>
            </a:r>
            <a:endParaRPr lang="en-US" altLang="ko-KR" sz="2000" b="1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600" y="1700808"/>
            <a:ext cx="5774361" cy="338850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785190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/>
              <a:t>연관 관계 </a:t>
            </a:r>
            <a:r>
              <a:rPr lang="ko-KR" altLang="en-US" b="1" dirty="0" err="1" smtClean="0"/>
              <a:t>매핑</a:t>
            </a:r>
            <a:endParaRPr lang="ko-KR" altLang="en-US" b="1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052736"/>
            <a:ext cx="3960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ko-KR" altLang="en-US" sz="2000" b="1" dirty="0" smtClean="0"/>
              <a:t>연관 관계 </a:t>
            </a:r>
            <a:r>
              <a:rPr lang="ko-KR" altLang="en-US" sz="2000" b="1" dirty="0" err="1" smtClean="0"/>
              <a:t>매핑</a:t>
            </a:r>
            <a:endParaRPr lang="ko-KR" altLang="en-US" sz="20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1208584" y="1484784"/>
            <a:ext cx="792088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 smtClean="0"/>
              <a:t>관계형 데이터베이스에서 테이블 하나로 애플리케이션에서 사용하는 모든 데이터를 관리하는 것은 불가능하다</a:t>
            </a:r>
            <a:r>
              <a:rPr lang="en-US" altLang="ko-KR" sz="1600" dirty="0" smtClean="0"/>
              <a:t>. </a:t>
            </a:r>
            <a:r>
              <a:rPr lang="ko-KR" altLang="en-US" sz="1600" dirty="0" smtClean="0"/>
              <a:t>따라서 관련된 </a:t>
            </a:r>
            <a:r>
              <a:rPr lang="ko-KR" altLang="en-US" sz="1600" dirty="0" err="1" smtClean="0"/>
              <a:t>테이터를</a:t>
            </a:r>
            <a:r>
              <a:rPr lang="ko-KR" altLang="en-US" sz="1600" dirty="0" smtClean="0"/>
              <a:t> 여러 테이블에 나누어 저장하고 테이블을</a:t>
            </a:r>
            <a:r>
              <a:rPr lang="en-US" altLang="ko-KR" sz="1600" dirty="0"/>
              <a:t> </a:t>
            </a:r>
            <a:r>
              <a:rPr lang="ko-KR" altLang="en-US" sz="1600" dirty="0" smtClean="0"/>
              <a:t>조인하여 </a:t>
            </a:r>
            <a:r>
              <a:rPr lang="ko-KR" altLang="en-US" sz="1600" dirty="0" err="1" smtClean="0"/>
              <a:t>테이터를</a:t>
            </a:r>
            <a:r>
              <a:rPr lang="ko-KR" altLang="en-US" sz="1600" dirty="0" smtClean="0"/>
              <a:t> 처리한다</a:t>
            </a:r>
            <a:r>
              <a:rPr lang="en-US" altLang="ko-KR" sz="1600" dirty="0" smtClean="0"/>
              <a:t>.</a:t>
            </a:r>
          </a:p>
          <a:p>
            <a:pPr>
              <a:lnSpc>
                <a:spcPct val="150000"/>
              </a:lnSpc>
            </a:pPr>
            <a:endParaRPr lang="en-US" altLang="ko-KR" sz="1600" dirty="0"/>
          </a:p>
          <a:p>
            <a:pPr>
              <a:lnSpc>
                <a:spcPct val="150000"/>
              </a:lnSpc>
            </a:pPr>
            <a:r>
              <a:rPr lang="ko-KR" altLang="en-US" sz="1600" dirty="0" smtClean="0"/>
              <a:t>결국 테이블의 연관관계를 </a:t>
            </a:r>
            <a:r>
              <a:rPr lang="ko-KR" altLang="en-US" sz="1600" dirty="0" err="1" smtClean="0"/>
              <a:t>엔티티의</a:t>
            </a:r>
            <a:r>
              <a:rPr lang="ko-KR" altLang="en-US" sz="1600" dirty="0" smtClean="0"/>
              <a:t> 연관 관계로 </a:t>
            </a:r>
            <a:r>
              <a:rPr lang="ko-KR" altLang="en-US" sz="1600" dirty="0" err="1" smtClean="0"/>
              <a:t>매핑해야</a:t>
            </a:r>
            <a:r>
              <a:rPr lang="ko-KR" altLang="en-US" sz="1600" dirty="0" smtClean="0"/>
              <a:t> 하는데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중요한 것은 테이블은</a:t>
            </a:r>
            <a:r>
              <a:rPr lang="en-US" altLang="ko-KR" sz="1600" dirty="0"/>
              <a:t> </a:t>
            </a:r>
            <a:r>
              <a:rPr lang="en-US" altLang="ko-KR" sz="1600" dirty="0" smtClean="0"/>
              <a:t>PK</a:t>
            </a:r>
            <a:r>
              <a:rPr lang="ko-KR" altLang="en-US" sz="1600" dirty="0" smtClean="0"/>
              <a:t>와 </a:t>
            </a:r>
            <a:r>
              <a:rPr lang="en-US" altLang="ko-KR" sz="1600" dirty="0" smtClean="0"/>
              <a:t>FK</a:t>
            </a:r>
            <a:r>
              <a:rPr lang="ko-KR" altLang="en-US" sz="1600" dirty="0" smtClean="0"/>
              <a:t>를 기반으로 연관 관계를 맺지만 객체는 참조 변수를 통해 연관 관계를 맺기 때문에</a:t>
            </a:r>
            <a:r>
              <a:rPr lang="en-US" altLang="ko-KR" sz="1600" dirty="0"/>
              <a:t> </a:t>
            </a:r>
            <a:r>
              <a:rPr lang="ko-KR" altLang="en-US" sz="1600" dirty="0" smtClean="0"/>
              <a:t>테이블의 연관과 </a:t>
            </a:r>
            <a:r>
              <a:rPr lang="ko-KR" altLang="en-US" sz="1600" dirty="0" err="1" smtClean="0"/>
              <a:t>엔티티의</a:t>
            </a:r>
            <a:r>
              <a:rPr lang="ko-KR" altLang="en-US" sz="1600" dirty="0" smtClean="0"/>
              <a:t> 연관이 정확하게 일치하지 않는다는 것이다</a:t>
            </a:r>
            <a:r>
              <a:rPr lang="en-US" altLang="ko-KR" sz="1600" dirty="0" smtClean="0"/>
              <a:t>.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1352600" y="4797152"/>
            <a:ext cx="691276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err="1" smtClean="0"/>
              <a:t>단방향</a:t>
            </a:r>
            <a:r>
              <a:rPr lang="ko-KR" altLang="en-US" sz="1600" dirty="0" smtClean="0"/>
              <a:t> </a:t>
            </a:r>
            <a:r>
              <a:rPr lang="ko-KR" altLang="en-US" sz="1600" dirty="0"/>
              <a:t>매핑 </a:t>
            </a:r>
            <a:r>
              <a:rPr lang="en-US" altLang="ko-KR" sz="1600" dirty="0"/>
              <a:t>– </a:t>
            </a:r>
            <a:r>
              <a:rPr lang="ko-KR" altLang="en-US" sz="1600" dirty="0"/>
              <a:t>일대일 </a:t>
            </a:r>
            <a:r>
              <a:rPr lang="ko-KR" altLang="en-US" sz="1600" dirty="0" err="1"/>
              <a:t>단방향</a:t>
            </a:r>
            <a:r>
              <a:rPr lang="en-US" altLang="ko-KR" sz="1600" dirty="0"/>
              <a:t>, </a:t>
            </a:r>
            <a:r>
              <a:rPr lang="ko-KR" altLang="en-US" sz="1600" dirty="0"/>
              <a:t>다대일 </a:t>
            </a:r>
            <a:r>
              <a:rPr lang="ko-KR" altLang="en-US" sz="1600" dirty="0" err="1"/>
              <a:t>단방향</a:t>
            </a:r>
            <a:r>
              <a:rPr lang="en-US" altLang="ko-KR" sz="1600" dirty="0"/>
              <a:t>, </a:t>
            </a:r>
            <a:r>
              <a:rPr lang="ko-KR" altLang="en-US" sz="1600" dirty="0"/>
              <a:t>일대다 </a:t>
            </a:r>
            <a:r>
              <a:rPr lang="ko-KR" altLang="en-US" sz="1600" dirty="0" err="1"/>
              <a:t>단방향</a:t>
            </a:r>
            <a:endParaRPr lang="en-US" altLang="ko-KR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smtClean="0"/>
              <a:t>양방향 </a:t>
            </a:r>
            <a:r>
              <a:rPr lang="ko-KR" altLang="en-US" sz="1600" dirty="0"/>
              <a:t>매핑 </a:t>
            </a:r>
            <a:r>
              <a:rPr lang="en-US" altLang="ko-KR" sz="1600" dirty="0"/>
              <a:t>– </a:t>
            </a:r>
            <a:r>
              <a:rPr lang="ko-KR" altLang="en-US" sz="1600" dirty="0"/>
              <a:t>양방향 매핑</a:t>
            </a:r>
            <a:endParaRPr lang="en-US" altLang="ko-KR" sz="1600" dirty="0"/>
          </a:p>
        </p:txBody>
      </p:sp>
      <p:sp>
        <p:nvSpPr>
          <p:cNvPr id="3" name="직사각형 2"/>
          <p:cNvSpPr/>
          <p:nvPr/>
        </p:nvSpPr>
        <p:spPr>
          <a:xfrm>
            <a:off x="992560" y="4288654"/>
            <a:ext cx="2483372" cy="4542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b="1" dirty="0"/>
              <a:t>연관관계 매핑 분류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2338369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/>
              <a:t>연관 </a:t>
            </a:r>
            <a:r>
              <a:rPr lang="ko-KR" altLang="en-US" b="1" dirty="0"/>
              <a:t>관계 </a:t>
            </a:r>
            <a:r>
              <a:rPr lang="ko-KR" altLang="en-US" b="1" dirty="0" err="1"/>
              <a:t>매핑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052736"/>
            <a:ext cx="3960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ko-KR" altLang="en-US" sz="2000" b="1" dirty="0" smtClean="0"/>
              <a:t>연관 관계 </a:t>
            </a:r>
            <a:r>
              <a:rPr lang="ko-KR" altLang="en-US" sz="2000" b="1" dirty="0" err="1" smtClean="0"/>
              <a:t>매핑</a:t>
            </a:r>
            <a:endParaRPr lang="ko-KR" altLang="en-US" sz="20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1129269" y="1484784"/>
            <a:ext cx="807220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arenBoth"/>
            </a:pPr>
            <a:r>
              <a:rPr lang="ko-KR" altLang="en-US" sz="1600" dirty="0" err="1" smtClean="0"/>
              <a:t>다대일</a:t>
            </a:r>
            <a:r>
              <a:rPr lang="en-US" altLang="ko-KR" sz="1600" dirty="0" smtClean="0"/>
              <a:t>(N:1)</a:t>
            </a:r>
            <a:r>
              <a:rPr lang="ko-KR" altLang="en-US" sz="1600" dirty="0" smtClean="0"/>
              <a:t> </a:t>
            </a:r>
            <a:r>
              <a:rPr lang="ko-KR" altLang="en-US" sz="1600" dirty="0" err="1" smtClean="0"/>
              <a:t>단방향</a:t>
            </a:r>
            <a:r>
              <a:rPr lang="ko-KR" altLang="en-US" sz="1600" dirty="0" smtClean="0"/>
              <a:t> </a:t>
            </a:r>
            <a:r>
              <a:rPr lang="ko-KR" altLang="en-US" sz="1600" dirty="0" err="1" smtClean="0"/>
              <a:t>매핑하기</a:t>
            </a:r>
            <a:endParaRPr lang="en-US" altLang="ko-KR" sz="1600" dirty="0" smtClean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smtClean="0"/>
              <a:t>게시판과 회원이 있다</a:t>
            </a:r>
            <a:endParaRPr lang="en-US" altLang="ko-KR" sz="1600" dirty="0" smtClean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err="1" smtClean="0"/>
              <a:t>한명의</a:t>
            </a:r>
            <a:r>
              <a:rPr lang="ko-KR" altLang="en-US" sz="1600" dirty="0" smtClean="0"/>
              <a:t> 회원은 여러 개의 </a:t>
            </a:r>
            <a:r>
              <a:rPr lang="ko-KR" altLang="en-US" sz="1600" dirty="0" err="1" smtClean="0"/>
              <a:t>게시글을</a:t>
            </a:r>
            <a:r>
              <a:rPr lang="ko-KR" altLang="en-US" sz="1600" dirty="0" smtClean="0"/>
              <a:t> 작성할 수 있다</a:t>
            </a:r>
            <a:endParaRPr lang="en-US" altLang="ko-KR" sz="1600" dirty="0" smtClean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smtClean="0"/>
              <a:t>게시판과 회원은 </a:t>
            </a:r>
            <a:r>
              <a:rPr lang="ko-KR" altLang="en-US" sz="1600" dirty="0" err="1" smtClean="0"/>
              <a:t>다대일</a:t>
            </a:r>
            <a:r>
              <a:rPr lang="ko-KR" altLang="en-US" sz="1600" dirty="0" smtClean="0"/>
              <a:t> 관계이다</a:t>
            </a:r>
            <a:r>
              <a:rPr lang="en-US" altLang="ko-KR" sz="1600" dirty="0" smtClean="0"/>
              <a:t>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err="1" smtClean="0"/>
              <a:t>게시글을</a:t>
            </a:r>
            <a:r>
              <a:rPr lang="ko-KR" altLang="en-US" sz="1600" dirty="0" smtClean="0"/>
              <a:t> 통해서 </a:t>
            </a:r>
            <a:r>
              <a:rPr lang="ko-KR" altLang="en-US" sz="1600" dirty="0" err="1" smtClean="0"/>
              <a:t>게시글을</a:t>
            </a:r>
            <a:r>
              <a:rPr lang="ko-KR" altLang="en-US" sz="1600" dirty="0" smtClean="0"/>
              <a:t> 작성한 회원 정보를 조회할 수 있다 </a:t>
            </a:r>
            <a:r>
              <a:rPr lang="en-US" altLang="ko-KR" sz="1600" dirty="0" smtClean="0"/>
              <a:t>.</a:t>
            </a:r>
            <a:endParaRPr lang="ko-KR" altLang="en-US" sz="1600" dirty="0"/>
          </a:p>
        </p:txBody>
      </p:sp>
      <p:sp>
        <p:nvSpPr>
          <p:cNvPr id="7" name="TextBox 6"/>
          <p:cNvSpPr txBox="1"/>
          <p:nvPr/>
        </p:nvSpPr>
        <p:spPr>
          <a:xfrm>
            <a:off x="1928664" y="3645024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Member (1)</a:t>
            </a:r>
            <a:endParaRPr lang="ko-KR" altLang="en-US" dirty="0"/>
          </a:p>
        </p:txBody>
      </p:sp>
      <p:sp>
        <p:nvSpPr>
          <p:cNvPr id="9" name="직사각형 8"/>
          <p:cNvSpPr/>
          <p:nvPr/>
        </p:nvSpPr>
        <p:spPr>
          <a:xfrm>
            <a:off x="4461746" y="3645024"/>
            <a:ext cx="11912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(</a:t>
            </a:r>
            <a:r>
              <a:rPr lang="ko-KR" altLang="en-US" dirty="0" err="1"/>
              <a:t>N</a:t>
            </a:r>
            <a:r>
              <a:rPr lang="ko-KR" altLang="en-US" dirty="0"/>
              <a:t>) </a:t>
            </a:r>
            <a:r>
              <a:rPr lang="ko-KR" altLang="en-US" dirty="0" err="1"/>
              <a:t>Board</a:t>
            </a:r>
            <a:endParaRPr lang="ko-KR" altLang="en-US" dirty="0"/>
          </a:p>
        </p:txBody>
      </p:sp>
      <p:cxnSp>
        <p:nvCxnSpPr>
          <p:cNvPr id="11" name="직선 연결선 10"/>
          <p:cNvCxnSpPr/>
          <p:nvPr/>
        </p:nvCxnSpPr>
        <p:spPr>
          <a:xfrm>
            <a:off x="3404828" y="3861048"/>
            <a:ext cx="948906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꺾인 연결선 12"/>
          <p:cNvCxnSpPr>
            <a:stCxn id="7" idx="2"/>
            <a:endCxn id="9" idx="2"/>
          </p:cNvCxnSpPr>
          <p:nvPr/>
        </p:nvCxnSpPr>
        <p:spPr>
          <a:xfrm rot="16200000" flipH="1">
            <a:off x="3889055" y="2846053"/>
            <a:ext cx="12700" cy="2336606"/>
          </a:xfrm>
          <a:prstGeom prst="bentConnector3">
            <a:avLst>
              <a:gd name="adj1" fmla="val 4405709"/>
            </a:avLst>
          </a:prstGeom>
          <a:ln w="1905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/>
          <p:cNvSpPr/>
          <p:nvPr/>
        </p:nvSpPr>
        <p:spPr>
          <a:xfrm>
            <a:off x="2647729" y="4008006"/>
            <a:ext cx="8707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 </a:t>
            </a:r>
            <a:r>
              <a:rPr lang="ko-KR" altLang="en-US" dirty="0" err="1"/>
              <a:t>id</a:t>
            </a:r>
            <a:r>
              <a:rPr lang="ko-KR" altLang="en-US" dirty="0"/>
              <a:t>(PK)</a:t>
            </a:r>
          </a:p>
        </p:txBody>
      </p:sp>
      <p:sp>
        <p:nvSpPr>
          <p:cNvPr id="21" name="직사각형 20"/>
          <p:cNvSpPr/>
          <p:nvPr/>
        </p:nvSpPr>
        <p:spPr>
          <a:xfrm>
            <a:off x="5057358" y="4020707"/>
            <a:ext cx="17443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err="1">
                <a:solidFill>
                  <a:srgbClr val="C00000"/>
                </a:solidFill>
              </a:rPr>
              <a:t>member_id</a:t>
            </a:r>
            <a:r>
              <a:rPr lang="ko-KR" altLang="en-US" dirty="0">
                <a:solidFill>
                  <a:srgbClr val="C00000"/>
                </a:solidFill>
              </a:rPr>
              <a:t>(FK)</a:t>
            </a:r>
          </a:p>
        </p:txBody>
      </p:sp>
      <p:sp>
        <p:nvSpPr>
          <p:cNvPr id="22" name="직사각형 21"/>
          <p:cNvSpPr/>
          <p:nvPr/>
        </p:nvSpPr>
        <p:spPr>
          <a:xfrm>
            <a:off x="2144688" y="5003884"/>
            <a:ext cx="40559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하나의 회원이 여러 </a:t>
            </a:r>
            <a:r>
              <a:rPr lang="ko-KR" altLang="en-US" dirty="0" err="1"/>
              <a:t>게시글</a:t>
            </a:r>
            <a:r>
              <a:rPr lang="ko-KR" altLang="en-US" dirty="0"/>
              <a:t> 작성 가능</a:t>
            </a:r>
          </a:p>
        </p:txBody>
      </p:sp>
      <p:cxnSp>
        <p:nvCxnSpPr>
          <p:cNvPr id="28" name="직선 화살표 연결선 27"/>
          <p:cNvCxnSpPr/>
          <p:nvPr/>
        </p:nvCxnSpPr>
        <p:spPr>
          <a:xfrm>
            <a:off x="3879281" y="4581128"/>
            <a:ext cx="0" cy="36004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2650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/>
              <a:t>연관 관계 </a:t>
            </a:r>
            <a:r>
              <a:rPr lang="ko-KR" altLang="en-US" b="1" dirty="0" err="1" smtClean="0"/>
              <a:t>매핑</a:t>
            </a:r>
            <a:endParaRPr lang="ko-KR" altLang="en-US" b="1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084674"/>
            <a:ext cx="3960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ko-KR" altLang="en-US" sz="2000" b="1" dirty="0" smtClean="0"/>
              <a:t>다대일</a:t>
            </a:r>
            <a:r>
              <a:rPr lang="en-US" altLang="ko-KR" sz="2000" b="1" dirty="0"/>
              <a:t>(N:1)</a:t>
            </a:r>
            <a:r>
              <a:rPr lang="ko-KR" altLang="en-US" sz="2000" b="1" dirty="0"/>
              <a:t> </a:t>
            </a:r>
            <a:r>
              <a:rPr lang="ko-KR" altLang="en-US" sz="2000" b="1" dirty="0" err="1"/>
              <a:t>단방향</a:t>
            </a:r>
            <a:r>
              <a:rPr lang="ko-KR" altLang="en-US" sz="2000" b="1" dirty="0"/>
              <a:t> </a:t>
            </a:r>
            <a:r>
              <a:rPr lang="ko-KR" altLang="en-US" sz="2000" b="1" dirty="0" smtClean="0"/>
              <a:t>매핑하기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1514015" y="1700808"/>
            <a:ext cx="2314311" cy="1931442"/>
          </a:xfrm>
          <a:prstGeom prst="rect">
            <a:avLst/>
          </a:prstGeom>
          <a:ln w="1905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600" dirty="0" smtClean="0">
                <a:latin typeface="+mn-ea"/>
              </a:rPr>
              <a:t>  </a:t>
            </a:r>
          </a:p>
          <a:p>
            <a:pPr algn="ctr">
              <a:lnSpc>
                <a:spcPct val="150000"/>
              </a:lnSpc>
            </a:pPr>
            <a:endParaRPr lang="en-US" altLang="ko-KR" sz="1600" dirty="0">
              <a:latin typeface="+mn-ea"/>
            </a:endParaRPr>
          </a:p>
        </p:txBody>
      </p:sp>
      <p:cxnSp>
        <p:nvCxnSpPr>
          <p:cNvPr id="11" name="직선 연결선 10"/>
          <p:cNvCxnSpPr/>
          <p:nvPr/>
        </p:nvCxnSpPr>
        <p:spPr>
          <a:xfrm>
            <a:off x="1496616" y="2204864"/>
            <a:ext cx="23317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802047" y="1765372"/>
            <a:ext cx="1398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smtClean="0"/>
              <a:t>Board</a:t>
            </a:r>
            <a:endParaRPr lang="ko-KR" altLang="en-US" sz="1600" dirty="0"/>
          </a:p>
        </p:txBody>
      </p:sp>
      <p:sp>
        <p:nvSpPr>
          <p:cNvPr id="16" name="직사각형 15"/>
          <p:cNvSpPr/>
          <p:nvPr/>
        </p:nvSpPr>
        <p:spPr>
          <a:xfrm>
            <a:off x="5783497" y="1700808"/>
            <a:ext cx="2314311" cy="1931442"/>
          </a:xfrm>
          <a:prstGeom prst="rect">
            <a:avLst/>
          </a:prstGeom>
          <a:ln w="1905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600" dirty="0" smtClean="0">
                <a:latin typeface="+mn-ea"/>
              </a:rPr>
              <a:t>  </a:t>
            </a:r>
          </a:p>
          <a:p>
            <a:pPr algn="ctr">
              <a:lnSpc>
                <a:spcPct val="150000"/>
              </a:lnSpc>
            </a:pPr>
            <a:endParaRPr lang="en-US" altLang="ko-KR" sz="1600" dirty="0">
              <a:latin typeface="+mn-ea"/>
            </a:endParaRPr>
          </a:p>
        </p:txBody>
      </p:sp>
      <p:cxnSp>
        <p:nvCxnSpPr>
          <p:cNvPr id="17" name="직선 연결선 16"/>
          <p:cNvCxnSpPr/>
          <p:nvPr/>
        </p:nvCxnSpPr>
        <p:spPr>
          <a:xfrm>
            <a:off x="5766098" y="2204864"/>
            <a:ext cx="23317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071529" y="1765372"/>
            <a:ext cx="1398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smtClean="0"/>
              <a:t>Member</a:t>
            </a:r>
            <a:endParaRPr lang="ko-KR" altLang="en-US" sz="1600" dirty="0"/>
          </a:p>
        </p:txBody>
      </p:sp>
      <p:sp>
        <p:nvSpPr>
          <p:cNvPr id="19" name="TextBox 18"/>
          <p:cNvSpPr txBox="1"/>
          <p:nvPr/>
        </p:nvSpPr>
        <p:spPr>
          <a:xfrm>
            <a:off x="6142366" y="2168490"/>
            <a:ext cx="181833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i</a:t>
            </a:r>
            <a:r>
              <a:rPr lang="en-US" altLang="ko-KR" dirty="0" smtClean="0"/>
              <a:t>d</a:t>
            </a:r>
          </a:p>
          <a:p>
            <a:r>
              <a:rPr lang="en-US" altLang="ko-KR" dirty="0" err="1" smtClean="0"/>
              <a:t>memberId</a:t>
            </a:r>
            <a:endParaRPr lang="en-US" altLang="ko-KR" dirty="0" smtClean="0"/>
          </a:p>
          <a:p>
            <a:r>
              <a:rPr lang="en-US" altLang="ko-KR" dirty="0" smtClean="0"/>
              <a:t>password</a:t>
            </a:r>
          </a:p>
          <a:p>
            <a:r>
              <a:rPr lang="en-US" altLang="ko-KR" dirty="0"/>
              <a:t>n</a:t>
            </a:r>
            <a:r>
              <a:rPr lang="en-US" altLang="ko-KR" dirty="0" smtClean="0"/>
              <a:t>ame</a:t>
            </a:r>
          </a:p>
          <a:p>
            <a:r>
              <a:rPr lang="en-US" altLang="ko-KR" dirty="0" smtClean="0"/>
              <a:t>role</a:t>
            </a:r>
            <a:endParaRPr lang="ko-KR" altLang="en-US" dirty="0"/>
          </a:p>
        </p:txBody>
      </p:sp>
      <p:cxnSp>
        <p:nvCxnSpPr>
          <p:cNvPr id="21" name="직선 화살표 연결선 20"/>
          <p:cNvCxnSpPr/>
          <p:nvPr/>
        </p:nvCxnSpPr>
        <p:spPr>
          <a:xfrm>
            <a:off x="3828326" y="1934649"/>
            <a:ext cx="1955171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010802" y="2197596"/>
            <a:ext cx="1590217" cy="374571"/>
          </a:xfrm>
          <a:prstGeom prst="roundRect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ko-KR" altLang="en-US" sz="1600" smtClean="0"/>
              <a:t>객</a:t>
            </a:r>
            <a:r>
              <a:rPr lang="ko-KR" altLang="en-US" sz="1600"/>
              <a:t>체</a:t>
            </a:r>
            <a:r>
              <a:rPr lang="ko-KR" altLang="en-US" sz="1600" smtClean="0"/>
              <a:t> </a:t>
            </a:r>
            <a:r>
              <a:rPr lang="ko-KR" altLang="en-US" sz="1600" dirty="0" smtClean="0"/>
              <a:t>연관 관계</a:t>
            </a:r>
            <a:endParaRPr lang="ko-KR" altLang="en-US" sz="1600" dirty="0"/>
          </a:p>
        </p:txBody>
      </p:sp>
      <p:sp>
        <p:nvSpPr>
          <p:cNvPr id="2" name="TextBox 1"/>
          <p:cNvSpPr txBox="1"/>
          <p:nvPr/>
        </p:nvSpPr>
        <p:spPr>
          <a:xfrm>
            <a:off x="1496616" y="3861048"/>
            <a:ext cx="727280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smtClean="0"/>
              <a:t>게시판 객체</a:t>
            </a:r>
            <a:r>
              <a:rPr lang="en-US" altLang="ko-KR" sz="1600" dirty="0" smtClean="0"/>
              <a:t>(Board)</a:t>
            </a:r>
            <a:r>
              <a:rPr lang="ko-KR" altLang="en-US" sz="1600" dirty="0" smtClean="0"/>
              <a:t>는 참조 변수</a:t>
            </a:r>
            <a:r>
              <a:rPr lang="en-US" altLang="ko-KR" sz="1600" dirty="0" smtClean="0"/>
              <a:t>(</a:t>
            </a:r>
            <a:r>
              <a:rPr lang="en-US" altLang="ko-KR" sz="1600" dirty="0" err="1" smtClean="0"/>
              <a:t>Board.member</a:t>
            </a:r>
            <a:r>
              <a:rPr lang="en-US" altLang="ko-KR" sz="1600" dirty="0" smtClean="0"/>
              <a:t>)</a:t>
            </a:r>
            <a:r>
              <a:rPr lang="ko-KR" altLang="en-US" sz="1600" dirty="0" smtClean="0"/>
              <a:t>를 통해 회원 객체</a:t>
            </a:r>
            <a:r>
              <a:rPr lang="en-US" altLang="ko-KR" sz="1600" dirty="0" smtClean="0"/>
              <a:t>(Member)</a:t>
            </a:r>
            <a:r>
              <a:rPr lang="ko-KR" altLang="en-US" sz="1600" dirty="0" smtClean="0"/>
              <a:t>와 관계를 맺는다</a:t>
            </a:r>
            <a:r>
              <a:rPr lang="en-US" altLang="ko-KR" sz="1600" dirty="0" smtClean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smtClean="0"/>
              <a:t>게시판 객체와 회원 객체는 </a:t>
            </a:r>
            <a:r>
              <a:rPr lang="ko-KR" altLang="en-US" sz="1600" dirty="0" err="1" smtClean="0"/>
              <a:t>단방향</a:t>
            </a:r>
            <a:r>
              <a:rPr lang="ko-KR" altLang="en-US" sz="1600" dirty="0" smtClean="0"/>
              <a:t> 관계로서 게시판은 </a:t>
            </a:r>
            <a:r>
              <a:rPr lang="en-US" altLang="ko-KR" sz="1600" dirty="0" err="1" smtClean="0"/>
              <a:t>Board.member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변수를 통해 회원 정보를 알 수 있지만</a:t>
            </a:r>
            <a:r>
              <a:rPr lang="en-US" altLang="ko-KR" sz="1600" dirty="0" smtClean="0"/>
              <a:t>,</a:t>
            </a:r>
            <a:r>
              <a:rPr lang="ko-KR" altLang="en-US" sz="1600" dirty="0" smtClean="0"/>
              <a:t> 반대로 회원은 게시판에 대한 참조 변수를 가지지 않기 때문에 게시판 정보를 알 수 없다</a:t>
            </a:r>
            <a:r>
              <a:rPr lang="en-US" altLang="ko-KR" sz="1600" dirty="0" smtClean="0"/>
              <a:t>.</a:t>
            </a:r>
            <a:endParaRPr lang="ko-KR" altLang="en-US" sz="1600" dirty="0"/>
          </a:p>
        </p:txBody>
      </p:sp>
      <p:sp>
        <p:nvSpPr>
          <p:cNvPr id="20" name="TextBox 19"/>
          <p:cNvSpPr txBox="1"/>
          <p:nvPr/>
        </p:nvSpPr>
        <p:spPr>
          <a:xfrm>
            <a:off x="1574522" y="2204864"/>
            <a:ext cx="2226350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i</a:t>
            </a:r>
            <a:r>
              <a:rPr lang="en-US" altLang="ko-KR" sz="1600" dirty="0" smtClean="0"/>
              <a:t>d</a:t>
            </a:r>
          </a:p>
          <a:p>
            <a:r>
              <a:rPr lang="en-US" altLang="ko-KR" sz="1600" dirty="0" smtClean="0"/>
              <a:t>Title</a:t>
            </a:r>
          </a:p>
          <a:p>
            <a:r>
              <a:rPr lang="en-US" altLang="ko-KR" sz="1600" dirty="0" smtClean="0"/>
              <a:t>content</a:t>
            </a:r>
          </a:p>
          <a:p>
            <a:r>
              <a:rPr lang="en-US" altLang="ko-KR" sz="1600" dirty="0" smtClean="0"/>
              <a:t>Member </a:t>
            </a:r>
            <a:r>
              <a:rPr lang="en-US" altLang="ko-KR" sz="1600" dirty="0" err="1" smtClean="0"/>
              <a:t>member</a:t>
            </a:r>
            <a:endParaRPr lang="en-US" altLang="ko-KR" sz="1600" dirty="0" smtClean="0"/>
          </a:p>
          <a:p>
            <a:r>
              <a:rPr lang="en-US" altLang="ko-KR" sz="1600" dirty="0" smtClean="0"/>
              <a:t>title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978492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/>
              <a:t>연관 </a:t>
            </a:r>
            <a:r>
              <a:rPr lang="ko-KR" altLang="en-US" b="1" dirty="0"/>
              <a:t>관계 </a:t>
            </a:r>
            <a:r>
              <a:rPr lang="ko-KR" altLang="en-US" b="1" dirty="0" err="1"/>
              <a:t>매핑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064568" y="1074222"/>
            <a:ext cx="24481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ko-KR" altLang="en-US" sz="2000" b="1" dirty="0" smtClean="0"/>
              <a:t>양방향 매핑 설정</a:t>
            </a:r>
            <a:endParaRPr lang="ko-KR" altLang="en-US" sz="2000" b="1" dirty="0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/>
          </p:nvPr>
        </p:nvGraphicFramePr>
        <p:xfrm>
          <a:off x="1208584" y="1720970"/>
          <a:ext cx="8136904" cy="3154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92488">
                  <a:extLst>
                    <a:ext uri="{9D8B030D-6E8A-4147-A177-3AD203B41FA5}">
                      <a16:colId xmlns:a16="http://schemas.microsoft.com/office/drawing/2014/main" val="3993985894"/>
                    </a:ext>
                  </a:extLst>
                </a:gridCol>
                <a:gridCol w="37444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 err="1" smtClean="0"/>
                        <a:t>어노테이션</a:t>
                      </a:r>
                      <a:endParaRPr lang="ko-KR" altLang="en-US" sz="1800" b="1" dirty="0"/>
                    </a:p>
                  </a:txBody>
                  <a:tcPr anchor="ctr">
                    <a:lnL w="12700" cmpd="sng">
                      <a:noFill/>
                    </a:lnL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 smtClean="0"/>
                        <a:t>의미</a:t>
                      </a:r>
                      <a:endParaRPr lang="ko-KR" altLang="en-US" sz="1800" b="1" dirty="0"/>
                    </a:p>
                  </a:txBody>
                  <a:tcPr anchor="ctr">
                    <a:lnR w="12700" cmpd="sng">
                      <a:noFill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800" b="0" dirty="0" smtClean="0"/>
                        <a:t>@</a:t>
                      </a:r>
                      <a:r>
                        <a:rPr lang="en-US" altLang="ko-KR" sz="1800" b="0" dirty="0" err="1" smtClean="0"/>
                        <a:t>OneToMany</a:t>
                      </a:r>
                      <a:r>
                        <a:rPr lang="en-US" altLang="ko-KR" sz="1800" b="0" dirty="0" smtClean="0"/>
                        <a:t>(</a:t>
                      </a:r>
                      <a:r>
                        <a:rPr lang="en-US" altLang="ko-KR" sz="1800" b="0" dirty="0" err="1" smtClean="0"/>
                        <a:t>mappedBy</a:t>
                      </a:r>
                      <a:r>
                        <a:rPr lang="en-US" altLang="ko-KR" sz="1800" b="0" dirty="0" smtClean="0"/>
                        <a:t>="member")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600" b="0" dirty="0" smtClean="0"/>
                        <a:t>Board </a:t>
                      </a:r>
                      <a:r>
                        <a:rPr lang="ko-KR" altLang="en-US" sz="1600" b="0" dirty="0" err="1" smtClean="0"/>
                        <a:t>엔티티의</a:t>
                      </a:r>
                      <a:r>
                        <a:rPr lang="ko-KR" altLang="en-US" sz="1600" b="0" dirty="0" smtClean="0"/>
                        <a:t> </a:t>
                      </a:r>
                      <a:r>
                        <a:rPr lang="en-US" altLang="ko-KR" sz="1600" b="0" dirty="0" smtClean="0"/>
                        <a:t>member </a:t>
                      </a:r>
                      <a:r>
                        <a:rPr lang="ko-KR" altLang="en-US" sz="1600" b="0" dirty="0" smtClean="0"/>
                        <a:t>필드에 의해 </a:t>
                      </a:r>
                      <a:r>
                        <a:rPr lang="ko-KR" altLang="en-US" sz="1600" b="0" dirty="0" err="1" smtClean="0"/>
                        <a:t>매핑됨</a:t>
                      </a:r>
                      <a:r>
                        <a:rPr lang="ko-KR" altLang="en-US" sz="1600" b="0" dirty="0" smtClean="0"/>
                        <a:t> </a:t>
                      </a:r>
                      <a:r>
                        <a:rPr lang="en-US" altLang="ko-KR" sz="1600" b="0" dirty="0" smtClean="0"/>
                        <a:t>(</a:t>
                      </a:r>
                      <a:r>
                        <a:rPr lang="ko-KR" altLang="en-US" sz="1600" b="0" dirty="0" err="1" smtClean="0"/>
                        <a:t>연관관계의</a:t>
                      </a:r>
                      <a:r>
                        <a:rPr lang="ko-KR" altLang="en-US" sz="1600" b="0" dirty="0" smtClean="0"/>
                        <a:t> 주인은 </a:t>
                      </a:r>
                      <a:r>
                        <a:rPr lang="en-US" altLang="ko-KR" sz="1600" b="0" dirty="0" smtClean="0"/>
                        <a:t>Board)</a:t>
                      </a:r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800" b="0" dirty="0" smtClean="0"/>
                        <a:t>@</a:t>
                      </a:r>
                      <a:r>
                        <a:rPr lang="en-US" altLang="ko-KR" sz="1800" b="0" dirty="0" err="1" smtClean="0"/>
                        <a:t>ManyToOne</a:t>
                      </a:r>
                      <a:r>
                        <a:rPr lang="en-US" altLang="ko-KR" sz="1800" b="0" dirty="0" smtClean="0"/>
                        <a:t>(fetch = </a:t>
                      </a:r>
                      <a:r>
                        <a:rPr lang="en-US" altLang="ko-KR" sz="1800" b="0" dirty="0" err="1" smtClean="0"/>
                        <a:t>FetchType.LAZY</a:t>
                      </a:r>
                      <a:r>
                        <a:rPr lang="en-US" altLang="ko-KR" sz="1800" b="0" dirty="0" smtClean="0"/>
                        <a:t>)</a:t>
                      </a:r>
                      <a:endParaRPr lang="en-US" altLang="ko-KR" sz="1800" b="0" dirty="0" smtClean="0"/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600" b="0" dirty="0" smtClean="0"/>
                        <a:t>Board(</a:t>
                      </a:r>
                      <a:r>
                        <a:rPr lang="ko-KR" altLang="en-US" sz="1600" b="0" dirty="0" smtClean="0"/>
                        <a:t>다</a:t>
                      </a:r>
                      <a:r>
                        <a:rPr lang="en-US" altLang="ko-KR" sz="1600" b="0" dirty="0" smtClean="0"/>
                        <a:t>) :Member(1)</a:t>
                      </a:r>
                      <a:r>
                        <a:rPr lang="ko-KR" altLang="en-US" sz="1600" b="0" dirty="0" smtClean="0"/>
                        <a:t>로 </a:t>
                      </a:r>
                      <a:r>
                        <a:rPr lang="ko-KR" altLang="en-US" sz="1600" b="0" dirty="0" err="1" smtClean="0"/>
                        <a:t>매핑됨</a:t>
                      </a:r>
                      <a:endParaRPr lang="en-US" altLang="ko-KR" sz="1600" b="0" dirty="0" smtClean="0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132181289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800" b="0" dirty="0" smtClean="0"/>
                        <a:t>cascade = </a:t>
                      </a:r>
                      <a:r>
                        <a:rPr lang="en-US" altLang="ko-KR" sz="1800" b="0" dirty="0" err="1" smtClean="0"/>
                        <a:t>CascadeType.ALL</a:t>
                      </a:r>
                      <a:endParaRPr lang="en-US" altLang="ko-KR" sz="1800" b="0" dirty="0" smtClean="0"/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600" b="0" dirty="0" smtClean="0"/>
                        <a:t>회원이 저장</a:t>
                      </a:r>
                      <a:r>
                        <a:rPr lang="en-US" altLang="ko-KR" sz="1600" b="0" dirty="0" smtClean="0"/>
                        <a:t>/</a:t>
                      </a:r>
                      <a:r>
                        <a:rPr lang="ko-KR" altLang="en-US" sz="1600" b="0" dirty="0" smtClean="0"/>
                        <a:t>삭제될 때 관련 </a:t>
                      </a:r>
                      <a:r>
                        <a:rPr lang="ko-KR" altLang="en-US" sz="1600" b="0" dirty="0" err="1" smtClean="0"/>
                        <a:t>게시글도</a:t>
                      </a:r>
                      <a:r>
                        <a:rPr lang="ko-KR" altLang="en-US" sz="1600" b="0" dirty="0" smtClean="0"/>
                        <a:t> 함께 처리</a:t>
                      </a:r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800" b="0" dirty="0" smtClean="0"/>
                        <a:t>@</a:t>
                      </a:r>
                      <a:r>
                        <a:rPr lang="en-US" altLang="ko-KR" sz="1800" b="0" dirty="0" err="1" smtClean="0"/>
                        <a:t>ToString</a:t>
                      </a:r>
                      <a:r>
                        <a:rPr lang="en-US" altLang="ko-KR" sz="1800" b="0" dirty="0" smtClean="0"/>
                        <a:t>(exclude = "boards")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600" b="0" dirty="0" smtClean="0"/>
                        <a:t>Lombok </a:t>
                      </a:r>
                      <a:r>
                        <a:rPr lang="ko-KR" altLang="en-US" sz="1600" b="0" dirty="0" err="1" smtClean="0"/>
                        <a:t>순환참조</a:t>
                      </a:r>
                      <a:r>
                        <a:rPr lang="en-US" altLang="ko-KR" sz="1600" b="0" dirty="0" smtClean="0"/>
                        <a:t>(</a:t>
                      </a:r>
                      <a:r>
                        <a:rPr lang="ko-KR" altLang="en-US" sz="1600" b="0" dirty="0" smtClean="0"/>
                        <a:t>무한 루프</a:t>
                      </a:r>
                      <a:r>
                        <a:rPr lang="en-US" altLang="ko-KR" sz="1600" b="0" dirty="0" smtClean="0"/>
                        <a:t>) </a:t>
                      </a:r>
                      <a:r>
                        <a:rPr lang="ko-KR" altLang="en-US" sz="1600" b="0" dirty="0" smtClean="0"/>
                        <a:t>방지</a:t>
                      </a:r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1674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/>
              <a:t>연관 </a:t>
            </a:r>
            <a:r>
              <a:rPr lang="ko-KR" altLang="en-US" b="1" dirty="0"/>
              <a:t>관계 </a:t>
            </a:r>
            <a:r>
              <a:rPr lang="ko-KR" altLang="en-US" b="1" dirty="0" err="1"/>
              <a:t>매핑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052736"/>
            <a:ext cx="48245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ko-KR" sz="2000" b="1" dirty="0" smtClean="0"/>
              <a:t>Member </a:t>
            </a:r>
            <a:r>
              <a:rPr lang="ko-KR" altLang="en-US" sz="2000" b="1" dirty="0" err="1" smtClean="0"/>
              <a:t>엔티티</a:t>
            </a:r>
            <a:endParaRPr lang="ko-KR" altLang="en-US" sz="2000" b="1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608" y="1556792"/>
            <a:ext cx="6120680" cy="468818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835427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/>
              <a:t>연관 </a:t>
            </a:r>
            <a:r>
              <a:rPr lang="ko-KR" altLang="en-US" b="1" dirty="0"/>
              <a:t>관계 </a:t>
            </a:r>
            <a:r>
              <a:rPr lang="ko-KR" altLang="en-US" b="1" dirty="0" err="1"/>
              <a:t>매핑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052736"/>
            <a:ext cx="48245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ko-KR" sz="2000" b="1" dirty="0" smtClean="0"/>
              <a:t>Member </a:t>
            </a:r>
            <a:r>
              <a:rPr lang="ko-KR" altLang="en-US" sz="2000" b="1" dirty="0" smtClean="0"/>
              <a:t>테이블</a:t>
            </a:r>
            <a:endParaRPr lang="ko-KR" altLang="en-US" sz="2000" b="1" dirty="0"/>
          </a:p>
        </p:txBody>
      </p:sp>
      <p:sp>
        <p:nvSpPr>
          <p:cNvPr id="3" name="직사각형 2"/>
          <p:cNvSpPr/>
          <p:nvPr/>
        </p:nvSpPr>
        <p:spPr>
          <a:xfrm>
            <a:off x="1352600" y="1674131"/>
            <a:ext cx="4953000" cy="230832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>
            <a:spAutoFit/>
          </a:bodyPr>
          <a:lstStyle/>
          <a:p>
            <a:r>
              <a:rPr lang="ko-KR" altLang="en-US" dirty="0" err="1"/>
              <a:t>create</a:t>
            </a:r>
            <a:r>
              <a:rPr lang="ko-KR" altLang="en-US" dirty="0"/>
              <a:t> </a:t>
            </a:r>
            <a:r>
              <a:rPr lang="ko-KR" altLang="en-US" dirty="0" err="1"/>
              <a:t>table</a:t>
            </a:r>
            <a:r>
              <a:rPr lang="ko-KR" altLang="en-US" dirty="0"/>
              <a:t> </a:t>
            </a:r>
            <a:r>
              <a:rPr lang="ko-KR" altLang="en-US" dirty="0" err="1"/>
              <a:t>member</a:t>
            </a:r>
            <a:r>
              <a:rPr lang="ko-KR" altLang="en-US" dirty="0"/>
              <a:t> (</a:t>
            </a:r>
          </a:p>
          <a:p>
            <a:r>
              <a:rPr lang="ko-KR" altLang="en-US" dirty="0"/>
              <a:t>    </a:t>
            </a:r>
            <a:r>
              <a:rPr lang="ko-KR" altLang="en-US" dirty="0" err="1"/>
              <a:t>id</a:t>
            </a:r>
            <a:r>
              <a:rPr lang="ko-KR" altLang="en-US" dirty="0"/>
              <a:t> </a:t>
            </a:r>
            <a:r>
              <a:rPr lang="ko-KR" altLang="en-US" dirty="0" err="1"/>
              <a:t>int</a:t>
            </a:r>
            <a:r>
              <a:rPr lang="ko-KR" altLang="en-US" dirty="0"/>
              <a:t> </a:t>
            </a:r>
            <a:r>
              <a:rPr lang="ko-KR" altLang="en-US" dirty="0" err="1"/>
              <a:t>not</a:t>
            </a:r>
            <a:r>
              <a:rPr lang="ko-KR" altLang="en-US" dirty="0"/>
              <a:t> </a:t>
            </a:r>
            <a:r>
              <a:rPr lang="ko-KR" altLang="en-US" dirty="0" err="1"/>
              <a:t>null</a:t>
            </a:r>
            <a:r>
              <a:rPr lang="ko-KR" altLang="en-US" dirty="0"/>
              <a:t> </a:t>
            </a:r>
            <a:r>
              <a:rPr lang="ko-KR" altLang="en-US" dirty="0" err="1"/>
              <a:t>auto_increment</a:t>
            </a:r>
            <a:r>
              <a:rPr lang="ko-KR" altLang="en-US" dirty="0"/>
              <a:t>,</a:t>
            </a:r>
          </a:p>
          <a:p>
            <a:r>
              <a:rPr lang="ko-KR" altLang="en-US" dirty="0"/>
              <a:t>    </a:t>
            </a:r>
            <a:r>
              <a:rPr lang="ko-KR" altLang="en-US" dirty="0" err="1"/>
              <a:t>member_id</a:t>
            </a:r>
            <a:r>
              <a:rPr lang="ko-KR" altLang="en-US" dirty="0"/>
              <a:t> </a:t>
            </a:r>
            <a:r>
              <a:rPr lang="ko-KR" altLang="en-US" dirty="0" err="1"/>
              <a:t>varchar</a:t>
            </a:r>
            <a:r>
              <a:rPr lang="ko-KR" altLang="en-US" dirty="0"/>
              <a:t>(255) </a:t>
            </a:r>
            <a:r>
              <a:rPr lang="ko-KR" altLang="en-US" dirty="0" err="1"/>
              <a:t>not</a:t>
            </a:r>
            <a:r>
              <a:rPr lang="ko-KR" altLang="en-US" dirty="0"/>
              <a:t> </a:t>
            </a:r>
            <a:r>
              <a:rPr lang="ko-KR" altLang="en-US" dirty="0" err="1"/>
              <a:t>null</a:t>
            </a:r>
            <a:r>
              <a:rPr lang="ko-KR" altLang="en-US" dirty="0"/>
              <a:t> </a:t>
            </a:r>
            <a:r>
              <a:rPr lang="ko-KR" altLang="en-US" dirty="0" err="1"/>
              <a:t>unique</a:t>
            </a:r>
            <a:r>
              <a:rPr lang="ko-KR" altLang="en-US" dirty="0"/>
              <a:t>,</a:t>
            </a:r>
          </a:p>
          <a:p>
            <a:r>
              <a:rPr lang="ko-KR" altLang="en-US" dirty="0"/>
              <a:t>    </a:t>
            </a:r>
            <a:r>
              <a:rPr lang="ko-KR" altLang="en-US" dirty="0" err="1"/>
              <a:t>password</a:t>
            </a:r>
            <a:r>
              <a:rPr lang="ko-KR" altLang="en-US" dirty="0"/>
              <a:t> </a:t>
            </a:r>
            <a:r>
              <a:rPr lang="ko-KR" altLang="en-US" dirty="0" err="1"/>
              <a:t>varchar</a:t>
            </a:r>
            <a:r>
              <a:rPr lang="ko-KR" altLang="en-US" dirty="0"/>
              <a:t>(255) </a:t>
            </a:r>
            <a:r>
              <a:rPr lang="ko-KR" altLang="en-US" dirty="0" err="1"/>
              <a:t>not</a:t>
            </a:r>
            <a:r>
              <a:rPr lang="ko-KR" altLang="en-US" dirty="0"/>
              <a:t> </a:t>
            </a:r>
            <a:r>
              <a:rPr lang="ko-KR" altLang="en-US" dirty="0" err="1"/>
              <a:t>null</a:t>
            </a:r>
            <a:r>
              <a:rPr lang="ko-KR" altLang="en-US" dirty="0"/>
              <a:t>,</a:t>
            </a:r>
          </a:p>
          <a:p>
            <a:r>
              <a:rPr lang="ko-KR" altLang="en-US" dirty="0"/>
              <a:t>    </a:t>
            </a:r>
            <a:r>
              <a:rPr lang="ko-KR" altLang="en-US" dirty="0" err="1"/>
              <a:t>name</a:t>
            </a:r>
            <a:r>
              <a:rPr lang="ko-KR" altLang="en-US" dirty="0"/>
              <a:t> </a:t>
            </a:r>
            <a:r>
              <a:rPr lang="ko-KR" altLang="en-US" dirty="0" err="1"/>
              <a:t>varchar</a:t>
            </a:r>
            <a:r>
              <a:rPr lang="ko-KR" altLang="en-US" dirty="0"/>
              <a:t>(255) </a:t>
            </a:r>
            <a:r>
              <a:rPr lang="ko-KR" altLang="en-US" dirty="0" err="1"/>
              <a:t>not</a:t>
            </a:r>
            <a:r>
              <a:rPr lang="ko-KR" altLang="en-US" dirty="0"/>
              <a:t> </a:t>
            </a:r>
            <a:r>
              <a:rPr lang="ko-KR" altLang="en-US" dirty="0" err="1"/>
              <a:t>null</a:t>
            </a:r>
            <a:r>
              <a:rPr lang="ko-KR" altLang="en-US" dirty="0"/>
              <a:t>,</a:t>
            </a:r>
          </a:p>
          <a:p>
            <a:r>
              <a:rPr lang="ko-KR" altLang="en-US" dirty="0"/>
              <a:t>    </a:t>
            </a:r>
            <a:r>
              <a:rPr lang="ko-KR" altLang="en-US" dirty="0" err="1"/>
              <a:t>role</a:t>
            </a:r>
            <a:r>
              <a:rPr lang="ko-KR" altLang="en-US" dirty="0"/>
              <a:t> </a:t>
            </a:r>
            <a:r>
              <a:rPr lang="ko-KR" altLang="en-US" dirty="0" err="1"/>
              <a:t>varchar</a:t>
            </a:r>
            <a:r>
              <a:rPr lang="ko-KR" altLang="en-US" dirty="0"/>
              <a:t>(255),</a:t>
            </a:r>
          </a:p>
          <a:p>
            <a:r>
              <a:rPr lang="ko-KR" altLang="en-US" dirty="0"/>
              <a:t>    </a:t>
            </a:r>
            <a:r>
              <a:rPr lang="ko-KR" altLang="en-US" dirty="0" err="1"/>
              <a:t>primary</a:t>
            </a:r>
            <a:r>
              <a:rPr lang="ko-KR" altLang="en-US" dirty="0"/>
              <a:t> </a:t>
            </a:r>
            <a:r>
              <a:rPr lang="ko-KR" altLang="en-US" dirty="0" err="1"/>
              <a:t>key</a:t>
            </a:r>
            <a:r>
              <a:rPr lang="ko-KR" altLang="en-US" dirty="0"/>
              <a:t> (</a:t>
            </a:r>
            <a:r>
              <a:rPr lang="ko-KR" altLang="en-US" dirty="0" err="1"/>
              <a:t>id</a:t>
            </a:r>
            <a:r>
              <a:rPr lang="ko-KR" altLang="en-US" dirty="0"/>
              <a:t>)</a:t>
            </a:r>
          </a:p>
          <a:p>
            <a:r>
              <a:rPr lang="ko-KR" altLang="en-US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192502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/>
              <a:t>연관 </a:t>
            </a:r>
            <a:r>
              <a:rPr lang="ko-KR" altLang="en-US" b="1" dirty="0"/>
              <a:t>관계 </a:t>
            </a:r>
            <a:r>
              <a:rPr lang="ko-KR" altLang="en-US" b="1" dirty="0" err="1"/>
              <a:t>매핑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084674"/>
            <a:ext cx="3960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ko-KR" altLang="en-US" sz="2000" b="1" dirty="0" err="1" smtClean="0"/>
              <a:t>리포지터리</a:t>
            </a:r>
            <a:r>
              <a:rPr lang="ko-KR" altLang="en-US" sz="2000" b="1" dirty="0" smtClean="0"/>
              <a:t> 인터페이스</a:t>
            </a:r>
            <a:endParaRPr lang="ko-KR" altLang="en-US" sz="20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6686934" y="1594797"/>
            <a:ext cx="2616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MemberRepository.java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553" y="4272998"/>
            <a:ext cx="8484692" cy="134465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969224" y="3861048"/>
            <a:ext cx="2342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BoardRepository.java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44" y="2166110"/>
            <a:ext cx="8784976" cy="116663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622608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/>
              <a:t>연관 </a:t>
            </a:r>
            <a:r>
              <a:rPr lang="ko-KR" altLang="en-US" b="1" dirty="0"/>
              <a:t>관계 </a:t>
            </a:r>
            <a:r>
              <a:rPr lang="ko-KR" altLang="en-US" b="1" dirty="0" err="1"/>
              <a:t>매핑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600" y="1471155"/>
            <a:ext cx="4608512" cy="492872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848544" y="1052736"/>
            <a:ext cx="3960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ko-KR" altLang="en-US" sz="2000" b="1" dirty="0" smtClean="0"/>
              <a:t>연관 관계 매핑 테스트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834169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/>
              <a:t>연관 </a:t>
            </a:r>
            <a:r>
              <a:rPr lang="ko-KR" altLang="en-US" b="1" dirty="0"/>
              <a:t>관계 </a:t>
            </a:r>
            <a:r>
              <a:rPr lang="ko-KR" altLang="en-US" b="1" dirty="0" err="1"/>
              <a:t>매핑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052736"/>
            <a:ext cx="3960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ko-KR" sz="2000" b="1" dirty="0" smtClean="0"/>
              <a:t>Board </a:t>
            </a:r>
            <a:r>
              <a:rPr lang="ko-KR" altLang="en-US" sz="2000" b="1" dirty="0" err="1" smtClean="0"/>
              <a:t>엔티티</a:t>
            </a:r>
            <a:endParaRPr lang="ko-KR" altLang="en-US" sz="2000" b="1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608" y="1556792"/>
            <a:ext cx="5904656" cy="491704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40442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/>
              <a:t>연관 </a:t>
            </a:r>
            <a:r>
              <a:rPr lang="ko-KR" altLang="en-US" b="1" dirty="0"/>
              <a:t>관계 </a:t>
            </a:r>
            <a:r>
              <a:rPr lang="ko-KR" altLang="en-US" b="1" dirty="0" err="1"/>
              <a:t>매핑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052736"/>
            <a:ext cx="3960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ko-KR" sz="2000" b="1" dirty="0" smtClean="0"/>
              <a:t>Board </a:t>
            </a:r>
            <a:r>
              <a:rPr lang="ko-KR" altLang="en-US" sz="2000" b="1" dirty="0" err="1" smtClean="0"/>
              <a:t>엔티티</a:t>
            </a:r>
            <a:endParaRPr lang="ko-KR" altLang="en-US" sz="20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1208584" y="1484784"/>
            <a:ext cx="7416824" cy="2553891"/>
          </a:xfrm>
          <a:prstGeom prst="roundRect">
            <a:avLst/>
          </a:prstGeom>
          <a:ln w="952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smtClean="0">
                <a:solidFill>
                  <a:schemeClr val="tx1"/>
                </a:solidFill>
              </a:rPr>
              <a:t>다대일 관계를 설정하기 위해 </a:t>
            </a:r>
            <a:r>
              <a:rPr lang="en-US" altLang="ko-KR" sz="1600" dirty="0" smtClean="0">
                <a:solidFill>
                  <a:schemeClr val="tx1"/>
                </a:solidFill>
              </a:rPr>
              <a:t>Member </a:t>
            </a:r>
            <a:r>
              <a:rPr lang="ko-KR" altLang="en-US" sz="1600" dirty="0" smtClean="0">
                <a:solidFill>
                  <a:schemeClr val="tx1"/>
                </a:solidFill>
              </a:rPr>
              <a:t>타입의 </a:t>
            </a:r>
            <a:r>
              <a:rPr lang="en-US" altLang="ko-KR" sz="1600" dirty="0" smtClean="0">
                <a:solidFill>
                  <a:schemeClr val="tx1"/>
                </a:solidFill>
              </a:rPr>
              <a:t>member </a:t>
            </a:r>
            <a:r>
              <a:rPr lang="ko-KR" altLang="en-US" sz="1600" dirty="0" smtClean="0">
                <a:solidFill>
                  <a:schemeClr val="tx1"/>
                </a:solidFill>
              </a:rPr>
              <a:t>변수를 추가했고</a:t>
            </a:r>
            <a:r>
              <a:rPr lang="en-US" altLang="ko-KR" sz="1600" dirty="0" smtClean="0">
                <a:solidFill>
                  <a:schemeClr val="tx1"/>
                </a:solidFill>
              </a:rPr>
              <a:t>, @</a:t>
            </a:r>
            <a:r>
              <a:rPr lang="en-US" altLang="ko-KR" sz="1600" dirty="0" err="1" smtClean="0">
                <a:solidFill>
                  <a:schemeClr val="tx1"/>
                </a:solidFill>
              </a:rPr>
              <a:t>ManyToOne</a:t>
            </a:r>
            <a:r>
              <a:rPr lang="en-US" altLang="ko-KR" sz="1600" dirty="0" smtClean="0">
                <a:solidFill>
                  <a:schemeClr val="tx1"/>
                </a:solidFill>
              </a:rPr>
              <a:t> </a:t>
            </a:r>
            <a:r>
              <a:rPr lang="ko-KR" altLang="en-US" sz="1600" dirty="0" err="1" smtClean="0">
                <a:solidFill>
                  <a:schemeClr val="tx1"/>
                </a:solidFill>
              </a:rPr>
              <a:t>어노테이션을</a:t>
            </a:r>
            <a:r>
              <a:rPr lang="ko-KR" altLang="en-US" sz="1600" dirty="0" smtClean="0">
                <a:solidFill>
                  <a:schemeClr val="tx1"/>
                </a:solidFill>
              </a:rPr>
              <a:t> 사용함</a:t>
            </a:r>
            <a:endParaRPr lang="en-US" altLang="ko-KR" sz="1600" dirty="0" smtClean="0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 smtClean="0">
                <a:solidFill>
                  <a:schemeClr val="tx1"/>
                </a:solidFill>
              </a:rPr>
              <a:t>@</a:t>
            </a:r>
            <a:r>
              <a:rPr lang="en-US" altLang="ko-KR" sz="1600" dirty="0" err="1" smtClean="0">
                <a:solidFill>
                  <a:schemeClr val="tx1"/>
                </a:solidFill>
              </a:rPr>
              <a:t>JoinColumn</a:t>
            </a:r>
            <a:r>
              <a:rPr lang="ko-KR" altLang="en-US" sz="1600" dirty="0" smtClean="0">
                <a:solidFill>
                  <a:schemeClr val="tx1"/>
                </a:solidFill>
              </a:rPr>
              <a:t>은 </a:t>
            </a:r>
            <a:r>
              <a:rPr lang="en-US" altLang="ko-KR" sz="1600" dirty="0" smtClean="0">
                <a:solidFill>
                  <a:schemeClr val="tx1"/>
                </a:solidFill>
              </a:rPr>
              <a:t>name </a:t>
            </a:r>
            <a:r>
              <a:rPr lang="ko-KR" altLang="en-US" sz="1600" dirty="0" smtClean="0">
                <a:solidFill>
                  <a:schemeClr val="tx1"/>
                </a:solidFill>
              </a:rPr>
              <a:t>속성을 통해 </a:t>
            </a:r>
            <a:r>
              <a:rPr lang="ko-KR" altLang="en-US" sz="1600" dirty="0" err="1" smtClean="0">
                <a:solidFill>
                  <a:schemeClr val="tx1"/>
                </a:solidFill>
              </a:rPr>
              <a:t>외래키</a:t>
            </a:r>
            <a:r>
              <a:rPr lang="ko-KR" altLang="en-US" sz="1600" dirty="0" smtClean="0">
                <a:solidFill>
                  <a:schemeClr val="tx1"/>
                </a:solidFill>
              </a:rPr>
              <a:t> 칼럼을 매핑함</a:t>
            </a:r>
            <a:endParaRPr lang="en-US" altLang="ko-KR" sz="1600" dirty="0" smtClean="0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tx1"/>
                </a:solidFill>
              </a:rPr>
              <a:t>fetch </a:t>
            </a:r>
            <a:r>
              <a:rPr lang="ko-KR" altLang="en-US" sz="1600" dirty="0" err="1">
                <a:solidFill>
                  <a:schemeClr val="tx1"/>
                </a:solidFill>
              </a:rPr>
              <a:t>전략중</a:t>
            </a:r>
            <a:r>
              <a:rPr lang="ko-KR" altLang="en-US" sz="1600" dirty="0">
                <a:solidFill>
                  <a:schemeClr val="tx1"/>
                </a:solidFill>
              </a:rPr>
              <a:t> </a:t>
            </a:r>
            <a:r>
              <a:rPr lang="en-US" altLang="ko-KR" sz="1600" dirty="0">
                <a:solidFill>
                  <a:schemeClr val="tx1"/>
                </a:solidFill>
              </a:rPr>
              <a:t>EAGER(</a:t>
            </a:r>
            <a:r>
              <a:rPr lang="ko-KR" altLang="en-US" sz="1600" dirty="0" err="1">
                <a:solidFill>
                  <a:schemeClr val="tx1"/>
                </a:solidFill>
              </a:rPr>
              <a:t>즉시로딩</a:t>
            </a:r>
            <a:r>
              <a:rPr lang="en-US" altLang="ko-KR" sz="1600" dirty="0">
                <a:solidFill>
                  <a:schemeClr val="tx1"/>
                </a:solidFill>
              </a:rPr>
              <a:t>)</a:t>
            </a:r>
            <a:r>
              <a:rPr lang="ko-KR" altLang="en-US" sz="1600" dirty="0">
                <a:solidFill>
                  <a:schemeClr val="tx1"/>
                </a:solidFill>
              </a:rPr>
              <a:t>는 회원 정보를 조회할 때 게시판 정보도 같이 조회할 때 사용하고</a:t>
            </a:r>
            <a:r>
              <a:rPr lang="en-US" altLang="ko-KR" sz="1600" dirty="0">
                <a:solidFill>
                  <a:schemeClr val="tx1"/>
                </a:solidFill>
              </a:rPr>
              <a:t>,</a:t>
            </a:r>
            <a:r>
              <a:rPr lang="ko-KR" altLang="en-US" sz="1600" dirty="0">
                <a:solidFill>
                  <a:schemeClr val="tx1"/>
                </a:solidFill>
              </a:rPr>
              <a:t> </a:t>
            </a:r>
            <a:r>
              <a:rPr lang="en-US" altLang="ko-KR" sz="1600" dirty="0">
                <a:solidFill>
                  <a:schemeClr val="tx1"/>
                </a:solidFill>
              </a:rPr>
              <a:t>LAZY(</a:t>
            </a:r>
            <a:r>
              <a:rPr lang="ko-KR" altLang="en-US" sz="1600" dirty="0" err="1">
                <a:solidFill>
                  <a:schemeClr val="tx1"/>
                </a:solidFill>
              </a:rPr>
              <a:t>지연로딩</a:t>
            </a:r>
            <a:r>
              <a:rPr lang="en-US" altLang="ko-KR" sz="1600" dirty="0">
                <a:solidFill>
                  <a:schemeClr val="tx1"/>
                </a:solidFill>
              </a:rPr>
              <a:t>)</a:t>
            </a:r>
            <a:r>
              <a:rPr lang="ko-KR" altLang="en-US" sz="1600" dirty="0">
                <a:solidFill>
                  <a:schemeClr val="tx1"/>
                </a:solidFill>
              </a:rPr>
              <a:t>은 즉시 로딩하지 않고 필요할 때만 조회한다</a:t>
            </a:r>
            <a:r>
              <a:rPr lang="en-US" altLang="ko-KR" sz="1600" dirty="0" smtClean="0">
                <a:solidFill>
                  <a:schemeClr val="tx1"/>
                </a:solidFill>
              </a:rPr>
              <a:t>.(LAZY </a:t>
            </a:r>
            <a:r>
              <a:rPr lang="ko-KR" altLang="en-US" sz="1600" dirty="0" smtClean="0">
                <a:solidFill>
                  <a:schemeClr val="tx1"/>
                </a:solidFill>
              </a:rPr>
              <a:t>권장</a:t>
            </a:r>
            <a:r>
              <a:rPr lang="en-US" altLang="ko-KR" sz="1600" dirty="0" smtClean="0">
                <a:solidFill>
                  <a:schemeClr val="tx1"/>
                </a:solidFill>
              </a:rPr>
              <a:t>)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1021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/>
              <a:t>연관 </a:t>
            </a:r>
            <a:r>
              <a:rPr lang="ko-KR" altLang="en-US" b="1" dirty="0"/>
              <a:t>관계 </a:t>
            </a:r>
            <a:r>
              <a:rPr lang="ko-KR" altLang="en-US" b="1" dirty="0" err="1"/>
              <a:t>매핑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052736"/>
            <a:ext cx="3960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ko-KR" sz="2000" b="1" dirty="0" smtClean="0"/>
              <a:t>Board </a:t>
            </a:r>
            <a:r>
              <a:rPr lang="ko-KR" altLang="en-US" sz="2000" b="1" dirty="0" smtClean="0"/>
              <a:t>테이블</a:t>
            </a:r>
            <a:endParaRPr lang="ko-KR" altLang="en-US" sz="2000" b="1" dirty="0"/>
          </a:p>
        </p:txBody>
      </p:sp>
      <p:sp>
        <p:nvSpPr>
          <p:cNvPr id="3" name="직사각형 2"/>
          <p:cNvSpPr/>
          <p:nvPr/>
        </p:nvSpPr>
        <p:spPr>
          <a:xfrm>
            <a:off x="1280592" y="1677998"/>
            <a:ext cx="6480720" cy="286232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ko-KR" altLang="en-US" dirty="0" err="1"/>
              <a:t>create</a:t>
            </a:r>
            <a:r>
              <a:rPr lang="ko-KR" altLang="en-US" dirty="0"/>
              <a:t> </a:t>
            </a:r>
            <a:r>
              <a:rPr lang="ko-KR" altLang="en-US" dirty="0" err="1"/>
              <a:t>table</a:t>
            </a:r>
            <a:r>
              <a:rPr lang="ko-KR" altLang="en-US" dirty="0"/>
              <a:t> </a:t>
            </a:r>
            <a:r>
              <a:rPr lang="ko-KR" altLang="en-US" dirty="0" err="1"/>
              <a:t>board</a:t>
            </a:r>
            <a:r>
              <a:rPr lang="ko-KR" altLang="en-US" dirty="0"/>
              <a:t> (</a:t>
            </a:r>
          </a:p>
          <a:p>
            <a:r>
              <a:rPr lang="ko-KR" altLang="en-US" dirty="0"/>
              <a:t>    </a:t>
            </a:r>
            <a:r>
              <a:rPr lang="ko-KR" altLang="en-US" dirty="0" err="1"/>
              <a:t>id</a:t>
            </a:r>
            <a:r>
              <a:rPr lang="ko-KR" altLang="en-US" dirty="0"/>
              <a:t> </a:t>
            </a:r>
            <a:r>
              <a:rPr lang="ko-KR" altLang="en-US" dirty="0" err="1"/>
              <a:t>int</a:t>
            </a:r>
            <a:r>
              <a:rPr lang="ko-KR" altLang="en-US" dirty="0"/>
              <a:t> </a:t>
            </a:r>
            <a:r>
              <a:rPr lang="ko-KR" altLang="en-US" dirty="0" err="1"/>
              <a:t>not</a:t>
            </a:r>
            <a:r>
              <a:rPr lang="ko-KR" altLang="en-US" dirty="0"/>
              <a:t> </a:t>
            </a:r>
            <a:r>
              <a:rPr lang="ko-KR" altLang="en-US" dirty="0" err="1"/>
              <a:t>null</a:t>
            </a:r>
            <a:r>
              <a:rPr lang="ko-KR" altLang="en-US" dirty="0"/>
              <a:t> </a:t>
            </a:r>
            <a:r>
              <a:rPr lang="ko-KR" altLang="en-US" dirty="0" err="1"/>
              <a:t>auto_increment</a:t>
            </a:r>
            <a:r>
              <a:rPr lang="ko-KR" altLang="en-US" dirty="0"/>
              <a:t>,</a:t>
            </a:r>
          </a:p>
          <a:p>
            <a:r>
              <a:rPr lang="ko-KR" altLang="en-US" dirty="0"/>
              <a:t>    </a:t>
            </a:r>
            <a:r>
              <a:rPr lang="ko-KR" altLang="en-US" dirty="0" err="1"/>
              <a:t>title</a:t>
            </a:r>
            <a:r>
              <a:rPr lang="ko-KR" altLang="en-US" dirty="0"/>
              <a:t> </a:t>
            </a:r>
            <a:r>
              <a:rPr lang="ko-KR" altLang="en-US" dirty="0" err="1"/>
              <a:t>varchar</a:t>
            </a:r>
            <a:r>
              <a:rPr lang="ko-KR" altLang="en-US" dirty="0"/>
              <a:t>(255) </a:t>
            </a:r>
            <a:r>
              <a:rPr lang="ko-KR" altLang="en-US" dirty="0" err="1"/>
              <a:t>not</a:t>
            </a:r>
            <a:r>
              <a:rPr lang="ko-KR" altLang="en-US" dirty="0"/>
              <a:t> </a:t>
            </a:r>
            <a:r>
              <a:rPr lang="ko-KR" altLang="en-US" dirty="0" err="1"/>
              <a:t>null</a:t>
            </a:r>
            <a:r>
              <a:rPr lang="ko-KR" altLang="en-US" dirty="0"/>
              <a:t>,</a:t>
            </a:r>
          </a:p>
          <a:p>
            <a:r>
              <a:rPr lang="ko-KR" altLang="en-US" dirty="0"/>
              <a:t>    </a:t>
            </a:r>
            <a:r>
              <a:rPr lang="ko-KR" altLang="en-US" dirty="0" err="1"/>
              <a:t>content</a:t>
            </a:r>
            <a:r>
              <a:rPr lang="ko-KR" altLang="en-US" dirty="0"/>
              <a:t> </a:t>
            </a:r>
            <a:r>
              <a:rPr lang="ko-KR" altLang="en-US" dirty="0" err="1"/>
              <a:t>varchar</a:t>
            </a:r>
            <a:r>
              <a:rPr lang="ko-KR" altLang="en-US" dirty="0"/>
              <a:t>(2000) </a:t>
            </a:r>
            <a:r>
              <a:rPr lang="ko-KR" altLang="en-US" dirty="0" err="1"/>
              <a:t>not</a:t>
            </a:r>
            <a:r>
              <a:rPr lang="ko-KR" altLang="en-US" dirty="0"/>
              <a:t> </a:t>
            </a:r>
            <a:r>
              <a:rPr lang="ko-KR" altLang="en-US" dirty="0" err="1"/>
              <a:t>null</a:t>
            </a:r>
            <a:r>
              <a:rPr lang="ko-KR" altLang="en-US" dirty="0"/>
              <a:t>,</a:t>
            </a:r>
          </a:p>
          <a:p>
            <a:r>
              <a:rPr lang="ko-KR" altLang="en-US" dirty="0"/>
              <a:t>    </a:t>
            </a:r>
            <a:r>
              <a:rPr lang="ko-KR" altLang="en-US" dirty="0" err="1"/>
              <a:t>created_date</a:t>
            </a:r>
            <a:r>
              <a:rPr lang="ko-KR" altLang="en-US" dirty="0"/>
              <a:t> </a:t>
            </a:r>
            <a:r>
              <a:rPr lang="ko-KR" altLang="en-US" dirty="0" err="1"/>
              <a:t>datetime</a:t>
            </a:r>
            <a:r>
              <a:rPr lang="ko-KR" altLang="en-US" dirty="0"/>
              <a:t>(6),</a:t>
            </a:r>
          </a:p>
          <a:p>
            <a:r>
              <a:rPr lang="ko-KR" altLang="en-US" dirty="0"/>
              <a:t>    </a:t>
            </a:r>
            <a:r>
              <a:rPr lang="ko-KR" altLang="en-US" dirty="0" err="1"/>
              <a:t>member_id</a:t>
            </a:r>
            <a:r>
              <a:rPr lang="ko-KR" altLang="en-US" dirty="0"/>
              <a:t> </a:t>
            </a:r>
            <a:r>
              <a:rPr lang="ko-KR" altLang="en-US" dirty="0" err="1"/>
              <a:t>int</a:t>
            </a:r>
            <a:r>
              <a:rPr lang="ko-KR" altLang="en-US" dirty="0"/>
              <a:t>,</a:t>
            </a:r>
          </a:p>
          <a:p>
            <a:r>
              <a:rPr lang="ko-KR" altLang="en-US" dirty="0"/>
              <a:t>    </a:t>
            </a:r>
            <a:r>
              <a:rPr lang="ko-KR" altLang="en-US" dirty="0" err="1"/>
              <a:t>primary</a:t>
            </a:r>
            <a:r>
              <a:rPr lang="ko-KR" altLang="en-US" dirty="0"/>
              <a:t> </a:t>
            </a:r>
            <a:r>
              <a:rPr lang="ko-KR" altLang="en-US" dirty="0" err="1"/>
              <a:t>key</a:t>
            </a:r>
            <a:r>
              <a:rPr lang="ko-KR" altLang="en-US" dirty="0"/>
              <a:t> (</a:t>
            </a:r>
            <a:r>
              <a:rPr lang="ko-KR" altLang="en-US" dirty="0" err="1"/>
              <a:t>id</a:t>
            </a:r>
            <a:r>
              <a:rPr lang="ko-KR" altLang="en-US" dirty="0"/>
              <a:t>),</a:t>
            </a:r>
          </a:p>
          <a:p>
            <a:r>
              <a:rPr lang="ko-KR" altLang="en-US" dirty="0"/>
              <a:t>    </a:t>
            </a:r>
            <a:r>
              <a:rPr lang="ko-KR" altLang="en-US" dirty="0" err="1"/>
              <a:t>constraint</a:t>
            </a:r>
            <a:r>
              <a:rPr lang="ko-KR" altLang="en-US" dirty="0"/>
              <a:t> </a:t>
            </a:r>
            <a:r>
              <a:rPr lang="ko-KR" altLang="en-US" dirty="0" err="1"/>
              <a:t>fk_board_member</a:t>
            </a:r>
            <a:r>
              <a:rPr lang="ko-KR" altLang="en-US" dirty="0"/>
              <a:t> </a:t>
            </a:r>
            <a:r>
              <a:rPr lang="ko-KR" altLang="en-US" dirty="0" err="1"/>
              <a:t>foreign</a:t>
            </a:r>
            <a:r>
              <a:rPr lang="ko-KR" altLang="en-US" dirty="0"/>
              <a:t> </a:t>
            </a:r>
            <a:r>
              <a:rPr lang="ko-KR" altLang="en-US" dirty="0" err="1"/>
              <a:t>key</a:t>
            </a:r>
            <a:r>
              <a:rPr lang="ko-KR" altLang="en-US" dirty="0"/>
              <a:t> (</a:t>
            </a:r>
            <a:r>
              <a:rPr lang="ko-KR" altLang="en-US" dirty="0" err="1"/>
              <a:t>member_id</a:t>
            </a:r>
            <a:r>
              <a:rPr lang="ko-KR" altLang="en-US" dirty="0"/>
              <a:t>) </a:t>
            </a:r>
            <a:endParaRPr lang="en-US" altLang="ko-KR" dirty="0" smtClean="0"/>
          </a:p>
          <a:p>
            <a:r>
              <a:rPr lang="en-US" altLang="ko-KR" dirty="0"/>
              <a:t> </a:t>
            </a:r>
            <a:r>
              <a:rPr lang="en-US" altLang="ko-KR" dirty="0" smtClean="0"/>
              <a:t>   </a:t>
            </a:r>
            <a:r>
              <a:rPr lang="ko-KR" altLang="en-US" dirty="0" err="1" smtClean="0"/>
              <a:t>references</a:t>
            </a:r>
            <a:r>
              <a:rPr lang="ko-KR" altLang="en-US" dirty="0" smtClean="0"/>
              <a:t> </a:t>
            </a:r>
            <a:r>
              <a:rPr lang="ko-KR" altLang="en-US" dirty="0" err="1"/>
              <a:t>member</a:t>
            </a:r>
            <a:r>
              <a:rPr lang="ko-KR" altLang="en-US" dirty="0"/>
              <a:t> (</a:t>
            </a:r>
            <a:r>
              <a:rPr lang="ko-KR" altLang="en-US" dirty="0" err="1"/>
              <a:t>id</a:t>
            </a:r>
            <a:r>
              <a:rPr lang="ko-KR" altLang="en-US" dirty="0"/>
              <a:t>)</a:t>
            </a:r>
          </a:p>
          <a:p>
            <a:r>
              <a:rPr lang="ko-KR" altLang="en-US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426851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/>
              <a:t>연관 </a:t>
            </a:r>
            <a:r>
              <a:rPr lang="ko-KR" altLang="en-US" b="1" dirty="0"/>
              <a:t>관계 </a:t>
            </a:r>
            <a:r>
              <a:rPr lang="ko-KR" altLang="en-US" b="1" dirty="0" err="1"/>
              <a:t>매핑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8624" y="1556792"/>
            <a:ext cx="5070905" cy="422575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848544" y="1052736"/>
            <a:ext cx="3960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ko-KR" altLang="en-US" sz="2000" b="1" dirty="0" smtClean="0"/>
              <a:t>연관 관계 매핑 테스트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871326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/>
              <a:t>연관 </a:t>
            </a:r>
            <a:r>
              <a:rPr lang="ko-KR" altLang="en-US" b="1" dirty="0"/>
              <a:t>관계 </a:t>
            </a:r>
            <a:r>
              <a:rPr lang="ko-KR" altLang="en-US" b="1" dirty="0" err="1"/>
              <a:t>매핑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8624" y="1196752"/>
            <a:ext cx="5586626" cy="496953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545164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/>
              <a:t>연관 </a:t>
            </a:r>
            <a:r>
              <a:rPr lang="ko-KR" altLang="en-US" b="1" dirty="0"/>
              <a:t>관계 </a:t>
            </a:r>
            <a:r>
              <a:rPr lang="ko-KR" altLang="en-US" b="1" dirty="0" err="1"/>
              <a:t>매핑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48544" y="1052736"/>
            <a:ext cx="3960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ko-KR" sz="2000" b="1" dirty="0" smtClean="0"/>
              <a:t>MySQL DB</a:t>
            </a:r>
            <a:endParaRPr lang="ko-KR" altLang="en-US" sz="2000" b="1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360" y="2708920"/>
            <a:ext cx="6840760" cy="136277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3"/>
          <a:srcRect b="36306"/>
          <a:stretch/>
        </p:blipFill>
        <p:spPr>
          <a:xfrm>
            <a:off x="1257360" y="1688302"/>
            <a:ext cx="4180501" cy="66057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612025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/>
              <a:t>연관 </a:t>
            </a:r>
            <a:r>
              <a:rPr lang="ko-KR" altLang="en-US" b="1" dirty="0"/>
              <a:t>관계 </a:t>
            </a:r>
            <a:r>
              <a:rPr lang="ko-KR" altLang="en-US" b="1" dirty="0" err="1"/>
              <a:t>매핑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48544" y="1052736"/>
            <a:ext cx="44246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ko-KR" altLang="en-US" sz="2000" b="1" dirty="0" smtClean="0"/>
              <a:t>다대일</a:t>
            </a:r>
            <a:r>
              <a:rPr lang="en-US" altLang="ko-KR" sz="2000" b="1" dirty="0" smtClean="0"/>
              <a:t>(N:1)</a:t>
            </a:r>
            <a:r>
              <a:rPr lang="ko-KR" altLang="en-US" sz="2000" b="1" dirty="0" smtClean="0"/>
              <a:t> 연관관계 테스트 하기</a:t>
            </a:r>
            <a:endParaRPr lang="ko-KR" altLang="en-US" sz="2000" b="1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592" y="1556792"/>
            <a:ext cx="7344816" cy="412778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/>
          <a:srcRect b="20931"/>
          <a:stretch/>
        </p:blipFill>
        <p:spPr>
          <a:xfrm>
            <a:off x="5457056" y="5293471"/>
            <a:ext cx="3645965" cy="99010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80077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/>
              <a:t>연관 </a:t>
            </a:r>
            <a:r>
              <a:rPr lang="ko-KR" altLang="en-US" b="1" dirty="0"/>
              <a:t>관계 </a:t>
            </a:r>
            <a:r>
              <a:rPr lang="ko-KR" altLang="en-US" b="1" dirty="0" err="1"/>
              <a:t>매핑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064568" y="1084674"/>
            <a:ext cx="29610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ko-KR" altLang="en-US" sz="2000" b="1" dirty="0" smtClean="0"/>
              <a:t>양방향 </a:t>
            </a:r>
            <a:r>
              <a:rPr lang="ko-KR" altLang="en-US" sz="2000" b="1" dirty="0" err="1" smtClean="0"/>
              <a:t>매핑</a:t>
            </a:r>
            <a:r>
              <a:rPr lang="ko-KR" altLang="en-US" sz="2000" b="1" dirty="0" smtClean="0"/>
              <a:t> 설정하기</a:t>
            </a:r>
            <a:endParaRPr lang="ko-KR" altLang="en-US" sz="2000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1496616" y="3861048"/>
            <a:ext cx="763284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smtClean="0"/>
              <a:t>지금까지 게시판에서 회원으로만 접근하는 다대일 </a:t>
            </a:r>
            <a:r>
              <a:rPr lang="ko-KR" altLang="en-US" sz="1600" dirty="0" err="1" smtClean="0"/>
              <a:t>단방향</a:t>
            </a:r>
            <a:r>
              <a:rPr lang="ko-KR" altLang="en-US" sz="1600" dirty="0" smtClean="0"/>
              <a:t> 매핑을 테스트 했다</a:t>
            </a:r>
            <a:r>
              <a:rPr lang="en-US" altLang="ko-KR" sz="1600" dirty="0" smtClean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smtClean="0"/>
              <a:t>이번에는 반대 방향인 회원에서 게시판 정보를 접근할 수 있도록 관계를 추가하여 양방향 연관관계 매핑을 테스트 해본다</a:t>
            </a:r>
            <a:r>
              <a:rPr lang="en-US" altLang="ko-KR" sz="1600" dirty="0" smtClean="0"/>
              <a:t>.</a:t>
            </a:r>
            <a:endParaRPr lang="en-US" altLang="ko-KR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smtClean="0"/>
              <a:t>회원은 게시판과 일대다 관계이다</a:t>
            </a:r>
            <a:r>
              <a:rPr lang="en-US" altLang="ko-KR" sz="1600" dirty="0" smtClean="0"/>
              <a:t>. </a:t>
            </a:r>
            <a:r>
              <a:rPr lang="ko-KR" altLang="en-US" sz="1600" dirty="0" smtClean="0"/>
              <a:t>일대다 관계는 하나의 객체가 여러 객체와 연관 관계를 맺을 수 있으므로 당연히</a:t>
            </a:r>
            <a:r>
              <a:rPr lang="en-US" altLang="ko-KR" sz="1600" dirty="0"/>
              <a:t> </a:t>
            </a:r>
            <a:r>
              <a:rPr lang="en-US" altLang="ko-KR" sz="1600" b="1" dirty="0" smtClean="0"/>
              <a:t>List </a:t>
            </a:r>
            <a:r>
              <a:rPr lang="ko-KR" altLang="en-US" sz="1600" b="1" dirty="0" smtClean="0"/>
              <a:t>같은 컬렉션</a:t>
            </a:r>
            <a:r>
              <a:rPr lang="ko-KR" altLang="en-US" sz="1600" dirty="0" smtClean="0"/>
              <a:t>을 사용해야 한다</a:t>
            </a:r>
            <a:r>
              <a:rPr lang="en-US" altLang="ko-KR" sz="1600" dirty="0" smtClean="0"/>
              <a:t>.</a:t>
            </a:r>
            <a:r>
              <a:rPr lang="ko-KR" altLang="en-US" sz="1600" dirty="0" smtClean="0"/>
              <a:t> </a:t>
            </a:r>
            <a:endParaRPr lang="ko-KR" altLang="en-US" sz="1600" dirty="0"/>
          </a:p>
        </p:txBody>
      </p:sp>
      <p:sp>
        <p:nvSpPr>
          <p:cNvPr id="20" name="직사각형 19"/>
          <p:cNvSpPr/>
          <p:nvPr/>
        </p:nvSpPr>
        <p:spPr>
          <a:xfrm>
            <a:off x="1514015" y="1700014"/>
            <a:ext cx="2314311" cy="1931442"/>
          </a:xfrm>
          <a:prstGeom prst="rect">
            <a:avLst/>
          </a:prstGeom>
          <a:ln w="1905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600" dirty="0" smtClean="0">
                <a:latin typeface="+mn-ea"/>
              </a:rPr>
              <a:t>  </a:t>
            </a:r>
          </a:p>
          <a:p>
            <a:pPr algn="ctr">
              <a:lnSpc>
                <a:spcPct val="150000"/>
              </a:lnSpc>
            </a:pPr>
            <a:endParaRPr lang="en-US" altLang="ko-KR" sz="1600" dirty="0">
              <a:latin typeface="+mn-ea"/>
            </a:endParaRPr>
          </a:p>
        </p:txBody>
      </p:sp>
      <p:cxnSp>
        <p:nvCxnSpPr>
          <p:cNvPr id="21" name="직선 연결선 20"/>
          <p:cNvCxnSpPr/>
          <p:nvPr/>
        </p:nvCxnSpPr>
        <p:spPr>
          <a:xfrm>
            <a:off x="1496616" y="2204070"/>
            <a:ext cx="23317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802047" y="1764578"/>
            <a:ext cx="1398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smtClean="0"/>
              <a:t>Board</a:t>
            </a:r>
            <a:endParaRPr lang="ko-KR" altLang="en-US" sz="1600" dirty="0"/>
          </a:p>
        </p:txBody>
      </p:sp>
      <p:sp>
        <p:nvSpPr>
          <p:cNvPr id="23" name="직사각형 22"/>
          <p:cNvSpPr/>
          <p:nvPr/>
        </p:nvSpPr>
        <p:spPr>
          <a:xfrm>
            <a:off x="5783497" y="1700014"/>
            <a:ext cx="2314311" cy="1931442"/>
          </a:xfrm>
          <a:prstGeom prst="rect">
            <a:avLst/>
          </a:prstGeom>
          <a:ln w="1905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600" dirty="0" smtClean="0">
                <a:latin typeface="+mn-ea"/>
              </a:rPr>
              <a:t>  </a:t>
            </a:r>
          </a:p>
          <a:p>
            <a:pPr algn="ctr">
              <a:lnSpc>
                <a:spcPct val="150000"/>
              </a:lnSpc>
            </a:pPr>
            <a:endParaRPr lang="en-US" altLang="ko-KR" sz="1600" dirty="0">
              <a:latin typeface="+mn-ea"/>
            </a:endParaRPr>
          </a:p>
        </p:txBody>
      </p:sp>
      <p:cxnSp>
        <p:nvCxnSpPr>
          <p:cNvPr id="24" name="직선 연결선 23"/>
          <p:cNvCxnSpPr/>
          <p:nvPr/>
        </p:nvCxnSpPr>
        <p:spPr>
          <a:xfrm>
            <a:off x="5766098" y="2204070"/>
            <a:ext cx="23317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071529" y="1764578"/>
            <a:ext cx="1398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smtClean="0"/>
              <a:t>Member</a:t>
            </a:r>
            <a:endParaRPr lang="ko-KR" altLang="en-US" sz="1600" dirty="0"/>
          </a:p>
        </p:txBody>
      </p:sp>
      <p:sp>
        <p:nvSpPr>
          <p:cNvPr id="26" name="TextBox 25"/>
          <p:cNvSpPr txBox="1"/>
          <p:nvPr/>
        </p:nvSpPr>
        <p:spPr>
          <a:xfrm>
            <a:off x="6142366" y="2167696"/>
            <a:ext cx="181833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i</a:t>
            </a:r>
            <a:r>
              <a:rPr lang="en-US" altLang="ko-KR" dirty="0" smtClean="0"/>
              <a:t>d</a:t>
            </a:r>
          </a:p>
          <a:p>
            <a:r>
              <a:rPr lang="en-US" altLang="ko-KR" dirty="0" err="1" smtClean="0"/>
              <a:t>memberId</a:t>
            </a:r>
            <a:endParaRPr lang="en-US" altLang="ko-KR" dirty="0" smtClean="0"/>
          </a:p>
          <a:p>
            <a:r>
              <a:rPr lang="en-US" altLang="ko-KR" dirty="0" smtClean="0"/>
              <a:t>password</a:t>
            </a:r>
          </a:p>
          <a:p>
            <a:r>
              <a:rPr lang="en-US" altLang="ko-KR" dirty="0"/>
              <a:t>n</a:t>
            </a:r>
            <a:r>
              <a:rPr lang="en-US" altLang="ko-KR" dirty="0" smtClean="0"/>
              <a:t>ame</a:t>
            </a:r>
          </a:p>
          <a:p>
            <a:r>
              <a:rPr lang="en-US" altLang="ko-KR" dirty="0" smtClean="0"/>
              <a:t>role</a:t>
            </a:r>
            <a:endParaRPr lang="ko-KR" altLang="en-US" dirty="0"/>
          </a:p>
        </p:txBody>
      </p:sp>
      <p:cxnSp>
        <p:nvCxnSpPr>
          <p:cNvPr id="27" name="직선 화살표 연결선 26"/>
          <p:cNvCxnSpPr/>
          <p:nvPr/>
        </p:nvCxnSpPr>
        <p:spPr>
          <a:xfrm>
            <a:off x="3828326" y="1933855"/>
            <a:ext cx="1955171" cy="0"/>
          </a:xfrm>
          <a:prstGeom prst="straightConnector1">
            <a:avLst/>
          </a:prstGeom>
          <a:ln w="1905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010802" y="2196802"/>
            <a:ext cx="1590217" cy="374571"/>
          </a:xfrm>
          <a:prstGeom prst="roundRect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ko-KR" altLang="en-US" sz="1600" smtClean="0"/>
              <a:t>객</a:t>
            </a:r>
            <a:r>
              <a:rPr lang="ko-KR" altLang="en-US" sz="1600"/>
              <a:t>체</a:t>
            </a:r>
            <a:r>
              <a:rPr lang="ko-KR" altLang="en-US" sz="1600" smtClean="0"/>
              <a:t> </a:t>
            </a:r>
            <a:r>
              <a:rPr lang="ko-KR" altLang="en-US" sz="1600" dirty="0" smtClean="0"/>
              <a:t>연관 관계</a:t>
            </a:r>
            <a:endParaRPr lang="ko-KR" altLang="en-US" sz="1600" dirty="0"/>
          </a:p>
        </p:txBody>
      </p:sp>
      <p:sp>
        <p:nvSpPr>
          <p:cNvPr id="29" name="TextBox 28"/>
          <p:cNvSpPr txBox="1"/>
          <p:nvPr/>
        </p:nvSpPr>
        <p:spPr>
          <a:xfrm>
            <a:off x="1574522" y="2204070"/>
            <a:ext cx="2226350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i</a:t>
            </a:r>
            <a:r>
              <a:rPr lang="en-US" altLang="ko-KR" sz="1600" dirty="0" smtClean="0"/>
              <a:t>d</a:t>
            </a:r>
          </a:p>
          <a:p>
            <a:r>
              <a:rPr lang="en-US" altLang="ko-KR" sz="1600" dirty="0" smtClean="0"/>
              <a:t>Title</a:t>
            </a:r>
          </a:p>
          <a:p>
            <a:r>
              <a:rPr lang="en-US" altLang="ko-KR" sz="1600" dirty="0" smtClean="0"/>
              <a:t>content</a:t>
            </a:r>
          </a:p>
          <a:p>
            <a:r>
              <a:rPr lang="en-US" altLang="ko-KR" sz="1600" dirty="0" smtClean="0"/>
              <a:t>Member </a:t>
            </a:r>
            <a:r>
              <a:rPr lang="en-US" altLang="ko-KR" sz="1600" dirty="0" err="1" smtClean="0"/>
              <a:t>member</a:t>
            </a:r>
            <a:endParaRPr lang="en-US" altLang="ko-KR" sz="1600" dirty="0" smtClean="0"/>
          </a:p>
          <a:p>
            <a:r>
              <a:rPr lang="en-US" altLang="ko-KR" sz="1600" dirty="0" smtClean="0"/>
              <a:t>title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653973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/>
              <a:t>연관 </a:t>
            </a:r>
            <a:r>
              <a:rPr lang="ko-KR" altLang="en-US" b="1" dirty="0"/>
              <a:t>관계 </a:t>
            </a:r>
            <a:r>
              <a:rPr lang="ko-KR" altLang="en-US" b="1" dirty="0" err="1"/>
              <a:t>매핑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064568" y="1074222"/>
            <a:ext cx="51587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ko-KR" altLang="en-US" sz="2000" b="1" dirty="0" smtClean="0"/>
              <a:t>양방향 매핑 설정하기 </a:t>
            </a:r>
            <a:r>
              <a:rPr lang="en-US" altLang="ko-KR" sz="2000" b="1" dirty="0" smtClean="0"/>
              <a:t>– Member </a:t>
            </a:r>
            <a:r>
              <a:rPr lang="ko-KR" altLang="en-US" sz="2000" b="1" dirty="0" err="1" smtClean="0"/>
              <a:t>엔티티</a:t>
            </a:r>
            <a:endParaRPr lang="ko-KR" altLang="en-US" sz="2000" b="1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616" y="1556792"/>
            <a:ext cx="6023730" cy="488992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093250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/>
              <a:t>연관 </a:t>
            </a:r>
            <a:r>
              <a:rPr lang="ko-KR" altLang="en-US" b="1" dirty="0"/>
              <a:t>관계 </a:t>
            </a:r>
            <a:r>
              <a:rPr lang="ko-KR" altLang="en-US" b="1" dirty="0" err="1"/>
              <a:t>매핑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064568" y="1074222"/>
            <a:ext cx="48499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ko-KR" altLang="en-US" sz="2000" b="1" dirty="0" smtClean="0"/>
              <a:t>양방향 매핑 설정하기 </a:t>
            </a:r>
            <a:r>
              <a:rPr lang="en-US" altLang="ko-KR" sz="2000" b="1" dirty="0" smtClean="0"/>
              <a:t>– Board </a:t>
            </a:r>
            <a:r>
              <a:rPr lang="ko-KR" altLang="en-US" sz="2000" b="1" dirty="0" err="1" smtClean="0"/>
              <a:t>엔티티</a:t>
            </a:r>
            <a:endParaRPr lang="ko-KR" altLang="en-US" sz="2000" b="1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616" y="1556791"/>
            <a:ext cx="5688632" cy="481242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566316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/>
              <a:t>연관 </a:t>
            </a:r>
            <a:r>
              <a:rPr lang="ko-KR" altLang="en-US" b="1" dirty="0"/>
              <a:t>관계 </a:t>
            </a:r>
            <a:r>
              <a:rPr lang="ko-KR" altLang="en-US" b="1" dirty="0" err="1"/>
              <a:t>매핑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064568" y="1074222"/>
            <a:ext cx="29610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ko-KR" altLang="en-US" sz="2000" b="1" dirty="0" smtClean="0"/>
              <a:t>양방향 </a:t>
            </a:r>
            <a:r>
              <a:rPr lang="ko-KR" altLang="en-US" sz="2000" b="1" dirty="0" err="1" smtClean="0"/>
              <a:t>매핑</a:t>
            </a:r>
            <a:r>
              <a:rPr lang="ko-KR" altLang="en-US" sz="2000" b="1" dirty="0" smtClean="0"/>
              <a:t> 설정하기</a:t>
            </a:r>
            <a:endParaRPr lang="ko-KR" altLang="en-US" sz="2000" b="1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616" y="1687596"/>
            <a:ext cx="4851146" cy="400686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798528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/>
              <a:t>연관 </a:t>
            </a:r>
            <a:r>
              <a:rPr lang="ko-KR" altLang="en-US" b="1" dirty="0"/>
              <a:t>관계 </a:t>
            </a:r>
            <a:r>
              <a:rPr lang="ko-KR" altLang="en-US" b="1" dirty="0" err="1"/>
              <a:t>매핑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064568" y="1074222"/>
            <a:ext cx="29610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ko-KR" altLang="en-US" sz="2000" b="1" dirty="0" smtClean="0"/>
              <a:t>양방향 </a:t>
            </a:r>
            <a:r>
              <a:rPr lang="ko-KR" altLang="en-US" sz="2000" b="1" dirty="0" err="1" smtClean="0"/>
              <a:t>매핑</a:t>
            </a:r>
            <a:r>
              <a:rPr lang="ko-KR" altLang="en-US" sz="2000" b="1" dirty="0" smtClean="0"/>
              <a:t> 설정하기</a:t>
            </a:r>
            <a:endParaRPr lang="ko-KR" altLang="en-US" sz="2000" b="1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608" y="1740889"/>
            <a:ext cx="7575910" cy="187220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387712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/>
              <a:t>연관 </a:t>
            </a:r>
            <a:r>
              <a:rPr lang="ko-KR" altLang="en-US" b="1" dirty="0"/>
              <a:t>관계 </a:t>
            </a:r>
            <a:r>
              <a:rPr lang="ko-KR" altLang="en-US" b="1" dirty="0" err="1"/>
              <a:t>매핑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064568" y="1074222"/>
            <a:ext cx="27045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ko-KR" altLang="en-US" sz="2000" b="1" dirty="0" smtClean="0"/>
              <a:t>양방향 매핑 테스트</a:t>
            </a:r>
            <a:endParaRPr lang="ko-KR" altLang="en-US" sz="2000" b="1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600" y="1628800"/>
            <a:ext cx="7648808" cy="389422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595363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/>
              <a:t>연관 </a:t>
            </a:r>
            <a:r>
              <a:rPr lang="ko-KR" altLang="en-US" b="1" dirty="0"/>
              <a:t>관계 </a:t>
            </a:r>
            <a:r>
              <a:rPr lang="ko-KR" altLang="en-US" b="1" dirty="0" err="1"/>
              <a:t>매핑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064568" y="980728"/>
            <a:ext cx="5904656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 smtClean="0"/>
              <a:t>양방향 매핑 테스트 오류</a:t>
            </a:r>
            <a:r>
              <a:rPr lang="ko-KR" altLang="en-US" b="1" dirty="0" smtClean="0"/>
              <a:t> </a:t>
            </a:r>
            <a:endParaRPr lang="ko-KR" altLang="en-US" sz="2000" b="1" dirty="0"/>
          </a:p>
        </p:txBody>
      </p:sp>
      <p:sp>
        <p:nvSpPr>
          <p:cNvPr id="3" name="직사각형 2"/>
          <p:cNvSpPr/>
          <p:nvPr/>
        </p:nvSpPr>
        <p:spPr>
          <a:xfrm>
            <a:off x="1424608" y="1628800"/>
            <a:ext cx="7992888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 smtClean="0"/>
              <a:t>순환 참조 오류 방지</a:t>
            </a:r>
            <a:endParaRPr lang="ko-KR" altLang="en-US" dirty="0"/>
          </a:p>
          <a:p>
            <a:pPr lvl="1"/>
            <a:endParaRPr lang="ko-KR" altLang="en-US" sz="1600" dirty="0"/>
          </a:p>
        </p:txBody>
      </p:sp>
      <p:sp>
        <p:nvSpPr>
          <p:cNvPr id="2" name="직사각형 1"/>
          <p:cNvSpPr/>
          <p:nvPr/>
        </p:nvSpPr>
        <p:spPr>
          <a:xfrm>
            <a:off x="1712640" y="2244353"/>
            <a:ext cx="604867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@</a:t>
            </a:r>
            <a:r>
              <a:rPr lang="ko-KR" altLang="en-US" dirty="0" err="1"/>
              <a:t>ToString</a:t>
            </a:r>
            <a:r>
              <a:rPr lang="ko-KR" altLang="en-US" dirty="0"/>
              <a:t>(</a:t>
            </a:r>
            <a:r>
              <a:rPr lang="ko-KR" altLang="en-US" dirty="0" err="1"/>
              <a:t>exclude</a:t>
            </a:r>
            <a:r>
              <a:rPr lang="ko-KR" altLang="en-US" dirty="0"/>
              <a:t> = "</a:t>
            </a:r>
            <a:r>
              <a:rPr lang="ko-KR" altLang="en-US" dirty="0" err="1"/>
              <a:t>boards</a:t>
            </a:r>
            <a:r>
              <a:rPr lang="ko-KR" altLang="en-US" dirty="0"/>
              <a:t>") //순환 참조 오류 방지</a:t>
            </a:r>
          </a:p>
          <a:p>
            <a:endParaRPr lang="ko-KR" altLang="en-US" dirty="0"/>
          </a:p>
          <a:p>
            <a:r>
              <a:rPr lang="ko-KR" altLang="en-US" dirty="0"/>
              <a:t>@</a:t>
            </a:r>
            <a:r>
              <a:rPr lang="ko-KR" altLang="en-US" dirty="0" err="1"/>
              <a:t>ToString</a:t>
            </a:r>
            <a:r>
              <a:rPr lang="ko-KR" altLang="en-US" dirty="0"/>
              <a:t>(</a:t>
            </a:r>
            <a:r>
              <a:rPr lang="ko-KR" altLang="en-US" dirty="0" err="1"/>
              <a:t>exclude</a:t>
            </a:r>
            <a:r>
              <a:rPr lang="ko-KR" altLang="en-US" dirty="0"/>
              <a:t> = "</a:t>
            </a:r>
            <a:r>
              <a:rPr lang="ko-KR" altLang="en-US" dirty="0" err="1"/>
              <a:t>member</a:t>
            </a:r>
            <a:r>
              <a:rPr lang="ko-KR" altLang="en-US" dirty="0"/>
              <a:t>") //순환 참조 오류 방지</a:t>
            </a:r>
          </a:p>
        </p:txBody>
      </p:sp>
    </p:spTree>
    <p:extLst>
      <p:ext uri="{BB962C8B-B14F-4D97-AF65-F5344CB8AC3E}">
        <p14:creationId xmlns:p14="http://schemas.microsoft.com/office/powerpoint/2010/main" val="995236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/>
              <a:t>연관 </a:t>
            </a:r>
            <a:r>
              <a:rPr lang="ko-KR" altLang="en-US" b="1" dirty="0"/>
              <a:t>관계 </a:t>
            </a:r>
            <a:r>
              <a:rPr lang="ko-KR" altLang="en-US" b="1" dirty="0" err="1"/>
              <a:t>매핑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064568" y="1124744"/>
            <a:ext cx="33073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ko-KR" altLang="en-US" sz="2000" b="1" dirty="0" smtClean="0"/>
              <a:t>양방향 매핑 테스트 결과</a:t>
            </a:r>
            <a:endParaRPr lang="ko-KR" altLang="en-US" sz="2000" b="1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536" y="1916832"/>
            <a:ext cx="8615452" cy="903493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057673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2700"/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13831</TotalTime>
  <Words>1952</Words>
  <Application>Microsoft Office PowerPoint</Application>
  <PresentationFormat>A4 용지(210x297mm)</PresentationFormat>
  <Paragraphs>335</Paragraphs>
  <Slides>70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70</vt:i4>
      </vt:variant>
    </vt:vector>
  </HeadingPairs>
  <TitlesOfParts>
    <vt:vector size="77" baseType="lpstr">
      <vt:lpstr>HY헤드라인M</vt:lpstr>
      <vt:lpstr>맑은 고딕</vt:lpstr>
      <vt:lpstr>휴먼모음T</vt:lpstr>
      <vt:lpstr>휴먼엑스포</vt:lpstr>
      <vt:lpstr>Arial</vt:lpstr>
      <vt:lpstr>Wingdings</vt:lpstr>
      <vt:lpstr>Office 테마</vt:lpstr>
      <vt:lpstr>3장. Spring Data JPA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LG</cp:lastModifiedBy>
  <cp:revision>893</cp:revision>
  <dcterms:created xsi:type="dcterms:W3CDTF">2019-03-04T02:36:55Z</dcterms:created>
  <dcterms:modified xsi:type="dcterms:W3CDTF">2025-11-05T07:36:12Z</dcterms:modified>
</cp:coreProperties>
</file>