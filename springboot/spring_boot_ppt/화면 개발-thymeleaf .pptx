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7"/>
  </p:notesMasterIdLst>
  <p:sldIdLst>
    <p:sldId id="256" r:id="rId2"/>
    <p:sldId id="412" r:id="rId3"/>
    <p:sldId id="479" r:id="rId4"/>
    <p:sldId id="413" r:id="rId5"/>
    <p:sldId id="422" r:id="rId6"/>
    <p:sldId id="424" r:id="rId7"/>
    <p:sldId id="447" r:id="rId8"/>
    <p:sldId id="448" r:id="rId9"/>
    <p:sldId id="449" r:id="rId10"/>
    <p:sldId id="425" r:id="rId11"/>
    <p:sldId id="426" r:id="rId12"/>
    <p:sldId id="427" r:id="rId13"/>
    <p:sldId id="428" r:id="rId14"/>
    <p:sldId id="453" r:id="rId15"/>
    <p:sldId id="454" r:id="rId16"/>
    <p:sldId id="430" r:id="rId17"/>
    <p:sldId id="450" r:id="rId18"/>
    <p:sldId id="456" r:id="rId19"/>
    <p:sldId id="478" r:id="rId20"/>
    <p:sldId id="476" r:id="rId21"/>
    <p:sldId id="477" r:id="rId22"/>
    <p:sldId id="433" r:id="rId23"/>
    <p:sldId id="434" r:id="rId24"/>
    <p:sldId id="437" r:id="rId25"/>
    <p:sldId id="441" r:id="rId26"/>
    <p:sldId id="439" r:id="rId27"/>
    <p:sldId id="457" r:id="rId28"/>
    <p:sldId id="458" r:id="rId29"/>
    <p:sldId id="459" r:id="rId30"/>
    <p:sldId id="461" r:id="rId31"/>
    <p:sldId id="462" r:id="rId32"/>
    <p:sldId id="460" r:id="rId33"/>
    <p:sldId id="463" r:id="rId34"/>
    <p:sldId id="464" r:id="rId35"/>
    <p:sldId id="465" r:id="rId36"/>
    <p:sldId id="466" r:id="rId37"/>
    <p:sldId id="467" r:id="rId38"/>
    <p:sldId id="468" r:id="rId39"/>
    <p:sldId id="469" r:id="rId40"/>
    <p:sldId id="470" r:id="rId41"/>
    <p:sldId id="471" r:id="rId42"/>
    <p:sldId id="474" r:id="rId43"/>
    <p:sldId id="473" r:id="rId44"/>
    <p:sldId id="475" r:id="rId45"/>
    <p:sldId id="472" r:id="rId46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97" autoAdjust="0"/>
    <p:restoredTop sz="94660"/>
  </p:normalViewPr>
  <p:slideViewPr>
    <p:cSldViewPr>
      <p:cViewPr varScale="1">
        <p:scale>
          <a:sx n="88" d="100"/>
          <a:sy n="88" d="100"/>
        </p:scale>
        <p:origin x="907" y="67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0584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60000"/>
              <a:lumOff val="4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 smtClean="0"/>
              <a:t> 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39555" y="6525344"/>
            <a:ext cx="9945555" cy="332656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906000" cy="83671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  마스터 제목 스타일 편집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41432" y="6525344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28" y="6412104"/>
            <a:ext cx="381583" cy="35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>
              <a:lumMod val="95000"/>
            </a:schemeClr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thymeleaf.org/doc/tutorials/3.1/usingthymeleaf.html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7050783" cy="1226567"/>
          </a:xfrm>
        </p:spPr>
        <p:txBody>
          <a:bodyPr>
            <a:normAutofit/>
          </a:bodyPr>
          <a:lstStyle/>
          <a:p>
            <a:r>
              <a:rPr lang="en-US" altLang="ko-KR" sz="24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2</a:t>
            </a:r>
            <a:r>
              <a:rPr lang="ko-KR" altLang="en-US" sz="24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sz="24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</a:t>
            </a:r>
            <a:r>
              <a:rPr lang="ko-KR" altLang="en-US" sz="24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개발 </a:t>
            </a:r>
            <a:r>
              <a:rPr lang="en-US" altLang="ko-KR" sz="24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- </a:t>
            </a:r>
            <a:r>
              <a:rPr lang="en-US" altLang="ko-KR" sz="2400" b="1" dirty="0" err="1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thymeleaf</a:t>
            </a:r>
            <a:endParaRPr lang="ko-KR" altLang="en-US" sz="2400" b="1" dirty="0">
              <a:solidFill>
                <a:schemeClr val="tx1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1600" i="1" dirty="0" err="1" smtClean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thymeleaf</a:t>
            </a:r>
            <a:endParaRPr lang="ko-KR" altLang="en-US" sz="1600" i="1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t="28912" r="14106" b="28639"/>
          <a:stretch/>
        </p:blipFill>
        <p:spPr>
          <a:xfrm>
            <a:off x="5745088" y="4583970"/>
            <a:ext cx="3528392" cy="104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웹 애플리케이션 화면 개발 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36576" y="1484784"/>
            <a:ext cx="82809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스프링 부트는 템플릿 엔진을 이용한 화면 처리를 지원한다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스프링 부트가 지원하는 템플릿 엔진은 </a:t>
            </a:r>
            <a:r>
              <a:rPr lang="ko-KR" altLang="en-US" sz="1600" dirty="0" err="1" smtClean="0"/>
              <a:t>타임리프</a:t>
            </a:r>
            <a:r>
              <a:rPr lang="en-US" altLang="ko-KR" sz="1600" dirty="0" smtClean="0"/>
              <a:t>(</a:t>
            </a:r>
            <a:r>
              <a:rPr lang="en-US" altLang="ko-KR" sz="1600" dirty="0" err="1" smtClean="0"/>
              <a:t>Thymeleaf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를 비롯하여 </a:t>
            </a:r>
            <a:r>
              <a:rPr lang="en-US" altLang="ko-KR" sz="1600" dirty="0" err="1" smtClean="0"/>
              <a:t>Freemaker</a:t>
            </a:r>
            <a:r>
              <a:rPr lang="en-US" altLang="ko-KR" sz="1600" dirty="0" smtClean="0"/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sz="1600" dirty="0" smtClean="0"/>
              <a:t>Mustache, Groovy Templates</a:t>
            </a:r>
            <a:r>
              <a:rPr lang="ko-KR" altLang="en-US" sz="1600" dirty="0" smtClean="0"/>
              <a:t>이 있다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템플릿 엔진을 이용하면 데이터와 거의 완벽하게 분리된 화면을 개발 할 수 있기 때문에 순수하게 </a:t>
            </a:r>
            <a:r>
              <a:rPr lang="en-US" altLang="ko-KR" sz="1600" dirty="0" smtClean="0"/>
              <a:t>HTML </a:t>
            </a:r>
            <a:r>
              <a:rPr lang="ko-KR" altLang="en-US" sz="1600" dirty="0" smtClean="0"/>
              <a:t>파일 만을 이용한 화면 개발이 가능하고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운영 과정에서 쉽게 화면을 변경할 수도 있다</a:t>
            </a:r>
            <a:r>
              <a:rPr lang="en-US" altLang="ko-KR" sz="1600" dirty="0" smtClean="0"/>
              <a:t>.</a:t>
            </a:r>
            <a:endParaRPr lang="en-US" altLang="ko-KR" sz="1600" dirty="0" smtClean="0"/>
          </a:p>
        </p:txBody>
      </p:sp>
      <p:sp>
        <p:nvSpPr>
          <p:cNvPr id="2" name="직사각형 1"/>
          <p:cNvSpPr/>
          <p:nvPr/>
        </p:nvSpPr>
        <p:spPr>
          <a:xfrm>
            <a:off x="1208584" y="3933056"/>
            <a:ext cx="7776864" cy="1891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/>
              <a:t>Thymeleaf</a:t>
            </a:r>
            <a:r>
              <a:rPr lang="ko-KR" altLang="en-US" sz="1600" dirty="0"/>
              <a:t>(</a:t>
            </a:r>
            <a:r>
              <a:rPr lang="ko-KR" altLang="en-US" sz="1600" dirty="0" err="1"/>
              <a:t>타임리프</a:t>
            </a:r>
            <a:r>
              <a:rPr lang="ko-KR" altLang="en-US" sz="1600" dirty="0"/>
              <a:t>)는 서버사이드에서 동작하는 </a:t>
            </a:r>
            <a:r>
              <a:rPr lang="ko-KR" altLang="en-US" sz="1600" dirty="0" err="1"/>
              <a:t>Java</a:t>
            </a:r>
            <a:r>
              <a:rPr lang="ko-KR" altLang="en-US" sz="1600" dirty="0"/>
              <a:t> 템플릿 엔진으로, HTML, XML, </a:t>
            </a:r>
            <a:r>
              <a:rPr lang="ko-KR" altLang="en-US" sz="1600" dirty="0" err="1"/>
              <a:t>JavaScript</a:t>
            </a:r>
            <a:r>
              <a:rPr lang="ko-KR" altLang="en-US" sz="1600" dirty="0"/>
              <a:t>, CSS 등 다양한 템플릿을 처리하며, 서버에서 동적으로 데이터를 넣어 완전한 HTML 페이지를 만들어 클라이언트(브라우저)에 </a:t>
            </a:r>
            <a:r>
              <a:rPr lang="ko-KR" altLang="en-US" sz="1600" dirty="0" smtClean="0"/>
              <a:t>전달</a:t>
            </a:r>
            <a:r>
              <a:rPr lang="ko-KR" altLang="en-US" sz="1600" dirty="0"/>
              <a:t>한</a:t>
            </a:r>
            <a:r>
              <a:rPr lang="ko-KR" altLang="en-US" sz="1600" dirty="0" smtClean="0"/>
              <a:t>다</a:t>
            </a:r>
            <a:r>
              <a:rPr lang="ko-KR" altLang="en-US" sz="1600" dirty="0"/>
              <a:t>. </a:t>
            </a: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자연스러운 </a:t>
            </a:r>
            <a:r>
              <a:rPr lang="ko-KR" altLang="en-US" sz="1600" dirty="0"/>
              <a:t>템플릿을 추구하며, 기존 HTML 구조를 유지하면서도 </a:t>
            </a:r>
            <a:r>
              <a:rPr lang="ko-KR" altLang="en-US" sz="1600" dirty="0" err="1"/>
              <a:t>th</a:t>
            </a:r>
            <a:r>
              <a:rPr lang="ko-KR" altLang="en-US" sz="1600" dirty="0"/>
              <a:t> 속성을 통해 데이터를 바인딩할 수 있어 개발과 디자이너의 협업이 </a:t>
            </a:r>
            <a:r>
              <a:rPr lang="ko-KR" altLang="en-US" sz="1600" dirty="0" smtClean="0"/>
              <a:t>용이하다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92528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Thymeleaf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사이트</a:t>
            </a:r>
            <a:r>
              <a:rPr lang="en-US" altLang="ko-KR" sz="2000" b="1" dirty="0" smtClean="0"/>
              <a:t>(www.thymeleaf.org)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 smtClean="0"/>
              <a:t>docs &gt; </a:t>
            </a:r>
            <a:r>
              <a:rPr lang="ko-KR" altLang="en-US" sz="2000" b="1" dirty="0" smtClean="0"/>
              <a:t> </a:t>
            </a:r>
            <a:r>
              <a:rPr lang="en-US" altLang="ko-KR" sz="2000" b="1" dirty="0" smtClean="0"/>
              <a:t>tutorials &gt; </a:t>
            </a:r>
            <a:r>
              <a:rPr lang="en-US" altLang="ko-KR" b="1" dirty="0" err="1"/>
              <a:t>Thymeleaf</a:t>
            </a:r>
            <a:r>
              <a:rPr lang="en-US" altLang="ko-KR" b="1" dirty="0"/>
              <a:t> 3.1</a:t>
            </a:r>
            <a:r>
              <a:rPr lang="en-US" altLang="ko-KR" dirty="0"/>
              <a:t>: </a:t>
            </a:r>
            <a:r>
              <a:rPr lang="en-US" altLang="ko-KR" dirty="0">
                <a:hlinkClick r:id="rId2"/>
              </a:rPr>
              <a:t>Read </a:t>
            </a:r>
            <a:r>
              <a:rPr lang="en-US" altLang="ko-KR" dirty="0" smtClean="0">
                <a:hlinkClick r:id="rId2"/>
              </a:rPr>
              <a:t>online</a:t>
            </a:r>
            <a:r>
              <a:rPr lang="en-US" altLang="ko-KR" dirty="0" smtClean="0"/>
              <a:t> &gt; Using Texts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641" y="2132856"/>
            <a:ext cx="6552728" cy="3919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10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smtClean="0"/>
              <a:t>BootWeb2 </a:t>
            </a:r>
            <a:r>
              <a:rPr lang="ko-KR" altLang="en-US" b="1" dirty="0" smtClean="0"/>
              <a:t>프로젝트 생성 및 환경 설정 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5875074" y="2276871"/>
            <a:ext cx="354242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smtClean="0"/>
              <a:t>   Packing – jar</a:t>
            </a:r>
          </a:p>
          <a:p>
            <a:pPr>
              <a:lnSpc>
                <a:spcPct val="150000"/>
              </a:lnSpc>
            </a:pPr>
            <a:r>
              <a:rPr lang="en-US" altLang="ko-KR" sz="1600" dirty="0" smtClean="0"/>
              <a:t>   Java </a:t>
            </a:r>
            <a:r>
              <a:rPr lang="en-US" altLang="ko-KR" sz="1600" dirty="0"/>
              <a:t>Version: 8</a:t>
            </a:r>
            <a:endParaRPr lang="en-US" altLang="ko-KR" sz="1600" dirty="0" smtClean="0"/>
          </a:p>
          <a:p>
            <a:pPr>
              <a:lnSpc>
                <a:spcPct val="150000"/>
              </a:lnSpc>
            </a:pP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 </a:t>
            </a:r>
            <a:r>
              <a:rPr lang="en-US" altLang="ko-KR" sz="1600" dirty="0" smtClean="0"/>
              <a:t>   - </a:t>
            </a:r>
            <a:r>
              <a:rPr lang="ko-KR" altLang="en-US" sz="1600" dirty="0"/>
              <a:t>모듈 추가 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600" dirty="0" smtClean="0"/>
              <a:t>    Lombok</a:t>
            </a:r>
            <a:r>
              <a:rPr lang="en-US" altLang="ko-KR" sz="1600" dirty="0"/>
              <a:t>, Spring Web, </a:t>
            </a:r>
            <a:r>
              <a:rPr lang="en-US" altLang="ko-KR" sz="1600" dirty="0" err="1" smtClean="0"/>
              <a:t>DevTools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    Spring Data JPA, H2 </a:t>
            </a:r>
            <a:r>
              <a:rPr lang="en-US" altLang="ko-KR" sz="1600" dirty="0" smtClean="0"/>
              <a:t>Database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</a:t>
            </a:r>
            <a:r>
              <a:rPr lang="en-US" altLang="ko-KR" sz="1600" dirty="0" smtClean="0"/>
              <a:t>   </a:t>
            </a:r>
            <a:r>
              <a:rPr lang="en-US" altLang="ko-KR" sz="1600" dirty="0" err="1" smtClean="0"/>
              <a:t>Thymeleaf</a:t>
            </a:r>
            <a:endParaRPr lang="en-US" altLang="ko-KR" sz="16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833" y="1647056"/>
            <a:ext cx="4435225" cy="39170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27952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smtClean="0"/>
              <a:t>JPA</a:t>
            </a:r>
            <a:r>
              <a:rPr lang="ko-KR" altLang="en-US" b="1" dirty="0" smtClean="0"/>
              <a:t>와 </a:t>
            </a:r>
            <a:r>
              <a:rPr lang="en-US" altLang="ko-KR" b="1" dirty="0" smtClean="0"/>
              <a:t>DB </a:t>
            </a:r>
            <a:r>
              <a:rPr lang="ko-KR" altLang="en-US" b="1" dirty="0" smtClean="0"/>
              <a:t>연동하기</a:t>
            </a:r>
            <a:endParaRPr lang="en-US" altLang="ko-KR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r>
              <a:rPr lang="en-US" altLang="ko-KR" dirty="0" smtClean="0"/>
              <a:t>   (1) </a:t>
            </a:r>
            <a:r>
              <a:rPr lang="ko-KR" altLang="en-US" dirty="0" err="1" smtClean="0"/>
              <a:t>엔티티</a:t>
            </a:r>
            <a:r>
              <a:rPr lang="ko-KR" altLang="en-US" dirty="0" smtClean="0"/>
              <a:t> 클래스로 변환</a:t>
            </a:r>
            <a:r>
              <a:rPr lang="en-US" altLang="ko-KR" dirty="0"/>
              <a:t> </a:t>
            </a:r>
            <a:r>
              <a:rPr lang="en-US" altLang="ko-KR" dirty="0" smtClean="0"/>
              <a:t>- Board.java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24" y="2057404"/>
            <a:ext cx="6803134" cy="427349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16655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smtClean="0"/>
              <a:t>JPA</a:t>
            </a:r>
            <a:r>
              <a:rPr lang="ko-KR" altLang="en-US" b="1" dirty="0" smtClean="0"/>
              <a:t>와 </a:t>
            </a:r>
            <a:r>
              <a:rPr lang="en-US" altLang="ko-KR" b="1" dirty="0" smtClean="0"/>
              <a:t>DB </a:t>
            </a:r>
            <a:r>
              <a:rPr lang="ko-KR" altLang="en-US" b="1" dirty="0" smtClean="0"/>
              <a:t>연동하기</a:t>
            </a:r>
            <a:endParaRPr lang="en-US" altLang="ko-KR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r>
              <a:rPr lang="en-US" altLang="ko-KR" dirty="0" smtClean="0"/>
              <a:t>   (2) </a:t>
            </a:r>
            <a:r>
              <a:rPr lang="ko-KR" altLang="en-US" dirty="0" smtClean="0"/>
              <a:t>테이블 생성 설정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558"/>
          <a:stretch/>
        </p:blipFill>
        <p:spPr>
          <a:xfrm>
            <a:off x="1399305" y="2204864"/>
            <a:ext cx="6629975" cy="15026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912" y="4504776"/>
            <a:ext cx="7681626" cy="15165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직사각형 4"/>
          <p:cNvSpPr/>
          <p:nvPr/>
        </p:nvSpPr>
        <p:spPr>
          <a:xfrm>
            <a:off x="1208584" y="3988346"/>
            <a:ext cx="29241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(3) </a:t>
            </a:r>
            <a:r>
              <a:rPr lang="ko-KR" altLang="en-US" dirty="0" err="1"/>
              <a:t>리포지터리</a:t>
            </a:r>
            <a:r>
              <a:rPr lang="ko-KR" altLang="en-US" dirty="0"/>
              <a:t> 인터페이스</a:t>
            </a:r>
          </a:p>
        </p:txBody>
      </p:sp>
    </p:spTree>
    <p:extLst>
      <p:ext uri="{BB962C8B-B14F-4D97-AF65-F5344CB8AC3E}">
        <p14:creationId xmlns:p14="http://schemas.microsoft.com/office/powerpoint/2010/main" val="1232750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게시글</a:t>
            </a:r>
            <a:r>
              <a:rPr lang="ko-KR" altLang="en-US" b="1" dirty="0" smtClean="0"/>
              <a:t> 등록 테스트 </a:t>
            </a:r>
            <a:r>
              <a:rPr lang="en-US" altLang="ko-KR" b="1" dirty="0" smtClean="0"/>
              <a:t>– Junit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00" y="1628800"/>
            <a:ext cx="6515665" cy="42675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01553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게시글</a:t>
            </a:r>
            <a:r>
              <a:rPr lang="ko-KR" altLang="en-US" b="1" dirty="0" smtClean="0"/>
              <a:t> 등록 테스트</a:t>
            </a:r>
            <a:endParaRPr lang="en-US" altLang="ko-KR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84" y="1772816"/>
            <a:ext cx="5220153" cy="101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140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310" y="2276872"/>
            <a:ext cx="6706182" cy="143268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287759" y="1747555"/>
            <a:ext cx="4025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 smtClean="0"/>
              <a:t>ddl</a:t>
            </a:r>
            <a:r>
              <a:rPr lang="en-US" altLang="ko-KR" sz="1600" dirty="0" smtClean="0"/>
              <a:t>-auto </a:t>
            </a:r>
            <a:r>
              <a:rPr lang="ko-KR" altLang="en-US" sz="1600" dirty="0" smtClean="0"/>
              <a:t>설정을 </a:t>
            </a:r>
            <a:r>
              <a:rPr lang="en-US" altLang="ko-KR" sz="1600" dirty="0" smtClean="0"/>
              <a:t>update</a:t>
            </a:r>
            <a:r>
              <a:rPr lang="ko-KR" altLang="en-US" sz="1600" dirty="0" smtClean="0"/>
              <a:t>로 변경함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73415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비즈니스 컴포넌트 만들기</a:t>
            </a:r>
            <a:endParaRPr lang="en-US" altLang="ko-KR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r>
              <a:rPr lang="en-US" altLang="ko-KR" dirty="0" smtClean="0"/>
              <a:t>   (1) Service </a:t>
            </a:r>
            <a:r>
              <a:rPr lang="ko-KR" altLang="en-US" dirty="0" smtClean="0"/>
              <a:t>인터페이스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23" y="2276872"/>
            <a:ext cx="5317513" cy="28803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64537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비즈니스 컴포넌트 만들기</a:t>
            </a:r>
            <a:endParaRPr lang="en-US" altLang="ko-KR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r>
              <a:rPr lang="en-US" altLang="ko-KR" dirty="0" smtClean="0"/>
              <a:t>   (2) Service </a:t>
            </a:r>
            <a:r>
              <a:rPr lang="ko-KR" altLang="en-US" dirty="0" smtClean="0"/>
              <a:t>구현 클래스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24" y="2204863"/>
            <a:ext cx="6561389" cy="345215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69377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비즈니스 컴포넌트 만들기</a:t>
            </a:r>
            <a:endParaRPr lang="en-US" altLang="ko-KR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r>
              <a:rPr lang="en-US" altLang="ko-KR" dirty="0" smtClean="0"/>
              <a:t>   (2) Service </a:t>
            </a:r>
            <a:r>
              <a:rPr lang="ko-KR" altLang="en-US" dirty="0" smtClean="0"/>
              <a:t>구현 클래스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234" y="2168353"/>
            <a:ext cx="7232007" cy="393226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66048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408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비즈니스 컴포넌트 사용하기 </a:t>
            </a:r>
            <a:r>
              <a:rPr lang="en-US" altLang="ko-KR" b="1" dirty="0" smtClean="0"/>
              <a:t>- </a:t>
            </a:r>
            <a:r>
              <a:rPr lang="en-US" altLang="ko-KR" b="1" dirty="0" err="1" smtClean="0"/>
              <a:t>BoardController</a:t>
            </a:r>
            <a:r>
              <a:rPr lang="ko-KR" altLang="en-US" b="1" dirty="0" smtClean="0"/>
              <a:t> </a:t>
            </a:r>
            <a:endParaRPr lang="en-US" altLang="ko-KR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00" y="1556792"/>
            <a:ext cx="6850974" cy="474005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21927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408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비즈니스 컴포넌트 사용하기 </a:t>
            </a:r>
            <a:r>
              <a:rPr lang="en-US" altLang="ko-KR" b="1" dirty="0" smtClean="0"/>
              <a:t>- </a:t>
            </a:r>
            <a:r>
              <a:rPr lang="en-US" altLang="ko-KR" b="1" dirty="0" err="1" smtClean="0"/>
              <a:t>BoardController</a:t>
            </a:r>
            <a:r>
              <a:rPr lang="ko-KR" altLang="en-US" b="1" dirty="0" smtClean="0"/>
              <a:t> </a:t>
            </a:r>
            <a:endParaRPr lang="en-US" altLang="ko-KR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84" y="1700808"/>
            <a:ext cx="5944115" cy="323878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77628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408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비즈니스 컴포넌트 사용하기 </a:t>
            </a:r>
            <a:r>
              <a:rPr lang="en-US" altLang="ko-KR" b="1" dirty="0" smtClean="0"/>
              <a:t>- </a:t>
            </a:r>
            <a:r>
              <a:rPr lang="en-US" altLang="ko-KR" b="1" dirty="0" err="1" smtClean="0"/>
              <a:t>BoardController</a:t>
            </a:r>
            <a:r>
              <a:rPr lang="ko-KR" altLang="en-US" b="1" dirty="0" smtClean="0"/>
              <a:t> </a:t>
            </a:r>
            <a:endParaRPr lang="en-US" altLang="ko-KR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713" y="1677278"/>
            <a:ext cx="6336704" cy="312537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96890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템플릿</a:t>
            </a:r>
            <a:r>
              <a:rPr lang="en-US" altLang="ko-KR" b="1" dirty="0" smtClean="0"/>
              <a:t>, CSS </a:t>
            </a:r>
            <a:r>
              <a:rPr lang="ko-KR" altLang="en-US" b="1" dirty="0" smtClean="0"/>
              <a:t>계층 구조도</a:t>
            </a:r>
            <a:endParaRPr lang="en-US" altLang="ko-KR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00" y="1700808"/>
            <a:ext cx="3110746" cy="32403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07812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게시글</a:t>
            </a:r>
            <a:r>
              <a:rPr lang="ko-KR" altLang="en-US" b="1" dirty="0" smtClean="0"/>
              <a:t> 목록 </a:t>
            </a:r>
            <a:r>
              <a:rPr lang="en-US" altLang="ko-KR" b="1" dirty="0" smtClean="0"/>
              <a:t>– getBoardList.html</a:t>
            </a:r>
            <a:r>
              <a:rPr lang="ko-KR" altLang="en-US" b="1" dirty="0" smtClean="0"/>
              <a:t> </a:t>
            </a:r>
            <a:endParaRPr lang="en-US" altLang="ko-KR" b="1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908" y="1916832"/>
            <a:ext cx="9015242" cy="336071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7662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게시글</a:t>
            </a:r>
            <a:r>
              <a:rPr lang="ko-KR" altLang="en-US" b="1" dirty="0" smtClean="0"/>
              <a:t> 목록 </a:t>
            </a:r>
            <a:r>
              <a:rPr lang="en-US" altLang="ko-KR" b="1" dirty="0" smtClean="0"/>
              <a:t>– getBoardList.html</a:t>
            </a:r>
            <a:r>
              <a:rPr lang="ko-KR" altLang="en-US" b="1" dirty="0" smtClean="0"/>
              <a:t> </a:t>
            </a:r>
            <a:endParaRPr lang="en-US" altLang="ko-KR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96" y="3068960"/>
            <a:ext cx="9441999" cy="270533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208584" y="1628800"/>
            <a:ext cx="60486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smtClean="0"/>
              <a:t>JSTL</a:t>
            </a:r>
            <a:r>
              <a:rPr lang="ko-KR" altLang="en-US" sz="1600" dirty="0" smtClean="0"/>
              <a:t>의 </a:t>
            </a:r>
            <a:r>
              <a:rPr lang="en-US" altLang="ko-KR" sz="1600" dirty="0" smtClean="0"/>
              <a:t>&lt;</a:t>
            </a:r>
            <a:r>
              <a:rPr lang="en-US" altLang="ko-KR" sz="1600" dirty="0" err="1" smtClean="0"/>
              <a:t>c:forEach</a:t>
            </a:r>
            <a:r>
              <a:rPr lang="en-US" altLang="ko-KR" sz="1600" dirty="0" smtClean="0"/>
              <a:t>&gt; </a:t>
            </a:r>
            <a:r>
              <a:rPr lang="ko-KR" altLang="en-US" sz="1600" dirty="0" smtClean="0"/>
              <a:t>반복 처리 기능 </a:t>
            </a:r>
            <a:r>
              <a:rPr lang="en-US" altLang="ko-KR" sz="1600" dirty="0" smtClean="0"/>
              <a:t>– </a:t>
            </a:r>
            <a:r>
              <a:rPr lang="en-US" altLang="ko-KR" sz="1600" dirty="0" err="1" smtClean="0"/>
              <a:t>th:each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속성 사용</a:t>
            </a: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 </a:t>
            </a:r>
            <a:r>
              <a:rPr lang="en-US" altLang="ko-KR" sz="1600" dirty="0" smtClean="0"/>
              <a:t>        &lt;</a:t>
            </a:r>
            <a:r>
              <a:rPr lang="en-US" altLang="ko-KR" sz="1600" dirty="0" err="1" smtClean="0"/>
              <a:t>c:out</a:t>
            </a:r>
            <a:r>
              <a:rPr lang="en-US" altLang="ko-KR" sz="1600" dirty="0" smtClean="0"/>
              <a:t>&gt; </a:t>
            </a:r>
            <a:r>
              <a:rPr lang="ko-KR" altLang="en-US" sz="1600" dirty="0" smtClean="0"/>
              <a:t>출력기능 </a:t>
            </a:r>
            <a:r>
              <a:rPr lang="en-US" altLang="ko-KR" sz="1600" dirty="0" smtClean="0"/>
              <a:t>– </a:t>
            </a:r>
            <a:r>
              <a:rPr lang="en-US" altLang="ko-KR" sz="1600" dirty="0" err="1" smtClean="0"/>
              <a:t>th:text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속성 사용</a:t>
            </a: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날짜 포맷 변경 </a:t>
            </a:r>
            <a:r>
              <a:rPr lang="en-US" altLang="ko-KR" sz="1600" dirty="0" smtClean="0"/>
              <a:t>- #</a:t>
            </a:r>
            <a:r>
              <a:rPr lang="en-US" altLang="ko-KR" sz="1600" dirty="0" err="1" smtClean="0"/>
              <a:t>dates.format</a:t>
            </a:r>
            <a:r>
              <a:rPr lang="en-US" altLang="ko-KR" sz="1600" dirty="0" smtClean="0"/>
              <a:t>()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32056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게시글</a:t>
            </a:r>
            <a:r>
              <a:rPr lang="ko-KR" altLang="en-US" b="1" dirty="0" smtClean="0"/>
              <a:t> 목록 화면</a:t>
            </a:r>
            <a:endParaRPr lang="ko-KR" altLang="en-US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049" y="1844824"/>
            <a:ext cx="7635902" cy="2209992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65215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smtClean="0"/>
              <a:t>CSS </a:t>
            </a:r>
            <a:r>
              <a:rPr lang="ko-KR" altLang="en-US" b="1" dirty="0" smtClean="0"/>
              <a:t>스타일 </a:t>
            </a:r>
            <a:r>
              <a:rPr lang="en-US" altLang="ko-KR" b="1" dirty="0" smtClean="0"/>
              <a:t>– style.css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568" y="1677684"/>
            <a:ext cx="7765453" cy="42142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69803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smtClean="0"/>
              <a:t>CSS </a:t>
            </a:r>
            <a:r>
              <a:rPr lang="ko-KR" altLang="en-US" b="1" dirty="0" smtClean="0"/>
              <a:t>스타일 </a:t>
            </a:r>
            <a:r>
              <a:rPr lang="en-US" altLang="ko-KR" b="1" dirty="0" smtClean="0"/>
              <a:t>– style.css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568" y="1772816"/>
            <a:ext cx="8064896" cy="291938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20692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게시글</a:t>
            </a:r>
            <a:r>
              <a:rPr lang="ko-KR" altLang="en-US" b="1" dirty="0" smtClean="0"/>
              <a:t> 쓰기</a:t>
            </a:r>
            <a:endParaRPr lang="en-US" altLang="ko-KR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787" y="1720484"/>
            <a:ext cx="6329044" cy="32403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60402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게시글</a:t>
            </a:r>
            <a:r>
              <a:rPr lang="ko-KR" altLang="en-US" b="1" dirty="0" smtClean="0"/>
              <a:t> 쓰기 </a:t>
            </a:r>
            <a:r>
              <a:rPr lang="en-US" altLang="ko-KR" b="1" dirty="0" smtClean="0"/>
              <a:t>– insertBoard.html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520" y="1556792"/>
            <a:ext cx="7391197" cy="482955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7710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게시글</a:t>
            </a:r>
            <a:r>
              <a:rPr lang="ko-KR" altLang="en-US" b="1" dirty="0" smtClean="0"/>
              <a:t> 상세 조회</a:t>
            </a:r>
            <a:endParaRPr lang="en-US" altLang="ko-KR" b="1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651" y="1724946"/>
            <a:ext cx="6245944" cy="429634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24355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게시글</a:t>
            </a:r>
            <a:r>
              <a:rPr lang="ko-KR" altLang="en-US" b="1" dirty="0" smtClean="0"/>
              <a:t> 수정 및 삭제</a:t>
            </a:r>
            <a:endParaRPr lang="en-US" altLang="ko-KR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403" y="1772816"/>
            <a:ext cx="5669372" cy="38164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05500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게시글</a:t>
            </a:r>
            <a:r>
              <a:rPr lang="ko-KR" altLang="en-US" b="1" dirty="0" smtClean="0"/>
              <a:t> 상세 조회 </a:t>
            </a:r>
            <a:r>
              <a:rPr lang="en-US" altLang="ko-KR" b="1" dirty="0" smtClean="0"/>
              <a:t>- </a:t>
            </a:r>
            <a:r>
              <a:rPr lang="en-US" altLang="ko-KR" dirty="0" smtClean="0"/>
              <a:t>getBoard.html</a:t>
            </a:r>
            <a:endParaRPr lang="en-US" altLang="ko-KR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512" y="1533871"/>
            <a:ext cx="9000000" cy="464098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48052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게시글</a:t>
            </a:r>
            <a:r>
              <a:rPr lang="ko-KR" altLang="en-US" b="1" dirty="0" smtClean="0"/>
              <a:t> 상세 조회 </a:t>
            </a:r>
            <a:r>
              <a:rPr lang="en-US" altLang="ko-KR" b="1" dirty="0" smtClean="0"/>
              <a:t>- </a:t>
            </a:r>
            <a:r>
              <a:rPr lang="en-US" altLang="ko-KR" dirty="0" smtClean="0"/>
              <a:t>getBoard.html</a:t>
            </a:r>
            <a:endParaRPr lang="en-US" altLang="ko-KR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29" y="1556791"/>
            <a:ext cx="8694036" cy="464555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27327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648" y="1844824"/>
            <a:ext cx="5928874" cy="36198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인덱스 페이지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604352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인덱스 페이지 </a:t>
            </a:r>
            <a:r>
              <a:rPr lang="en-US" altLang="ko-KR" b="1" dirty="0" smtClean="0"/>
              <a:t>– index.html</a:t>
            </a:r>
            <a:endParaRPr lang="en-US" altLang="ko-KR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011" y="1720687"/>
            <a:ext cx="7445386" cy="361219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66494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로그인 화면 </a:t>
            </a:r>
            <a:r>
              <a:rPr lang="en-US" altLang="ko-KR" b="1" dirty="0" smtClean="0"/>
              <a:t>– login.html</a:t>
            </a:r>
            <a:endParaRPr lang="en-US" altLang="ko-KR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407" y="1628800"/>
            <a:ext cx="7064353" cy="44352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38454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로그인 컨트롤러 </a:t>
            </a:r>
            <a:r>
              <a:rPr lang="en-US" altLang="ko-KR" b="1" dirty="0" smtClean="0"/>
              <a:t>– </a:t>
            </a:r>
            <a:r>
              <a:rPr lang="en-US" altLang="ko-KR" b="1" dirty="0" err="1" smtClean="0"/>
              <a:t>LoginController</a:t>
            </a:r>
            <a:endParaRPr lang="en-US" altLang="ko-KR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84" y="1772816"/>
            <a:ext cx="5326842" cy="160795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42333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화면 개</a:t>
            </a:r>
            <a:r>
              <a:rPr lang="ko-KR" altLang="en-US" b="1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발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로그인 화면</a:t>
            </a:r>
            <a:endParaRPr lang="en-US" altLang="ko-KR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640" y="1844824"/>
            <a:ext cx="5860288" cy="302540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01444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로그인 컴포넌트 개발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8544" y="1101823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엔티티</a:t>
            </a:r>
            <a:r>
              <a:rPr lang="ko-KR" altLang="en-US" b="1" dirty="0" smtClean="0"/>
              <a:t> 클래스 </a:t>
            </a:r>
            <a:r>
              <a:rPr lang="en-US" altLang="ko-KR" b="1" dirty="0" smtClean="0"/>
              <a:t>– Member.java</a:t>
            </a:r>
            <a:r>
              <a:rPr lang="ko-KR" altLang="en-US" b="1" dirty="0" smtClean="0"/>
              <a:t> </a:t>
            </a:r>
            <a:endParaRPr lang="en-US" altLang="ko-KR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073" y="1700808"/>
            <a:ext cx="4213497" cy="31683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30333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로그인 컴포넌트 개발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8544" y="1101823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리포지터리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– MemberRepository.java</a:t>
            </a:r>
            <a:r>
              <a:rPr lang="ko-KR" altLang="en-US" b="1" dirty="0" smtClean="0"/>
              <a:t> </a:t>
            </a:r>
            <a:endParaRPr lang="en-US" altLang="ko-KR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221" y="1916832"/>
            <a:ext cx="8568275" cy="12573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26670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로그인 컴포넌트 개발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8544" y="1101823"/>
            <a:ext cx="43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테스트 데이터 초기화 </a:t>
            </a:r>
            <a:endParaRPr lang="en-US" altLang="ko-KR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640" y="1487788"/>
            <a:ext cx="5008004" cy="482453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5748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로그인 컴포넌트 개발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8544" y="1101823"/>
            <a:ext cx="43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테스트 데이터 초기화 </a:t>
            </a:r>
            <a:endParaRPr lang="en-US" altLang="ko-KR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00" y="1700808"/>
            <a:ext cx="6279425" cy="366553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99608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로그인 컴포넌트 개발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8544" y="1101823"/>
            <a:ext cx="43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테스트 데이터 초기화 </a:t>
            </a:r>
            <a:endParaRPr lang="en-US" altLang="ko-KR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976" y="1772816"/>
            <a:ext cx="5477256" cy="129614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121" y="3447458"/>
            <a:ext cx="6812871" cy="211092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33690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로그인 컴포넌트 개발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8544" y="1101823"/>
            <a:ext cx="43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smtClean="0"/>
              <a:t>Service </a:t>
            </a:r>
            <a:r>
              <a:rPr lang="ko-KR" altLang="en-US" b="1" dirty="0" smtClean="0"/>
              <a:t>인터페이스와 구현 클래스 </a:t>
            </a:r>
            <a:endParaRPr lang="en-US" altLang="ko-KR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564"/>
          <a:stretch/>
        </p:blipFill>
        <p:spPr>
          <a:xfrm>
            <a:off x="1304068" y="1700808"/>
            <a:ext cx="5206739" cy="93397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741" y="2819062"/>
            <a:ext cx="6953175" cy="34699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13388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로그인 컴포넌트 개발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8544" y="1101823"/>
            <a:ext cx="43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 smtClean="0"/>
              <a:t>Controller</a:t>
            </a:r>
            <a:r>
              <a:rPr lang="ko-KR" altLang="en-US" b="1" dirty="0" smtClean="0"/>
              <a:t>에서 </a:t>
            </a:r>
            <a:r>
              <a:rPr lang="en-US" altLang="ko-KR" b="1" dirty="0" smtClean="0"/>
              <a:t>Service </a:t>
            </a:r>
            <a:r>
              <a:rPr lang="ko-KR" altLang="en-US" b="1" dirty="0" smtClean="0"/>
              <a:t>사용하기 </a:t>
            </a:r>
            <a:endParaRPr lang="en-US" altLang="ko-KR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92" y="1536468"/>
            <a:ext cx="7128792" cy="491686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93280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로그인 컴포넌트 개발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8542" y="1101823"/>
            <a:ext cx="6264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로그인 상태 정보 이용 </a:t>
            </a:r>
            <a:r>
              <a:rPr lang="en-US" altLang="ko-KR" b="1" dirty="0" smtClean="0"/>
              <a:t>– getBoardList.html</a:t>
            </a:r>
            <a:r>
              <a:rPr lang="ko-KR" altLang="en-US" b="1" dirty="0" smtClean="0"/>
              <a:t>  </a:t>
            </a:r>
            <a:endParaRPr lang="en-US" altLang="ko-KR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19" y="2060848"/>
            <a:ext cx="8521607" cy="151216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664" y="3861048"/>
            <a:ext cx="5704268" cy="252720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331370" y="1544416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/>
              <a:t>SpringEL</a:t>
            </a:r>
            <a:r>
              <a:rPr lang="en-US" altLang="ko-KR" b="1" dirty="0" smtClean="0"/>
              <a:t> - ${session[‘member’].name}</a:t>
            </a:r>
            <a:r>
              <a:rPr lang="ko-KR" altLang="en-US" b="1" dirty="0" smtClean="0"/>
              <a:t> 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565759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로그인 컴포넌트 개발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8544" y="1101823"/>
            <a:ext cx="763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관리자</a:t>
            </a:r>
            <a:r>
              <a:rPr lang="en-US" altLang="ko-KR" b="1" dirty="0" smtClean="0"/>
              <a:t>(ROLE_ADMIN) </a:t>
            </a:r>
            <a:r>
              <a:rPr lang="ko-KR" altLang="en-US" b="1" dirty="0" smtClean="0"/>
              <a:t>만 </a:t>
            </a:r>
            <a:r>
              <a:rPr lang="ko-KR" altLang="en-US" b="1" smtClean="0"/>
              <a:t>글 삭제 </a:t>
            </a:r>
            <a:r>
              <a:rPr lang="ko-KR" altLang="en-US" b="1" dirty="0" smtClean="0"/>
              <a:t>하기 </a:t>
            </a:r>
            <a:r>
              <a:rPr lang="en-US" altLang="ko-KR" b="1" dirty="0" smtClean="0"/>
              <a:t>– getBoard.html</a:t>
            </a:r>
            <a:r>
              <a:rPr lang="ko-KR" altLang="en-US" b="1" dirty="0" smtClean="0"/>
              <a:t>  </a:t>
            </a:r>
            <a:endParaRPr lang="en-US" altLang="ko-KR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00" y="1700808"/>
            <a:ext cx="6591366" cy="25922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328936" y="4509120"/>
            <a:ext cx="5747117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err="1" smtClean="0"/>
              <a:t>SpringEL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사용</a:t>
            </a:r>
            <a:endParaRPr lang="en-US" altLang="ko-KR" b="1" dirty="0" smtClean="0"/>
          </a:p>
          <a:p>
            <a:pPr>
              <a:lnSpc>
                <a:spcPct val="150000"/>
              </a:lnSpc>
            </a:pPr>
            <a:r>
              <a:rPr lang="en-US" altLang="ko-KR" b="1" dirty="0" smtClean="0">
                <a:solidFill>
                  <a:srgbClr val="FF0000"/>
                </a:solidFill>
              </a:rPr>
              <a:t>${session[‘member’].role} == ‘ROLE_ADMIN’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11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로그인 컴포넌트 개발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8544" y="1101823"/>
            <a:ext cx="8136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인증 상태 유지하기</a:t>
            </a:r>
            <a:r>
              <a:rPr lang="en-US" altLang="ko-KR" b="1" dirty="0" smtClean="0"/>
              <a:t>– </a:t>
            </a:r>
            <a:r>
              <a:rPr lang="ko-KR" altLang="en-US" b="1" dirty="0" smtClean="0"/>
              <a:t>로그인한 작성자 보이기  </a:t>
            </a:r>
            <a:endParaRPr lang="en-US" altLang="ko-KR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457" y="1772815"/>
            <a:ext cx="9099069" cy="178323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818" b="30283"/>
          <a:stretch/>
        </p:blipFill>
        <p:spPr>
          <a:xfrm>
            <a:off x="2000672" y="3717032"/>
            <a:ext cx="4679134" cy="244827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53538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로그인 컴포넌트 개발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8544" y="1101823"/>
            <a:ext cx="8136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인증 상태 유지하기</a:t>
            </a:r>
            <a:r>
              <a:rPr lang="en-US" altLang="ko-KR" b="1" dirty="0" smtClean="0"/>
              <a:t>– </a:t>
            </a:r>
            <a:r>
              <a:rPr lang="ko-KR" altLang="en-US" b="1" dirty="0" smtClean="0"/>
              <a:t>로그인 한 사용자만 글쓰기 가능</a:t>
            </a:r>
            <a:r>
              <a:rPr lang="en-US" altLang="ko-KR" b="1" dirty="0" smtClean="0"/>
              <a:t>. </a:t>
            </a:r>
            <a:r>
              <a:rPr lang="en-US" altLang="ko-KR" b="1" dirty="0" err="1" smtClean="0"/>
              <a:t>BoardController</a:t>
            </a:r>
            <a:r>
              <a:rPr lang="ko-KR" altLang="en-US" b="1" dirty="0" smtClean="0"/>
              <a:t>  </a:t>
            </a:r>
            <a:endParaRPr lang="en-US" altLang="ko-KR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692" y="2708920"/>
            <a:ext cx="7388608" cy="329667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098" y="1591389"/>
            <a:ext cx="6791239" cy="97351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76526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로그인 컴포넌트 개발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8544" y="1101823"/>
            <a:ext cx="8136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인증 상태 유지하기</a:t>
            </a:r>
            <a:r>
              <a:rPr lang="en-US" altLang="ko-KR" b="1" dirty="0" smtClean="0"/>
              <a:t>– </a:t>
            </a:r>
            <a:r>
              <a:rPr lang="ko-KR" altLang="en-US" b="1" dirty="0" smtClean="0"/>
              <a:t>로그인 한 사용자만 글쓰기 가능</a:t>
            </a:r>
            <a:r>
              <a:rPr lang="en-US" altLang="ko-KR" b="1" dirty="0" smtClean="0"/>
              <a:t>. </a:t>
            </a:r>
            <a:r>
              <a:rPr lang="en-US" altLang="ko-KR" b="1" dirty="0" err="1" smtClean="0"/>
              <a:t>BoardController</a:t>
            </a:r>
            <a:r>
              <a:rPr lang="ko-KR" altLang="en-US" b="1" dirty="0" smtClean="0"/>
              <a:t>  </a:t>
            </a:r>
            <a:endParaRPr lang="en-US" altLang="ko-KR" b="1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700808"/>
            <a:ext cx="861274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☞ 클래스 </a:t>
            </a:r>
            <a:r>
              <a:rPr lang="ko-KR" altLang="en-US" sz="1600" dirty="0" err="1" smtClean="0"/>
              <a:t>선언부에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@</a:t>
            </a:r>
            <a:r>
              <a:rPr lang="en-US" altLang="ko-KR" sz="1600" dirty="0" err="1" smtClean="0"/>
              <a:t>SessionAttributes</a:t>
            </a:r>
            <a:r>
              <a:rPr lang="en-US" altLang="ko-KR" sz="1600" dirty="0" smtClean="0"/>
              <a:t>(“member”)</a:t>
            </a:r>
            <a:r>
              <a:rPr lang="ko-KR" altLang="en-US" sz="1600" dirty="0" smtClean="0"/>
              <a:t>를 추가했기 때문에 자동으로 세션에 등록된다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그리고 </a:t>
            </a:r>
            <a:r>
              <a:rPr lang="en-US" altLang="ko-KR" sz="1600" dirty="0" err="1" smtClean="0"/>
              <a:t>setMember</a:t>
            </a:r>
            <a:r>
              <a:rPr lang="en-US" altLang="ko-KR" sz="1600" dirty="0" smtClean="0"/>
              <a:t>() </a:t>
            </a:r>
            <a:r>
              <a:rPr lang="ko-KR" altLang="en-US" sz="1600" dirty="0" err="1" smtClean="0"/>
              <a:t>메소드를</a:t>
            </a:r>
            <a:r>
              <a:rPr lang="ko-KR" altLang="en-US" sz="1600" dirty="0" smtClean="0"/>
              <a:t> 추가해서 </a:t>
            </a:r>
            <a:r>
              <a:rPr lang="en-US" altLang="ko-KR" sz="1600" dirty="0" smtClean="0"/>
              <a:t>Model </a:t>
            </a:r>
            <a:r>
              <a:rPr lang="ko-KR" altLang="en-US" sz="1600" dirty="0" smtClean="0"/>
              <a:t>객체를 </a:t>
            </a:r>
            <a:r>
              <a:rPr lang="ko-KR" altLang="en-US" sz="1600" dirty="0" err="1" smtClean="0"/>
              <a:t>리턴했는데</a:t>
            </a:r>
            <a:r>
              <a:rPr lang="en-US" altLang="ko-KR" sz="1600" dirty="0" smtClean="0"/>
              <a:t>,</a:t>
            </a:r>
            <a:r>
              <a:rPr lang="ko-KR" altLang="en-US" sz="1600" dirty="0" smtClean="0"/>
              <a:t> 이때 </a:t>
            </a:r>
            <a:r>
              <a:rPr lang="en-US" altLang="ko-KR" sz="1600" dirty="0" smtClean="0"/>
              <a:t>Member </a:t>
            </a:r>
            <a:r>
              <a:rPr lang="ko-KR" altLang="en-US" sz="1600" dirty="0" smtClean="0"/>
              <a:t>객체가 가장 먼저 세션에 등록된다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또한 </a:t>
            </a:r>
            <a:r>
              <a:rPr lang="en-US" altLang="ko-KR" sz="1600" dirty="0" err="1" smtClean="0"/>
              <a:t>insertBoard</a:t>
            </a:r>
            <a:r>
              <a:rPr lang="en-US" altLang="ko-KR" sz="1600" dirty="0" smtClean="0"/>
              <a:t>()</a:t>
            </a:r>
            <a:r>
              <a:rPr lang="ko-KR" altLang="en-US" sz="1600" dirty="0" smtClean="0"/>
              <a:t>의 매개 변수로 </a:t>
            </a:r>
            <a:r>
              <a:rPr lang="en-US" altLang="ko-KR" sz="1600" dirty="0" smtClean="0"/>
              <a:t>@</a:t>
            </a:r>
            <a:r>
              <a:rPr lang="en-US" altLang="ko-KR" sz="1600" dirty="0" err="1" smtClean="0"/>
              <a:t>ModelAttribute</a:t>
            </a:r>
            <a:r>
              <a:rPr lang="en-US" altLang="ko-KR" sz="1600" dirty="0" smtClean="0"/>
              <a:t>(“member”)</a:t>
            </a:r>
            <a:r>
              <a:rPr lang="ko-KR" altLang="en-US" sz="1600" dirty="0" smtClean="0"/>
              <a:t>을 사용해서 세션에 등록된 </a:t>
            </a:r>
            <a:r>
              <a:rPr lang="en-US" altLang="ko-KR" sz="1600" dirty="0" smtClean="0"/>
              <a:t>“member”</a:t>
            </a:r>
            <a:r>
              <a:rPr lang="ko-KR" altLang="en-US" sz="1600" dirty="0" smtClean="0"/>
              <a:t>라는 이름의 객체를 </a:t>
            </a:r>
            <a:r>
              <a:rPr lang="en-US" altLang="ko-KR" sz="1600" dirty="0" smtClean="0"/>
              <a:t>member </a:t>
            </a:r>
            <a:r>
              <a:rPr lang="ko-KR" altLang="en-US" sz="1600" dirty="0" smtClean="0"/>
              <a:t>변수에 바인딩 했다</a:t>
            </a:r>
            <a:r>
              <a:rPr lang="en-US" altLang="ko-KR" sz="1600" dirty="0" smtClean="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그러면 </a:t>
            </a:r>
            <a:r>
              <a:rPr lang="en-US" altLang="ko-KR" sz="1600" dirty="0" err="1" smtClean="0"/>
              <a:t>insertBoard</a:t>
            </a:r>
            <a:r>
              <a:rPr lang="en-US" altLang="ko-KR" sz="1600" dirty="0" smtClean="0"/>
              <a:t>() </a:t>
            </a:r>
            <a:r>
              <a:rPr lang="ko-KR" altLang="en-US" sz="1600" dirty="0" smtClean="0"/>
              <a:t>안에서 </a:t>
            </a:r>
            <a:r>
              <a:rPr lang="en-US" altLang="ko-KR" sz="1600" dirty="0" smtClean="0"/>
              <a:t>member </a:t>
            </a:r>
            <a:r>
              <a:rPr lang="ko-KR" altLang="en-US" sz="1600" dirty="0" smtClean="0"/>
              <a:t>변수에 </a:t>
            </a:r>
            <a:r>
              <a:rPr lang="ko-KR" altLang="en-US" sz="1600" dirty="0" err="1" smtClean="0"/>
              <a:t>바인딩된</a:t>
            </a:r>
            <a:r>
              <a:rPr lang="ko-KR" altLang="en-US" sz="1600" dirty="0" smtClean="0"/>
              <a:t> 객체의 아이디 존재 여부를 통해 로그인 여부를 판단할 수 있다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25060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latin typeface="휴먼엑스포" panose="02030504000101010101" pitchFamily="18" charset="-127"/>
                <a:ea typeface="휴먼엑스포" panose="02030504000101010101" pitchFamily="18" charset="-127"/>
              </a:rPr>
              <a:t>로그인 컴포넌트 개발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8544" y="1101823"/>
            <a:ext cx="3149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로그아웃 처리</a:t>
            </a:r>
            <a:endParaRPr lang="en-US" altLang="ko-KR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777" y="1628800"/>
            <a:ext cx="6807561" cy="151680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98079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12469</TotalTime>
  <Words>669</Words>
  <Application>Microsoft Office PowerPoint</Application>
  <PresentationFormat>A4 용지(210x297mm)</PresentationFormat>
  <Paragraphs>127</Paragraphs>
  <Slides>45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2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2장. 화면 개발 - thymeleaf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LG</cp:lastModifiedBy>
  <cp:revision>839</cp:revision>
  <dcterms:created xsi:type="dcterms:W3CDTF">2019-03-04T02:36:55Z</dcterms:created>
  <dcterms:modified xsi:type="dcterms:W3CDTF">2025-09-21T00:32:53Z</dcterms:modified>
</cp:coreProperties>
</file>