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sldIdLst>
    <p:sldId id="256" r:id="rId2"/>
    <p:sldId id="445" r:id="rId3"/>
    <p:sldId id="452" r:id="rId4"/>
    <p:sldId id="453" r:id="rId5"/>
    <p:sldId id="446" r:id="rId6"/>
    <p:sldId id="447" r:id="rId7"/>
    <p:sldId id="448" r:id="rId8"/>
    <p:sldId id="450" r:id="rId9"/>
    <p:sldId id="451" r:id="rId10"/>
    <p:sldId id="412" r:id="rId11"/>
    <p:sldId id="458" r:id="rId12"/>
    <p:sldId id="460" r:id="rId13"/>
    <p:sldId id="467" r:id="rId14"/>
    <p:sldId id="459" r:id="rId15"/>
    <p:sldId id="461" r:id="rId16"/>
    <p:sldId id="462" r:id="rId17"/>
    <p:sldId id="464" r:id="rId18"/>
    <p:sldId id="465" r:id="rId19"/>
    <p:sldId id="466" r:id="rId20"/>
    <p:sldId id="468" r:id="rId21"/>
    <p:sldId id="469" r:id="rId22"/>
    <p:sldId id="470" r:id="rId23"/>
    <p:sldId id="473" r:id="rId24"/>
    <p:sldId id="471" r:id="rId25"/>
    <p:sldId id="472" r:id="rId26"/>
    <p:sldId id="474" r:id="rId27"/>
    <p:sldId id="454" r:id="rId28"/>
    <p:sldId id="455" r:id="rId29"/>
    <p:sldId id="456" r:id="rId30"/>
    <p:sldId id="457" r:id="rId31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97" autoAdjust="0"/>
    <p:restoredTop sz="94660"/>
  </p:normalViewPr>
  <p:slideViewPr>
    <p:cSldViewPr>
      <p:cViewPr varScale="1">
        <p:scale>
          <a:sx n="88" d="100"/>
          <a:sy n="88" d="100"/>
        </p:scale>
        <p:origin x="907" y="77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 smtClean="0"/>
              <a:t> 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2025-11-04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9555" y="6525344"/>
            <a:ext cx="9945555" cy="332656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  마스터 제목 스타일 편집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41432" y="6525344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28" y="6412104"/>
            <a:ext cx="381583" cy="35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>
              <a:lumMod val="95000"/>
            </a:schemeClr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7050783" cy="1226567"/>
          </a:xfrm>
        </p:spPr>
        <p:txBody>
          <a:bodyPr>
            <a:normAutofit/>
          </a:bodyPr>
          <a:lstStyle/>
          <a:p>
            <a:r>
              <a:rPr lang="en-US" altLang="ko-KR" sz="28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6</a:t>
            </a:r>
            <a:r>
              <a:rPr lang="ko-KR" altLang="en-US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유효성 검사</a:t>
            </a:r>
            <a:r>
              <a:rPr lang="en-US" altLang="ko-KR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, </a:t>
            </a:r>
            <a:r>
              <a:rPr lang="ko-KR" altLang="en-US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예외 처리</a:t>
            </a:r>
            <a:r>
              <a:rPr lang="en-US" altLang="ko-KR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, </a:t>
            </a:r>
            <a:r>
              <a:rPr lang="ko-KR" altLang="en-US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배포</a:t>
            </a:r>
            <a:endParaRPr lang="ko-KR" altLang="en-US" sz="2800" b="1" dirty="0">
              <a:solidFill>
                <a:schemeClr val="tx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1800" i="1" dirty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V</a:t>
            </a:r>
            <a:r>
              <a:rPr lang="en-US" altLang="ko-KR" sz="1800" i="1" dirty="0" smtClean="0">
                <a:solidFill>
                  <a:schemeClr val="tx1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alidation, Exceptions</a:t>
            </a:r>
            <a:endParaRPr lang="ko-KR" altLang="en-US" sz="1800" i="1" dirty="0">
              <a:solidFill>
                <a:schemeClr val="tx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t="28912" r="14106" b="28639"/>
          <a:stretch/>
        </p:blipFill>
        <p:spPr>
          <a:xfrm>
            <a:off x="5745088" y="4583970"/>
            <a:ext cx="3528392" cy="104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/>
              <a:t>유효성 검사</a:t>
            </a:r>
            <a:r>
              <a:rPr lang="en-US" altLang="ko-KR" dirty="0"/>
              <a:t>(Validation)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48544" y="980728"/>
            <a:ext cx="38164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유효성 검사</a:t>
            </a:r>
            <a:endParaRPr lang="en-US" altLang="ko-KR" sz="2000" b="1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1208584" y="1484784"/>
            <a:ext cx="8208912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/>
              <a:t>Bean Validation</a:t>
            </a:r>
            <a:r>
              <a:rPr lang="ko-KR" altLang="en-US" dirty="0" smtClean="0"/>
              <a:t>을 이용한 유효성 검사는 웹 애플리케이션을 구성하는 특정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도메인 클래스의 </a:t>
            </a:r>
            <a:r>
              <a:rPr lang="ko-KR" altLang="en-US" dirty="0" err="1" smtClean="0"/>
              <a:t>프로퍼티</a:t>
            </a:r>
            <a:r>
              <a:rPr lang="en-US" altLang="ko-KR" dirty="0" smtClean="0"/>
              <a:t>(</a:t>
            </a:r>
            <a:r>
              <a:rPr lang="ko-KR" altLang="en-US" dirty="0" smtClean="0"/>
              <a:t>멤버 변수</a:t>
            </a:r>
            <a:r>
              <a:rPr lang="en-US" altLang="ko-KR" dirty="0" smtClean="0"/>
              <a:t>) </a:t>
            </a:r>
            <a:r>
              <a:rPr lang="ko-KR" altLang="en-US" dirty="0" smtClean="0"/>
              <a:t>즉</a:t>
            </a:r>
            <a:r>
              <a:rPr lang="en-US" altLang="ko-KR" dirty="0"/>
              <a:t> </a:t>
            </a:r>
            <a:r>
              <a:rPr lang="ko-KR" altLang="en-US" dirty="0" smtClean="0"/>
              <a:t>필드에 대한 유효성 검사의 제약사항 </a:t>
            </a:r>
            <a:r>
              <a:rPr lang="ko-KR" altLang="en-US" dirty="0" err="1" smtClean="0"/>
              <a:t>애너테이션을</a:t>
            </a:r>
            <a:r>
              <a:rPr lang="ko-KR" altLang="en-US" dirty="0" smtClean="0"/>
              <a:t> 선언하여 해당 멤버 변수의 값이 올바른지 검사하는 것이다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52600" y="2852936"/>
            <a:ext cx="5040560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 smtClean="0"/>
              <a:t>@</a:t>
            </a:r>
            <a:r>
              <a:rPr lang="ko-KR" altLang="en-US" dirty="0" smtClean="0"/>
              <a:t>제약사항 </a:t>
            </a:r>
            <a:r>
              <a:rPr lang="ko-KR" altLang="en-US" dirty="0" err="1" smtClean="0"/>
              <a:t>애너테이션을</a:t>
            </a:r>
            <a:r>
              <a:rPr lang="ko-KR" altLang="en-US" dirty="0" smtClean="0"/>
              <a:t> 선언하다</a:t>
            </a:r>
            <a:r>
              <a:rPr lang="en-US" altLang="ko-KR" dirty="0" smtClean="0"/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 smtClean="0"/>
              <a:t>@Valid</a:t>
            </a:r>
            <a:r>
              <a:rPr lang="ko-KR" altLang="en-US" dirty="0" smtClean="0"/>
              <a:t>를 이용한 유효성 검사를 실행 한다</a:t>
            </a:r>
            <a:r>
              <a:rPr lang="en-US" altLang="ko-KR" dirty="0" smtClean="0"/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 smtClean="0"/>
              <a:t>뷰 페이지에 오류 메시지를 출력한다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386232" y="4440922"/>
            <a:ext cx="3816424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 smtClean="0"/>
              <a:t>Validation </a:t>
            </a:r>
            <a:r>
              <a:rPr lang="ko-KR" altLang="en-US" b="1" dirty="0" smtClean="0"/>
              <a:t>의존성 추가</a:t>
            </a:r>
            <a:endParaRPr lang="en-US" altLang="ko-KR" b="1" dirty="0" smtClean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976" y="5010413"/>
            <a:ext cx="6601408" cy="9388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09467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/>
              <a:t>유효성 검사</a:t>
            </a:r>
            <a:r>
              <a:rPr lang="en-US" altLang="ko-KR" dirty="0"/>
              <a:t>(Validation)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48544" y="980728"/>
            <a:ext cx="38164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유효성 검사</a:t>
            </a:r>
            <a:endParaRPr lang="en-US" altLang="ko-KR" sz="2000" b="1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1280592" y="1484784"/>
            <a:ext cx="3816424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 smtClean="0"/>
              <a:t>제약사항 </a:t>
            </a:r>
            <a:r>
              <a:rPr lang="ko-KR" altLang="en-US" b="1" dirty="0" err="1" smtClean="0"/>
              <a:t>애너테이션</a:t>
            </a:r>
            <a:r>
              <a:rPr lang="ko-KR" altLang="en-US" b="1" dirty="0" smtClean="0"/>
              <a:t> 유형</a:t>
            </a:r>
            <a:endParaRPr lang="en-US" altLang="ko-KR" b="1" dirty="0" smtClean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631205"/>
              </p:ext>
            </p:extLst>
          </p:nvPr>
        </p:nvGraphicFramePr>
        <p:xfrm>
          <a:off x="1424608" y="2132421"/>
          <a:ext cx="8064896" cy="29496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64111">
                  <a:extLst>
                    <a:ext uri="{9D8B030D-6E8A-4147-A177-3AD203B41FA5}">
                      <a16:colId xmlns:a16="http://schemas.microsoft.com/office/drawing/2014/main" val="3993985894"/>
                    </a:ext>
                  </a:extLst>
                </a:gridCol>
                <a:gridCol w="5500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50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smtClean="0"/>
                        <a:t>메서드</a:t>
                      </a:r>
                      <a:endParaRPr lang="ko-KR" altLang="en-US" sz="1800" b="1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smtClean="0"/>
                        <a:t>설명</a:t>
                      </a:r>
                      <a:endParaRPr lang="ko-KR" altLang="en-US" sz="1800" b="1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743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@</a:t>
                      </a:r>
                      <a:r>
                        <a:rPr lang="en-US" altLang="ko-KR" sz="1800" b="0" dirty="0" err="1" smtClean="0"/>
                        <a:t>NotEmpty</a:t>
                      </a:r>
                      <a:endParaRPr lang="en-US" altLang="ko-KR" sz="1800" b="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err="1" smtClean="0"/>
                        <a:t>프로퍼티</a:t>
                      </a:r>
                      <a:r>
                        <a:rPr lang="ko-KR" altLang="en-US" sz="1600" b="0" dirty="0" smtClean="0"/>
                        <a:t> 값이 </a:t>
                      </a:r>
                      <a:r>
                        <a:rPr lang="en-US" altLang="ko-KR" sz="1600" b="0" dirty="0" smtClean="0"/>
                        <a:t>null, </a:t>
                      </a:r>
                      <a:r>
                        <a:rPr lang="ko-KR" altLang="en-US" sz="1600" b="0" dirty="0" smtClean="0"/>
                        <a:t>빈 문자열이 아닌지 모두 검사</a:t>
                      </a:r>
                      <a:endParaRPr lang="en-US" altLang="ko-KR" sz="1600" b="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743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@Email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smtClean="0"/>
                        <a:t>이메일 형식인지 검사</a:t>
                      </a:r>
                      <a:endParaRPr lang="ko-KR" altLang="en-US" sz="1600" b="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743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@Size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err="1" smtClean="0"/>
                        <a:t>프로퍼티</a:t>
                      </a:r>
                      <a:r>
                        <a:rPr lang="ko-KR" altLang="en-US" sz="1600" b="0" dirty="0" smtClean="0"/>
                        <a:t> 값이 가질 수 있는 최대</a:t>
                      </a:r>
                      <a:r>
                        <a:rPr lang="en-US" altLang="ko-KR" sz="1600" b="0" dirty="0" smtClean="0"/>
                        <a:t>, </a:t>
                      </a:r>
                      <a:r>
                        <a:rPr lang="ko-KR" altLang="en-US" sz="1600" b="0" dirty="0" smtClean="0"/>
                        <a:t>최소 길이 검사</a:t>
                      </a:r>
                      <a:endParaRPr lang="ko-KR" altLang="en-US" sz="1600" b="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73343395"/>
                  </a:ext>
                </a:extLst>
              </a:tr>
              <a:tr h="474743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@Max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err="1" smtClean="0"/>
                        <a:t>프로퍼티</a:t>
                      </a:r>
                      <a:r>
                        <a:rPr lang="ko-KR" altLang="en-US" sz="1600" b="0" dirty="0" smtClean="0"/>
                        <a:t> 값이 가질 수 있는 최대 길이 검사</a:t>
                      </a:r>
                      <a:endParaRPr lang="ko-KR" altLang="en-US" sz="1600" b="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72478001"/>
                  </a:ext>
                </a:extLst>
              </a:tr>
              <a:tr h="474743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@Min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err="1" smtClean="0"/>
                        <a:t>프로퍼티</a:t>
                      </a:r>
                      <a:r>
                        <a:rPr lang="ko-KR" altLang="en-US" sz="1600" b="0" dirty="0" smtClean="0"/>
                        <a:t> 값이 가질 수 있는 최소 길이 검사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6814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7665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/>
              <a:t>유효성 검사</a:t>
            </a:r>
            <a:r>
              <a:rPr lang="en-US" altLang="ko-KR" dirty="0"/>
              <a:t>(Validation)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48544" y="980728"/>
            <a:ext cx="38164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유효성 검사</a:t>
            </a:r>
            <a:endParaRPr lang="en-US" altLang="ko-KR" sz="2000" b="1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1280592" y="1484784"/>
            <a:ext cx="43204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 smtClean="0"/>
              <a:t>제약사항 </a:t>
            </a:r>
            <a:r>
              <a:rPr lang="ko-KR" altLang="en-US" b="1" dirty="0" err="1" smtClean="0"/>
              <a:t>애너테이션</a:t>
            </a:r>
            <a:r>
              <a:rPr lang="ko-KR" altLang="en-US" b="1" dirty="0" smtClean="0"/>
              <a:t> 기본 메시지</a:t>
            </a:r>
            <a:endParaRPr lang="en-US" altLang="ko-KR" b="1" dirty="0" smtClean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776796"/>
              </p:ext>
            </p:extLst>
          </p:nvPr>
        </p:nvGraphicFramePr>
        <p:xfrm>
          <a:off x="1424608" y="2132423"/>
          <a:ext cx="8064896" cy="29273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64111">
                  <a:extLst>
                    <a:ext uri="{9D8B030D-6E8A-4147-A177-3AD203B41FA5}">
                      <a16:colId xmlns:a16="http://schemas.microsoft.com/office/drawing/2014/main" val="3993985894"/>
                    </a:ext>
                  </a:extLst>
                </a:gridCol>
                <a:gridCol w="5500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7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smtClean="0"/>
                        <a:t>메서드</a:t>
                      </a:r>
                      <a:endParaRPr lang="ko-KR" altLang="en-US" sz="1800" b="1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 smtClean="0"/>
                        <a:t>설명</a:t>
                      </a:r>
                      <a:endParaRPr lang="ko-KR" altLang="en-US" sz="1800" b="1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401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@</a:t>
                      </a:r>
                      <a:r>
                        <a:rPr lang="en-US" altLang="ko-KR" sz="1800" b="0" dirty="0" err="1" smtClean="0"/>
                        <a:t>NotEmpty</a:t>
                      </a:r>
                      <a:endParaRPr lang="en-US" altLang="ko-KR" sz="1800" b="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smtClean="0"/>
                        <a:t>비어 있을 수 없습니다</a:t>
                      </a:r>
                      <a:r>
                        <a:rPr lang="en-US" altLang="ko-KR" sz="1600" b="0" dirty="0" smtClean="0"/>
                        <a:t>.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401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@Email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smtClean="0"/>
                        <a:t>올바른 형식의 이메일 주소여야 합니다</a:t>
                      </a:r>
                      <a:r>
                        <a:rPr lang="en-US" altLang="ko-KR" sz="1600" b="0" dirty="0" smtClean="0"/>
                        <a:t>.</a:t>
                      </a:r>
                      <a:endParaRPr lang="ko-KR" altLang="en-US" sz="1600" b="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401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@Size(min=,</a:t>
                      </a:r>
                      <a:r>
                        <a:rPr lang="en-US" altLang="ko-KR" sz="1800" b="0" baseline="0" dirty="0" smtClean="0"/>
                        <a:t> max=)</a:t>
                      </a:r>
                      <a:endParaRPr lang="en-US" altLang="ko-KR" sz="1800" b="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 smtClean="0"/>
                        <a:t> </a:t>
                      </a:r>
                      <a:r>
                        <a:rPr lang="ko-KR" altLang="en-US" sz="1600" b="0" dirty="0" smtClean="0"/>
                        <a:t>크기가</a:t>
                      </a:r>
                      <a:r>
                        <a:rPr lang="en-US" altLang="ko-KR" sz="1600" b="0" dirty="0" smtClean="0"/>
                        <a:t>(min)</a:t>
                      </a:r>
                      <a:r>
                        <a:rPr lang="ko-KR" altLang="en-US" sz="1600" b="0" dirty="0" smtClean="0"/>
                        <a:t>에서 </a:t>
                      </a:r>
                      <a:r>
                        <a:rPr lang="en-US" altLang="ko-KR" sz="1600" b="0" dirty="0" smtClean="0"/>
                        <a:t>(max) </a:t>
                      </a:r>
                      <a:r>
                        <a:rPr lang="ko-KR" altLang="en-US" sz="1600" b="0" dirty="0" smtClean="0"/>
                        <a:t>사이여야 합니다</a:t>
                      </a:r>
                      <a:r>
                        <a:rPr lang="en-US" altLang="ko-KR" sz="1600" b="0" dirty="0" smtClean="0"/>
                        <a:t>.</a:t>
                      </a:r>
                      <a:endParaRPr lang="ko-KR" altLang="en-US" sz="1600" b="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73343395"/>
                  </a:ext>
                </a:extLst>
              </a:tr>
              <a:tr h="450401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@Max(value=)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b="0" dirty="0" smtClean="0"/>
                        <a:t> (value) </a:t>
                      </a:r>
                      <a:r>
                        <a:rPr lang="ko-KR" altLang="en-US" sz="1600" b="0" dirty="0" smtClean="0"/>
                        <a:t>이하 여야 합니다</a:t>
                      </a:r>
                      <a:r>
                        <a:rPr lang="en-US" altLang="ko-KR" sz="1600" b="0" dirty="0" smtClean="0"/>
                        <a:t>.</a:t>
                      </a:r>
                      <a:endParaRPr lang="ko-KR" altLang="en-US" sz="1600" b="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72478001"/>
                  </a:ext>
                </a:extLst>
              </a:tr>
              <a:tr h="450401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 @Min(value=)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smtClean="0"/>
                        <a:t> (value)</a:t>
                      </a:r>
                      <a:r>
                        <a:rPr lang="en-US" altLang="ko-KR" sz="1600" b="0" baseline="0" dirty="0" smtClean="0"/>
                        <a:t> </a:t>
                      </a:r>
                      <a:r>
                        <a:rPr lang="ko-KR" altLang="en-US" sz="1600" b="0" baseline="0" dirty="0" smtClean="0"/>
                        <a:t>이상 이어야 합니다</a:t>
                      </a:r>
                      <a:r>
                        <a:rPr lang="en-US" altLang="ko-KR" sz="1600" b="0" baseline="0" dirty="0" smtClean="0"/>
                        <a:t>.</a:t>
                      </a:r>
                      <a:endParaRPr lang="ko-KR" altLang="en-US" sz="1600" b="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6814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7280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/>
              <a:t>유효성 검사</a:t>
            </a:r>
            <a:r>
              <a:rPr lang="en-US" altLang="ko-KR" dirty="0"/>
              <a:t>(Validation)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032" y="1340768"/>
            <a:ext cx="3864051" cy="190990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295" y="3429000"/>
            <a:ext cx="4156057" cy="19442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32657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/>
              <a:t>유효성 검사</a:t>
            </a:r>
            <a:r>
              <a:rPr lang="en-US" altLang="ko-KR" dirty="0"/>
              <a:t>(Validation)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48544" y="980728"/>
            <a:ext cx="38164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Product DTO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28366"/>
            <a:ext cx="7441641" cy="27763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" name="모서리가 둥근 직사각형 1"/>
          <p:cNvSpPr/>
          <p:nvPr/>
        </p:nvSpPr>
        <p:spPr>
          <a:xfrm>
            <a:off x="4304928" y="2564904"/>
            <a:ext cx="4536504" cy="648072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6897216" y="2195572"/>
            <a:ext cx="18250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i="1" smtClean="0"/>
              <a:t>기본 메시지 대체</a:t>
            </a:r>
            <a:endParaRPr lang="ko-KR" altLang="en-US" sz="1600" i="1"/>
          </a:p>
        </p:txBody>
      </p:sp>
    </p:spTree>
    <p:extLst>
      <p:ext uri="{BB962C8B-B14F-4D97-AF65-F5344CB8AC3E}">
        <p14:creationId xmlns:p14="http://schemas.microsoft.com/office/powerpoint/2010/main" val="1609713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/>
              <a:t>유효성 검사</a:t>
            </a:r>
            <a:r>
              <a:rPr lang="en-US" altLang="ko-KR" dirty="0"/>
              <a:t>(Validation)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48544" y="980728"/>
            <a:ext cx="38164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 smtClean="0"/>
              <a:t>ValidController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556792"/>
            <a:ext cx="7543458" cy="453840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3534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/>
              <a:t>유효성 검사</a:t>
            </a:r>
            <a:r>
              <a:rPr lang="en-US" altLang="ko-KR" dirty="0"/>
              <a:t>(Validation)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48544" y="980728"/>
            <a:ext cx="38164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viewPage01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5" y="1661281"/>
            <a:ext cx="7473390" cy="277583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95519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/>
              <a:t>유효성 검사</a:t>
            </a:r>
            <a:r>
              <a:rPr lang="en-US" altLang="ko-KR" dirty="0"/>
              <a:t>(Validation)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48544" y="980728"/>
            <a:ext cx="38164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viewPage01_result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700808"/>
            <a:ext cx="5616624" cy="22501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10986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예외 처리</a:t>
            </a:r>
            <a:r>
              <a:rPr lang="en-US" altLang="ko-KR" b="1" dirty="0" smtClean="0"/>
              <a:t>(Exception Handling)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312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예외 처리 </a:t>
            </a:r>
            <a:endParaRPr lang="ko-KR" alt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208584" y="1578565"/>
            <a:ext cx="8352928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 smtClean="0"/>
              <a:t>예외의 개념</a:t>
            </a:r>
            <a:endParaRPr lang="en-US" altLang="ko-KR" b="1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사용자가 시스템을 사용하다 보면 웹 페이지 </a:t>
            </a:r>
            <a:r>
              <a:rPr lang="en-US" altLang="ko-KR" sz="1600" dirty="0" smtClean="0"/>
              <a:t>URL </a:t>
            </a:r>
            <a:r>
              <a:rPr lang="ko-KR" altLang="en-US" sz="1600" dirty="0" smtClean="0"/>
              <a:t>경로를 잘못 입력하거나 </a:t>
            </a:r>
            <a:r>
              <a:rPr lang="ko-KR" altLang="en-US" sz="1600" dirty="0" err="1" smtClean="0"/>
              <a:t>파라미터를</a:t>
            </a:r>
            <a:r>
              <a:rPr lang="ko-KR" altLang="en-US" sz="1600" dirty="0" smtClean="0"/>
              <a:t> 잘못 전달하여 문제가 발생하는 경우가 있다</a:t>
            </a:r>
            <a:r>
              <a:rPr lang="en-US" altLang="ko-KR" sz="1600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또는 서버에서 실행되는 프로그램에서 생각하지 못했던 문제가 발생할 수 도 있다</a:t>
            </a:r>
            <a:r>
              <a:rPr lang="en-US" altLang="ko-KR" sz="1600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이렇게 사용자의 부주의나 코드 자체의 오류로 인해 문제가 </a:t>
            </a:r>
            <a:r>
              <a:rPr lang="ko-KR" altLang="en-US" sz="1600" dirty="0" err="1" smtClean="0"/>
              <a:t>발생했을때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발생된 문제를 적절하게 처리하지 않으면 사용자 브라우저에서 에러 메시지가 출력된다</a:t>
            </a:r>
            <a:r>
              <a:rPr lang="en-US" altLang="ko-KR" sz="16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2528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예외 처리</a:t>
            </a:r>
            <a:r>
              <a:rPr lang="en-US" altLang="ko-KR" b="1" dirty="0" smtClean="0"/>
              <a:t>(Exception Handling)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3123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예외 처리 </a:t>
            </a:r>
            <a:endParaRPr lang="ko-KR" alt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208584" y="1556792"/>
            <a:ext cx="83529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 smtClean="0"/>
              <a:t>스프링부트에서 </a:t>
            </a:r>
            <a:r>
              <a:rPr lang="ko-KR" altLang="en-US" b="1" dirty="0"/>
              <a:t>예외를 처리하는 방법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1</a:t>
            </a:r>
            <a:r>
              <a:rPr lang="en-US" altLang="ko-KR" dirty="0"/>
              <a:t>) </a:t>
            </a:r>
            <a:r>
              <a:rPr lang="en-US" altLang="ko-KR" b="1" dirty="0"/>
              <a:t>@</a:t>
            </a:r>
            <a:r>
              <a:rPr lang="en-US" altLang="ko-KR" b="1" dirty="0" err="1"/>
              <a:t>ControllerAdvice</a:t>
            </a:r>
            <a:r>
              <a:rPr lang="en-US" altLang="ko-KR" b="1" dirty="0"/>
              <a:t> </a:t>
            </a:r>
            <a:r>
              <a:rPr lang="ko-KR" altLang="en-US" dirty="0" err="1"/>
              <a:t>어노테이션을</a:t>
            </a:r>
            <a:r>
              <a:rPr lang="ko-KR" altLang="en-US" dirty="0"/>
              <a:t> 이용하여 모든 컨트롤러에서 발생하는 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r>
              <a:rPr lang="ko-KR" altLang="en-US" dirty="0" smtClean="0"/>
              <a:t>예외를 일괄적으로 </a:t>
            </a:r>
            <a:r>
              <a:rPr lang="ko-KR" altLang="en-US" dirty="0"/>
              <a:t>처리한다</a:t>
            </a:r>
            <a:r>
              <a:rPr lang="en-US" altLang="ko-KR" dirty="0"/>
              <a:t>. (</a:t>
            </a:r>
            <a:r>
              <a:rPr lang="ko-KR" altLang="en-US" dirty="0"/>
              <a:t>전역 </a:t>
            </a:r>
            <a:r>
              <a:rPr lang="ko-KR" altLang="en-US" dirty="0" smtClean="0"/>
              <a:t>예외 처리</a:t>
            </a:r>
            <a:r>
              <a:rPr lang="en-US" altLang="ko-KR" dirty="0" smtClean="0"/>
              <a:t>)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2</a:t>
            </a:r>
            <a:r>
              <a:rPr lang="en-US" altLang="ko-KR" dirty="0"/>
              <a:t>) </a:t>
            </a:r>
            <a:r>
              <a:rPr lang="en-US" altLang="ko-KR" b="1" dirty="0"/>
              <a:t>@</a:t>
            </a:r>
            <a:r>
              <a:rPr lang="en-US" altLang="ko-KR" b="1" dirty="0" err="1"/>
              <a:t>ExceptionHandler</a:t>
            </a:r>
            <a:r>
              <a:rPr lang="en-US" altLang="ko-KR" b="1" dirty="0"/>
              <a:t> </a:t>
            </a:r>
            <a:r>
              <a:rPr lang="ko-KR" altLang="en-US" dirty="0" err="1"/>
              <a:t>어노테이션을</a:t>
            </a:r>
            <a:r>
              <a:rPr lang="ko-KR" altLang="en-US" dirty="0"/>
              <a:t> 이용하여 각 컨트롤러마다 발생하는 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 </a:t>
            </a:r>
            <a:r>
              <a:rPr lang="ko-KR" altLang="en-US" dirty="0" smtClean="0"/>
              <a:t>예외를 개별적으로 </a:t>
            </a:r>
            <a:r>
              <a:rPr lang="ko-KR" altLang="en-US" dirty="0"/>
              <a:t>처리한다</a:t>
            </a:r>
            <a:r>
              <a:rPr lang="en-US" altLang="ko-KR" dirty="0"/>
              <a:t>. (</a:t>
            </a:r>
            <a:r>
              <a:rPr lang="ko-KR" altLang="en-US" dirty="0"/>
              <a:t>로컬 </a:t>
            </a:r>
            <a:r>
              <a:rPr lang="ko-KR" altLang="en-US" dirty="0" smtClean="0"/>
              <a:t>예외 처리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34946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예외 처리</a:t>
            </a:r>
            <a:r>
              <a:rPr lang="en-US" altLang="ko-KR" b="1" dirty="0" smtClean="0"/>
              <a:t>(Exception Handling)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48544" y="1101823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사용자 정의 예외 만들기</a:t>
            </a:r>
            <a:r>
              <a:rPr lang="ko-KR" altLang="en-US" sz="2000" b="1" dirty="0" smtClean="0"/>
              <a:t> </a:t>
            </a:r>
            <a:endParaRPr lang="ko-KR" altLang="en-US" sz="2000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2132856"/>
            <a:ext cx="6552728" cy="218163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1208584" y="1591506"/>
            <a:ext cx="4118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RuntimeException</a:t>
            </a:r>
            <a:r>
              <a:rPr lang="ko-KR" altLang="en-US" dirty="0" smtClean="0"/>
              <a:t>을 상속받아 만든다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1274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예외 처리</a:t>
            </a:r>
            <a:r>
              <a:rPr lang="en-US" altLang="ko-KR" b="1" dirty="0" smtClean="0"/>
              <a:t>(Exception Handling)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28800"/>
            <a:ext cx="6291410" cy="238379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48544" y="1101823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404 </a:t>
            </a:r>
            <a:r>
              <a:rPr lang="ko-KR" altLang="en-US" sz="2000" b="1" dirty="0" smtClean="0"/>
              <a:t>오류 </a:t>
            </a:r>
            <a:r>
              <a:rPr lang="en-US" altLang="ko-KR" sz="2000" b="1" dirty="0" smtClean="0"/>
              <a:t>– </a:t>
            </a:r>
            <a:r>
              <a:rPr lang="ko-KR" altLang="en-US" sz="2000" b="1" dirty="0" smtClean="0"/>
              <a:t>페이지를 찾을 수 없을 때 </a:t>
            </a:r>
            <a:endParaRPr lang="ko-KR" altLang="en-US" sz="2000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1208584" y="3284984"/>
            <a:ext cx="4896544" cy="360040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4755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예외 처리</a:t>
            </a:r>
            <a:r>
              <a:rPr lang="en-US" altLang="ko-KR" b="1" dirty="0" smtClean="0"/>
              <a:t>(Exception Handling)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404 </a:t>
            </a:r>
            <a:r>
              <a:rPr lang="ko-KR" altLang="en-US" sz="2000" b="1" dirty="0" smtClean="0"/>
              <a:t>오류 </a:t>
            </a:r>
            <a:r>
              <a:rPr lang="en-US" altLang="ko-KR" sz="2000" b="1" dirty="0" smtClean="0"/>
              <a:t>– </a:t>
            </a:r>
            <a:r>
              <a:rPr lang="ko-KR" altLang="en-US" sz="2000" b="1" dirty="0" smtClean="0"/>
              <a:t>페이지를 찾을 수 없을 때 </a:t>
            </a:r>
            <a:endParaRPr lang="ko-KR" altLang="en-US" sz="2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44" y="1742149"/>
            <a:ext cx="8371355" cy="230425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19249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예외 처리</a:t>
            </a:r>
            <a:r>
              <a:rPr lang="en-US" altLang="ko-KR" b="1" dirty="0" smtClean="0"/>
              <a:t>(Exception Handling)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48544" y="1101823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@</a:t>
            </a:r>
            <a:r>
              <a:rPr lang="en-US" altLang="ko-KR" sz="2000" b="1" dirty="0" err="1" smtClean="0"/>
              <a:t>ExceptionHandler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사용한 예외 처리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700808"/>
            <a:ext cx="7344816" cy="345514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46446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예외 처리</a:t>
            </a:r>
            <a:r>
              <a:rPr lang="en-US" altLang="ko-KR" b="1" dirty="0" smtClean="0"/>
              <a:t>(Exception Handling)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569644" y="4005064"/>
            <a:ext cx="1930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viewPage01.html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@</a:t>
            </a:r>
            <a:r>
              <a:rPr lang="en-US" altLang="ko-KR" sz="2000" b="1" dirty="0" err="1" smtClean="0"/>
              <a:t>ExceptionHandler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사용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46097"/>
            <a:ext cx="6561125" cy="18547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112" y="4509120"/>
            <a:ext cx="5704869" cy="110416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83031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예외 처리</a:t>
            </a:r>
            <a:r>
              <a:rPr lang="en-US" altLang="ko-KR" b="1" dirty="0" smtClean="0"/>
              <a:t>(Exception Handling)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1101823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@</a:t>
            </a:r>
            <a:r>
              <a:rPr lang="en-US" altLang="ko-KR" sz="2000" b="1" dirty="0" err="1" smtClean="0"/>
              <a:t>ControllerAdvice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사용한 예외 처리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28800"/>
            <a:ext cx="8025070" cy="29489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73332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예외 처리</a:t>
            </a:r>
            <a:r>
              <a:rPr lang="en-US" altLang="ko-KR" b="1" dirty="0" smtClean="0"/>
              <a:t>(Exception Handling)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1101823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@</a:t>
            </a:r>
            <a:r>
              <a:rPr lang="en-US" altLang="ko-KR" sz="2000" b="1" dirty="0" err="1" smtClean="0"/>
              <a:t>ControllerAdvice</a:t>
            </a:r>
            <a:r>
              <a:rPr lang="ko-KR" altLang="en-US" sz="2000" b="1" dirty="0" smtClean="0"/>
              <a:t>를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사용한 예외 처리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700808"/>
            <a:ext cx="7263624" cy="215688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80011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b="1" dirty="0" smtClean="0"/>
              <a:t>예외 처리</a:t>
            </a:r>
            <a:r>
              <a:rPr lang="en-US" altLang="ko-KR" b="1" dirty="0" smtClean="0"/>
              <a:t>(Exception Handling)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1101823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@</a:t>
            </a:r>
            <a:r>
              <a:rPr lang="en-US" altLang="ko-KR" sz="2000" b="1" dirty="0" err="1" smtClean="0"/>
              <a:t>ControllerAdvice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사용</a:t>
            </a:r>
            <a:endParaRPr lang="ko-KR" alt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551055" y="4149080"/>
            <a:ext cx="1930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viewPage02.html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711010"/>
            <a:ext cx="6496401" cy="206533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776" y="4640037"/>
            <a:ext cx="5544616" cy="110382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08841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dirty="0" smtClean="0"/>
              <a:t>Friends </a:t>
            </a:r>
            <a:r>
              <a:rPr lang="ko-KR" altLang="en-US" dirty="0" smtClean="0"/>
              <a:t>프로젝트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1101823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사용자 정의 예외 </a:t>
            </a:r>
            <a:r>
              <a:rPr lang="ko-KR" altLang="en-US" sz="2000" b="1" dirty="0" smtClean="0"/>
              <a:t>만들기 </a:t>
            </a:r>
            <a:r>
              <a:rPr lang="en-US" altLang="ko-KR" sz="2000" b="1" dirty="0" smtClean="0"/>
              <a:t>- </a:t>
            </a:r>
            <a:r>
              <a:rPr lang="en-US" altLang="ko-KR" sz="2000" b="1" dirty="0" err="1" smtClean="0"/>
              <a:t>UserException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700808"/>
            <a:ext cx="6373119" cy="237445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2543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dirty="0" smtClean="0"/>
              <a:t>Friends </a:t>
            </a:r>
            <a:r>
              <a:rPr lang="ko-KR" altLang="en-US" dirty="0" smtClean="0"/>
              <a:t>프로젝트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1101823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전역으로</a:t>
            </a:r>
            <a:r>
              <a:rPr lang="ko-KR" altLang="en-US" sz="2000" b="1" dirty="0" smtClean="0"/>
              <a:t> 예외 다루기</a:t>
            </a:r>
            <a:r>
              <a:rPr lang="ko-KR" altLang="en-US" sz="2000" b="1" dirty="0" smtClean="0"/>
              <a:t> </a:t>
            </a:r>
            <a:r>
              <a:rPr lang="en-US" altLang="ko-KR" sz="2000" b="1" dirty="0" smtClean="0"/>
              <a:t>- @</a:t>
            </a:r>
            <a:r>
              <a:rPr lang="en-US" altLang="ko-KR" sz="2000" b="1" dirty="0" err="1" smtClean="0"/>
              <a:t>ExceptionHandler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76" y="1700808"/>
            <a:ext cx="8258493" cy="332119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82730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dirty="0" smtClean="0"/>
              <a:t>Friends </a:t>
            </a:r>
            <a:r>
              <a:rPr lang="ko-KR" altLang="en-US" dirty="0" smtClean="0"/>
              <a:t>프로젝트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1101823"/>
            <a:ext cx="6192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에러 페이지 </a:t>
            </a:r>
            <a:r>
              <a:rPr lang="en-US" altLang="ko-KR" sz="2000" b="1" dirty="0" smtClean="0"/>
              <a:t>– errorPage.html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776172"/>
            <a:ext cx="6902673" cy="17080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1064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dirty="0" smtClean="0"/>
              <a:t>Friends </a:t>
            </a:r>
            <a:r>
              <a:rPr lang="ko-KR" altLang="en-US" dirty="0" smtClean="0"/>
              <a:t>프로젝트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1101823"/>
            <a:ext cx="7488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회원이 존재하지 않을 때 예외 처리 </a:t>
            </a:r>
            <a:r>
              <a:rPr lang="en-US" altLang="ko-KR" sz="2000" b="1" dirty="0" smtClean="0"/>
              <a:t>- </a:t>
            </a:r>
            <a:r>
              <a:rPr lang="en-US" altLang="ko-KR" sz="2000" b="1" dirty="0" err="1" smtClean="0"/>
              <a:t>MemberController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279" y="1700808"/>
            <a:ext cx="6508026" cy="214091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03684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dirty="0" smtClean="0"/>
              <a:t>Friends </a:t>
            </a:r>
            <a:r>
              <a:rPr lang="ko-KR" altLang="en-US" dirty="0" smtClean="0"/>
              <a:t>프로젝트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1101823"/>
            <a:ext cx="7488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회원이 존재하지 않을 때 예외 처리 </a:t>
            </a:r>
            <a:r>
              <a:rPr lang="en-US" altLang="ko-KR" sz="2000" b="1" dirty="0" smtClean="0"/>
              <a:t>- </a:t>
            </a:r>
            <a:r>
              <a:rPr lang="en-US" altLang="ko-KR" sz="2000" b="1" dirty="0" err="1" smtClean="0"/>
              <a:t>MemberService</a:t>
            </a:r>
            <a:endParaRPr lang="ko-KR" altLang="en-US" sz="20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700808"/>
            <a:ext cx="8227973" cy="26642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42247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dirty="0" smtClean="0"/>
              <a:t>Friends </a:t>
            </a:r>
            <a:r>
              <a:rPr lang="ko-KR" altLang="en-US" dirty="0" smtClean="0"/>
              <a:t>프로젝트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1101823"/>
            <a:ext cx="7488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100</a:t>
            </a:r>
            <a:r>
              <a:rPr lang="ko-KR" altLang="en-US" sz="2000" b="1" dirty="0" smtClean="0"/>
              <a:t>번 회원이 존재하지 않을 때 예외 처리</a:t>
            </a:r>
            <a:endParaRPr lang="ko-KR" altLang="en-US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809478"/>
            <a:ext cx="6752212" cy="209579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80892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dirty="0" smtClean="0"/>
              <a:t>Friends </a:t>
            </a:r>
            <a:r>
              <a:rPr lang="ko-KR" altLang="en-US" dirty="0" smtClean="0"/>
              <a:t>프로젝트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48544" y="1101823"/>
            <a:ext cx="7488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100</a:t>
            </a:r>
            <a:r>
              <a:rPr lang="ko-KR" altLang="en-US" sz="2000" b="1" dirty="0" smtClean="0"/>
              <a:t>번 </a:t>
            </a:r>
            <a:r>
              <a:rPr lang="ko-KR" altLang="en-US" sz="2000" b="1" dirty="0" err="1" smtClean="0"/>
              <a:t>게시글이</a:t>
            </a:r>
            <a:r>
              <a:rPr lang="ko-KR" altLang="en-US" sz="2000" b="1" dirty="0" smtClean="0"/>
              <a:t> 존재하지 않을 때 예외 처리</a:t>
            </a:r>
            <a:endParaRPr lang="ko-KR" altLang="en-US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774644"/>
            <a:ext cx="7560550" cy="210895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81819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배포</a:t>
            </a:r>
            <a:r>
              <a:rPr lang="en-US" altLang="ko-KR" dirty="0" smtClean="0"/>
              <a:t>(Deploy)</a:t>
            </a:r>
            <a:endParaRPr lang="ko-KR" altLang="en-US" dirty="0"/>
          </a:p>
        </p:txBody>
      </p:sp>
      <p:sp>
        <p:nvSpPr>
          <p:cNvPr id="8" name="TextBox 9"/>
          <p:cNvSpPr txBox="1"/>
          <p:nvPr/>
        </p:nvSpPr>
        <p:spPr>
          <a:xfrm>
            <a:off x="1273760" y="1527968"/>
            <a:ext cx="61275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프로젝트 </a:t>
            </a:r>
            <a:r>
              <a:rPr lang="en-US" altLang="ko-KR" dirty="0" smtClean="0"/>
              <a:t>&gt; </a:t>
            </a:r>
            <a:r>
              <a:rPr lang="ko-KR" altLang="en-US" dirty="0" err="1" smtClean="0"/>
              <a:t>우클릭</a:t>
            </a:r>
            <a:r>
              <a:rPr lang="ko-KR" altLang="en-US" dirty="0" smtClean="0"/>
              <a:t> </a:t>
            </a:r>
            <a:r>
              <a:rPr lang="en-US" altLang="ko-KR" dirty="0" smtClean="0"/>
              <a:t>&gt; Run As &gt; </a:t>
            </a:r>
            <a:r>
              <a:rPr lang="en-US" altLang="ko-KR" sz="2000" b="1" dirty="0" smtClean="0"/>
              <a:t>Maven install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44" y="980728"/>
            <a:ext cx="38164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배포하기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639" y="2852936"/>
            <a:ext cx="3699021" cy="205778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3" name="모서리가 둥근 직사각형 12"/>
          <p:cNvSpPr/>
          <p:nvPr/>
        </p:nvSpPr>
        <p:spPr>
          <a:xfrm>
            <a:off x="2302671" y="4293096"/>
            <a:ext cx="2952328" cy="360040"/>
          </a:xfrm>
          <a:prstGeom prst="round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9"/>
          <p:cNvSpPr txBox="1"/>
          <p:nvPr/>
        </p:nvSpPr>
        <p:spPr>
          <a:xfrm>
            <a:off x="1568624" y="2070892"/>
            <a:ext cx="431668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dirty="0" smtClean="0"/>
              <a:t>target &gt; </a:t>
            </a:r>
            <a:r>
              <a:rPr lang="ko-KR" altLang="en-US" dirty="0" smtClean="0"/>
              <a:t>프로젝트이름</a:t>
            </a:r>
            <a:r>
              <a:rPr lang="en-US" altLang="ko-KR" dirty="0" smtClean="0"/>
              <a:t>.jar </a:t>
            </a:r>
            <a:r>
              <a:rPr lang="ko-KR" altLang="en-US" dirty="0" smtClean="0"/>
              <a:t>파일 생성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272240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배포</a:t>
            </a:r>
            <a:r>
              <a:rPr lang="en-US" altLang="ko-KR" dirty="0" smtClean="0"/>
              <a:t>(Deploy)</a:t>
            </a:r>
            <a:endParaRPr lang="ko-KR" altLang="en-US" dirty="0"/>
          </a:p>
        </p:txBody>
      </p:sp>
      <p:sp>
        <p:nvSpPr>
          <p:cNvPr id="8" name="TextBox 9"/>
          <p:cNvSpPr txBox="1"/>
          <p:nvPr/>
        </p:nvSpPr>
        <p:spPr>
          <a:xfrm>
            <a:off x="1177820" y="1551779"/>
            <a:ext cx="7663612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 smtClean="0"/>
              <a:t>프로젝트이름</a:t>
            </a:r>
            <a:r>
              <a:rPr lang="en-US" altLang="ko-KR" b="1" dirty="0" smtClean="0"/>
              <a:t>.jar &gt; </a:t>
            </a:r>
            <a:r>
              <a:rPr lang="ko-KR" altLang="en-US" b="1" dirty="0" smtClean="0"/>
              <a:t>우측메뉴 </a:t>
            </a:r>
            <a:r>
              <a:rPr lang="en-US" altLang="ko-KR" b="1" dirty="0" smtClean="0"/>
              <a:t>&gt; Show in Local Terminal &gt; Terminal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678" y="2182379"/>
            <a:ext cx="4861982" cy="118120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1" name="TextBox 7"/>
          <p:cNvSpPr txBox="1"/>
          <p:nvPr/>
        </p:nvSpPr>
        <p:spPr>
          <a:xfrm>
            <a:off x="1280592" y="3706460"/>
            <a:ext cx="5832648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/>
              <a:t>java -jar </a:t>
            </a:r>
            <a:r>
              <a:rPr lang="ko-KR" altLang="en-US" b="1" dirty="0" smtClean="0"/>
              <a:t>프로젝트이름</a:t>
            </a:r>
            <a:r>
              <a:rPr lang="en-US" altLang="ko-KR" b="1" dirty="0" smtClean="0"/>
              <a:t>.jar </a:t>
            </a:r>
            <a:r>
              <a:rPr lang="ko-KR" altLang="en-US" dirty="0" smtClean="0"/>
              <a:t>명령 입력</a:t>
            </a:r>
            <a:endParaRPr lang="en-US" altLang="ko-KR" dirty="0" smtClean="0"/>
          </a:p>
        </p:txBody>
      </p:sp>
      <p:sp>
        <p:nvSpPr>
          <p:cNvPr id="12" name="TextBox 11"/>
          <p:cNvSpPr txBox="1"/>
          <p:nvPr/>
        </p:nvSpPr>
        <p:spPr>
          <a:xfrm>
            <a:off x="848544" y="980728"/>
            <a:ext cx="38164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jar </a:t>
            </a:r>
            <a:r>
              <a:rPr lang="ko-KR" altLang="en-US" sz="2000" b="1" dirty="0" smtClean="0"/>
              <a:t>파일 실행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664" y="4293096"/>
            <a:ext cx="5256584" cy="12347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72980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배포</a:t>
            </a:r>
            <a:r>
              <a:rPr lang="en-US" altLang="ko-KR" dirty="0" smtClean="0"/>
              <a:t>(Deploy)</a:t>
            </a:r>
            <a:endParaRPr lang="ko-KR" altLang="en-US" dirty="0"/>
          </a:p>
        </p:txBody>
      </p:sp>
      <p:sp>
        <p:nvSpPr>
          <p:cNvPr id="8" name="TextBox 9"/>
          <p:cNvSpPr txBox="1"/>
          <p:nvPr/>
        </p:nvSpPr>
        <p:spPr>
          <a:xfrm>
            <a:off x="1177820" y="1551779"/>
            <a:ext cx="7663612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b="1" dirty="0" smtClean="0"/>
              <a:t>명령 프롬프트</a:t>
            </a:r>
            <a:r>
              <a:rPr lang="en-US" altLang="ko-KR" b="1" dirty="0" smtClean="0"/>
              <a:t>(CMD)</a:t>
            </a:r>
            <a:r>
              <a:rPr lang="ko-KR" altLang="en-US" b="1" dirty="0" smtClean="0"/>
              <a:t>에서 실행하기</a:t>
            </a:r>
            <a:endParaRPr lang="en-US" altLang="ko-KR" b="1" dirty="0" smtClean="0"/>
          </a:p>
        </p:txBody>
      </p:sp>
      <p:sp>
        <p:nvSpPr>
          <p:cNvPr id="12" name="TextBox 11"/>
          <p:cNvSpPr txBox="1"/>
          <p:nvPr/>
        </p:nvSpPr>
        <p:spPr>
          <a:xfrm>
            <a:off x="848544" y="980728"/>
            <a:ext cx="38164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smtClean="0"/>
              <a:t>jar </a:t>
            </a:r>
            <a:r>
              <a:rPr lang="ko-KR" altLang="en-US" sz="2000" b="1" dirty="0" smtClean="0"/>
              <a:t>파일 실행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r="19238"/>
          <a:stretch/>
        </p:blipFill>
        <p:spPr>
          <a:xfrm>
            <a:off x="1532620" y="2109822"/>
            <a:ext cx="5940660" cy="3221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895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배포</a:t>
            </a:r>
            <a:r>
              <a:rPr lang="en-US" altLang="ko-KR" dirty="0" smtClean="0"/>
              <a:t>(Deploy)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48544" y="980728"/>
            <a:ext cx="38164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브라우저에서 실행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672" y="1628366"/>
            <a:ext cx="4583683" cy="447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70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13379</TotalTime>
  <Words>624</Words>
  <Application>Microsoft Office PowerPoint</Application>
  <PresentationFormat>A4 용지(210x297mm)</PresentationFormat>
  <Paragraphs>113</Paragraphs>
  <Slides>30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7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6장. 유효성 검사, 예외 처리, 배포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LG</cp:lastModifiedBy>
  <cp:revision>872</cp:revision>
  <dcterms:created xsi:type="dcterms:W3CDTF">2019-03-04T02:36:55Z</dcterms:created>
  <dcterms:modified xsi:type="dcterms:W3CDTF">2025-11-03T22:01:32Z</dcterms:modified>
</cp:coreProperties>
</file>