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256" r:id="rId2"/>
    <p:sldId id="461" r:id="rId3"/>
    <p:sldId id="477" r:id="rId4"/>
    <p:sldId id="473" r:id="rId5"/>
    <p:sldId id="492" r:id="rId6"/>
    <p:sldId id="493" r:id="rId7"/>
    <p:sldId id="464" r:id="rId8"/>
    <p:sldId id="462" r:id="rId9"/>
    <p:sldId id="467" r:id="rId10"/>
    <p:sldId id="496" r:id="rId11"/>
    <p:sldId id="506" r:id="rId12"/>
    <p:sldId id="499" r:id="rId13"/>
    <p:sldId id="500" r:id="rId14"/>
    <p:sldId id="508" r:id="rId15"/>
    <p:sldId id="503" r:id="rId16"/>
    <p:sldId id="509" r:id="rId17"/>
    <p:sldId id="511" r:id="rId18"/>
    <p:sldId id="512" r:id="rId19"/>
    <p:sldId id="504" r:id="rId20"/>
    <p:sldId id="510" r:id="rId21"/>
    <p:sldId id="507" r:id="rId22"/>
    <p:sldId id="505" r:id="rId23"/>
    <p:sldId id="498" r:id="rId24"/>
    <p:sldId id="495" r:id="rId25"/>
    <p:sldId id="468" r:id="rId26"/>
    <p:sldId id="475" r:id="rId27"/>
    <p:sldId id="494" r:id="rId28"/>
    <p:sldId id="476" r:id="rId29"/>
    <p:sldId id="470" r:id="rId30"/>
    <p:sldId id="478" r:id="rId31"/>
    <p:sldId id="501" r:id="rId32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>
      <p:cViewPr varScale="1">
        <p:scale>
          <a:sx n="88" d="100"/>
          <a:sy n="88" d="100"/>
        </p:scale>
        <p:origin x="1056" y="7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525344"/>
            <a:ext cx="9945555" cy="33265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41432" y="6525344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28" y="6412104"/>
            <a:ext cx="381583" cy="35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>
              <a:lumMod val="95000"/>
            </a:schemeClr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.../search?q=&#51204;&#44592;&#52264;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boards/1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2</a:t>
            </a:r>
            <a:r>
              <a:rPr lang="ko-KR" altLang="en-US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타임리프</a:t>
            </a:r>
            <a:r>
              <a:rPr lang="en-US" altLang="ko-KR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(</a:t>
            </a:r>
            <a:r>
              <a:rPr lang="en-US" altLang="ko-KR" sz="2800" b="1" dirty="0" err="1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Thymeleaf</a:t>
            </a:r>
            <a:r>
              <a:rPr lang="en-US" altLang="ko-KR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sz="2800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000" dirty="0" smtClean="0">
                <a:solidFill>
                  <a:schemeClr val="bg1"/>
                </a:solidFill>
              </a:rPr>
              <a:t> </a:t>
            </a:r>
            <a:r>
              <a:rPr lang="ko-KR" altLang="en-US" sz="1800" b="1" i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템플릿 엔진 </a:t>
            </a:r>
            <a:r>
              <a:rPr lang="en-US" altLang="ko-KR" sz="1800" b="1" i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- </a:t>
            </a:r>
            <a:r>
              <a:rPr lang="en-US" altLang="ko-KR" sz="1800" b="1" i="1" dirty="0" err="1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thymeleaf</a:t>
            </a:r>
            <a:endParaRPr lang="ko-KR" altLang="en-US" sz="16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t="28912" r="14106" b="28639"/>
          <a:stretch/>
        </p:blipFill>
        <p:spPr>
          <a:xfrm>
            <a:off x="5745088" y="4583970"/>
            <a:ext cx="3528392" cy="104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dirty="0" err="1" smtClean="0"/>
              <a:t>Thymeleaf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20552" y="1030492"/>
            <a:ext cx="43204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err="1" smtClean="0"/>
              <a:t>타임리프</a:t>
            </a:r>
            <a:r>
              <a:rPr lang="en-US" altLang="ko-KR" sz="2000" b="1" dirty="0" smtClean="0"/>
              <a:t>(</a:t>
            </a:r>
            <a:r>
              <a:rPr lang="en-US" altLang="ko-KR" sz="2000" b="1" dirty="0" err="1" smtClean="0"/>
              <a:t>Thymeleaf</a:t>
            </a:r>
            <a:r>
              <a:rPr lang="en-US" altLang="ko-KR" sz="2000" b="1" dirty="0" smtClean="0"/>
              <a:t>)</a:t>
            </a:r>
            <a:r>
              <a:rPr lang="ko-KR" altLang="en-US" sz="2000" b="1" dirty="0" smtClean="0"/>
              <a:t>란</a:t>
            </a:r>
            <a:r>
              <a:rPr lang="en-US" altLang="ko-KR" sz="2000" b="1" dirty="0" smtClean="0"/>
              <a:t>?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280592" y="1556792"/>
            <a:ext cx="849694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서버사이드 </a:t>
            </a:r>
            <a:r>
              <a:rPr lang="ko-KR" altLang="en-US" sz="1600" dirty="0" err="1"/>
              <a:t>Java</a:t>
            </a:r>
            <a:r>
              <a:rPr lang="ko-KR" altLang="en-US" sz="1600" dirty="0"/>
              <a:t> 템플릿 엔진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HTML </a:t>
            </a:r>
            <a:r>
              <a:rPr lang="ko-KR" altLang="en-US" sz="1600" dirty="0"/>
              <a:t>파일에 </a:t>
            </a:r>
            <a:r>
              <a:rPr lang="ko-KR" altLang="en-US" sz="1600" dirty="0" err="1"/>
              <a:t>Java</a:t>
            </a:r>
            <a:r>
              <a:rPr lang="ko-KR" altLang="en-US" sz="1600" dirty="0"/>
              <a:t> 코드를 간단히 연결해서 동적으로 화면을 구성할 수 있음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 smtClean="0"/>
              <a:t>JSP</a:t>
            </a:r>
            <a:r>
              <a:rPr lang="ko-KR" altLang="en-US" sz="1600" dirty="0" err="1"/>
              <a:t>보다</a:t>
            </a:r>
            <a:r>
              <a:rPr lang="ko-KR" altLang="en-US" sz="1600" dirty="0"/>
              <a:t> 장점이 </a:t>
            </a:r>
            <a:r>
              <a:rPr lang="ko-KR" altLang="en-US" sz="1600" dirty="0" smtClean="0"/>
              <a:t>많음</a:t>
            </a:r>
            <a:endParaRPr lang="ko-KR" alt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HTML </a:t>
            </a:r>
            <a:r>
              <a:rPr lang="ko-KR" altLang="en-US" sz="1600" dirty="0"/>
              <a:t>그대로 브라우저에서 열어도 깨지지 않음 → </a:t>
            </a:r>
            <a:r>
              <a:rPr lang="ko-KR" altLang="en-US" sz="1600" dirty="0" err="1"/>
              <a:t>프론트엔드와</a:t>
            </a:r>
            <a:r>
              <a:rPr lang="ko-KR" altLang="en-US" sz="1600" dirty="0"/>
              <a:t> 협업 용이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표현식 </a:t>
            </a:r>
            <a:r>
              <a:rPr lang="ko-KR" altLang="en-US" sz="1600" dirty="0"/>
              <a:t>문법 단순 (</a:t>
            </a:r>
            <a:r>
              <a:rPr lang="ko-KR" altLang="en-US" sz="1600" dirty="0" err="1"/>
              <a:t>th:text</a:t>
            </a:r>
            <a:r>
              <a:rPr lang="ko-KR" altLang="en-US" sz="1600" dirty="0"/>
              <a:t>, </a:t>
            </a:r>
            <a:r>
              <a:rPr lang="ko-KR" altLang="en-US" sz="1600" dirty="0" err="1"/>
              <a:t>th:each</a:t>
            </a:r>
            <a:r>
              <a:rPr lang="ko-KR" altLang="en-US" sz="1600" dirty="0"/>
              <a:t> 등)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 smtClean="0"/>
              <a:t>Spring</a:t>
            </a:r>
            <a:r>
              <a:rPr lang="ko-KR" altLang="en-US" sz="1600" dirty="0" smtClean="0"/>
              <a:t> </a:t>
            </a:r>
            <a:r>
              <a:rPr lang="ko-KR" altLang="en-US" sz="1600" dirty="0" err="1"/>
              <a:t>MVC와</a:t>
            </a:r>
            <a:r>
              <a:rPr lang="ko-KR" altLang="en-US" sz="1600" dirty="0"/>
              <a:t> 자연스럽게 통합 (</a:t>
            </a:r>
            <a:r>
              <a:rPr lang="ko-KR" altLang="en-US" sz="1600" dirty="0" err="1"/>
              <a:t>Model</a:t>
            </a:r>
            <a:r>
              <a:rPr lang="ko-KR" altLang="en-US" sz="1600" dirty="0"/>
              <a:t> 객체 데이터 바인딩</a:t>
            </a:r>
            <a:r>
              <a:rPr lang="ko-KR" altLang="en-US" sz="1600" dirty="0" smtClean="0"/>
              <a:t>)</a:t>
            </a:r>
            <a:endParaRPr lang="en-US" altLang="ko-KR" sz="16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템플릿 </a:t>
            </a:r>
            <a:r>
              <a:rPr lang="ko-KR" altLang="en-US" sz="1600" dirty="0"/>
              <a:t>엔진은 </a:t>
            </a:r>
            <a:r>
              <a:rPr lang="ko-KR" altLang="en-US" sz="1600" dirty="0" err="1"/>
              <a:t>타임리프</a:t>
            </a:r>
            <a:r>
              <a:rPr lang="en-US" altLang="ko-KR" sz="1600" dirty="0"/>
              <a:t>(</a:t>
            </a:r>
            <a:r>
              <a:rPr lang="en-US" altLang="ko-KR" sz="1600" dirty="0" err="1"/>
              <a:t>Thymeleaf</a:t>
            </a:r>
            <a:r>
              <a:rPr lang="en-US" altLang="ko-KR" sz="1600" dirty="0"/>
              <a:t>)</a:t>
            </a:r>
            <a:r>
              <a:rPr lang="ko-KR" altLang="en-US" sz="1600" dirty="0"/>
              <a:t>를 비롯하여 </a:t>
            </a:r>
            <a:r>
              <a:rPr lang="en-US" altLang="ko-KR" sz="1600" dirty="0" err="1" smtClean="0"/>
              <a:t>Freemaker</a:t>
            </a:r>
            <a:r>
              <a:rPr lang="en-US" altLang="ko-KR" sz="1600" dirty="0" smtClean="0"/>
              <a:t>, Mustache</a:t>
            </a:r>
            <a:r>
              <a:rPr lang="en-US" altLang="ko-KR" sz="1600" dirty="0"/>
              <a:t>, Groovy Templates</a:t>
            </a:r>
            <a:r>
              <a:rPr lang="ko-KR" altLang="en-US" sz="1600" dirty="0"/>
              <a:t>이 있다</a:t>
            </a:r>
            <a:r>
              <a:rPr lang="en-US" altLang="ko-KR" sz="1600" dirty="0" smtClean="0"/>
              <a:t>.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00914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dirty="0" err="1" smtClean="0"/>
              <a:t>Thymeleaf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20552" y="1030492"/>
            <a:ext cx="6192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err="1" smtClean="0"/>
              <a:t>타임리프</a:t>
            </a:r>
            <a:r>
              <a:rPr lang="en-US" altLang="ko-KR" sz="2000" b="1" dirty="0"/>
              <a:t>(www.thymeleaf.org)</a:t>
            </a:r>
            <a:r>
              <a:rPr lang="en-US" altLang="ko-KR" sz="2000" b="1" dirty="0" smtClean="0"/>
              <a:t> &gt; Docs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28" y="1529178"/>
            <a:ext cx="3672408" cy="2298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568" y="1628800"/>
            <a:ext cx="5088944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089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dirty="0" err="1" smtClean="0"/>
              <a:t>Thymeleaf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20552" y="3460180"/>
            <a:ext cx="66247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사용</a:t>
            </a:r>
            <a:r>
              <a:rPr lang="en-US" altLang="ko-KR" sz="2000" b="1" dirty="0" smtClean="0"/>
              <a:t>: html </a:t>
            </a:r>
            <a:r>
              <a:rPr lang="ko-KR" altLang="en-US" sz="2000" b="1" dirty="0" smtClean="0"/>
              <a:t>문서</a:t>
            </a:r>
            <a:r>
              <a:rPr lang="ko-KR" altLang="en-US" sz="2000" b="1" dirty="0"/>
              <a:t>에</a:t>
            </a:r>
            <a:r>
              <a:rPr lang="ko-KR" altLang="en-US" sz="2000" b="1" dirty="0" smtClean="0"/>
              <a:t> 태그로 명시해야 함</a:t>
            </a:r>
            <a:endParaRPr lang="en-US" altLang="ko-KR" sz="2000" b="1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1280592" y="4067780"/>
            <a:ext cx="56886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3F7F7F"/>
                </a:solidFill>
                <a:latin typeface="Consolas" panose="020B0609020204030204" pitchFamily="49" charset="0"/>
              </a:rPr>
              <a:t>html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7F007F"/>
                </a:solidFill>
                <a:latin typeface="Consolas" panose="020B0609020204030204" pitchFamily="49" charset="0"/>
              </a:rPr>
              <a:t>xmlns:th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i="1" dirty="0">
                <a:solidFill>
                  <a:srgbClr val="2A00FF"/>
                </a:solidFill>
                <a:latin typeface="Consolas" panose="020B0609020204030204" pitchFamily="49" charset="0"/>
              </a:rPr>
              <a:t>"http://www.thymeleaf.org"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20552" y="1048875"/>
            <a:ext cx="43204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err="1" smtClean="0"/>
              <a:t>타임리프</a:t>
            </a:r>
            <a:r>
              <a:rPr lang="en-US" altLang="ko-KR" sz="2000" b="1" dirty="0"/>
              <a:t> </a:t>
            </a:r>
            <a:r>
              <a:rPr lang="ko-KR" altLang="en-US" sz="2000" b="1" dirty="0" smtClean="0"/>
              <a:t>문법</a:t>
            </a:r>
            <a:endParaRPr lang="en-US" altLang="ko-KR" sz="2000" b="1" dirty="0" smtClean="0"/>
          </a:p>
        </p:txBody>
      </p:sp>
      <p:sp>
        <p:nvSpPr>
          <p:cNvPr id="10" name="직사각형 9"/>
          <p:cNvSpPr/>
          <p:nvPr/>
        </p:nvSpPr>
        <p:spPr>
          <a:xfrm>
            <a:off x="1280592" y="1543369"/>
            <a:ext cx="4536504" cy="17007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th:text</a:t>
            </a:r>
            <a:r>
              <a:rPr lang="ko-KR" altLang="en-US" dirty="0"/>
              <a:t>="${변수}" → 텍스트 </a:t>
            </a:r>
            <a:r>
              <a:rPr lang="ko-KR" altLang="en-US" dirty="0" smtClean="0"/>
              <a:t>출력</a:t>
            </a:r>
            <a:endParaRPr lang="ko-KR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th:each</a:t>
            </a:r>
            <a:r>
              <a:rPr lang="ko-KR" altLang="en-US" dirty="0"/>
              <a:t>="</a:t>
            </a:r>
            <a:r>
              <a:rPr lang="ko-KR" altLang="en-US" dirty="0" err="1"/>
              <a:t>item</a:t>
            </a:r>
            <a:r>
              <a:rPr lang="ko-KR" altLang="en-US" dirty="0"/>
              <a:t> : ${</a:t>
            </a:r>
            <a:r>
              <a:rPr lang="ko-KR" altLang="en-US" dirty="0" err="1"/>
              <a:t>list</a:t>
            </a:r>
            <a:r>
              <a:rPr lang="ko-KR" altLang="en-US" dirty="0"/>
              <a:t>}" → </a:t>
            </a:r>
            <a:r>
              <a:rPr lang="ko-KR" altLang="en-US" dirty="0" err="1" smtClean="0"/>
              <a:t>반복문</a:t>
            </a:r>
            <a:endParaRPr lang="ko-KR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th:if</a:t>
            </a:r>
            <a:r>
              <a:rPr lang="ko-KR" altLang="en-US" dirty="0"/>
              <a:t>, </a:t>
            </a:r>
            <a:r>
              <a:rPr lang="ko-KR" altLang="en-US" dirty="0" err="1"/>
              <a:t>th:unless</a:t>
            </a:r>
            <a:r>
              <a:rPr lang="ko-KR" altLang="en-US" dirty="0"/>
              <a:t> → </a:t>
            </a:r>
            <a:r>
              <a:rPr lang="ko-KR" altLang="en-US" dirty="0" err="1" smtClean="0"/>
              <a:t>조건문</a:t>
            </a:r>
            <a:endParaRPr lang="ko-KR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th:href</a:t>
            </a:r>
            <a:r>
              <a:rPr lang="ko-KR" altLang="en-US" dirty="0"/>
              <a:t>="@{/경로}" → </a:t>
            </a:r>
            <a:r>
              <a:rPr lang="ko-KR" altLang="en-US" dirty="0" smtClean="0"/>
              <a:t>링크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74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b="1" dirty="0" smtClean="0"/>
              <a:t>요청 처리 메서드와 모델 유형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655272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Model </a:t>
            </a:r>
            <a:r>
              <a:rPr lang="ko-KR" altLang="en-US" sz="2000" b="1" dirty="0" smtClean="0"/>
              <a:t>인터페이스로 메서드 작성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772816"/>
            <a:ext cx="3511391" cy="15341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608" y="3645024"/>
            <a:ext cx="5472608" cy="16392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5925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b="1" dirty="0" smtClean="0"/>
              <a:t>요청 처리 메서드와 모델 유형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655272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Model </a:t>
            </a:r>
            <a:r>
              <a:rPr lang="ko-KR" altLang="en-US" sz="2000" b="1" dirty="0" smtClean="0"/>
              <a:t>인터페이스로 메서드 작성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727894"/>
            <a:ext cx="7848872" cy="26084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50127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메인 페이지 만들기 </a:t>
            </a:r>
            <a:r>
              <a:rPr lang="en-US" altLang="ko-KR" dirty="0" smtClean="0"/>
              <a:t>– </a:t>
            </a:r>
            <a:r>
              <a:rPr lang="en-US" altLang="ko-KR" dirty="0" err="1" smtClean="0"/>
              <a:t>thymeleaf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20552" y="1030492"/>
            <a:ext cx="43204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templates &gt; home.html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28800"/>
            <a:ext cx="5455789" cy="45220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55726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메인 페이지 만들기 </a:t>
            </a:r>
            <a:r>
              <a:rPr lang="en-US" altLang="ko-KR" dirty="0" smtClean="0"/>
              <a:t>– </a:t>
            </a:r>
            <a:r>
              <a:rPr lang="en-US" altLang="ko-KR" dirty="0" err="1" smtClean="0"/>
              <a:t>thymeleaf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20552" y="1030492"/>
            <a:ext cx="43204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templates &gt; pages &gt; time.html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700808"/>
            <a:ext cx="5788364" cy="41425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53688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요청 </a:t>
            </a:r>
            <a:r>
              <a:rPr lang="ko-KR" altLang="en-US" dirty="0" err="1" smtClean="0"/>
              <a:t>파라미터</a:t>
            </a:r>
            <a:r>
              <a:rPr lang="en-US" altLang="ko-KR" dirty="0" smtClean="0"/>
              <a:t>(parameter)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66247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요청 </a:t>
            </a:r>
            <a:r>
              <a:rPr lang="ko-KR" altLang="en-US" sz="2000" b="1" dirty="0" err="1" smtClean="0"/>
              <a:t>파라미터</a:t>
            </a:r>
            <a:endParaRPr lang="en-US" altLang="ko-KR" sz="2000" b="1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1280592" y="1556792"/>
            <a:ext cx="828092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요청 </a:t>
            </a:r>
            <a:r>
              <a:rPr lang="ko-KR" altLang="en-US" dirty="0" err="1" smtClean="0"/>
              <a:t>파라미터</a:t>
            </a:r>
            <a:r>
              <a:rPr lang="en-US" altLang="ko-KR" dirty="0" smtClean="0"/>
              <a:t>(request parameter)</a:t>
            </a:r>
            <a:r>
              <a:rPr lang="ko-KR" altLang="en-US" dirty="0" smtClean="0"/>
              <a:t>는 일반적인 웹 서버 애플리케이션에서 </a:t>
            </a:r>
            <a:r>
              <a:rPr lang="en-US" altLang="ko-KR" dirty="0" smtClean="0"/>
              <a:t>GET </a:t>
            </a:r>
            <a:r>
              <a:rPr lang="ko-KR" altLang="en-US" dirty="0" smtClean="0"/>
              <a:t>방식의 </a:t>
            </a:r>
            <a:r>
              <a:rPr lang="ko-KR" altLang="en-US" dirty="0" err="1" smtClean="0"/>
              <a:t>쿼리</a:t>
            </a:r>
            <a:r>
              <a:rPr lang="ko-KR" altLang="en-US" dirty="0" err="1"/>
              <a:t>문</a:t>
            </a:r>
            <a:r>
              <a:rPr lang="ko-KR" altLang="en-US" dirty="0" err="1" smtClean="0"/>
              <a:t>을</a:t>
            </a:r>
            <a:r>
              <a:rPr lang="ko-KR" altLang="en-US" dirty="0" smtClean="0"/>
              <a:t> </a:t>
            </a:r>
            <a:r>
              <a:rPr lang="en-US" altLang="ko-KR" dirty="0" smtClean="0"/>
              <a:t>“</a:t>
            </a:r>
            <a:r>
              <a:rPr lang="ko-KR" altLang="en-US" dirty="0" smtClean="0"/>
              <a:t>이름</a:t>
            </a:r>
            <a:r>
              <a:rPr lang="en-US" altLang="ko-KR" dirty="0" smtClean="0"/>
              <a:t>=</a:t>
            </a:r>
            <a:r>
              <a:rPr lang="ko-KR" altLang="en-US" dirty="0" smtClean="0"/>
              <a:t>값</a:t>
            </a:r>
            <a:r>
              <a:rPr lang="en-US" altLang="ko-KR" dirty="0" smtClean="0"/>
              <a:t>(name=value)” </a:t>
            </a:r>
            <a:r>
              <a:rPr lang="ko-KR" altLang="en-US" dirty="0" smtClean="0"/>
              <a:t>형태의 데이터로 전송한다</a:t>
            </a:r>
            <a:r>
              <a:rPr lang="en-US" altLang="ko-KR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/>
              <a:t>예</a:t>
            </a:r>
            <a:r>
              <a:rPr lang="en-US" altLang="ko-KR" dirty="0" smtClean="0"/>
              <a:t>) </a:t>
            </a:r>
            <a:r>
              <a:rPr lang="ko-KR" altLang="en-US" dirty="0" smtClean="0"/>
              <a:t>웹 요청 </a:t>
            </a:r>
            <a:r>
              <a:rPr lang="en-US" altLang="ko-KR" dirty="0" smtClean="0"/>
              <a:t>URL</a:t>
            </a:r>
            <a:r>
              <a:rPr lang="ko-KR" altLang="en-US" dirty="0" smtClean="0"/>
              <a:t>이</a:t>
            </a:r>
            <a:r>
              <a:rPr lang="en-US" altLang="ko-KR" dirty="0"/>
              <a:t> </a:t>
            </a:r>
            <a:r>
              <a:rPr lang="en-US" altLang="ko-KR" dirty="0" smtClean="0">
                <a:hlinkClick r:id="rId2"/>
              </a:rPr>
              <a:t>http://.../</a:t>
            </a:r>
            <a:r>
              <a:rPr lang="en-US" altLang="ko-KR" dirty="0" err="1" smtClean="0">
                <a:hlinkClick r:id="rId2"/>
              </a:rPr>
              <a:t>search?q</a:t>
            </a:r>
            <a:r>
              <a:rPr lang="en-US" altLang="ko-KR" dirty="0" smtClean="0">
                <a:hlinkClick r:id="rId2"/>
              </a:rPr>
              <a:t>=</a:t>
            </a:r>
            <a:r>
              <a:rPr lang="ko-KR" altLang="en-US" dirty="0" smtClean="0">
                <a:hlinkClick r:id="rId2"/>
              </a:rPr>
              <a:t>전기차</a:t>
            </a:r>
            <a:r>
              <a:rPr lang="ko-KR" altLang="en-US" dirty="0" smtClean="0"/>
              <a:t>  </a:t>
            </a:r>
            <a:r>
              <a:rPr lang="ko-KR" altLang="en-US" dirty="0" err="1" smtClean="0"/>
              <a:t>파라미터</a:t>
            </a:r>
            <a:r>
              <a:rPr lang="ko-KR" altLang="en-US" dirty="0" smtClean="0"/>
              <a:t> 이름은 </a:t>
            </a:r>
            <a:r>
              <a:rPr lang="en-US" altLang="ko-KR" dirty="0" smtClean="0"/>
              <a:t>q, </a:t>
            </a:r>
            <a:r>
              <a:rPr lang="ko-KR" altLang="en-US" dirty="0" smtClean="0"/>
              <a:t>값은 전기차</a:t>
            </a:r>
            <a:endParaRPr lang="en-US" altLang="ko-KR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920552" y="2996952"/>
            <a:ext cx="662473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@</a:t>
            </a:r>
            <a:r>
              <a:rPr lang="en-US" altLang="ko-KR" sz="2000" b="1" dirty="0" err="1"/>
              <a:t>RequestParam</a:t>
            </a:r>
            <a:r>
              <a:rPr lang="ko-KR" altLang="en-US" sz="2000" b="1" dirty="0"/>
              <a:t>으로 요청 </a:t>
            </a:r>
            <a:r>
              <a:rPr lang="ko-KR" altLang="en-US" sz="2000" b="1" dirty="0" err="1"/>
              <a:t>파라미터</a:t>
            </a:r>
            <a:r>
              <a:rPr lang="ko-KR" altLang="en-US" sz="2000" b="1" dirty="0"/>
              <a:t> 처리</a:t>
            </a:r>
            <a:endParaRPr lang="en-US" altLang="ko-KR" sz="2000" b="1" dirty="0"/>
          </a:p>
        </p:txBody>
      </p:sp>
      <p:sp>
        <p:nvSpPr>
          <p:cNvPr id="11" name="직사각형 10"/>
          <p:cNvSpPr/>
          <p:nvPr/>
        </p:nvSpPr>
        <p:spPr>
          <a:xfrm>
            <a:off x="1280592" y="3583443"/>
            <a:ext cx="8280920" cy="869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기본값은 웹 요청 </a:t>
            </a:r>
            <a:r>
              <a:rPr lang="en-US" altLang="ko-KR" dirty="0" smtClean="0"/>
              <a:t>URL</a:t>
            </a:r>
            <a:r>
              <a:rPr lang="ko-KR" altLang="en-US" dirty="0" smtClean="0"/>
              <a:t>로 전송되는 요청 </a:t>
            </a:r>
            <a:r>
              <a:rPr lang="ko-KR" altLang="en-US" dirty="0" err="1" smtClean="0"/>
              <a:t>파라미터</a:t>
            </a:r>
            <a:r>
              <a:rPr lang="ko-KR" altLang="en-US" dirty="0" smtClean="0"/>
              <a:t> 이름과 똑같이 설정한다</a:t>
            </a:r>
            <a:r>
              <a:rPr lang="en-US" altLang="ko-KR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/>
              <a:t>이 요청 </a:t>
            </a:r>
            <a:r>
              <a:rPr lang="ko-KR" altLang="en-US" dirty="0" err="1" smtClean="0"/>
              <a:t>파라미터의</a:t>
            </a:r>
            <a:r>
              <a:rPr lang="ko-KR" altLang="en-US" dirty="0" smtClean="0"/>
              <a:t> 값은 매개변수의 타입에 따라 적절하게 변환된다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854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/>
              <a:t>요청 </a:t>
            </a:r>
            <a:r>
              <a:rPr lang="ko-KR" altLang="en-US" dirty="0" err="1"/>
              <a:t>파라미터</a:t>
            </a:r>
            <a:r>
              <a:rPr lang="en-US" altLang="ko-KR" dirty="0"/>
              <a:t>(parameter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662473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@</a:t>
            </a:r>
            <a:r>
              <a:rPr lang="en-US" altLang="ko-KR" sz="2000" b="1" dirty="0" err="1" smtClean="0"/>
              <a:t>RequestParam</a:t>
            </a:r>
            <a:r>
              <a:rPr lang="ko-KR" altLang="en-US" sz="2000" b="1" dirty="0" smtClean="0"/>
              <a:t>으로 요청 </a:t>
            </a:r>
            <a:r>
              <a:rPr lang="ko-KR" altLang="en-US" sz="2000" b="1" dirty="0" err="1" smtClean="0"/>
              <a:t>파라미터</a:t>
            </a:r>
            <a:r>
              <a:rPr lang="ko-KR" altLang="en-US" sz="2000" b="1" dirty="0" smtClean="0"/>
              <a:t> 처리</a:t>
            </a:r>
            <a:endParaRPr lang="en-US" altLang="ko-KR" sz="2000" b="1" dirty="0" smtClean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988840"/>
            <a:ext cx="3888432" cy="146237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1" name="직사각형 10"/>
          <p:cNvSpPr/>
          <p:nvPr/>
        </p:nvSpPr>
        <p:spPr>
          <a:xfrm>
            <a:off x="1352600" y="1592232"/>
            <a:ext cx="57606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웹 요청 </a:t>
            </a:r>
            <a:r>
              <a:rPr lang="en-US" altLang="ko-KR" dirty="0"/>
              <a:t>URL</a:t>
            </a:r>
            <a:r>
              <a:rPr lang="ko-KR" altLang="en-US" dirty="0"/>
              <a:t>이</a:t>
            </a:r>
            <a:r>
              <a:rPr lang="en-US" altLang="ko-KR" dirty="0"/>
              <a:t> </a:t>
            </a:r>
            <a:r>
              <a:rPr lang="en-US" altLang="ko-KR" dirty="0" smtClean="0"/>
              <a:t>/ex01?id=</a:t>
            </a:r>
            <a:r>
              <a:rPr lang="en-US" altLang="ko-KR" dirty="0" err="1" smtClean="0"/>
              <a:t>space&amp;pw</a:t>
            </a:r>
            <a:r>
              <a:rPr lang="en-US" altLang="ko-KR" dirty="0" smtClean="0"/>
              <a:t>=12345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624" y="3789040"/>
            <a:ext cx="4555726" cy="112563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889104" y="3800507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pages/viewPaeg01.html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3361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/>
              <a:t>요청 </a:t>
            </a:r>
            <a:r>
              <a:rPr lang="ko-KR" altLang="en-US" dirty="0" err="1"/>
              <a:t>파라미터</a:t>
            </a:r>
            <a:r>
              <a:rPr lang="en-US" altLang="ko-KR" dirty="0"/>
              <a:t>(parameter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662473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@</a:t>
            </a:r>
            <a:r>
              <a:rPr lang="en-US" altLang="ko-KR" sz="2000" b="1" dirty="0" err="1" smtClean="0"/>
              <a:t>RequestParam</a:t>
            </a:r>
            <a:r>
              <a:rPr lang="ko-KR" altLang="en-US" sz="2000" b="1" dirty="0" smtClean="0"/>
              <a:t>으로 요청 </a:t>
            </a:r>
            <a:r>
              <a:rPr lang="ko-KR" altLang="en-US" sz="2000" b="1" dirty="0" err="1" smtClean="0"/>
              <a:t>파라미터</a:t>
            </a:r>
            <a:r>
              <a:rPr lang="ko-KR" altLang="en-US" sz="2000" b="1" dirty="0" smtClean="0"/>
              <a:t> 처리</a:t>
            </a:r>
            <a:endParaRPr lang="en-US" altLang="ko-KR" sz="2000" b="1" dirty="0" smtClean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727894"/>
            <a:ext cx="8134666" cy="28895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7085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요청 </a:t>
            </a:r>
            <a:r>
              <a:rPr lang="ko-KR" altLang="en-US" dirty="0" err="1" smtClean="0"/>
              <a:t>파라미터</a:t>
            </a:r>
            <a:r>
              <a:rPr lang="en-US" altLang="ko-KR" dirty="0" smtClean="0"/>
              <a:t>(parameter)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662473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경로 변수와  </a:t>
            </a:r>
            <a:r>
              <a:rPr lang="en-US" altLang="ko-KR" sz="2000" b="1" dirty="0" smtClean="0"/>
              <a:t>@</a:t>
            </a:r>
            <a:r>
              <a:rPr lang="en-US" altLang="ko-KR" sz="2000" b="1" dirty="0" err="1" smtClean="0"/>
              <a:t>PathVariable</a:t>
            </a:r>
            <a:endParaRPr lang="en-US" altLang="ko-KR" sz="2000" b="1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1280592" y="1556792"/>
            <a:ext cx="8280920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경로 변수는 웹 요청 </a:t>
            </a:r>
            <a:r>
              <a:rPr lang="en-US" altLang="ko-KR" dirty="0" smtClean="0"/>
              <a:t>URL</a:t>
            </a:r>
            <a:r>
              <a:rPr lang="ko-KR" altLang="en-US" dirty="0" smtClean="0"/>
              <a:t>에 포함된 </a:t>
            </a:r>
            <a:r>
              <a:rPr lang="ko-KR" altLang="en-US" dirty="0" err="1" smtClean="0"/>
              <a:t>파라미터</a:t>
            </a:r>
            <a:r>
              <a:rPr lang="ko-KR" altLang="en-US" dirty="0" smtClean="0"/>
              <a:t> 값을 전달받을 때 사용하는 변수이다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매핑 경로를 설정하는 </a:t>
            </a:r>
            <a:r>
              <a:rPr lang="en-US" altLang="ko-KR" dirty="0" smtClean="0"/>
              <a:t>@</a:t>
            </a:r>
            <a:r>
              <a:rPr lang="en-US" altLang="ko-KR" dirty="0" err="1" smtClean="0"/>
              <a:t>RequestMapping</a:t>
            </a:r>
            <a:r>
              <a:rPr lang="ko-KR" altLang="en-US" dirty="0" smtClean="0"/>
              <a:t>에 중괄호</a:t>
            </a:r>
            <a:r>
              <a:rPr lang="en-US" altLang="ko-KR" dirty="0" smtClean="0"/>
              <a:t>({ })</a:t>
            </a:r>
            <a:r>
              <a:rPr lang="ko-KR" altLang="en-US" dirty="0" smtClean="0"/>
              <a:t>를 사용해 요청 조건 값을 전달받는다</a:t>
            </a:r>
            <a:r>
              <a:rPr lang="en-US" altLang="ko-KR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/>
              <a:t>예</a:t>
            </a:r>
            <a:r>
              <a:rPr lang="en-US" altLang="ko-KR" dirty="0" smtClean="0"/>
              <a:t>) URL</a:t>
            </a:r>
            <a:r>
              <a:rPr lang="ko-KR" altLang="en-US" dirty="0" smtClean="0"/>
              <a:t>이 </a:t>
            </a:r>
            <a:r>
              <a:rPr lang="en-US" altLang="ko-KR" dirty="0" smtClean="0">
                <a:hlinkClick r:id="rId2"/>
              </a:rPr>
              <a:t>http://localhost:8080/boards/1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이라면 경로 변수는 </a:t>
            </a:r>
            <a:r>
              <a:rPr lang="en-US" altLang="ko-KR" dirty="0" smtClean="0"/>
              <a:t>boards</a:t>
            </a:r>
            <a:r>
              <a:rPr lang="ko-KR" altLang="en-US" dirty="0" smtClean="0"/>
              <a:t>이고 값은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이다</a:t>
            </a:r>
            <a:r>
              <a:rPr lang="en-US" altLang="ko-KR" dirty="0" smtClean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0552" y="3772919"/>
            <a:ext cx="662473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@</a:t>
            </a:r>
            <a:r>
              <a:rPr lang="en-US" altLang="ko-KR" sz="2000" b="1" dirty="0" err="1" smtClean="0"/>
              <a:t>PathVariable</a:t>
            </a:r>
            <a:r>
              <a:rPr lang="ko-KR" altLang="en-US" sz="2000" b="1" dirty="0" smtClean="0"/>
              <a:t>로 경로 변수 처리</a:t>
            </a:r>
            <a:endParaRPr lang="en-US" altLang="ko-KR" sz="2000" b="1" dirty="0"/>
          </a:p>
        </p:txBody>
      </p:sp>
      <p:sp>
        <p:nvSpPr>
          <p:cNvPr id="11" name="직사각형 10"/>
          <p:cNvSpPr/>
          <p:nvPr/>
        </p:nvSpPr>
        <p:spPr>
          <a:xfrm>
            <a:off x="1282567" y="4341950"/>
            <a:ext cx="7344816" cy="17543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@</a:t>
            </a:r>
            <a:r>
              <a:rPr lang="en-US" altLang="ko-KR" dirty="0" err="1"/>
              <a:t>GetMapping</a:t>
            </a:r>
            <a:r>
              <a:rPr lang="en-US" altLang="ko-KR" dirty="0" smtClean="0"/>
              <a:t>("/../{</a:t>
            </a:r>
            <a:r>
              <a:rPr lang="ko-KR" altLang="en-US" dirty="0" smtClean="0"/>
              <a:t>경로</a:t>
            </a:r>
            <a:r>
              <a:rPr lang="en-US" altLang="ko-KR" dirty="0" smtClean="0"/>
              <a:t>_</a:t>
            </a:r>
            <a:r>
              <a:rPr lang="ko-KR" altLang="en-US" dirty="0" smtClean="0"/>
              <a:t>변수</a:t>
            </a:r>
            <a:r>
              <a:rPr lang="en-US" altLang="ko-KR" dirty="0" smtClean="0"/>
              <a:t>}")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      public </a:t>
            </a:r>
            <a:r>
              <a:rPr lang="en-US" altLang="ko-KR" dirty="0"/>
              <a:t>String method1(@</a:t>
            </a:r>
            <a:r>
              <a:rPr lang="en-US" altLang="ko-KR" dirty="0" err="1" smtClean="0"/>
              <a:t>PathVariable</a:t>
            </a:r>
            <a:r>
              <a:rPr lang="en-US" altLang="ko-KR" dirty="0" smtClean="0"/>
              <a:t>(“</a:t>
            </a:r>
            <a:r>
              <a:rPr lang="ko-KR" altLang="en-US" dirty="0" smtClean="0"/>
              <a:t>경로</a:t>
            </a:r>
            <a:r>
              <a:rPr lang="en-US" altLang="ko-KR" dirty="0" smtClean="0"/>
              <a:t>_</a:t>
            </a:r>
            <a:r>
              <a:rPr lang="ko-KR" altLang="en-US" dirty="0" smtClean="0"/>
              <a:t>변수</a:t>
            </a:r>
            <a:r>
              <a:rPr lang="en-US" altLang="ko-KR" dirty="0" smtClean="0"/>
              <a:t>”) </a:t>
            </a:r>
            <a:r>
              <a:rPr lang="ko-KR" altLang="en-US" dirty="0" smtClean="0"/>
              <a:t>매개변수</a:t>
            </a:r>
            <a:r>
              <a:rPr lang="en-US" altLang="ko-KR" dirty="0" smtClean="0"/>
              <a:t>) {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</a:t>
            </a:r>
            <a:r>
              <a:rPr lang="en-US" altLang="ko-KR" dirty="0" smtClean="0"/>
              <a:t>. . .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      }</a:t>
            </a:r>
          </a:p>
        </p:txBody>
      </p:sp>
    </p:spTree>
    <p:extLst>
      <p:ext uri="{BB962C8B-B14F-4D97-AF65-F5344CB8AC3E}">
        <p14:creationId xmlns:p14="http://schemas.microsoft.com/office/powerpoint/2010/main" val="2002832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요청 </a:t>
            </a:r>
            <a:r>
              <a:rPr lang="ko-KR" altLang="en-US" dirty="0" err="1" smtClean="0"/>
              <a:t>파라미터</a:t>
            </a:r>
            <a:r>
              <a:rPr lang="en-US" altLang="ko-KR" dirty="0" smtClean="0"/>
              <a:t>(parameter)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662473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경로 변수와  </a:t>
            </a:r>
            <a:r>
              <a:rPr lang="en-US" altLang="ko-KR" sz="2000" b="1" dirty="0" smtClean="0"/>
              <a:t>@</a:t>
            </a:r>
            <a:r>
              <a:rPr lang="en-US" altLang="ko-KR" sz="2000" b="1" dirty="0" err="1" smtClean="0"/>
              <a:t>PathVariable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720389"/>
            <a:ext cx="3421076" cy="162719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616" y="3501008"/>
            <a:ext cx="7205834" cy="29291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61642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요청 </a:t>
            </a:r>
            <a:r>
              <a:rPr lang="ko-KR" altLang="en-US" dirty="0" err="1" smtClean="0"/>
              <a:t>파라미터</a:t>
            </a:r>
            <a:r>
              <a:rPr lang="en-US" altLang="ko-KR" dirty="0" smtClean="0"/>
              <a:t>(parameter)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662473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@</a:t>
            </a:r>
            <a:r>
              <a:rPr lang="en-US" altLang="ko-KR" sz="2000" b="1" dirty="0" err="1"/>
              <a:t>ModelAttribute</a:t>
            </a:r>
            <a:r>
              <a:rPr lang="ko-KR" altLang="en-US" sz="2000" b="1" dirty="0"/>
              <a:t>로 요청 </a:t>
            </a:r>
            <a:r>
              <a:rPr lang="ko-KR" altLang="en-US" sz="2000" b="1" dirty="0" err="1"/>
              <a:t>파라미터</a:t>
            </a:r>
            <a:r>
              <a:rPr lang="ko-KR" altLang="en-US" sz="2000" b="1" dirty="0"/>
              <a:t> 처리</a:t>
            </a:r>
            <a:endParaRPr lang="en-US" altLang="ko-KR" sz="2000" b="1" dirty="0"/>
          </a:p>
        </p:txBody>
      </p:sp>
      <p:sp>
        <p:nvSpPr>
          <p:cNvPr id="7" name="직사각형 6"/>
          <p:cNvSpPr/>
          <p:nvPr/>
        </p:nvSpPr>
        <p:spPr>
          <a:xfrm>
            <a:off x="1280592" y="1556792"/>
            <a:ext cx="784887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@</a:t>
            </a:r>
            <a:r>
              <a:rPr lang="en-US" altLang="ko-KR" dirty="0" err="1"/>
              <a:t>ModelAttribute</a:t>
            </a:r>
            <a:r>
              <a:rPr lang="ko-KR" altLang="en-US" dirty="0"/>
              <a:t>는 </a:t>
            </a:r>
            <a:r>
              <a:rPr lang="en-US" altLang="ko-KR" dirty="0"/>
              <a:t>form</a:t>
            </a:r>
            <a:r>
              <a:rPr lang="ko-KR" altLang="en-US" dirty="0"/>
              <a:t>의 </a:t>
            </a:r>
            <a:r>
              <a:rPr lang="en-US" altLang="ko-KR" dirty="0"/>
              <a:t>name </a:t>
            </a:r>
            <a:r>
              <a:rPr lang="ko-KR" altLang="en-US" dirty="0"/>
              <a:t>속성과 동일한 이름의 필드에 자동 </a:t>
            </a:r>
            <a:r>
              <a:rPr lang="ko-KR" altLang="en-US" dirty="0" smtClean="0"/>
              <a:t>매</a:t>
            </a:r>
            <a:r>
              <a:rPr lang="ko-KR" altLang="en-US" dirty="0"/>
              <a:t>핑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@</a:t>
            </a:r>
            <a:r>
              <a:rPr lang="en-US" altLang="ko-KR" dirty="0" err="1"/>
              <a:t>ModelAttribute</a:t>
            </a:r>
            <a:r>
              <a:rPr lang="en-US" altLang="ko-KR" dirty="0"/>
              <a:t> User </a:t>
            </a:r>
            <a:r>
              <a:rPr lang="en-US" altLang="ko-KR" dirty="0" err="1" smtClean="0"/>
              <a:t>user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  폼에서 </a:t>
            </a:r>
            <a:r>
              <a:rPr lang="ko-KR" altLang="en-US" dirty="0"/>
              <a:t>전송된 </a:t>
            </a:r>
            <a:r>
              <a:rPr lang="en-US" altLang="ko-KR" dirty="0"/>
              <a:t>name="id", name="pw" </a:t>
            </a:r>
            <a:r>
              <a:rPr lang="ko-KR" altLang="en-US" dirty="0"/>
              <a:t>값을 </a:t>
            </a:r>
            <a:r>
              <a:rPr lang="en-US" altLang="ko-KR" dirty="0"/>
              <a:t>User </a:t>
            </a:r>
            <a:r>
              <a:rPr lang="ko-KR" altLang="en-US" dirty="0"/>
              <a:t>객체의 </a:t>
            </a:r>
            <a:r>
              <a:rPr lang="en-US" altLang="ko-KR" dirty="0" err="1"/>
              <a:t>setId</a:t>
            </a:r>
            <a:r>
              <a:rPr lang="en-US" altLang="ko-KR" dirty="0"/>
              <a:t>(), </a:t>
            </a:r>
            <a:r>
              <a:rPr lang="en-US" altLang="ko-KR" dirty="0" err="1"/>
              <a:t>setPw</a:t>
            </a:r>
            <a:r>
              <a:rPr lang="en-US" altLang="ko-KR" dirty="0" smtClean="0"/>
              <a:t>() 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로 </a:t>
            </a:r>
            <a:r>
              <a:rPr lang="ko-KR" altLang="en-US" dirty="0"/>
              <a:t>자동 바인딩</a:t>
            </a:r>
            <a:endParaRPr lang="en-US" altLang="ko-KR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920552" y="3294546"/>
            <a:ext cx="662473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@</a:t>
            </a:r>
            <a:r>
              <a:rPr lang="en-US" altLang="ko-KR" sz="2000" b="1" dirty="0" err="1" smtClean="0"/>
              <a:t>RequestParam</a:t>
            </a:r>
            <a:r>
              <a:rPr lang="ko-KR" altLang="en-US" sz="2000" b="1" dirty="0" smtClean="0"/>
              <a:t>과 </a:t>
            </a:r>
            <a:r>
              <a:rPr lang="en-US" altLang="ko-KR" sz="2000" b="1" dirty="0" smtClean="0"/>
              <a:t>@</a:t>
            </a:r>
            <a:r>
              <a:rPr lang="en-US" altLang="ko-KR" sz="2000" b="1" dirty="0" err="1" smtClean="0"/>
              <a:t>ModelAttribute</a:t>
            </a:r>
            <a:r>
              <a:rPr lang="ko-KR" altLang="en-US" sz="2000" b="1" dirty="0" smtClean="0"/>
              <a:t> 비교</a:t>
            </a:r>
            <a:endParaRPr lang="en-US" altLang="ko-KR" sz="2000" b="1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204425"/>
              </p:ext>
            </p:extLst>
          </p:nvPr>
        </p:nvGraphicFramePr>
        <p:xfrm>
          <a:off x="1280592" y="3911650"/>
          <a:ext cx="8208911" cy="24029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79083">
                  <a:extLst>
                    <a:ext uri="{9D8B030D-6E8A-4147-A177-3AD203B41FA5}">
                      <a16:colId xmlns:a16="http://schemas.microsoft.com/office/drawing/2014/main" val="3993985894"/>
                    </a:ext>
                  </a:extLst>
                </a:gridCol>
                <a:gridCol w="3417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2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smtClean="0"/>
                        <a:t>항목</a:t>
                      </a:r>
                      <a:endParaRPr lang="ko-KR" altLang="en-US" sz="1800" b="1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 smtClean="0"/>
                        <a:t>@</a:t>
                      </a:r>
                      <a:r>
                        <a:rPr lang="en-US" altLang="ko-KR" sz="1800" b="1" dirty="0" err="1" smtClean="0"/>
                        <a:t>RequestParam</a:t>
                      </a:r>
                      <a:endParaRPr lang="ko-KR" altLang="en-US" sz="18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 smtClean="0"/>
                        <a:t>@</a:t>
                      </a:r>
                      <a:r>
                        <a:rPr lang="en-US" altLang="ko-KR" sz="1800" b="1" dirty="0" err="1" smtClean="0"/>
                        <a:t>ModelAttribute</a:t>
                      </a:r>
                      <a:endParaRPr lang="ko-KR" altLang="en-US" sz="1800" b="1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602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ko-KR" altLang="en-US" sz="1800" b="0" dirty="0" smtClean="0"/>
                        <a:t>사용 대상</a:t>
                      </a:r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ko-KR" altLang="en-US" sz="1800" b="0" dirty="0" smtClean="0"/>
                        <a:t>개별 </a:t>
                      </a:r>
                      <a:r>
                        <a:rPr lang="ko-KR" altLang="en-US" sz="1800" b="0" dirty="0" err="1" smtClean="0"/>
                        <a:t>파라미터</a:t>
                      </a:r>
                      <a:endParaRPr lang="en-US" altLang="ko-KR" sz="1800" b="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smtClean="0"/>
                        <a:t>객체</a:t>
                      </a:r>
                      <a:r>
                        <a:rPr lang="en-US" altLang="ko-KR" sz="1600" b="0" dirty="0" smtClean="0"/>
                        <a:t>(DTO/VO)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602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ko-KR" altLang="en-US" sz="1800" b="0" dirty="0" smtClean="0"/>
                        <a:t>코드 양</a:t>
                      </a:r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ko-KR" altLang="en-US" sz="1800" b="0" dirty="0" err="1" smtClean="0"/>
                        <a:t>파라미터</a:t>
                      </a:r>
                      <a:r>
                        <a:rPr lang="ko-KR" altLang="en-US" sz="1800" b="0" dirty="0" smtClean="0"/>
                        <a:t> 선언</a:t>
                      </a:r>
                      <a:endParaRPr lang="en-US" altLang="ko-KR" sz="1800" b="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smtClean="0"/>
                        <a:t>필드 자동 매핑</a:t>
                      </a:r>
                      <a:endParaRPr lang="ko-KR" altLang="en-US" sz="16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02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ko-KR" altLang="en-US" sz="1800" b="0" dirty="0" smtClean="0"/>
                        <a:t>유지 보수</a:t>
                      </a:r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ko-KR" altLang="en-US" sz="1800" b="0" dirty="0" err="1" smtClean="0"/>
                        <a:t>파라미터</a:t>
                      </a:r>
                      <a:r>
                        <a:rPr lang="ko-KR" altLang="en-US" sz="1800" b="0" dirty="0" smtClean="0"/>
                        <a:t> 많으면 불편</a:t>
                      </a:r>
                      <a:endParaRPr lang="en-US" altLang="ko-KR" sz="1800" b="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smtClean="0"/>
                        <a:t>필드 </a:t>
                      </a:r>
                      <a:r>
                        <a:rPr lang="ko-KR" altLang="en-US" sz="1600" b="0" dirty="0" err="1" smtClean="0"/>
                        <a:t>추가시</a:t>
                      </a:r>
                      <a:r>
                        <a:rPr lang="ko-KR" altLang="en-US" sz="1600" b="0" dirty="0" smtClean="0"/>
                        <a:t> 편리</a:t>
                      </a:r>
                      <a:endParaRPr lang="ko-KR" altLang="en-US" sz="16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602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ko-KR" altLang="en-US" sz="1800" b="0" dirty="0" smtClean="0"/>
                        <a:t>예시</a:t>
                      </a:r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@</a:t>
                      </a:r>
                      <a:r>
                        <a:rPr lang="en-US" altLang="ko-KR" sz="1800" b="0" dirty="0" err="1" smtClean="0"/>
                        <a:t>RequestParam</a:t>
                      </a:r>
                      <a:r>
                        <a:rPr lang="en-US" altLang="ko-KR" sz="1800" b="0" dirty="0" smtClean="0"/>
                        <a:t>("id") Long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 smtClean="0"/>
                        <a:t> </a:t>
                      </a:r>
                      <a:r>
                        <a:rPr lang="en-US" altLang="ko-KR" sz="1800" b="0" dirty="0" smtClean="0"/>
                        <a:t>@</a:t>
                      </a:r>
                      <a:r>
                        <a:rPr lang="en-US" altLang="ko-KR" sz="1800" b="0" dirty="0" err="1" smtClean="0"/>
                        <a:t>ModelAttribute</a:t>
                      </a:r>
                      <a:r>
                        <a:rPr lang="en-US" altLang="ko-KR" sz="1800" b="0" dirty="0" smtClean="0"/>
                        <a:t> User </a:t>
                      </a:r>
                      <a:r>
                        <a:rPr lang="en-US" altLang="ko-KR" sz="1800" b="0" dirty="0" err="1" smtClean="0"/>
                        <a:t>user</a:t>
                      </a:r>
                      <a:endParaRPr lang="ko-KR" altLang="en-US" sz="18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72478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46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/>
              <a:t>요청 </a:t>
            </a:r>
            <a:r>
              <a:rPr lang="ko-KR" altLang="en-US" dirty="0" err="1"/>
              <a:t>파라미터</a:t>
            </a:r>
            <a:r>
              <a:rPr lang="en-US" altLang="ko-KR" dirty="0"/>
              <a:t>(parameter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66247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@</a:t>
            </a:r>
            <a:r>
              <a:rPr lang="en-US" altLang="ko-KR" sz="2000" b="1" dirty="0" err="1" smtClean="0"/>
              <a:t>ModelAttribute</a:t>
            </a:r>
            <a:r>
              <a:rPr lang="ko-KR" altLang="en-US" sz="2000" b="1" dirty="0" smtClean="0"/>
              <a:t>로 요청 </a:t>
            </a:r>
            <a:r>
              <a:rPr lang="ko-KR" altLang="en-US" sz="2000" b="1" dirty="0" err="1" smtClean="0"/>
              <a:t>파라미터</a:t>
            </a:r>
            <a:r>
              <a:rPr lang="ko-KR" altLang="en-US" sz="2000" b="1" dirty="0" smtClean="0"/>
              <a:t> 처리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672" y="1727894"/>
            <a:ext cx="3669031" cy="230716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672" y="4467106"/>
            <a:ext cx="4536504" cy="14889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아래쪽 화살표 6"/>
          <p:cNvSpPr/>
          <p:nvPr/>
        </p:nvSpPr>
        <p:spPr>
          <a:xfrm>
            <a:off x="3584849" y="4107066"/>
            <a:ext cx="216024" cy="288032"/>
          </a:xfrm>
          <a:prstGeom prst="down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24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/>
              <a:t>요청 </a:t>
            </a:r>
            <a:r>
              <a:rPr lang="ko-KR" altLang="en-US" dirty="0" err="1"/>
              <a:t>파라미터</a:t>
            </a:r>
            <a:r>
              <a:rPr lang="en-US" altLang="ko-KR" dirty="0"/>
              <a:t>(parameter)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43204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롬복</a:t>
            </a:r>
            <a:r>
              <a:rPr lang="en-US" altLang="ko-KR" sz="2000" b="1" dirty="0" smtClean="0"/>
              <a:t>(Lombok) </a:t>
            </a:r>
            <a:r>
              <a:rPr lang="ko-KR" altLang="en-US" sz="2000" b="1" dirty="0" smtClean="0"/>
              <a:t>라이브러리</a:t>
            </a:r>
            <a:endParaRPr lang="en-US" altLang="ko-KR" sz="2000" b="1" dirty="0" smtClean="0"/>
          </a:p>
        </p:txBody>
      </p:sp>
      <p:sp>
        <p:nvSpPr>
          <p:cNvPr id="3" name="직사각형 2"/>
          <p:cNvSpPr/>
          <p:nvPr/>
        </p:nvSpPr>
        <p:spPr>
          <a:xfrm>
            <a:off x="1280592" y="1628800"/>
            <a:ext cx="7632848" cy="1285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롬복(</a:t>
            </a:r>
            <a:r>
              <a:rPr lang="ko-KR" altLang="en-US" dirty="0" err="1"/>
              <a:t>Lombok</a:t>
            </a:r>
            <a:r>
              <a:rPr lang="ko-KR" altLang="en-US" dirty="0"/>
              <a:t>)은 </a:t>
            </a:r>
            <a:r>
              <a:rPr lang="ko-KR" altLang="en-US" dirty="0" err="1"/>
              <a:t>Getter</a:t>
            </a:r>
            <a:r>
              <a:rPr lang="ko-KR" altLang="en-US" dirty="0"/>
              <a:t>, </a:t>
            </a:r>
            <a:r>
              <a:rPr lang="ko-KR" altLang="en-US" dirty="0" err="1"/>
              <a:t>Setter와</a:t>
            </a:r>
            <a:r>
              <a:rPr lang="ko-KR" altLang="en-US" dirty="0"/>
              <a:t> 등과 같은 코드를 자동으로 작성해주어 단순 반복되는 코드 작성을 줄일 수 있도록 도와주는 </a:t>
            </a:r>
            <a:r>
              <a:rPr lang="ko-KR" altLang="en-US" dirty="0" smtClean="0"/>
              <a:t>라이브러이다</a:t>
            </a:r>
            <a:r>
              <a:rPr lang="en-US" altLang="ko-KR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p</a:t>
            </a:r>
            <a:r>
              <a:rPr lang="en-US" altLang="ko-KR" dirty="0" smtClean="0"/>
              <a:t>om.xml</a:t>
            </a:r>
            <a:r>
              <a:rPr lang="ko-KR" altLang="en-US" dirty="0" smtClean="0"/>
              <a:t>에 의존성 등록이 필요함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3140968"/>
            <a:ext cx="5616624" cy="139559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68186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/>
              <a:t>요청 </a:t>
            </a:r>
            <a:r>
              <a:rPr lang="ko-KR" altLang="en-US" dirty="0" err="1"/>
              <a:t>파라미터</a:t>
            </a:r>
            <a:r>
              <a:rPr lang="en-US" altLang="ko-KR" dirty="0"/>
              <a:t>(parameter)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43204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롬복</a:t>
            </a:r>
            <a:r>
              <a:rPr lang="en-US" altLang="ko-KR" sz="2000" b="1" dirty="0" smtClean="0"/>
              <a:t>(Lombok) </a:t>
            </a:r>
            <a:r>
              <a:rPr lang="ko-KR" altLang="en-US" sz="2000" b="1" dirty="0" smtClean="0"/>
              <a:t>라이브러리</a:t>
            </a:r>
            <a:endParaRPr lang="en-US" altLang="ko-KR" sz="2000" b="1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1352600" y="1556792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별로도 </a:t>
            </a:r>
            <a:r>
              <a:rPr lang="ko-KR" altLang="en-US" dirty="0" smtClean="0"/>
              <a:t>이클립스 설치 폴더에 롬복 라이브러리를 추가해야 한다</a:t>
            </a:r>
            <a:r>
              <a:rPr lang="en-US" altLang="ko-KR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 err="1" smtClean="0"/>
              <a:t>MVNRepository</a:t>
            </a:r>
            <a:r>
              <a:rPr lang="en-US" altLang="ko-KR" dirty="0" smtClean="0"/>
              <a:t> &gt;</a:t>
            </a:r>
            <a:r>
              <a:rPr lang="en-US" altLang="ko-KR" dirty="0" err="1" smtClean="0"/>
              <a:t>lombok</a:t>
            </a:r>
            <a:r>
              <a:rPr lang="en-US" altLang="ko-KR" dirty="0" smtClean="0"/>
              <a:t> </a:t>
            </a:r>
            <a:r>
              <a:rPr lang="ko-KR" altLang="en-US" dirty="0" smtClean="0"/>
              <a:t>검색 </a:t>
            </a:r>
            <a:r>
              <a:rPr lang="en-US" altLang="ko-KR" dirty="0" smtClean="0"/>
              <a:t>&gt; </a:t>
            </a:r>
            <a:r>
              <a:rPr lang="en-US" altLang="ko-KR" dirty="0" smtClean="0"/>
              <a:t>1.18.12 </a:t>
            </a:r>
            <a:r>
              <a:rPr lang="en-US" altLang="ko-KR" dirty="0" smtClean="0"/>
              <a:t>jar </a:t>
            </a:r>
            <a:r>
              <a:rPr lang="ko-KR" altLang="en-US" dirty="0" smtClean="0"/>
              <a:t>다운로드</a:t>
            </a:r>
            <a:endParaRPr lang="en-US" altLang="ko-KR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2924944"/>
            <a:ext cx="4821890" cy="22322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532" y="3429000"/>
            <a:ext cx="4106948" cy="22276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96260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3652471"/>
            <a:ext cx="4644253" cy="25128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/>
              <a:t>요청 </a:t>
            </a:r>
            <a:r>
              <a:rPr lang="ko-KR" altLang="en-US" dirty="0" err="1"/>
              <a:t>파라미터</a:t>
            </a:r>
            <a:r>
              <a:rPr lang="en-US" altLang="ko-KR" dirty="0"/>
              <a:t>(parameter)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43204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롬복</a:t>
            </a:r>
            <a:r>
              <a:rPr lang="en-US" altLang="ko-KR" sz="2000" b="1" dirty="0" smtClean="0"/>
              <a:t>(Lombok) </a:t>
            </a:r>
            <a:r>
              <a:rPr lang="ko-KR" altLang="en-US" sz="2000" b="1" dirty="0" smtClean="0"/>
              <a:t>라이브러리</a:t>
            </a:r>
            <a:endParaRPr lang="en-US" altLang="ko-KR" sz="2000" b="1" dirty="0" smtClean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2060848"/>
            <a:ext cx="7427728" cy="2880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464" y="2962792"/>
            <a:ext cx="3167472" cy="466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59936" y="1552463"/>
            <a:ext cx="5118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l</a:t>
            </a:r>
            <a:r>
              <a:rPr lang="en-US" altLang="ko-KR" sz="1600" dirty="0" smtClean="0"/>
              <a:t>ombok.jar</a:t>
            </a:r>
            <a:r>
              <a:rPr lang="ko-KR" altLang="en-US" sz="1600" dirty="0" smtClean="0"/>
              <a:t>파일을 명령 프롬프트에서 실행함</a:t>
            </a:r>
            <a:r>
              <a:rPr lang="en-US" altLang="ko-KR" sz="1600" dirty="0" smtClean="0"/>
              <a:t>.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6306176" y="4872753"/>
            <a:ext cx="2103208" cy="651926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600" dirty="0" err="1" smtClean="0">
                <a:solidFill>
                  <a:sysClr val="windowText" lastClr="000000"/>
                </a:solidFill>
              </a:rPr>
              <a:t>이클립스에</a:t>
            </a:r>
            <a:r>
              <a:rPr lang="ko-KR" altLang="en-US" sz="1600" dirty="0" smtClean="0">
                <a:solidFill>
                  <a:sysClr val="windowText" lastClr="000000"/>
                </a:solidFill>
              </a:rPr>
              <a:t> </a:t>
            </a:r>
            <a:r>
              <a:rPr lang="ko-KR" altLang="en-US" sz="1600" dirty="0" err="1" smtClean="0">
                <a:solidFill>
                  <a:sysClr val="windowText" lastClr="000000"/>
                </a:solidFill>
              </a:rPr>
              <a:t>체크후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600" dirty="0" smtClean="0">
                <a:solidFill>
                  <a:sysClr val="windowText" lastClr="000000"/>
                </a:solidFill>
              </a:rPr>
              <a:t>Install </a:t>
            </a:r>
            <a:r>
              <a:rPr lang="ko-KR" altLang="en-US" sz="1600" dirty="0" smtClean="0">
                <a:solidFill>
                  <a:sysClr val="windowText" lastClr="000000"/>
                </a:solidFill>
              </a:rPr>
              <a:t>클릭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직선 연결선 12"/>
          <p:cNvCxnSpPr>
            <a:endCxn id="12" idx="1"/>
          </p:cNvCxnSpPr>
          <p:nvPr/>
        </p:nvCxnSpPr>
        <p:spPr>
          <a:xfrm flipV="1">
            <a:off x="4304928" y="5198716"/>
            <a:ext cx="2001248" cy="18866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endCxn id="12" idx="1"/>
          </p:cNvCxnSpPr>
          <p:nvPr/>
        </p:nvCxnSpPr>
        <p:spPr>
          <a:xfrm flipV="1">
            <a:off x="5601072" y="5198716"/>
            <a:ext cx="705104" cy="541988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46651" y="2490926"/>
            <a:ext cx="3130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err="1" smtClean="0"/>
              <a:t>cmd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명령프롬프트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에서 실행</a:t>
            </a:r>
            <a:endParaRPr lang="en-US" altLang="ko-KR" sz="1600" dirty="0" smtClean="0"/>
          </a:p>
        </p:txBody>
      </p:sp>
    </p:spTree>
    <p:extLst>
      <p:ext uri="{BB962C8B-B14F-4D97-AF65-F5344CB8AC3E}">
        <p14:creationId xmlns:p14="http://schemas.microsoft.com/office/powerpoint/2010/main" val="56460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/>
              <a:t>요청 </a:t>
            </a:r>
            <a:r>
              <a:rPr lang="ko-KR" altLang="en-US" dirty="0" err="1"/>
              <a:t>파라미터</a:t>
            </a:r>
            <a:r>
              <a:rPr lang="en-US" altLang="ko-KR" dirty="0"/>
              <a:t>(parameter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662473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User </a:t>
            </a:r>
            <a:r>
              <a:rPr lang="ko-KR" altLang="en-US" sz="2000" b="1" dirty="0" smtClean="0"/>
              <a:t>클래스</a:t>
            </a:r>
            <a:r>
              <a:rPr lang="en-US" altLang="ko-KR" sz="2000" b="1" dirty="0" smtClean="0"/>
              <a:t>(DTO/VO) </a:t>
            </a:r>
            <a:r>
              <a:rPr lang="ko-KR" altLang="en-US" sz="2000" b="1" dirty="0" smtClean="0"/>
              <a:t>생성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99199"/>
            <a:ext cx="5356323" cy="42547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65009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/>
              <a:t>요청 </a:t>
            </a:r>
            <a:r>
              <a:rPr lang="ko-KR" altLang="en-US" dirty="0" err="1"/>
              <a:t>파라미터</a:t>
            </a:r>
            <a:r>
              <a:rPr lang="en-US" altLang="ko-KR" dirty="0"/>
              <a:t>(parameter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662473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User </a:t>
            </a:r>
            <a:r>
              <a:rPr lang="ko-KR" altLang="en-US" sz="2000" b="1" dirty="0" smtClean="0"/>
              <a:t>클래스</a:t>
            </a:r>
            <a:r>
              <a:rPr lang="en-US" altLang="ko-KR" sz="2000" b="1" dirty="0" smtClean="0"/>
              <a:t>(DTO/VO) </a:t>
            </a:r>
            <a:r>
              <a:rPr lang="ko-KR" altLang="en-US" sz="2000" b="1" dirty="0" smtClean="0"/>
              <a:t>생성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727894"/>
            <a:ext cx="3372321" cy="379147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1836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/>
              <a:t>요청 </a:t>
            </a:r>
            <a:r>
              <a:rPr lang="ko-KR" altLang="en-US" dirty="0" err="1"/>
              <a:t>파라미터</a:t>
            </a:r>
            <a:r>
              <a:rPr lang="en-US" altLang="ko-KR" dirty="0"/>
              <a:t>(parameter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662473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@</a:t>
            </a:r>
            <a:r>
              <a:rPr lang="en-US" altLang="ko-KR" sz="2000" b="1" dirty="0" err="1"/>
              <a:t>ModelAttribute</a:t>
            </a:r>
            <a:r>
              <a:rPr lang="ko-KR" altLang="en-US" sz="2000" b="1" dirty="0"/>
              <a:t>로 요청 </a:t>
            </a:r>
            <a:r>
              <a:rPr lang="ko-KR" altLang="en-US" sz="2000" b="1" dirty="0" err="1"/>
              <a:t>파라미터</a:t>
            </a:r>
            <a:r>
              <a:rPr lang="ko-KR" altLang="en-US" sz="2000" b="1" dirty="0"/>
              <a:t> 처리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28800"/>
            <a:ext cx="7672838" cy="465343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02279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/>
              <a:t>요청 </a:t>
            </a:r>
            <a:r>
              <a:rPr lang="ko-KR" altLang="en-US" dirty="0" err="1"/>
              <a:t>파라미터</a:t>
            </a:r>
            <a:r>
              <a:rPr lang="en-US" altLang="ko-KR" dirty="0"/>
              <a:t>(parameter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662473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@</a:t>
            </a:r>
            <a:r>
              <a:rPr lang="en-US" altLang="ko-KR" sz="2000" b="1" dirty="0" err="1"/>
              <a:t>ModelAttribute</a:t>
            </a:r>
            <a:r>
              <a:rPr lang="ko-KR" altLang="en-US" sz="2000" b="1" dirty="0"/>
              <a:t>로 요청 </a:t>
            </a:r>
            <a:r>
              <a:rPr lang="ko-KR" altLang="en-US" sz="2000" b="1" dirty="0" err="1"/>
              <a:t>파라미터</a:t>
            </a:r>
            <a:r>
              <a:rPr lang="ko-KR" altLang="en-US" sz="2000" b="1" dirty="0"/>
              <a:t> 처리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669" y="1727894"/>
            <a:ext cx="5850588" cy="288721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897216" y="1916832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pages/userForm.html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69" y="4818016"/>
            <a:ext cx="4464496" cy="10916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93060" y="4982733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pages/viewPage03.html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462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관리 프로그램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43204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출력 화면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844824"/>
            <a:ext cx="2643091" cy="22322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844824"/>
            <a:ext cx="2929955" cy="24591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오른쪽 화살표 3"/>
          <p:cNvSpPr/>
          <p:nvPr/>
        </p:nvSpPr>
        <p:spPr>
          <a:xfrm>
            <a:off x="4376936" y="2708920"/>
            <a:ext cx="360040" cy="144016"/>
          </a:xfrm>
          <a:prstGeom prst="righ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8985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관리 프로그램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43204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회원 등록 </a:t>
            </a:r>
            <a:r>
              <a:rPr lang="en-US" altLang="ko-KR" sz="2000" b="1" dirty="0" smtClean="0"/>
              <a:t>– add.html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727894"/>
            <a:ext cx="6249272" cy="18004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23552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관리 프로그램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43204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회원 목록 </a:t>
            </a:r>
            <a:r>
              <a:rPr lang="en-US" altLang="ko-KR" sz="2000" b="1" dirty="0" smtClean="0"/>
              <a:t>– members.html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715575"/>
            <a:ext cx="5976664" cy="33551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59300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관리 프로그램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43204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 smtClean="0"/>
              <a:t>MemberDTO</a:t>
            </a:r>
            <a:r>
              <a:rPr lang="en-US" altLang="ko-KR" sz="2000" b="1" dirty="0" smtClean="0"/>
              <a:t> – </a:t>
            </a:r>
            <a:r>
              <a:rPr lang="ko-KR" altLang="en-US" sz="2000" b="1" dirty="0" err="1" smtClean="0"/>
              <a:t>자료형</a:t>
            </a:r>
            <a:r>
              <a:rPr lang="ko-KR" altLang="en-US" sz="2000" b="1" dirty="0" smtClean="0"/>
              <a:t> 클래스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28800"/>
            <a:ext cx="6434480" cy="45539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3777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관리 프로그램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43204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 smtClean="0"/>
              <a:t>MemberDTO</a:t>
            </a:r>
            <a:r>
              <a:rPr lang="en-US" altLang="ko-KR" sz="2000" b="1" dirty="0" smtClean="0"/>
              <a:t> – Lombok </a:t>
            </a:r>
            <a:r>
              <a:rPr lang="ko-KR" altLang="en-US" sz="2000" b="1" dirty="0" smtClean="0"/>
              <a:t>사용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787398"/>
            <a:ext cx="5760640" cy="277019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3617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관리 프로그램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43204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 smtClean="0"/>
              <a:t>MemberDTO</a:t>
            </a:r>
            <a:r>
              <a:rPr lang="en-US" altLang="ko-KR" sz="2000" b="1" dirty="0" smtClean="0"/>
              <a:t> – Lombok </a:t>
            </a:r>
            <a:r>
              <a:rPr lang="ko-KR" altLang="en-US" sz="2000" b="1" dirty="0" smtClean="0"/>
              <a:t>사용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1787398"/>
            <a:ext cx="3456384" cy="340580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13674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관리 프로그램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49685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 smtClean="0"/>
              <a:t>MemberRepository</a:t>
            </a:r>
            <a:r>
              <a:rPr lang="en-US" altLang="ko-KR" sz="2000" b="1" dirty="0" smtClean="0"/>
              <a:t> – </a:t>
            </a:r>
            <a:r>
              <a:rPr lang="ko-KR" altLang="en-US" sz="2000" b="1" dirty="0" smtClean="0"/>
              <a:t>자료 저장</a:t>
            </a:r>
            <a:r>
              <a:rPr lang="en-US" altLang="ko-KR" sz="2000" b="1" dirty="0" smtClean="0"/>
              <a:t>(DAO)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700808"/>
            <a:ext cx="6135201" cy="44367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56699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관리 프로그램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48965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 smtClean="0"/>
              <a:t>MemberController</a:t>
            </a:r>
            <a:r>
              <a:rPr lang="en-US" altLang="ko-KR" sz="2000" b="1" dirty="0" smtClean="0"/>
              <a:t> – </a:t>
            </a:r>
            <a:r>
              <a:rPr lang="ko-KR" altLang="en-US" sz="2000" b="1" dirty="0" smtClean="0"/>
              <a:t>컨트롤러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700808"/>
            <a:ext cx="7056784" cy="38184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224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관리 프로그램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48965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 smtClean="0"/>
              <a:t>MemberController</a:t>
            </a:r>
            <a:r>
              <a:rPr lang="en-US" altLang="ko-KR" sz="2000" b="1" dirty="0" smtClean="0"/>
              <a:t> – </a:t>
            </a:r>
            <a:r>
              <a:rPr lang="ko-KR" altLang="en-US" sz="2000" b="1" dirty="0" smtClean="0"/>
              <a:t>컨트롤러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550" y="1700808"/>
            <a:ext cx="6808810" cy="41728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9137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13223</TotalTime>
  <Words>723</Words>
  <Application>Microsoft Office PowerPoint</Application>
  <PresentationFormat>A4 용지(210x297mm)</PresentationFormat>
  <Paragraphs>120</Paragraphs>
  <Slides>31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9" baseType="lpstr">
      <vt:lpstr>HY헤드라인M</vt:lpstr>
      <vt:lpstr>맑은 고딕</vt:lpstr>
      <vt:lpstr>휴먼모음T</vt:lpstr>
      <vt:lpstr>휴먼엑스포</vt:lpstr>
      <vt:lpstr>Arial</vt:lpstr>
      <vt:lpstr>Consolas</vt:lpstr>
      <vt:lpstr>Wingdings</vt:lpstr>
      <vt:lpstr>Office 테마</vt:lpstr>
      <vt:lpstr>2장. 타임리프(Thymeleaf)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819</cp:revision>
  <dcterms:created xsi:type="dcterms:W3CDTF">2019-03-04T02:36:55Z</dcterms:created>
  <dcterms:modified xsi:type="dcterms:W3CDTF">2025-10-23T22:45:11Z</dcterms:modified>
</cp:coreProperties>
</file>