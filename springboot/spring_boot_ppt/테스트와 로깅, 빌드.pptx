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412" r:id="rId3"/>
    <p:sldId id="433" r:id="rId4"/>
    <p:sldId id="413" r:id="rId5"/>
    <p:sldId id="434" r:id="rId6"/>
    <p:sldId id="415" r:id="rId7"/>
    <p:sldId id="416" r:id="rId8"/>
    <p:sldId id="417" r:id="rId9"/>
    <p:sldId id="418" r:id="rId10"/>
    <p:sldId id="419" r:id="rId11"/>
    <p:sldId id="420" r:id="rId12"/>
    <p:sldId id="421" r:id="rId13"/>
    <p:sldId id="422" r:id="rId14"/>
    <p:sldId id="423" r:id="rId15"/>
    <p:sldId id="424" r:id="rId16"/>
    <p:sldId id="435" r:id="rId17"/>
    <p:sldId id="425" r:id="rId18"/>
    <p:sldId id="426" r:id="rId19"/>
    <p:sldId id="427" r:id="rId20"/>
    <p:sldId id="428" r:id="rId21"/>
    <p:sldId id="429" r:id="rId22"/>
    <p:sldId id="430" r:id="rId23"/>
    <p:sldId id="431" r:id="rId24"/>
    <p:sldId id="432" r:id="rId25"/>
    <p:sldId id="436" r:id="rId26"/>
    <p:sldId id="437" r:id="rId27"/>
    <p:sldId id="438" r:id="rId28"/>
    <p:sldId id="439" r:id="rId29"/>
    <p:sldId id="440" r:id="rId30"/>
    <p:sldId id="441" r:id="rId31"/>
    <p:sldId id="442" r:id="rId32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2800" autoAdjust="0"/>
    <p:restoredTop sz="94660"/>
  </p:normalViewPr>
  <p:slideViewPr>
    <p:cSldViewPr>
      <p:cViewPr varScale="1">
        <p:scale>
          <a:sx n="82" d="100"/>
          <a:sy n="82" d="100"/>
        </p:scale>
        <p:origin x="-1066" y="-8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2022-09-26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2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테스트와 </a:t>
            </a:r>
            <a:r>
              <a:rPr lang="ko-KR" altLang="en-US" sz="2400" b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로깅</a:t>
            </a:r>
            <a:r>
              <a:rPr lang="en-US" altLang="ko-KR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, </a:t>
            </a:r>
            <a:r>
              <a:rPr lang="ko-KR" altLang="en-US" sz="24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빌딩</a:t>
            </a:r>
            <a:endParaRPr lang="ko-KR" altLang="en-US" sz="24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 smtClean="0">
                <a:solidFill>
                  <a:schemeClr val="bg1"/>
                </a:solidFill>
              </a:rPr>
              <a:t> </a:t>
            </a:r>
            <a:r>
              <a:rPr lang="en-US" altLang="ko-KR" sz="1800" b="1" i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)unit </a:t>
            </a:r>
            <a:r>
              <a:rPr lang="ko-KR" altLang="en-US" sz="1800" b="1" i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테스트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스프링 부트 테스트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57950" y="1515412"/>
            <a:ext cx="81595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대부분의 프로젝트에서는 </a:t>
            </a:r>
            <a:r>
              <a:rPr lang="en-US" altLang="ko-KR" sz="1600" dirty="0" smtClean="0"/>
              <a:t>Junit</a:t>
            </a:r>
            <a:r>
              <a:rPr lang="ko-KR" altLang="en-US" sz="1600" dirty="0" smtClean="0"/>
              <a:t>을 기반으로 일관성 있는 단위 테스트를 진행하는데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단위 테스트란 자신이 작성한 클래스에 대한 테스트로서 테스트 중에 가장 기본이라 할 수 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단위 테스트가 효율적으로 이루어지기 위해서는 테스트할 객체가 최대한 단순해야 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따라서 서버를 구동하지 않고도 컨트롤러만 단독으로 테스트하거나 컨트롤러와 연관된 비즈니스 컴포넌트를 실행하지 않고 컨트롤러만 독립적으로 테스트할 수 있는 환경이 필요하다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테스트 </a:t>
            </a:r>
            <a:r>
              <a:rPr lang="ko-KR" altLang="en-US" b="1" dirty="0" err="1" smtClean="0"/>
              <a:t>스타터</a:t>
            </a:r>
            <a:r>
              <a:rPr lang="ko-KR" altLang="en-US" b="1" dirty="0" smtClean="0"/>
              <a:t> 환경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57950" y="1515412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실습을 위해 </a:t>
            </a:r>
            <a:r>
              <a:rPr lang="en-US" altLang="ko-KR" sz="1600" dirty="0" smtClean="0"/>
              <a:t>Jar, 8 </a:t>
            </a:r>
            <a:r>
              <a:rPr lang="ko-KR" altLang="en-US" sz="1600" dirty="0" smtClean="0"/>
              <a:t>버전 선택하고</a:t>
            </a:r>
            <a:r>
              <a:rPr lang="en-US" altLang="ko-KR" sz="1600" dirty="0" smtClean="0"/>
              <a:t>,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 smtClean="0"/>
              <a:t>DevTools</a:t>
            </a:r>
            <a:r>
              <a:rPr lang="en-US" altLang="ko-KR" sz="1600" dirty="0" smtClean="0"/>
              <a:t>, Lombok, Web</a:t>
            </a:r>
            <a:r>
              <a:rPr lang="ko-KR" altLang="en-US" sz="1600" dirty="0" smtClean="0"/>
              <a:t>을 추가한 </a:t>
            </a:r>
            <a:r>
              <a:rPr lang="en-US" altLang="ko-KR" sz="1600" dirty="0" smtClean="0"/>
              <a:t>Chapter02 </a:t>
            </a:r>
            <a:r>
              <a:rPr lang="ko-KR" altLang="en-US" sz="1600" dirty="0" smtClean="0"/>
              <a:t>프로젝트 생성</a:t>
            </a:r>
            <a:endParaRPr lang="en-US" altLang="ko-KR" sz="16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028" y="2492896"/>
            <a:ext cx="2851722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477" y="5011162"/>
            <a:ext cx="6073667" cy="10821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799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테스트 </a:t>
            </a:r>
            <a:r>
              <a:rPr lang="ko-KR" altLang="en-US" b="1" dirty="0" err="1" smtClean="0"/>
              <a:t>스타터</a:t>
            </a:r>
            <a:r>
              <a:rPr lang="ko-KR" altLang="en-US" b="1" dirty="0" smtClean="0"/>
              <a:t> 환경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스프링 부트 제공 테스트 케이스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844" y="2060848"/>
            <a:ext cx="6557694" cy="27363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48544" y="5013176"/>
            <a:ext cx="8543865" cy="783356"/>
          </a:xfrm>
          <a:prstGeom prst="rect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solidFill>
                  <a:srgbClr val="0070C0"/>
                </a:solidFill>
              </a:rPr>
              <a:t>@</a:t>
            </a:r>
            <a:r>
              <a:rPr lang="en-US" altLang="ko-KR" sz="1600" b="1" dirty="0" err="1" smtClean="0">
                <a:solidFill>
                  <a:srgbClr val="0070C0"/>
                </a:solidFill>
              </a:rPr>
              <a:t>SpringBootTest</a:t>
            </a:r>
            <a:r>
              <a:rPr lang="en-US" altLang="ko-KR" sz="1600" b="1" dirty="0" smtClean="0">
                <a:solidFill>
                  <a:srgbClr val="0070C0"/>
                </a:solidFill>
              </a:rPr>
              <a:t> </a:t>
            </a:r>
            <a:r>
              <a:rPr lang="ko-KR" altLang="en-US" sz="1600" dirty="0" err="1" smtClean="0">
                <a:solidFill>
                  <a:srgbClr val="0070C0"/>
                </a:solidFill>
              </a:rPr>
              <a:t>어노테이션은</a:t>
            </a:r>
            <a:r>
              <a:rPr lang="ko-KR" altLang="en-US" sz="1600" dirty="0" smtClean="0">
                <a:solidFill>
                  <a:srgbClr val="0070C0"/>
                </a:solidFill>
              </a:rPr>
              <a:t> 테스트 케이스가 </a:t>
            </a:r>
            <a:r>
              <a:rPr lang="ko-KR" altLang="en-US" sz="1600" dirty="0" err="1" smtClean="0">
                <a:solidFill>
                  <a:srgbClr val="0070C0"/>
                </a:solidFill>
              </a:rPr>
              <a:t>실행될때</a:t>
            </a:r>
            <a:r>
              <a:rPr lang="ko-KR" altLang="en-US" sz="1600" dirty="0" smtClean="0">
                <a:solidFill>
                  <a:srgbClr val="0070C0"/>
                </a:solidFill>
              </a:rPr>
              <a:t> 테스트에 필요한 모든 설정과 빈들을 자동으로 초기화 하는 역할 수행함</a:t>
            </a:r>
            <a:endParaRPr lang="en-US" altLang="ko-KR" sz="1600" dirty="0" smtClean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7950" y="1515412"/>
            <a:ext cx="6480720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(1) </a:t>
            </a:r>
            <a:r>
              <a:rPr lang="ko-KR" altLang="en-US" sz="1600" dirty="0" smtClean="0"/>
              <a:t>기본 테스트 클래스 이해하기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169213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55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테스트 </a:t>
            </a:r>
            <a:r>
              <a:rPr lang="ko-KR" altLang="en-US" b="1" dirty="0" err="1" smtClean="0"/>
              <a:t>스타터</a:t>
            </a:r>
            <a:r>
              <a:rPr lang="ko-KR" altLang="en-US" b="1" dirty="0" smtClean="0"/>
              <a:t> 환경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스프링 부트 제공 테스트 케이스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67" y="3942461"/>
            <a:ext cx="8914270" cy="7826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35" y="2650780"/>
            <a:ext cx="8221913" cy="1068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7950" y="1556792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(2) </a:t>
            </a:r>
            <a:r>
              <a:rPr lang="ko-KR" altLang="en-US" sz="1600" dirty="0" smtClean="0"/>
              <a:t>테스트 케이스 실행하기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마우스 오른쪽 </a:t>
            </a:r>
            <a:r>
              <a:rPr lang="en-US" altLang="ko-KR" sz="1600" dirty="0" smtClean="0"/>
              <a:t>&gt; [Run As] -&gt; [Junit Test]</a:t>
            </a:r>
          </a:p>
        </p:txBody>
      </p:sp>
    </p:spTree>
    <p:extLst>
      <p:ext uri="{BB962C8B-B14F-4D97-AF65-F5344CB8AC3E}">
        <p14:creationId xmlns:p14="http://schemas.microsoft.com/office/powerpoint/2010/main" val="200050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테스트 케이스 만들기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40" y="4293096"/>
            <a:ext cx="8077901" cy="10364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40" y="1700808"/>
            <a:ext cx="6081287" cy="2301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009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프로퍼티</a:t>
            </a:r>
            <a:r>
              <a:rPr lang="ko-KR" altLang="en-US" b="1" dirty="0" smtClean="0"/>
              <a:t> 사용하기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src</a:t>
            </a:r>
            <a:r>
              <a:rPr lang="en-US" altLang="ko-KR" b="1" dirty="0" smtClean="0"/>
              <a:t>/main/resources/</a:t>
            </a:r>
            <a:r>
              <a:rPr lang="en-US" altLang="ko-KR" b="1" dirty="0" err="1" smtClean="0"/>
              <a:t>application.properites</a:t>
            </a:r>
            <a:r>
              <a:rPr lang="ko-KR" altLang="en-US" b="1" dirty="0" smtClean="0"/>
              <a:t>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212" y="2093602"/>
            <a:ext cx="6629975" cy="16917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27"/>
          <a:stretch/>
        </p:blipFill>
        <p:spPr>
          <a:xfrm>
            <a:off x="4186741" y="4305922"/>
            <a:ext cx="4569429" cy="142733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208" y="4367725"/>
            <a:ext cx="2808312" cy="8512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86741" y="3880287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a</a:t>
            </a:r>
            <a:r>
              <a:rPr lang="en-US" altLang="ko-KR" sz="1600" dirty="0" err="1" smtClean="0"/>
              <a:t>pplication.properties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1205212" y="1650286"/>
            <a:ext cx="46838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Run As &gt; Spring Boot App</a:t>
            </a:r>
            <a:r>
              <a:rPr lang="ko-KR" altLang="en-US" sz="1600" dirty="0" smtClean="0"/>
              <a:t>으로 실행하기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5951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프로퍼티</a:t>
            </a:r>
            <a:r>
              <a:rPr lang="ko-KR" altLang="en-US" b="1" dirty="0" smtClean="0"/>
              <a:t> 사용하기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0"/>
          <a:stretch/>
        </p:blipFill>
        <p:spPr>
          <a:xfrm>
            <a:off x="416496" y="1772816"/>
            <a:ext cx="9221044" cy="10801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81" y="3068960"/>
            <a:ext cx="5184576" cy="18072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5445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프로퍼티</a:t>
            </a:r>
            <a:r>
              <a:rPr lang="ko-KR" altLang="en-US" b="1" dirty="0" smtClean="0"/>
              <a:t> 사용하기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49" y="3186607"/>
            <a:ext cx="8174455" cy="25922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17" r="25838"/>
          <a:stretch/>
        </p:blipFill>
        <p:spPr>
          <a:xfrm>
            <a:off x="5078872" y="3553076"/>
            <a:ext cx="4443444" cy="9296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04"/>
          <a:stretch/>
        </p:blipFill>
        <p:spPr>
          <a:xfrm>
            <a:off x="1102849" y="1628800"/>
            <a:ext cx="4569429" cy="13306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470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err="1" smtClean="0"/>
              <a:t>프로퍼티</a:t>
            </a:r>
            <a:r>
              <a:rPr lang="ko-KR" altLang="en-US" b="1" dirty="0" smtClean="0"/>
              <a:t> 재정의하기 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5157192"/>
            <a:ext cx="4176464" cy="908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54" y="1592492"/>
            <a:ext cx="8016935" cy="31549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711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서비스 </a:t>
            </a:r>
            <a:r>
              <a:rPr lang="ko-KR" altLang="en-US" b="1" smtClean="0"/>
              <a:t>계층을 연동하는 컨트롤러 테스트하기  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96516" y="2667684"/>
            <a:ext cx="4428492" cy="37856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rgbClr val="0070C0"/>
                </a:solidFill>
              </a:rPr>
              <a:t>프레젠테이션 </a:t>
            </a:r>
            <a:r>
              <a:rPr lang="ko-KR" altLang="en-US" sz="1600" dirty="0" err="1" smtClean="0">
                <a:solidFill>
                  <a:srgbClr val="0070C0"/>
                </a:solidFill>
              </a:rPr>
              <a:t>레이어</a:t>
            </a:r>
            <a:r>
              <a:rPr lang="en-US" altLang="ko-KR" sz="1600" dirty="0" smtClean="0">
                <a:solidFill>
                  <a:srgbClr val="0070C0"/>
                </a:solidFill>
              </a:rPr>
              <a:t>(MVC)</a:t>
            </a:r>
            <a:r>
              <a:rPr lang="en-US" altLang="ko-KR" sz="1600" dirty="0" smtClean="0"/>
              <a:t> 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794284" y="4163433"/>
            <a:ext cx="1933990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DispatcherServlet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253036" y="4163433"/>
            <a:ext cx="1645958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Controller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94284" y="5347913"/>
            <a:ext cx="1933990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View(HTML)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2788618" y="4451465"/>
            <a:ext cx="39604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rot="5400000">
            <a:off x="1470838" y="5057550"/>
            <a:ext cx="39604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77036" y="2667684"/>
            <a:ext cx="4428492" cy="378565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>
                <a:solidFill>
                  <a:srgbClr val="C00000"/>
                </a:solidFill>
              </a:rPr>
              <a:t>비즈니</a:t>
            </a:r>
            <a:r>
              <a:rPr lang="ko-KR" altLang="en-US" sz="1600" dirty="0">
                <a:solidFill>
                  <a:srgbClr val="C00000"/>
                </a:solidFill>
              </a:rPr>
              <a:t>스</a:t>
            </a:r>
            <a:r>
              <a:rPr lang="ko-KR" altLang="en-US" sz="1600" dirty="0" smtClean="0">
                <a:solidFill>
                  <a:srgbClr val="C00000"/>
                </a:solidFill>
              </a:rPr>
              <a:t>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레이어</a:t>
            </a:r>
            <a:r>
              <a:rPr lang="en-US" altLang="ko-KR" sz="1600" dirty="0" smtClean="0">
                <a:solidFill>
                  <a:srgbClr val="C00000"/>
                </a:solidFill>
              </a:rPr>
              <a:t>(MVC)</a:t>
            </a:r>
            <a:r>
              <a:rPr lang="en-US" altLang="ko-KR" sz="1600" dirty="0" smtClean="0"/>
              <a:t> 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</p:txBody>
      </p:sp>
      <p:sp>
        <p:nvSpPr>
          <p:cNvPr id="20" name="직사각형 19"/>
          <p:cNvSpPr/>
          <p:nvPr/>
        </p:nvSpPr>
        <p:spPr>
          <a:xfrm>
            <a:off x="6367382" y="4195785"/>
            <a:ext cx="1933990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 smtClean="0">
                <a:solidFill>
                  <a:sysClr val="windowText" lastClr="000000"/>
                </a:solidFill>
              </a:rPr>
              <a:t>ServiceImpl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345594" y="3227329"/>
            <a:ext cx="1955777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Service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853100" y="5347913"/>
            <a:ext cx="1555694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Repository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rot="5400000">
            <a:off x="6432925" y="5077986"/>
            <a:ext cx="39604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4898994" y="4451465"/>
            <a:ext cx="1386154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 rot="5400000">
            <a:off x="7905328" y="5077987"/>
            <a:ext cx="396043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7581292" y="5347913"/>
            <a:ext cx="1555694" cy="61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Entity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9" name="직선 화살표 연결선 28"/>
          <p:cNvCxnSpPr/>
          <p:nvPr/>
        </p:nvCxnSpPr>
        <p:spPr>
          <a:xfrm flipV="1">
            <a:off x="7313155" y="3843049"/>
            <a:ext cx="0" cy="3203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65268" y="3875401"/>
            <a:ext cx="11701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implements</a:t>
            </a:r>
            <a:endParaRPr lang="ko-KR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1136576" y="1412776"/>
            <a:ext cx="8015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실제 프로젝트에서는 </a:t>
            </a:r>
            <a:r>
              <a:rPr lang="en-US" altLang="ko-KR" sz="1600" dirty="0" smtClean="0"/>
              <a:t>Controller</a:t>
            </a:r>
            <a:r>
              <a:rPr lang="ko-KR" altLang="en-US" sz="1600" dirty="0" smtClean="0"/>
              <a:t>는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단순히 사용자의 요청을 받아들이는 역할만 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컨트롤러에서 실제 사용자가 원하는 비즈니스 </a:t>
            </a:r>
            <a:r>
              <a:rPr lang="ko-KR" altLang="en-US" sz="1600" dirty="0" err="1" smtClean="0"/>
              <a:t>로직을</a:t>
            </a:r>
            <a:r>
              <a:rPr lang="ko-KR" altLang="en-US" sz="1600" dirty="0" smtClean="0"/>
              <a:t> 처리하기 위해서 비즈니스 컴포넌트를 호출해야 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196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서비스 </a:t>
            </a:r>
            <a:r>
              <a:rPr lang="ko-KR" altLang="en-US" b="1" smtClean="0"/>
              <a:t>계층을 연동하는 컨트롤러 테스트하기 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52" y="2673506"/>
            <a:ext cx="4320480" cy="19135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3" y="2673506"/>
            <a:ext cx="2813141" cy="21236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136576" y="1565524"/>
            <a:ext cx="801553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Chapter01</a:t>
            </a:r>
            <a:r>
              <a:rPr lang="ko-KR" altLang="en-US" sz="1600" dirty="0" smtClean="0"/>
              <a:t>에서 만든 </a:t>
            </a:r>
            <a:r>
              <a:rPr lang="en-US" altLang="ko-KR" sz="1600" dirty="0" err="1" smtClean="0"/>
              <a:t>BoardVO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BoardController</a:t>
            </a:r>
            <a:r>
              <a:rPr lang="ko-KR" altLang="en-US" sz="1600" dirty="0" smtClean="0"/>
              <a:t>는 복사해 옴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 smtClean="0"/>
              <a:t>BoardService</a:t>
            </a:r>
            <a:r>
              <a:rPr lang="ko-KR" altLang="en-US" sz="1600" dirty="0" smtClean="0"/>
              <a:t>와 </a:t>
            </a:r>
            <a:r>
              <a:rPr lang="en-US" altLang="ko-KR" sz="1600" dirty="0" err="1" smtClean="0"/>
              <a:t>BoardServiceImpl</a:t>
            </a:r>
            <a:r>
              <a:rPr lang="ko-KR" altLang="en-US" sz="1600" dirty="0" smtClean="0"/>
              <a:t>을 생성함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68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서비스 </a:t>
            </a:r>
            <a:r>
              <a:rPr lang="ko-KR" altLang="en-US" b="1" smtClean="0"/>
              <a:t>계층을 연동하는 컨트롤러 테스트하기 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700808"/>
            <a:ext cx="5964117" cy="41764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42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서비스 </a:t>
            </a:r>
            <a:r>
              <a:rPr lang="ko-KR" altLang="en-US" b="1" smtClean="0"/>
              <a:t>계층을 연동하는 컨트롤러 테스트하기 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1700808"/>
            <a:ext cx="5944980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755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323"/>
          <a:stretch/>
        </p:blipFill>
        <p:spPr>
          <a:xfrm>
            <a:off x="1284107" y="2204864"/>
            <a:ext cx="7035549" cy="27363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136576" y="1196752"/>
            <a:ext cx="7416824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 smtClean="0"/>
              <a:t>BoardController</a:t>
            </a:r>
            <a:r>
              <a:rPr lang="ko-KR" altLang="en-US" sz="1600" dirty="0" smtClean="0"/>
              <a:t>는 단순히 </a:t>
            </a:r>
            <a:r>
              <a:rPr lang="en-US" altLang="ko-KR" sz="1600" dirty="0" err="1" smtClean="0"/>
              <a:t>BoardService</a:t>
            </a:r>
            <a:r>
              <a:rPr lang="ko-KR" altLang="en-US" sz="1600" dirty="0" smtClean="0"/>
              <a:t>가 제공하는 </a:t>
            </a:r>
            <a:r>
              <a:rPr lang="ko-KR" altLang="en-US" sz="1600" dirty="0" err="1" smtClean="0"/>
              <a:t>메소드를</a:t>
            </a:r>
            <a:r>
              <a:rPr lang="ko-KR" altLang="en-US" sz="1600" dirty="0" smtClean="0"/>
              <a:t> 호출하여 사용자 요청을 처리하도록 수정한다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2939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20"/>
          <a:stretch/>
        </p:blipFill>
        <p:spPr>
          <a:xfrm>
            <a:off x="1352600" y="1484784"/>
            <a:ext cx="6809283" cy="33123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528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부트에서 테스트하기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844824"/>
            <a:ext cx="6599492" cy="17375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프로젝트 실행하기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423" y="3861048"/>
            <a:ext cx="3486585" cy="7848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423" y="4869160"/>
            <a:ext cx="5631668" cy="731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9402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로깅</a:t>
            </a:r>
            <a:r>
              <a:rPr lang="en-US" altLang="ko-KR" dirty="0" smtClean="0"/>
              <a:t>(Logging)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스프링 부트 </a:t>
            </a:r>
            <a:r>
              <a:rPr lang="ko-KR" altLang="en-US" b="1" dirty="0" err="1" smtClean="0"/>
              <a:t>로깅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3573016"/>
            <a:ext cx="6566745" cy="10801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84" y="4797152"/>
            <a:ext cx="6876950" cy="16679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36576" y="1484784"/>
            <a:ext cx="806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부트는 </a:t>
            </a:r>
            <a:r>
              <a:rPr lang="en-US" altLang="ko-KR" sz="1600" dirty="0" smtClean="0"/>
              <a:t>SLF4J(Simple Logging Façade for Java)</a:t>
            </a:r>
            <a:r>
              <a:rPr lang="ko-KR" altLang="en-US" sz="1600" dirty="0" smtClean="0"/>
              <a:t>를 이용하여 로그를 관리한다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err="1" smtClean="0"/>
              <a:t>퍼사드는</a:t>
            </a:r>
            <a:r>
              <a:rPr lang="ko-KR" altLang="en-US" sz="1600" dirty="0" smtClean="0"/>
              <a:t> </a:t>
            </a:r>
            <a:r>
              <a:rPr lang="en-US" altLang="ko-KR" sz="1600" dirty="0" err="1" smtClean="0"/>
              <a:t>GoF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디자인 패턴 중 하나로써 복잡한 서브 시스템을 쉽게 사용할 수 있도록 간단하고 통일된 인터페이스를 제공한다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SLF4J</a:t>
            </a:r>
            <a:r>
              <a:rPr lang="ko-KR" altLang="en-US" sz="1600" dirty="0" smtClean="0"/>
              <a:t>라는 </a:t>
            </a:r>
            <a:r>
              <a:rPr lang="ko-KR" altLang="en-US" sz="1600" dirty="0" err="1" smtClean="0"/>
              <a:t>퍼사드를</a:t>
            </a:r>
            <a:r>
              <a:rPr lang="ko-KR" altLang="en-US" sz="1600" dirty="0" smtClean="0"/>
              <a:t> 통해 궁극적으로는 </a:t>
            </a:r>
            <a:r>
              <a:rPr lang="en-US" altLang="ko-KR" sz="1600" dirty="0" err="1" smtClean="0"/>
              <a:t>LogBack</a:t>
            </a:r>
            <a:r>
              <a:rPr lang="ko-KR" altLang="en-US" sz="1600" dirty="0" smtClean="0"/>
              <a:t>을 사용한다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 smtClean="0"/>
              <a:t>LogBack</a:t>
            </a:r>
            <a:r>
              <a:rPr lang="ko-KR" altLang="en-US" sz="1600" dirty="0" smtClean="0"/>
              <a:t>은 기존의 </a:t>
            </a:r>
            <a:r>
              <a:rPr lang="en-US" altLang="ko-KR" sz="1600" dirty="0" smtClean="0"/>
              <a:t>Log4j</a:t>
            </a:r>
            <a:r>
              <a:rPr lang="ko-KR" altLang="en-US" sz="1600" dirty="0" smtClean="0"/>
              <a:t>에 비해 성능이나 기능면에서 많은 장점을 제공한다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2216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빌드</a:t>
            </a:r>
            <a:r>
              <a:rPr lang="en-US" altLang="ko-KR" dirty="0" smtClean="0"/>
              <a:t>(Build)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스프링 부트 </a:t>
            </a:r>
            <a:r>
              <a:rPr lang="ko-KR" altLang="en-US" b="1" dirty="0" err="1" smtClean="0"/>
              <a:t>빌드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84784"/>
            <a:ext cx="8064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부트는 </a:t>
            </a:r>
            <a:r>
              <a:rPr lang="ko-KR" altLang="en-US" sz="1600" dirty="0" err="1" smtClean="0"/>
              <a:t>메이븐을</a:t>
            </a:r>
            <a:r>
              <a:rPr lang="ko-KR" altLang="en-US" sz="1600" dirty="0" smtClean="0"/>
              <a:t> 이용해서 프로젝트를 생성하고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완성된 프로젝트의 </a:t>
            </a:r>
            <a:r>
              <a:rPr lang="ko-KR" altLang="en-US" sz="1600" dirty="0" err="1" smtClean="0"/>
              <a:t>빌드</a:t>
            </a:r>
            <a:r>
              <a:rPr lang="ko-KR" altLang="en-US" sz="1600" dirty="0" smtClean="0"/>
              <a:t> 역시 </a:t>
            </a:r>
            <a:r>
              <a:rPr lang="ko-KR" altLang="en-US" sz="1600" dirty="0" err="1" smtClean="0"/>
              <a:t>메이븐으로</a:t>
            </a:r>
            <a:r>
              <a:rPr lang="ko-KR" altLang="en-US" sz="1600" dirty="0" smtClean="0"/>
              <a:t> 처리한다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 smtClean="0"/>
              <a:t>빌드라는</a:t>
            </a:r>
            <a:r>
              <a:rPr lang="ko-KR" altLang="en-US" sz="1600" dirty="0" smtClean="0"/>
              <a:t> 것은 완성된 프로젝트에서 소스를 컴파일하고 </a:t>
            </a:r>
            <a:r>
              <a:rPr lang="ko-KR" altLang="en-US" sz="1600" dirty="0" err="1" smtClean="0"/>
              <a:t>컴파일된</a:t>
            </a:r>
            <a:r>
              <a:rPr lang="ko-KR" altLang="en-US" sz="1600" dirty="0" smtClean="0"/>
              <a:t> 소스들을 적절한 폴더에 취합하고 </a:t>
            </a:r>
            <a:r>
              <a:rPr lang="en-US" altLang="ko-KR" sz="1600" dirty="0" smtClean="0"/>
              <a:t>JAR</a:t>
            </a:r>
            <a:r>
              <a:rPr lang="ko-KR" altLang="en-US" sz="1600" dirty="0" smtClean="0"/>
              <a:t>나 </a:t>
            </a:r>
            <a:r>
              <a:rPr lang="en-US" altLang="ko-KR" sz="1600" dirty="0" smtClean="0"/>
              <a:t>WAR </a:t>
            </a:r>
            <a:r>
              <a:rPr lang="ko-KR" altLang="en-US" sz="1600" dirty="0" smtClean="0"/>
              <a:t>파일로 </a:t>
            </a:r>
            <a:r>
              <a:rPr lang="ko-KR" altLang="en-US" sz="1600" dirty="0" err="1" smtClean="0"/>
              <a:t>패키징하여</a:t>
            </a:r>
            <a:r>
              <a:rPr lang="ko-KR" altLang="en-US" sz="1600" dirty="0" smtClean="0"/>
              <a:t> 운영 서버에 배포하는 일련의 과정을 의미한다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스프링부트는 독립적으로 실행 가능한 애플리케이션을 빠르게 개발하는 것을 </a:t>
            </a:r>
            <a:r>
              <a:rPr lang="ko-KR" altLang="en-US" sz="1600" dirty="0" err="1" smtClean="0"/>
              <a:t>목표로한다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그래서 웹 애플리케이션도 </a:t>
            </a:r>
            <a:r>
              <a:rPr lang="en-US" altLang="ko-KR" sz="1600" dirty="0" smtClean="0"/>
              <a:t>WAR</a:t>
            </a:r>
            <a:r>
              <a:rPr lang="ko-KR" altLang="en-US" sz="1600" dirty="0" smtClean="0"/>
              <a:t>가 아닌 </a:t>
            </a:r>
            <a:r>
              <a:rPr lang="en-US" altLang="ko-KR" sz="1600" dirty="0" smtClean="0"/>
              <a:t>JAR </a:t>
            </a:r>
            <a:r>
              <a:rPr lang="ko-KR" altLang="en-US" sz="1600" dirty="0" smtClean="0"/>
              <a:t>파일로 </a:t>
            </a:r>
            <a:r>
              <a:rPr lang="ko-KR" altLang="en-US" sz="1600" dirty="0" err="1" smtClean="0"/>
              <a:t>패키징하여</a:t>
            </a:r>
            <a:r>
              <a:rPr lang="ko-KR" altLang="en-US" sz="1600" dirty="0" smtClean="0"/>
              <a:t> 사용할 수 있도록 지원한다</a:t>
            </a:r>
            <a:r>
              <a:rPr lang="en-US" altLang="ko-KR" sz="1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933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빌드</a:t>
            </a:r>
            <a:r>
              <a:rPr lang="en-US" altLang="ko-KR" dirty="0" smtClean="0"/>
              <a:t>(Build)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스프링 부트 </a:t>
            </a:r>
            <a:r>
              <a:rPr lang="ko-KR" altLang="en-US" b="1" dirty="0" err="1" smtClean="0"/>
              <a:t>빌드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136576" y="1484784"/>
            <a:ext cx="8064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 smtClean="0"/>
              <a:t>메이븐이</a:t>
            </a:r>
            <a:r>
              <a:rPr lang="ko-KR" altLang="en-US" sz="1600" dirty="0" smtClean="0"/>
              <a:t> 프로젝트를 </a:t>
            </a:r>
            <a:r>
              <a:rPr lang="ko-KR" altLang="en-US" sz="1600" dirty="0" err="1" smtClean="0"/>
              <a:t>빌드할</a:t>
            </a:r>
            <a:r>
              <a:rPr lang="ko-KR" altLang="en-US" sz="1600" dirty="0" smtClean="0"/>
              <a:t> 때 기본적으로 사용하는 폴더가 </a:t>
            </a:r>
            <a:r>
              <a:rPr lang="en-US" altLang="ko-KR" sz="1600" dirty="0" smtClean="0"/>
              <a:t>target</a:t>
            </a:r>
            <a:r>
              <a:rPr lang="ko-KR" altLang="en-US" sz="1600" dirty="0" smtClean="0"/>
              <a:t>이다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따라서 현재 프로젝트를 </a:t>
            </a:r>
            <a:r>
              <a:rPr lang="ko-KR" altLang="en-US" sz="1600" dirty="0" err="1" smtClean="0"/>
              <a:t>빌드하면</a:t>
            </a:r>
            <a:r>
              <a:rPr lang="ko-KR" altLang="en-US" sz="1600" dirty="0" smtClean="0"/>
              <a:t> 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target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폴더</a:t>
            </a:r>
            <a:r>
              <a:rPr lang="ko-KR" altLang="en-US" sz="1600" dirty="0" smtClean="0"/>
              <a:t>에 </a:t>
            </a:r>
            <a:r>
              <a:rPr lang="ko-KR" altLang="en-US" sz="1600" dirty="0" err="1" smtClean="0"/>
              <a:t>빌드</a:t>
            </a:r>
            <a:r>
              <a:rPr lang="ko-KR" altLang="en-US" sz="1600" dirty="0" smtClean="0"/>
              <a:t> 과정에서 생성한 임시 폴더와 파일들이 생기고 </a:t>
            </a:r>
            <a:r>
              <a:rPr lang="ko-KR" altLang="en-US" sz="1600" dirty="0" err="1" smtClean="0"/>
              <a:t>패키징</a:t>
            </a:r>
            <a:r>
              <a:rPr lang="ko-KR" altLang="en-US" sz="1600" dirty="0" smtClean="0"/>
              <a:t> 결과 파일도 만들어진다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b="1" dirty="0" smtClean="0"/>
              <a:t>프로젝트 우측 메뉴 </a:t>
            </a:r>
            <a:r>
              <a:rPr lang="en-US" altLang="ko-KR" sz="1600" b="1" dirty="0" smtClean="0"/>
              <a:t>-&gt; [Run As] -&gt; [Maven install]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686" y="3501008"/>
            <a:ext cx="2638206" cy="17281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7" name="직선 화살표 연결선 6"/>
          <p:cNvCxnSpPr/>
          <p:nvPr/>
        </p:nvCxnSpPr>
        <p:spPr>
          <a:xfrm>
            <a:off x="4097905" y="4222102"/>
            <a:ext cx="693077" cy="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652" y="3583452"/>
            <a:ext cx="3143415" cy="156330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686" y="5373216"/>
            <a:ext cx="4625596" cy="11176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829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빌드</a:t>
            </a:r>
            <a:r>
              <a:rPr lang="en-US" altLang="ko-KR" dirty="0" smtClean="0"/>
              <a:t>(Build)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 smtClean="0"/>
              <a:t>스프링 부트 </a:t>
            </a:r>
            <a:r>
              <a:rPr lang="ko-KR" altLang="en-US" b="1" dirty="0" err="1" smtClean="0"/>
              <a:t>빌드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2564904"/>
            <a:ext cx="6614734" cy="16917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136576" y="1484784"/>
            <a:ext cx="8064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Chapter02-0.0.1-SNAPSHOT.jar </a:t>
            </a:r>
            <a:r>
              <a:rPr lang="ko-KR" altLang="en-US" sz="1600" dirty="0" smtClean="0"/>
              <a:t>파일 생성됨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pom.xml </a:t>
            </a:r>
            <a:r>
              <a:rPr lang="ko-KR" altLang="en-US" sz="1600" dirty="0" smtClean="0"/>
              <a:t>설정에</a:t>
            </a:r>
            <a:r>
              <a:rPr lang="ko-KR" altLang="en-US" sz="1600" dirty="0"/>
              <a:t>서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&lt;</a:t>
            </a:r>
            <a:r>
              <a:rPr lang="en-US" altLang="ko-KR" sz="1600" dirty="0" err="1" smtClean="0"/>
              <a:t>artifactid</a:t>
            </a:r>
            <a:r>
              <a:rPr lang="en-US" altLang="ko-KR" sz="1600" dirty="0" smtClean="0"/>
              <a:t>&gt; + &lt;version&gt; + jar </a:t>
            </a:r>
            <a:r>
              <a:rPr lang="ko-KR" altLang="en-US" sz="1600" dirty="0" smtClean="0"/>
              <a:t>형태의 </a:t>
            </a:r>
            <a:r>
              <a:rPr lang="ko-KR" altLang="en-US" sz="1600" dirty="0" err="1" smtClean="0"/>
              <a:t>패키징</a:t>
            </a:r>
            <a:r>
              <a:rPr lang="ko-KR" altLang="en-US" sz="1600" dirty="0" smtClean="0"/>
              <a:t> 파일이 생성됨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1614064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빌드</a:t>
            </a:r>
            <a:r>
              <a:rPr lang="en-US" altLang="ko-KR" dirty="0" smtClean="0"/>
              <a:t>(Build)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JAR </a:t>
            </a:r>
            <a:r>
              <a:rPr lang="ko-KR" altLang="en-US" dirty="0" smtClean="0"/>
              <a:t>파일 압축풀기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278" y="1700808"/>
            <a:ext cx="4610500" cy="12345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312" y="3139547"/>
            <a:ext cx="4598465" cy="276759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105128" y="3573016"/>
            <a:ext cx="3312368" cy="156966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>
                <a:solidFill>
                  <a:srgbClr val="0070C0"/>
                </a:solidFill>
              </a:rPr>
              <a:t>Main-Class</a:t>
            </a:r>
            <a:r>
              <a:rPr lang="ko-KR" altLang="en-US" sz="1600" dirty="0" smtClean="0">
                <a:solidFill>
                  <a:srgbClr val="0070C0"/>
                </a:solidFill>
              </a:rPr>
              <a:t>는 </a:t>
            </a:r>
            <a:r>
              <a:rPr lang="en-US" altLang="ko-KR" sz="1600" dirty="0" err="1" smtClean="0">
                <a:solidFill>
                  <a:srgbClr val="0070C0"/>
                </a:solidFill>
              </a:rPr>
              <a:t>JavaLancher</a:t>
            </a:r>
            <a:r>
              <a:rPr lang="en-US" altLang="ko-KR" sz="1600" dirty="0" smtClean="0">
                <a:solidFill>
                  <a:srgbClr val="0070C0"/>
                </a:solidFill>
              </a:rPr>
              <a:t>  </a:t>
            </a:r>
            <a:r>
              <a:rPr lang="ko-KR" altLang="en-US" sz="1600" dirty="0" smtClean="0">
                <a:solidFill>
                  <a:srgbClr val="0070C0"/>
                </a:solidFill>
              </a:rPr>
              <a:t>클래스라는 의미이며</a:t>
            </a:r>
            <a:r>
              <a:rPr lang="en-US" altLang="ko-KR" sz="1600" dirty="0" smtClean="0">
                <a:solidFill>
                  <a:srgbClr val="0070C0"/>
                </a:solidFill>
              </a:rPr>
              <a:t>,</a:t>
            </a:r>
            <a:r>
              <a:rPr lang="ko-KR" altLang="en-US" sz="1600" dirty="0" smtClean="0">
                <a:solidFill>
                  <a:srgbClr val="0070C0"/>
                </a:solidFill>
              </a:rPr>
              <a:t> </a:t>
            </a:r>
            <a:r>
              <a:rPr lang="en-US" altLang="ko-KR" sz="1600" dirty="0" smtClean="0">
                <a:solidFill>
                  <a:srgbClr val="0070C0"/>
                </a:solidFill>
              </a:rPr>
              <a:t>Start-Class </a:t>
            </a:r>
            <a:r>
              <a:rPr lang="ko-KR" altLang="en-US" sz="1600" dirty="0" smtClean="0">
                <a:solidFill>
                  <a:srgbClr val="0070C0"/>
                </a:solidFill>
              </a:rPr>
              <a:t>정보는 </a:t>
            </a:r>
            <a:r>
              <a:rPr lang="en-US" altLang="ko-KR" sz="1600" dirty="0" smtClean="0">
                <a:solidFill>
                  <a:srgbClr val="0070C0"/>
                </a:solidFill>
              </a:rPr>
              <a:t>Chapter02Application </a:t>
            </a:r>
            <a:r>
              <a:rPr lang="ko-KR" altLang="en-US" sz="1600" dirty="0" smtClean="0">
                <a:solidFill>
                  <a:srgbClr val="0070C0"/>
                </a:solidFill>
              </a:rPr>
              <a:t>클래스를 시작으로 실행한다는 의미이다</a:t>
            </a:r>
            <a:r>
              <a:rPr lang="en-US" altLang="ko-KR" sz="1600" dirty="0" smtClean="0">
                <a:solidFill>
                  <a:srgbClr val="0070C0"/>
                </a:solidFill>
              </a:rPr>
              <a:t>.</a:t>
            </a:r>
            <a:endParaRPr lang="ko-KR" altLang="en-US" sz="1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92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빌드</a:t>
            </a:r>
            <a:r>
              <a:rPr lang="en-US" altLang="ko-KR" dirty="0" smtClean="0"/>
              <a:t>(Build)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Runnable JAR </a:t>
            </a:r>
            <a:r>
              <a:rPr lang="ko-KR" altLang="en-US" dirty="0" smtClean="0"/>
              <a:t>실행하기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36576" y="1484784"/>
            <a:ext cx="8064896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Chapter02-0.0.1-SNAPSHOT.jar &gt; </a:t>
            </a:r>
            <a:r>
              <a:rPr lang="ko-KR" altLang="en-US" sz="1600" dirty="0" smtClean="0"/>
              <a:t>우측메뉴 </a:t>
            </a:r>
            <a:r>
              <a:rPr lang="en-US" altLang="ko-KR" sz="1600" dirty="0" smtClean="0"/>
              <a:t>&gt; Show in Local Terminal &gt; Terminal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2060848"/>
            <a:ext cx="4861982" cy="11812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28" y="3861048"/>
            <a:ext cx="5863412" cy="24236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249828" y="3384170"/>
            <a:ext cx="5143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java -jar </a:t>
            </a:r>
            <a:r>
              <a:rPr lang="en-US" altLang="ko-KR" sz="1600" b="1" dirty="0" smtClean="0"/>
              <a:t>Chapter02-0.0.1-SNAPSHOT.jar </a:t>
            </a:r>
            <a:r>
              <a:rPr lang="ko-KR" altLang="en-US" sz="1600" dirty="0" smtClean="0"/>
              <a:t>명령 입력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250153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빌드</a:t>
            </a:r>
            <a:r>
              <a:rPr lang="en-US" altLang="ko-KR" dirty="0" smtClean="0"/>
              <a:t>(Build)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Runnable JAR </a:t>
            </a:r>
            <a:r>
              <a:rPr lang="ko-KR" altLang="en-US" dirty="0" smtClean="0"/>
              <a:t>실행하기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36576" y="1484784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Localhost:8181/</a:t>
            </a:r>
            <a:r>
              <a:rPr lang="en-US" altLang="ko-KR" sz="1600" dirty="0" err="1" smtClean="0"/>
              <a:t>getBoardList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요청</a:t>
            </a:r>
            <a:endParaRPr lang="en-US" altLang="ko-KR" sz="16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223" y="1956591"/>
            <a:ext cx="5127634" cy="17117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223" y="3835490"/>
            <a:ext cx="4846917" cy="23127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49144" y="4095328"/>
            <a:ext cx="3312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err="1" smtClean="0"/>
              <a:t>JarLauncher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클래스는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org/</a:t>
            </a:r>
            <a:r>
              <a:rPr lang="en-US" altLang="ko-KR" sz="1600" dirty="0" err="1" smtClean="0"/>
              <a:t>springframework.boot</a:t>
            </a:r>
            <a:r>
              <a:rPr lang="en-US" altLang="ko-KR" sz="1600" dirty="0" smtClean="0"/>
              <a:t>/loader 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폴더에 위치함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160759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</a:t>
            </a:r>
            <a:r>
              <a:rPr lang="ko-KR" altLang="en-US" dirty="0" err="1" smtClean="0"/>
              <a:t>빌드</a:t>
            </a:r>
            <a:r>
              <a:rPr lang="en-US" altLang="ko-KR" dirty="0" smtClean="0"/>
              <a:t>(Build)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Runnable JAR </a:t>
            </a:r>
            <a:r>
              <a:rPr lang="ko-KR" altLang="en-US" dirty="0" smtClean="0"/>
              <a:t>실행하기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36576" y="1484784"/>
            <a:ext cx="6336704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명령프롬프트</a:t>
            </a:r>
            <a:r>
              <a:rPr lang="en-US" altLang="ko-KR" sz="1600" dirty="0" smtClean="0"/>
              <a:t>(CMD) </a:t>
            </a:r>
            <a:r>
              <a:rPr lang="ko-KR" altLang="en-US" sz="1600" dirty="0" smtClean="0"/>
              <a:t>에서 실행하기</a:t>
            </a:r>
            <a:endParaRPr lang="en-US" altLang="ko-KR" sz="16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1988840"/>
            <a:ext cx="6984776" cy="4317362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926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배포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48544" y="1101823"/>
            <a:ext cx="6264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dirty="0" smtClean="0"/>
              <a:t>WAR</a:t>
            </a:r>
            <a:r>
              <a:rPr lang="en-US" altLang="ko-KR" dirty="0" smtClean="0"/>
              <a:t> </a:t>
            </a:r>
            <a:r>
              <a:rPr lang="ko-KR" altLang="en-US" dirty="0" smtClean="0"/>
              <a:t>배포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8" y="2276872"/>
            <a:ext cx="9152414" cy="31397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136576" y="1641535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BootWeb2Applicaton </a:t>
            </a:r>
            <a:r>
              <a:rPr lang="ko-KR" altLang="en-US" dirty="0" smtClean="0"/>
              <a:t>파일 수정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7281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배포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36576" y="1052736"/>
            <a:ext cx="7848872" cy="1245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2. Maven Build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en-US" altLang="ko-KR" sz="1600" dirty="0"/>
              <a:t>[</a:t>
            </a:r>
            <a:r>
              <a:rPr lang="ko-KR" altLang="en-US" sz="1600" dirty="0"/>
              <a:t>프로젝트 </a:t>
            </a:r>
            <a:r>
              <a:rPr lang="ko-KR" altLang="en-US" sz="1600" dirty="0" err="1"/>
              <a:t>우클릭</a:t>
            </a:r>
            <a:r>
              <a:rPr lang="en-US" altLang="ko-KR" sz="1600" dirty="0"/>
              <a:t>] → [Run As]  → [Maven build...]</a:t>
            </a:r>
            <a:r>
              <a:rPr lang="ko-KR" altLang="en-US" sz="1600" dirty="0"/>
              <a:t>를 차례로 선택한다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   - </a:t>
            </a:r>
            <a:r>
              <a:rPr lang="en-US" altLang="ko-KR" sz="1600" dirty="0"/>
              <a:t>Goals</a:t>
            </a:r>
            <a:r>
              <a:rPr lang="ko-KR" altLang="en-US" sz="1600" dirty="0"/>
              <a:t>에 </a:t>
            </a:r>
            <a:r>
              <a:rPr lang="en-US" altLang="ko-KR" sz="1600" dirty="0"/>
              <a:t>package</a:t>
            </a:r>
            <a:r>
              <a:rPr lang="ko-KR" altLang="en-US" sz="1600" dirty="0"/>
              <a:t>를 입력하고</a:t>
            </a:r>
            <a:r>
              <a:rPr lang="en-US" altLang="ko-KR" sz="1600" dirty="0"/>
              <a:t>, Profiles</a:t>
            </a:r>
            <a:r>
              <a:rPr lang="ko-KR" altLang="en-US" sz="1600" dirty="0"/>
              <a:t>에 </a:t>
            </a:r>
            <a:r>
              <a:rPr lang="en-US" altLang="ko-KR" sz="1600" dirty="0"/>
              <a:t>pom.xml</a:t>
            </a:r>
            <a:r>
              <a:rPr lang="ko-KR" altLang="en-US" sz="1600" dirty="0"/>
              <a:t>을 지워주고</a:t>
            </a:r>
            <a:r>
              <a:rPr lang="en-US" altLang="ko-KR" sz="1600" dirty="0"/>
              <a:t>, </a:t>
            </a:r>
            <a:r>
              <a:rPr lang="en-US" altLang="ko-KR" sz="1600" dirty="0" smtClean="0"/>
              <a:t> Run </a:t>
            </a:r>
            <a:r>
              <a:rPr lang="ko-KR" altLang="en-US" sz="1600" dirty="0"/>
              <a:t>버튼을 </a:t>
            </a:r>
            <a:r>
              <a:rPr lang="ko-KR" altLang="en-US" sz="1600" dirty="0" smtClean="0"/>
              <a:t>클</a:t>
            </a:r>
            <a:r>
              <a:rPr lang="ko-KR" altLang="en-US" sz="1600" dirty="0"/>
              <a:t>릭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2420888"/>
            <a:ext cx="7111541" cy="37444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8884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배포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36576" y="1052736"/>
            <a:ext cx="784887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</a:t>
            </a:r>
            <a:r>
              <a:rPr lang="en-US" altLang="ko-KR" dirty="0" smtClean="0"/>
              <a:t>. War 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en-US" altLang="ko-KR" sz="1600" dirty="0"/>
              <a:t>console</a:t>
            </a:r>
            <a:r>
              <a:rPr lang="ko-KR" altLang="en-US" sz="1600" dirty="0"/>
              <a:t>에 </a:t>
            </a:r>
            <a:r>
              <a:rPr lang="en-US" altLang="ko-KR" sz="1600" dirty="0"/>
              <a:t>BUILD SUCCESS</a:t>
            </a:r>
            <a:r>
              <a:rPr lang="ko-KR" altLang="en-US" sz="1600" dirty="0"/>
              <a:t>가 표시되고</a:t>
            </a:r>
            <a:r>
              <a:rPr lang="en-US" altLang="ko-KR" sz="1600" dirty="0"/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</a:t>
            </a:r>
            <a:r>
              <a:rPr lang="ko-KR" altLang="en-US" sz="1600" dirty="0" smtClean="0"/>
              <a:t>프로젝트 </a:t>
            </a:r>
            <a:r>
              <a:rPr lang="ko-KR" altLang="en-US" sz="1600" dirty="0"/>
              <a:t>폴더 안 </a:t>
            </a:r>
            <a:r>
              <a:rPr lang="en-US" altLang="ko-KR" sz="1600" dirty="0"/>
              <a:t>target </a:t>
            </a:r>
            <a:r>
              <a:rPr lang="ko-KR" altLang="en-US" sz="1600" dirty="0"/>
              <a:t>폴더에는 </a:t>
            </a:r>
            <a:r>
              <a:rPr lang="en-US" altLang="ko-KR" sz="1600" dirty="0"/>
              <a:t>war </a:t>
            </a:r>
            <a:r>
              <a:rPr lang="ko-KR" altLang="en-US" sz="1600" dirty="0"/>
              <a:t>파일이 생성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2460813"/>
            <a:ext cx="3096344" cy="19838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8825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배포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36576" y="1052736"/>
            <a:ext cx="784887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4. </a:t>
            </a:r>
            <a:r>
              <a:rPr lang="ko-KR" altLang="en-US" dirty="0" smtClean="0"/>
              <a:t>외장 </a:t>
            </a:r>
            <a:r>
              <a:rPr lang="ko-KR" altLang="en-US" dirty="0" err="1" smtClean="0"/>
              <a:t>톰캣</a:t>
            </a:r>
            <a:r>
              <a:rPr lang="en-US" altLang="ko-KR" dirty="0" smtClean="0"/>
              <a:t>(WAS)</a:t>
            </a:r>
            <a:r>
              <a:rPr lang="ko-KR" altLang="en-US" dirty="0" smtClean="0"/>
              <a:t>에 배포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1) tomcat9 &gt; </a:t>
            </a:r>
            <a:r>
              <a:rPr lang="en-US" altLang="ko-KR" dirty="0" err="1" smtClean="0"/>
              <a:t>webapps</a:t>
            </a:r>
            <a:r>
              <a:rPr lang="en-US" altLang="ko-KR" dirty="0"/>
              <a:t> </a:t>
            </a:r>
            <a:r>
              <a:rPr lang="ko-KR" altLang="en-US" dirty="0" smtClean="0"/>
              <a:t>폴더 </a:t>
            </a:r>
            <a:r>
              <a:rPr lang="en-US" altLang="ko-KR" dirty="0" smtClean="0"/>
              <a:t>&gt; war </a:t>
            </a:r>
            <a:r>
              <a:rPr lang="ko-KR" altLang="en-US" dirty="0" smtClean="0"/>
              <a:t>파일 이동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2) </a:t>
            </a:r>
            <a:r>
              <a:rPr lang="en-US" altLang="ko-KR" dirty="0"/>
              <a:t>tomcat9 </a:t>
            </a:r>
            <a:r>
              <a:rPr lang="en-US" altLang="ko-KR" dirty="0" smtClean="0"/>
              <a:t>&gt; </a:t>
            </a:r>
            <a:r>
              <a:rPr lang="en-US" altLang="ko-KR" dirty="0" err="1" smtClean="0"/>
              <a:t>conf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폴더에</a:t>
            </a:r>
            <a:r>
              <a:rPr lang="en-US" altLang="ko-KR" dirty="0" smtClean="0"/>
              <a:t>&gt; server.xml </a:t>
            </a:r>
            <a:r>
              <a:rPr lang="ko-KR" altLang="en-US" dirty="0" smtClean="0"/>
              <a:t>수정 </a:t>
            </a:r>
            <a:r>
              <a:rPr lang="en-US" altLang="ko-KR" dirty="0" smtClean="0"/>
              <a:t>, Context </a:t>
            </a:r>
            <a:r>
              <a:rPr lang="ko-KR" altLang="en-US" dirty="0" smtClean="0"/>
              <a:t>부분 추가함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14" y="4869160"/>
            <a:ext cx="8428451" cy="11049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2564904"/>
            <a:ext cx="2499577" cy="21261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3920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배포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36576" y="1052736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5. CMD</a:t>
            </a:r>
            <a:r>
              <a:rPr lang="ko-KR" altLang="en-US" dirty="0" smtClean="0"/>
              <a:t>에서 실행</a:t>
            </a:r>
            <a:endParaRPr lang="en-US" altLang="ko-KR" dirty="0" smtClean="0"/>
          </a:p>
          <a:p>
            <a:pPr>
              <a:lnSpc>
                <a:spcPct val="150000"/>
              </a:lnSpc>
            </a:pPr>
            <a:r>
              <a:rPr lang="en-US" altLang="ko-KR" dirty="0"/>
              <a:t> </a:t>
            </a:r>
            <a:r>
              <a:rPr lang="en-US" altLang="ko-KR" dirty="0" smtClean="0"/>
              <a:t>  1) </a:t>
            </a:r>
            <a:r>
              <a:rPr lang="ko-KR" altLang="en-US" dirty="0" err="1" smtClean="0"/>
              <a:t>톰캣</a:t>
            </a:r>
            <a:r>
              <a:rPr lang="ko-KR" altLang="en-US" dirty="0" smtClean="0"/>
              <a:t> </a:t>
            </a:r>
            <a:r>
              <a:rPr lang="en-US" altLang="ko-KR" dirty="0" smtClean="0"/>
              <a:t>bin </a:t>
            </a:r>
            <a:r>
              <a:rPr lang="ko-KR" altLang="en-US" dirty="0" smtClean="0"/>
              <a:t>폴더의 </a:t>
            </a:r>
            <a:r>
              <a:rPr lang="en-US" altLang="ko-KR" dirty="0" smtClean="0"/>
              <a:t>startup.bat</a:t>
            </a:r>
            <a:r>
              <a:rPr lang="ko-KR" altLang="en-US" dirty="0" smtClean="0"/>
              <a:t>로 실행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톰캣</a:t>
            </a:r>
            <a:r>
              <a:rPr lang="ko-KR" altLang="en-US" dirty="0" smtClean="0"/>
              <a:t> 서버 실행</a:t>
            </a:r>
            <a:endParaRPr lang="en-US" altLang="ko-KR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2132856"/>
            <a:ext cx="6553768" cy="17984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96" y="2852936"/>
            <a:ext cx="2814597" cy="35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71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 배포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28" y="1387016"/>
            <a:ext cx="5767604" cy="32127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5" r="10047"/>
          <a:stretch/>
        </p:blipFill>
        <p:spPr>
          <a:xfrm>
            <a:off x="5654349" y="3933056"/>
            <a:ext cx="3745961" cy="20162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593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11507</TotalTime>
  <Words>774</Words>
  <Application>Microsoft Office PowerPoint</Application>
  <PresentationFormat>A4 용지(210x297mm)</PresentationFormat>
  <Paragraphs>128</Paragraphs>
  <Slides>31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2" baseType="lpstr">
      <vt:lpstr>Office 테마</vt:lpstr>
      <vt:lpstr>2장. 테스트와 로깅, 빌딩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773</cp:revision>
  <dcterms:created xsi:type="dcterms:W3CDTF">2019-03-04T02:36:55Z</dcterms:created>
  <dcterms:modified xsi:type="dcterms:W3CDTF">2022-09-25T21:54:51Z</dcterms:modified>
</cp:coreProperties>
</file>