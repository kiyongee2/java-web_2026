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34"/>
  </p:notesMasterIdLst>
  <p:sldIdLst>
    <p:sldId id="256" r:id="rId2"/>
    <p:sldId id="412" r:id="rId3"/>
    <p:sldId id="413" r:id="rId4"/>
    <p:sldId id="383" r:id="rId5"/>
    <p:sldId id="431" r:id="rId6"/>
    <p:sldId id="392" r:id="rId7"/>
    <p:sldId id="437" r:id="rId8"/>
    <p:sldId id="384" r:id="rId9"/>
    <p:sldId id="414" r:id="rId10"/>
    <p:sldId id="415" r:id="rId11"/>
    <p:sldId id="474" r:id="rId12"/>
    <p:sldId id="416" r:id="rId13"/>
    <p:sldId id="419" r:id="rId14"/>
    <p:sldId id="487" r:id="rId15"/>
    <p:sldId id="488" r:id="rId16"/>
    <p:sldId id="453" r:id="rId17"/>
    <p:sldId id="456" r:id="rId18"/>
    <p:sldId id="454" r:id="rId19"/>
    <p:sldId id="455" r:id="rId20"/>
    <p:sldId id="457" r:id="rId21"/>
    <p:sldId id="459" r:id="rId22"/>
    <p:sldId id="460" r:id="rId23"/>
    <p:sldId id="463" r:id="rId24"/>
    <p:sldId id="482" r:id="rId25"/>
    <p:sldId id="489" r:id="rId26"/>
    <p:sldId id="479" r:id="rId27"/>
    <p:sldId id="490" r:id="rId28"/>
    <p:sldId id="481" r:id="rId29"/>
    <p:sldId id="483" r:id="rId30"/>
    <p:sldId id="484" r:id="rId31"/>
    <p:sldId id="485" r:id="rId32"/>
    <p:sldId id="491" r:id="rId33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2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6C0A"/>
    <a:srgbClr val="54823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B1032C-EA38-4F05-BA0D-38AFFFC7BED3}" styleName="밝은 스타일 3 - 강조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01" autoAdjust="0"/>
    <p:restoredTop sz="94660"/>
  </p:normalViewPr>
  <p:slideViewPr>
    <p:cSldViewPr>
      <p:cViewPr varScale="1">
        <p:scale>
          <a:sx n="88" d="100"/>
          <a:sy n="88" d="100"/>
        </p:scale>
        <p:origin x="1066" y="67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665CDAC-D627-4E87-877A-1B781DD4CADC}" type="datetimeFigureOut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52500" y="685800"/>
            <a:ext cx="4953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ADDD8A-FD4C-4C63-90D4-202AFE8080B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9645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ADDD8A-FD4C-4C63-90D4-202AFE8080B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8863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6862345" cy="1226567"/>
          </a:xfr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6" y="2667615"/>
            <a:ext cx="7683303" cy="478904"/>
          </a:xfrm>
          <a:solidFill>
            <a:schemeClr val="accent5">
              <a:lumMod val="60000"/>
              <a:lumOff val="40000"/>
            </a:schemeClr>
          </a:solidFill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C81B4-D91A-4578-85B3-829E63FCFE17}" type="datetime1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7" name="직사각형 6"/>
          <p:cNvSpPr/>
          <p:nvPr userDrawn="1"/>
        </p:nvSpPr>
        <p:spPr>
          <a:xfrm>
            <a:off x="0" y="0"/>
            <a:ext cx="2144688" cy="6858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8" name="직사각형 7"/>
          <p:cNvSpPr/>
          <p:nvPr userDrawn="1"/>
        </p:nvSpPr>
        <p:spPr>
          <a:xfrm>
            <a:off x="0" y="2691044"/>
            <a:ext cx="2144688" cy="486181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9" name="이등변 삼각형 8"/>
          <p:cNvSpPr/>
          <p:nvPr userDrawn="1"/>
        </p:nvSpPr>
        <p:spPr>
          <a:xfrm rot="5400000">
            <a:off x="1333915" y="2721729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0" name="이등변 삼각형 9"/>
          <p:cNvSpPr/>
          <p:nvPr userDrawn="1"/>
        </p:nvSpPr>
        <p:spPr>
          <a:xfrm rot="5400000">
            <a:off x="1704594" y="2721730"/>
            <a:ext cx="432048" cy="370679"/>
          </a:xfrm>
          <a:prstGeom prst="triangle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67180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ko-KR" altLang="en-US" dirty="0" smtClean="0"/>
              <a:t> 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0FDEC8-1339-42E8-9704-2977280C2FD3}" type="datetime1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9342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6" y="4406901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18DC76-A282-4817-B790-197F054E1215}" type="datetime1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5474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30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50" y="1600201"/>
            <a:ext cx="437515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80AA6C-13D8-43E4-90F0-E6C88A2B9F16}" type="datetime1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466851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111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111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B03B-20CC-436E-8601-C933C6C1F4A6}" type="datetime1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3145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5A15D-8B08-482F-AB47-E416EC355EB6}" type="datetime1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0680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7D7F8-7B64-44F8-A411-CBD22F28CBFF}" type="datetime1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53328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006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2971" y="273051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1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2DBD9B-2BB6-4D1F-BCB4-1E48829C93C3}" type="datetime1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21044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564C48-0CD7-40EB-BE64-BBF4DB8C56AF}" type="datetime1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02738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77542-37E5-48F2-BAE7-80CC6B0EB6A3}" type="datetime1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78060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50" y="274639"/>
            <a:ext cx="2228850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300" y="274639"/>
            <a:ext cx="6521450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CF174-B5AC-4A98-B673-0BE8126D3F27}" type="datetime1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DE3FE7-3AEA-4B05-AC5A-802D1816ACF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18546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124744"/>
            <a:ext cx="8915400" cy="50405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1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16BCB4-B68B-4638-8167-F4BDC0A30DA1}" type="datetime1">
              <a:rPr lang="ko-KR" altLang="en-US" smtClean="0"/>
              <a:t>2025-10-22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1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8" name="직사각형 7"/>
          <p:cNvSpPr/>
          <p:nvPr/>
        </p:nvSpPr>
        <p:spPr>
          <a:xfrm>
            <a:off x="-39555" y="6525344"/>
            <a:ext cx="9945555" cy="332656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7" name="직사각형 6"/>
          <p:cNvSpPr/>
          <p:nvPr/>
        </p:nvSpPr>
        <p:spPr>
          <a:xfrm>
            <a:off x="0" y="0"/>
            <a:ext cx="9906000" cy="836712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0" y="-18256"/>
            <a:ext cx="6201139" cy="8549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 smtClean="0"/>
              <a:t>  마스터 제목 스타일 편집</a:t>
            </a:r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841432" y="6525344"/>
            <a:ext cx="5572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bg1"/>
                </a:solidFill>
              </a:defRPr>
            </a:lvl1pPr>
          </a:lstStyle>
          <a:p>
            <a:fld id="{1BDE3FE7-3AEA-4B05-AC5A-802D1816ACF0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8928" y="6412104"/>
            <a:ext cx="381583" cy="35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1258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3200" kern="1200">
          <a:solidFill>
            <a:schemeClr val="bg1">
              <a:lumMod val="95000"/>
            </a:schemeClr>
          </a:solidFill>
          <a:latin typeface="HY헤드라인M" panose="02030600000101010101" pitchFamily="18" charset="-127"/>
          <a:ea typeface="HY헤드라인M" panose="02030600000101010101" pitchFamily="18" charset="-127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2222697" y="1379513"/>
            <a:ext cx="7050783" cy="1226567"/>
          </a:xfrm>
        </p:spPr>
        <p:txBody>
          <a:bodyPr>
            <a:normAutofit/>
          </a:bodyPr>
          <a:lstStyle/>
          <a:p>
            <a:r>
              <a:rPr lang="en-US" altLang="ko-KR" sz="2800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1</a:t>
            </a:r>
            <a:r>
              <a:rPr lang="ko-KR" altLang="en-US" sz="2800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장</a:t>
            </a:r>
            <a:r>
              <a:rPr lang="en-US" altLang="ko-KR" sz="28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. </a:t>
            </a:r>
            <a:r>
              <a:rPr lang="ko-KR" altLang="en-US" sz="28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스프링부</a:t>
            </a:r>
            <a:r>
              <a:rPr lang="ko-KR" altLang="en-US" sz="2800" b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트</a:t>
            </a:r>
            <a:r>
              <a:rPr lang="en-US" altLang="ko-KR" sz="28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(</a:t>
            </a:r>
            <a:r>
              <a:rPr lang="en-US" altLang="ko-KR" sz="2800" b="1" dirty="0" err="1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SpringBoot</a:t>
            </a:r>
            <a:r>
              <a:rPr lang="en-US" altLang="ko-KR" sz="28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) </a:t>
            </a:r>
            <a:r>
              <a:rPr lang="ko-KR" altLang="en-US" sz="2800" b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개발 환경</a:t>
            </a:r>
            <a:endParaRPr lang="ko-KR" altLang="en-US" sz="2800" b="1" dirty="0">
              <a:solidFill>
                <a:schemeClr val="tx1"/>
              </a:solidFill>
              <a:latin typeface="휴먼엑스포" panose="02030504000101010101" pitchFamily="18" charset="-127"/>
              <a:ea typeface="휴먼엑스포" panose="02030504000101010101" pitchFamily="18" charset="-127"/>
            </a:endParaRP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2222697" y="2670822"/>
            <a:ext cx="7683303" cy="504055"/>
          </a:xfrm>
          <a:solidFill>
            <a:schemeClr val="accent5">
              <a:lumMod val="40000"/>
              <a:lumOff val="60000"/>
            </a:schemeClr>
          </a:solidFill>
        </p:spPr>
        <p:txBody>
          <a:bodyPr anchor="ctr" anchorCtr="0">
            <a:noAutofit/>
          </a:bodyPr>
          <a:lstStyle/>
          <a:p>
            <a:pPr algn="l"/>
            <a:r>
              <a:rPr lang="en-US" altLang="ko-KR" sz="2000" dirty="0" smtClean="0">
                <a:solidFill>
                  <a:schemeClr val="bg1"/>
                </a:solidFill>
              </a:rPr>
              <a:t> </a:t>
            </a:r>
            <a:r>
              <a:rPr lang="ko-KR" altLang="en-US" sz="1800" b="1" i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스프링부</a:t>
            </a:r>
            <a:r>
              <a:rPr lang="ko-KR" altLang="en-US" sz="1800" b="1" i="1" dirty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트</a:t>
            </a:r>
            <a:r>
              <a:rPr lang="en-US" altLang="ko-KR" sz="1800" b="1" i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(</a:t>
            </a:r>
            <a:r>
              <a:rPr lang="en-US" altLang="ko-KR" sz="1800" b="1" i="1" dirty="0" err="1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SpringBoot</a:t>
            </a:r>
            <a:r>
              <a:rPr lang="en-US" altLang="ko-KR" sz="1800" b="1" i="1" dirty="0" smtClean="0">
                <a:solidFill>
                  <a:schemeClr val="tx1"/>
                </a:solidFill>
                <a:latin typeface="휴먼엑스포" panose="02030504000101010101" pitchFamily="18" charset="-127"/>
                <a:ea typeface="휴먼엑스포" panose="02030504000101010101" pitchFamily="18" charset="-127"/>
              </a:rPr>
              <a:t>)</a:t>
            </a:r>
            <a:endParaRPr lang="ko-KR" altLang="en-US" sz="1600" i="1" dirty="0">
              <a:solidFill>
                <a:schemeClr val="bg1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  <p:sp>
        <p:nvSpPr>
          <p:cNvPr id="4" name="AutoShape 5" descr="C++ì ëí ì´ë¯¸ì§ ê²ìê²°ê³¼"/>
          <p:cNvSpPr>
            <a:spLocks noChangeAspect="1" noChangeArrowheads="1"/>
          </p:cNvSpPr>
          <p:nvPr/>
        </p:nvSpPr>
        <p:spPr bwMode="auto">
          <a:xfrm>
            <a:off x="182298" y="-144463"/>
            <a:ext cx="3302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ko-KR" altLang="en-US"/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264" t="28912" r="14106" b="28639"/>
          <a:stretch/>
        </p:blipFill>
        <p:spPr>
          <a:xfrm>
            <a:off x="5745088" y="4583970"/>
            <a:ext cx="3528392" cy="1048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583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스프링 부트</a:t>
            </a:r>
            <a:r>
              <a:rPr lang="en-US" altLang="ko-KR" dirty="0" smtClean="0"/>
              <a:t>(Spring Boot)</a:t>
            </a:r>
            <a:endParaRPr lang="ko-KR" alt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848544" y="1101823"/>
            <a:ext cx="388843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u"/>
            </a:pPr>
            <a:r>
              <a:rPr lang="ko-KR" altLang="en-US" sz="2000" b="1" dirty="0" smtClean="0"/>
              <a:t>스프링부트</a:t>
            </a:r>
            <a:r>
              <a:rPr lang="en-US" altLang="ko-KR" sz="2000" b="1" dirty="0" smtClean="0"/>
              <a:t>(Spring Boot)</a:t>
            </a:r>
            <a:r>
              <a:rPr lang="ko-KR" altLang="en-US" sz="2000" b="1" dirty="0" smtClean="0"/>
              <a:t>란</a:t>
            </a:r>
            <a:r>
              <a:rPr lang="en-US" altLang="ko-KR" sz="2000" dirty="0" smtClean="0"/>
              <a:t>?</a:t>
            </a:r>
            <a:endParaRPr lang="ko-KR" alt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1136576" y="1484784"/>
            <a:ext cx="777686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smtClean="0"/>
              <a:t>스프링 프레임워크의 서브 프로젝트로 만들어 졌으며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이름에서 알 수 있듯 스프링과 부트의 합성어다</a:t>
            </a:r>
            <a:r>
              <a:rPr lang="en-US" altLang="ko-KR" sz="1600" dirty="0" smtClean="0"/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부트</a:t>
            </a:r>
            <a:r>
              <a:rPr lang="en-US" altLang="ko-KR" sz="1600" dirty="0" smtClean="0"/>
              <a:t>(Boot)</a:t>
            </a:r>
            <a:r>
              <a:rPr lang="ko-KR" altLang="en-US" sz="1600" dirty="0" smtClean="0"/>
              <a:t>는 </a:t>
            </a:r>
            <a:r>
              <a:rPr lang="en-US" altLang="ko-KR" sz="1600" dirty="0" smtClean="0"/>
              <a:t>“</a:t>
            </a:r>
            <a:r>
              <a:rPr lang="ko-KR" altLang="en-US" sz="1600" dirty="0" smtClean="0"/>
              <a:t>컴퓨터를 부팅한다</a:t>
            </a:r>
            <a:r>
              <a:rPr lang="en-US" altLang="ko-KR" sz="1600" dirty="0" smtClean="0"/>
              <a:t>”</a:t>
            </a:r>
            <a:r>
              <a:rPr lang="ko-KR" altLang="en-US" sz="1600" dirty="0" smtClean="0"/>
              <a:t>는 말처럼 시스템을 사용 가능한 상태로 만드는 것을 의미하며</a:t>
            </a:r>
            <a:r>
              <a:rPr lang="en-US" altLang="ko-KR" sz="1600" dirty="0" smtClean="0"/>
              <a:t>, </a:t>
            </a:r>
            <a:r>
              <a:rPr lang="ko-KR" altLang="en-US" sz="1600" dirty="0"/>
              <a:t>웹 애플리케이션을 빠르게 제작하여 출시할 수 있는 경량의 오픈소스 프레임워크이다</a:t>
            </a:r>
            <a:r>
              <a:rPr lang="en-US" altLang="ko-KR" sz="1600" dirty="0" smtClean="0"/>
              <a:t>. 2014</a:t>
            </a:r>
            <a:r>
              <a:rPr lang="ko-KR" altLang="en-US" sz="1600" dirty="0" smtClean="0"/>
              <a:t>년 쯤 출시되었으며 점차 스프링에 비해 사용이 늘어나고 있는 추세이다</a:t>
            </a:r>
            <a:r>
              <a:rPr lang="en-US" altLang="ko-KR" sz="1600" dirty="0" smtClean="0"/>
              <a:t>.</a:t>
            </a:r>
            <a:endParaRPr lang="en-US" altLang="ko-KR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848544" y="3861048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dirty="0" smtClean="0"/>
              <a:t>스프링 부</a:t>
            </a:r>
            <a:r>
              <a:rPr lang="ko-KR" altLang="en-US" dirty="0"/>
              <a:t>트</a:t>
            </a:r>
            <a:r>
              <a:rPr lang="ko-KR" altLang="en-US" dirty="0" smtClean="0"/>
              <a:t>의 특징</a:t>
            </a:r>
            <a:endParaRPr lang="ko-KR" alt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1136576" y="4230380"/>
            <a:ext cx="856895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smtClean="0"/>
              <a:t>① </a:t>
            </a:r>
            <a:r>
              <a:rPr lang="ko-KR" altLang="en-US" sz="1600" b="1" dirty="0" smtClean="0">
                <a:solidFill>
                  <a:srgbClr val="C00000"/>
                </a:solidFill>
              </a:rPr>
              <a:t>라이브러리 관리 자동화</a:t>
            </a:r>
            <a:endParaRPr lang="en-US" altLang="ko-KR" sz="1600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기존 자바프로젝트에서는 </a:t>
            </a:r>
            <a:r>
              <a:rPr lang="ko-KR" altLang="en-US" sz="1600" dirty="0" err="1" smtClean="0"/>
              <a:t>메이븐</a:t>
            </a:r>
            <a:r>
              <a:rPr lang="en-US" altLang="ko-KR" sz="1600" dirty="0" smtClean="0"/>
              <a:t>(Maven)</a:t>
            </a:r>
            <a:r>
              <a:rPr lang="ko-KR" altLang="en-US" sz="1600" dirty="0" smtClean="0"/>
              <a:t>이나 그레이들</a:t>
            </a:r>
            <a:r>
              <a:rPr lang="en-US" altLang="ko-KR" sz="1600" dirty="0" smtClean="0"/>
              <a:t>(</a:t>
            </a:r>
            <a:r>
              <a:rPr lang="en-US" altLang="ko-KR" sz="1600" dirty="0" err="1" smtClean="0"/>
              <a:t>Gradle</a:t>
            </a:r>
            <a:r>
              <a:rPr lang="en-US" altLang="ko-KR" sz="1600" dirty="0" smtClean="0"/>
              <a:t>)</a:t>
            </a:r>
            <a:r>
              <a:rPr lang="ko-KR" altLang="en-US" sz="1600" dirty="0" smtClean="0"/>
              <a:t>을 이용해서 라이브러리 의존성을 관리해왔으나</a:t>
            </a:r>
            <a:r>
              <a:rPr lang="en-US" altLang="ko-KR" sz="1600" dirty="0" smtClean="0"/>
              <a:t>, </a:t>
            </a:r>
            <a:r>
              <a:rPr lang="ko-KR" altLang="en-US" sz="1600" dirty="0" smtClean="0"/>
              <a:t>스프링 부트에서는 </a:t>
            </a:r>
            <a:r>
              <a:rPr lang="ko-KR" altLang="en-US" sz="1600" dirty="0" err="1" smtClean="0"/>
              <a:t>스타터</a:t>
            </a:r>
            <a:r>
              <a:rPr lang="en-US" altLang="ko-KR" sz="1600" dirty="0" smtClean="0"/>
              <a:t>(Starter)</a:t>
            </a:r>
            <a:r>
              <a:rPr lang="ko-KR" altLang="en-US" sz="1600" dirty="0" smtClean="0"/>
              <a:t>라는 것을 이용해 특정 기능에 필요한 라이브러리 의존성을 더욱 간단히 처리할 수 있음</a:t>
            </a:r>
            <a:endParaRPr lang="en-US" altLang="ko-KR" sz="1600" dirty="0" smtClean="0"/>
          </a:p>
        </p:txBody>
      </p:sp>
    </p:spTree>
    <p:extLst>
      <p:ext uri="{BB962C8B-B14F-4D97-AF65-F5344CB8AC3E}">
        <p14:creationId xmlns:p14="http://schemas.microsoft.com/office/powerpoint/2010/main" val="32925285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/>
              <a:t>스프링 부트</a:t>
            </a:r>
            <a:r>
              <a:rPr lang="en-US" altLang="ko-KR" dirty="0"/>
              <a:t>(Spring Boot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92560" y="1124744"/>
            <a:ext cx="849694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/>
              <a:t>② </a:t>
            </a:r>
            <a:r>
              <a:rPr lang="ko-KR" altLang="en-US" sz="1600" b="1" dirty="0">
                <a:solidFill>
                  <a:srgbClr val="C00000"/>
                </a:solidFill>
              </a:rPr>
              <a:t>설정의 자동화</a:t>
            </a:r>
            <a:endParaRPr lang="en-US" altLang="ko-KR" sz="1600" b="1" dirty="0">
              <a:solidFill>
                <a:srgbClr val="C00000"/>
              </a:solidFill>
            </a:endParaRPr>
          </a:p>
          <a:p>
            <a:pPr>
              <a:lnSpc>
                <a:spcPct val="150000"/>
              </a:lnSpc>
            </a:pPr>
            <a:r>
              <a:rPr lang="ko-KR" altLang="en-US" sz="1600" dirty="0"/>
              <a:t>스프링부트에서는 프로젝트에 추가된 라이브러리를 기반으로 실행에 필요한 환경을 자동으로 설정해 준다</a:t>
            </a:r>
            <a:r>
              <a:rPr lang="en-US" altLang="ko-KR" sz="1600" dirty="0"/>
              <a:t>. </a:t>
            </a:r>
            <a:r>
              <a:rPr lang="ko-KR" altLang="en-US" sz="1600" dirty="0"/>
              <a:t>라이브러리를 인지해 관련된 스프링 설정을 자동으로 처리해준다</a:t>
            </a:r>
            <a:r>
              <a:rPr lang="en-US" altLang="ko-KR" sz="1600" dirty="0"/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③ </a:t>
            </a:r>
            <a:r>
              <a:rPr lang="ko-KR" altLang="en-US" sz="1600" b="1" dirty="0" smtClean="0">
                <a:solidFill>
                  <a:srgbClr val="C00000"/>
                </a:solidFill>
              </a:rPr>
              <a:t>테스트 환경과 내장 서버</a:t>
            </a:r>
            <a:r>
              <a:rPr lang="en-US" altLang="ko-KR" sz="1600" b="1" dirty="0" smtClean="0">
                <a:solidFill>
                  <a:srgbClr val="C00000"/>
                </a:solidFill>
              </a:rPr>
              <a:t>(</a:t>
            </a:r>
            <a:r>
              <a:rPr lang="ko-KR" altLang="en-US" sz="1600" b="1" dirty="0" err="1" smtClean="0">
                <a:solidFill>
                  <a:srgbClr val="C00000"/>
                </a:solidFill>
              </a:rPr>
              <a:t>톰캣</a:t>
            </a:r>
            <a:r>
              <a:rPr lang="en-US" altLang="ko-KR" sz="1600" b="1" dirty="0" smtClean="0">
                <a:solidFill>
                  <a:srgbClr val="C00000"/>
                </a:solidFill>
              </a:rPr>
              <a:t>)</a:t>
            </a:r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스프링부트로 생성한 프로젝트에는 </a:t>
            </a:r>
            <a:r>
              <a:rPr lang="en-US" altLang="ko-KR" sz="1600" dirty="0" smtClean="0"/>
              <a:t>Junit</a:t>
            </a:r>
            <a:r>
              <a:rPr lang="ko-KR" altLang="en-US" sz="1600" dirty="0" smtClean="0"/>
              <a:t>을 비롯한 테스트 관련 라이브러리들이 기본적으로 포함되어 있다</a:t>
            </a:r>
            <a:r>
              <a:rPr lang="en-US" altLang="ko-KR" sz="1600" dirty="0" smtClean="0"/>
              <a:t>. </a:t>
            </a:r>
            <a:r>
              <a:rPr lang="ko-KR" altLang="en-US" sz="1600" dirty="0" smtClean="0"/>
              <a:t>또한 </a:t>
            </a:r>
            <a:r>
              <a:rPr lang="ko-KR" altLang="en-US" sz="1600" dirty="0" err="1" smtClean="0"/>
              <a:t>톰캣</a:t>
            </a:r>
            <a:r>
              <a:rPr lang="en-US" altLang="ko-KR" sz="1600" dirty="0" smtClean="0"/>
              <a:t>(Tomcat) </a:t>
            </a:r>
            <a:r>
              <a:rPr lang="ko-KR" altLang="en-US" sz="1600" dirty="0" smtClean="0"/>
              <a:t>서버를 내장하고 있어서 </a:t>
            </a:r>
            <a:r>
              <a:rPr lang="en-US" altLang="ko-KR" sz="1600" dirty="0" smtClean="0"/>
              <a:t>main() </a:t>
            </a:r>
            <a:r>
              <a:rPr lang="ko-KR" altLang="en-US" sz="1600" dirty="0" err="1" smtClean="0"/>
              <a:t>메소드를</a:t>
            </a:r>
            <a:r>
              <a:rPr lang="ko-KR" altLang="en-US" sz="1600" dirty="0" smtClean="0"/>
              <a:t> 가진 클래스를 실행하는 방식으로 구동하기 때문에 빠르게 실행 결과를 볼 수 있다</a:t>
            </a:r>
            <a:r>
              <a:rPr lang="en-US" altLang="ko-KR" sz="1600" dirty="0" smtClean="0"/>
              <a:t>.</a:t>
            </a:r>
          </a:p>
          <a:p>
            <a:pPr>
              <a:lnSpc>
                <a:spcPct val="150000"/>
              </a:lnSpc>
            </a:pPr>
            <a:endParaRPr lang="en-US" altLang="ko-KR" sz="1600" dirty="0" smtClean="0"/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④ </a:t>
            </a:r>
            <a:r>
              <a:rPr lang="ko-KR" altLang="en-US" sz="1600" b="1" dirty="0" smtClean="0">
                <a:solidFill>
                  <a:srgbClr val="C00000"/>
                </a:solidFill>
              </a:rPr>
              <a:t>독립적으로 실행 가능한 </a:t>
            </a:r>
            <a:r>
              <a:rPr lang="en-US" altLang="ko-KR" sz="1600" b="1" dirty="0" smtClean="0">
                <a:solidFill>
                  <a:srgbClr val="C00000"/>
                </a:solidFill>
              </a:rPr>
              <a:t>JAR</a:t>
            </a:r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애플리케이션을 실제 운영 서버에 배포하기 위해서 </a:t>
            </a:r>
            <a:r>
              <a:rPr lang="ko-KR" altLang="en-US" sz="1600" dirty="0" err="1" smtClean="0"/>
              <a:t>패키징</a:t>
            </a:r>
            <a:r>
              <a:rPr lang="en-US" altLang="ko-KR" sz="1600" dirty="0" smtClean="0"/>
              <a:t>(Packaging)</a:t>
            </a:r>
            <a:r>
              <a:rPr lang="ko-KR" altLang="en-US" sz="1600" dirty="0" smtClean="0"/>
              <a:t>을 </a:t>
            </a:r>
            <a:r>
              <a:rPr lang="ko-KR" altLang="en-US" sz="1600" dirty="0" err="1" smtClean="0"/>
              <a:t>해야하는데</a:t>
            </a:r>
            <a:r>
              <a:rPr lang="en-US" altLang="ko-KR" sz="1600" dirty="0" smtClean="0"/>
              <a:t>, WAR</a:t>
            </a:r>
            <a:r>
              <a:rPr lang="ko-KR" altLang="en-US" sz="1600" dirty="0" smtClean="0"/>
              <a:t>파일이 아닌 </a:t>
            </a:r>
            <a:r>
              <a:rPr lang="en-US" altLang="ko-KR" sz="1600" dirty="0" smtClean="0"/>
              <a:t>JAR </a:t>
            </a:r>
            <a:r>
              <a:rPr lang="ko-KR" altLang="en-US" sz="1600" dirty="0" smtClean="0"/>
              <a:t>파일로 </a:t>
            </a:r>
            <a:r>
              <a:rPr lang="ko-KR" altLang="en-US" sz="1600" dirty="0" err="1" smtClean="0"/>
              <a:t>패키징할</a:t>
            </a:r>
            <a:r>
              <a:rPr lang="ko-KR" altLang="en-US" sz="1600" dirty="0" smtClean="0"/>
              <a:t> 수 있다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9765342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개발 환경 구축</a:t>
            </a:r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920552" y="980728"/>
            <a:ext cx="489654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2000" b="1" dirty="0" smtClean="0"/>
              <a:t>JDK </a:t>
            </a:r>
            <a:r>
              <a:rPr lang="ko-KR" altLang="en-US" sz="2000" b="1" dirty="0" smtClean="0"/>
              <a:t>설치</a:t>
            </a:r>
            <a:endParaRPr lang="en-US" altLang="ko-KR" sz="2000" b="1" dirty="0" smtClean="0"/>
          </a:p>
        </p:txBody>
      </p:sp>
      <p:sp>
        <p:nvSpPr>
          <p:cNvPr id="6" name="TextBox 5"/>
          <p:cNvSpPr txBox="1"/>
          <p:nvPr/>
        </p:nvSpPr>
        <p:spPr>
          <a:xfrm>
            <a:off x="1195852" y="1601914"/>
            <a:ext cx="764558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ko-KR" altLang="en-US" sz="1600" dirty="0" smtClean="0"/>
              <a:t>오라클 </a:t>
            </a:r>
            <a:r>
              <a:rPr lang="en-US" altLang="ko-KR" sz="1600" dirty="0" smtClean="0"/>
              <a:t>java </a:t>
            </a:r>
            <a:r>
              <a:rPr lang="ko-KR" altLang="en-US" sz="1600" dirty="0" smtClean="0"/>
              <a:t>다운로드</a:t>
            </a:r>
            <a:r>
              <a:rPr lang="en-US" altLang="ko-KR" sz="1600" dirty="0" smtClean="0"/>
              <a:t>(</a:t>
            </a:r>
            <a:r>
              <a:rPr lang="ko-KR" altLang="en-US" sz="1600" dirty="0" smtClean="0"/>
              <a:t>검색</a:t>
            </a:r>
            <a:r>
              <a:rPr lang="en-US" altLang="ko-KR" sz="1600" dirty="0" smtClean="0"/>
              <a:t>)-&gt; windows&gt; Java SE21 </a:t>
            </a:r>
            <a:r>
              <a:rPr lang="ko-KR" altLang="en-US" sz="1600" dirty="0" smtClean="0"/>
              <a:t>다운로드 </a:t>
            </a:r>
            <a:r>
              <a:rPr lang="en-US" altLang="ko-KR" sz="1600" dirty="0" smtClean="0"/>
              <a:t>-&gt; x64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인스톨러</a:t>
            </a:r>
            <a:r>
              <a:rPr lang="ko-KR" altLang="en-US" sz="1600" dirty="0" smtClean="0"/>
              <a:t> </a:t>
            </a:r>
            <a:endParaRPr lang="ko-KR" altLang="en-US" sz="1600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5257" y="2148623"/>
            <a:ext cx="7977371" cy="351262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8" name="모서리가 둥근 직사각형 7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1162516" y="4804921"/>
            <a:ext cx="8398996" cy="424279"/>
          </a:xfrm>
          <a:prstGeom prst="roundRect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5274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개발 환경 구축</a:t>
            </a:r>
            <a:endParaRPr lang="ko-KR" alt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920552" y="980728"/>
            <a:ext cx="489654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ko-KR" altLang="en-US" sz="2000" b="1" dirty="0" smtClean="0"/>
              <a:t>환경 변수 설정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t="9169"/>
          <a:stretch/>
        </p:blipFill>
        <p:spPr>
          <a:xfrm>
            <a:off x="1424608" y="4602277"/>
            <a:ext cx="4887007" cy="1393108"/>
          </a:xfrm>
          <a:prstGeom prst="rect">
            <a:avLst/>
          </a:prstGeom>
        </p:spPr>
      </p:pic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1208053" y="5406898"/>
            <a:ext cx="2880851" cy="424279"/>
          </a:xfrm>
          <a:prstGeom prst="roundRect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280592" y="4005064"/>
            <a:ext cx="56886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2. </a:t>
            </a:r>
            <a:r>
              <a:rPr lang="ko-KR" altLang="en-US" dirty="0" smtClean="0"/>
              <a:t>시스템 변수</a:t>
            </a:r>
            <a:r>
              <a:rPr lang="en-US" altLang="ko-KR" dirty="0" smtClean="0"/>
              <a:t>&gt; path &gt; %JAVA_HOME\bin% </a:t>
            </a:r>
            <a:r>
              <a:rPr lang="ko-KR" altLang="en-US" dirty="0" smtClean="0"/>
              <a:t>추가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1280592" y="1675420"/>
            <a:ext cx="64087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1</a:t>
            </a:r>
            <a:r>
              <a:rPr lang="en-US" altLang="ko-KR" dirty="0" smtClean="0"/>
              <a:t>. </a:t>
            </a:r>
            <a:r>
              <a:rPr lang="ko-KR" altLang="en-US" dirty="0" smtClean="0"/>
              <a:t>시스템 변수</a:t>
            </a:r>
            <a:r>
              <a:rPr lang="en-US" altLang="ko-KR" dirty="0" smtClean="0"/>
              <a:t>&gt; </a:t>
            </a:r>
            <a:r>
              <a:rPr lang="ko-KR" altLang="en-US" dirty="0" smtClean="0"/>
              <a:t>새로 만들기</a:t>
            </a:r>
            <a:r>
              <a:rPr lang="en-US" altLang="ko-KR" dirty="0" smtClean="0"/>
              <a:t> &gt; JAVA_HOME </a:t>
            </a:r>
            <a:r>
              <a:rPr lang="ko-KR" altLang="en-US" dirty="0" smtClean="0"/>
              <a:t>만들기</a:t>
            </a:r>
            <a:endParaRPr lang="ko-KR" altLang="en-US" dirty="0"/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78263" y="2068000"/>
            <a:ext cx="4648849" cy="1505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2607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5673080" cy="854968"/>
          </a:xfrm>
        </p:spPr>
        <p:txBody>
          <a:bodyPr/>
          <a:lstStyle/>
          <a:p>
            <a:r>
              <a:rPr lang="en-US" altLang="ko-KR" dirty="0" smtClean="0"/>
              <a:t>  </a:t>
            </a:r>
            <a:r>
              <a:rPr lang="en-US" altLang="ko-KR" b="1" dirty="0" smtClean="0"/>
              <a:t>STS4(Spring </a:t>
            </a:r>
            <a:r>
              <a:rPr lang="en-US" altLang="ko-KR" b="1" dirty="0"/>
              <a:t>Tool Suite)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71329" y="1016757"/>
            <a:ext cx="516179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2000" b="1" dirty="0" smtClean="0"/>
              <a:t>STS4(Spring Tool Suite)</a:t>
            </a:r>
            <a:r>
              <a:rPr lang="ko-KR" altLang="en-US" sz="2000" b="1" dirty="0" smtClean="0"/>
              <a:t> 설치</a:t>
            </a:r>
            <a:endParaRPr lang="en-US" altLang="ko-KR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1699383"/>
            <a:ext cx="4014967" cy="381642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모서리가 둥근 직사각형 6">
            <a:extLst>
              <a:ext uri="{FF2B5EF4-FFF2-40B4-BE49-F238E27FC236}">
                <a16:creationId xmlns:a16="http://schemas.microsoft.com/office/drawing/2014/main" id="{792DA8B4-17B2-454B-97AC-17311A4832C5}"/>
              </a:ext>
            </a:extLst>
          </p:cNvPr>
          <p:cNvSpPr/>
          <p:nvPr/>
        </p:nvSpPr>
        <p:spPr>
          <a:xfrm>
            <a:off x="1280592" y="4869160"/>
            <a:ext cx="2952328" cy="504056"/>
          </a:xfrm>
          <a:prstGeom prst="roundRect">
            <a:avLst/>
          </a:prstGeom>
          <a:noFill/>
          <a:ln w="28575"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 sz="1300" dirty="0">
              <a:solidFill>
                <a:sysClr val="windowText" lastClr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69169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xfrm>
            <a:off x="0" y="-18256"/>
            <a:ext cx="5673080" cy="854968"/>
          </a:xfrm>
        </p:spPr>
        <p:txBody>
          <a:bodyPr/>
          <a:lstStyle/>
          <a:p>
            <a:r>
              <a:rPr lang="en-US" altLang="ko-KR" dirty="0" smtClean="0"/>
              <a:t>  </a:t>
            </a:r>
            <a:r>
              <a:rPr lang="en-US" altLang="ko-KR" b="1" dirty="0" smtClean="0"/>
              <a:t>STS4(Spring </a:t>
            </a:r>
            <a:r>
              <a:rPr lang="en-US" altLang="ko-KR" b="1" dirty="0"/>
              <a:t>Tool Suite)</a:t>
            </a:r>
            <a:endParaRPr lang="ko-KR" altLang="en-US" dirty="0"/>
          </a:p>
        </p:txBody>
      </p:sp>
      <p:sp>
        <p:nvSpPr>
          <p:cNvPr id="9" name="TextBox 8"/>
          <p:cNvSpPr txBox="1"/>
          <p:nvPr/>
        </p:nvSpPr>
        <p:spPr>
          <a:xfrm>
            <a:off x="871329" y="1016757"/>
            <a:ext cx="6025887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u"/>
            </a:pPr>
            <a:r>
              <a:rPr lang="en-US" altLang="ko-KR" sz="2000" b="1" dirty="0" smtClean="0"/>
              <a:t>Web Developer Tools </a:t>
            </a:r>
            <a:r>
              <a:rPr lang="ko-KR" altLang="en-US" sz="2000" b="1" dirty="0" smtClean="0"/>
              <a:t>설치</a:t>
            </a:r>
            <a:endParaRPr lang="en-US" altLang="ko-KR" sz="2000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2636912"/>
            <a:ext cx="4489108" cy="310425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2" name="TextBox 1"/>
          <p:cNvSpPr txBox="1"/>
          <p:nvPr/>
        </p:nvSpPr>
        <p:spPr>
          <a:xfrm>
            <a:off x="1280592" y="1691296"/>
            <a:ext cx="66247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Help &gt; Eclipse Marketplace &gt; web </a:t>
            </a:r>
            <a:r>
              <a:rPr lang="ko-KR" altLang="en-US" dirty="0" smtClean="0"/>
              <a:t>검색 </a:t>
            </a:r>
            <a:r>
              <a:rPr lang="en-US" altLang="ko-KR" dirty="0" smtClean="0"/>
              <a:t>&gt; Java and Web </a:t>
            </a:r>
            <a:r>
              <a:rPr lang="ko-KR" altLang="en-US" dirty="0" smtClean="0"/>
              <a:t>설치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280592" y="2123564"/>
            <a:ext cx="58015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smtClean="0"/>
              <a:t>설치하지 않으면 </a:t>
            </a:r>
            <a:r>
              <a:rPr lang="en-US" altLang="ko-KR" dirty="0" smtClean="0"/>
              <a:t>html, </a:t>
            </a:r>
            <a:r>
              <a:rPr lang="en-US" altLang="ko-KR" dirty="0" err="1" smtClean="0"/>
              <a:t>css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js</a:t>
            </a:r>
            <a:r>
              <a:rPr lang="en-US" altLang="ko-KR" dirty="0" smtClean="0"/>
              <a:t> </a:t>
            </a:r>
            <a:r>
              <a:rPr lang="ko-KR" altLang="en-US" dirty="0" smtClean="0"/>
              <a:t>파일 등이 지원되지 않음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827014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en-US" altLang="ko-KR" dirty="0" err="1" smtClean="0"/>
              <a:t>jwboot</a:t>
            </a:r>
            <a:r>
              <a:rPr lang="en-US" altLang="ko-KR" dirty="0" smtClean="0"/>
              <a:t>  </a:t>
            </a:r>
            <a:r>
              <a:rPr lang="ko-KR" altLang="en-US" dirty="0"/>
              <a:t>프로젝트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0552" y="980728"/>
            <a:ext cx="32403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smtClean="0"/>
              <a:t>실습 프로젝트 생성</a:t>
            </a:r>
            <a:endParaRPr lang="en-US" altLang="ko-KR" sz="2000" dirty="0" smtClean="0"/>
          </a:p>
        </p:txBody>
      </p:sp>
      <p:sp>
        <p:nvSpPr>
          <p:cNvPr id="8" name="TextBox 7"/>
          <p:cNvSpPr txBox="1"/>
          <p:nvPr/>
        </p:nvSpPr>
        <p:spPr>
          <a:xfrm>
            <a:off x="1280592" y="1425550"/>
            <a:ext cx="7128792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smtClean="0"/>
              <a:t>[File] -&gt; [New] -&gt; [Spring Starter Project]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600" y="2086511"/>
            <a:ext cx="4896544" cy="114003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4" name="직사각형 3"/>
          <p:cNvSpPr/>
          <p:nvPr/>
        </p:nvSpPr>
        <p:spPr>
          <a:xfrm>
            <a:off x="2144688" y="3573016"/>
            <a:ext cx="2592288" cy="2308324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 smtClean="0"/>
              <a:t>Name-</a:t>
            </a:r>
            <a:r>
              <a:rPr lang="en-US" altLang="ko-KR" sz="1600" dirty="0" err="1" smtClean="0"/>
              <a:t>jwboot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en-US" altLang="ko-KR" sz="1600" dirty="0" smtClean="0"/>
              <a:t>Type-Maven</a:t>
            </a:r>
          </a:p>
          <a:p>
            <a:pPr>
              <a:lnSpc>
                <a:spcPct val="150000"/>
              </a:lnSpc>
            </a:pPr>
            <a:r>
              <a:rPr lang="en-US" altLang="ko-KR" sz="1600" dirty="0" smtClean="0"/>
              <a:t>Packing-Jar</a:t>
            </a:r>
          </a:p>
          <a:p>
            <a:pPr>
              <a:lnSpc>
                <a:spcPct val="150000"/>
              </a:lnSpc>
            </a:pPr>
            <a:r>
              <a:rPr lang="en-US" altLang="ko-KR" sz="1600" dirty="0" smtClean="0"/>
              <a:t>Java Version-21</a:t>
            </a:r>
          </a:p>
          <a:p>
            <a:pPr>
              <a:lnSpc>
                <a:spcPct val="150000"/>
              </a:lnSpc>
            </a:pPr>
            <a:r>
              <a:rPr lang="en-US" altLang="ko-KR" sz="1600" dirty="0" smtClean="0"/>
              <a:t>Group-</a:t>
            </a:r>
            <a:r>
              <a:rPr lang="en-US" altLang="ko-KR" sz="1600" dirty="0" err="1" smtClean="0"/>
              <a:t>com.space</a:t>
            </a:r>
            <a:endParaRPr lang="en-US" altLang="ko-KR" sz="1600" dirty="0" smtClean="0"/>
          </a:p>
          <a:p>
            <a:pPr>
              <a:lnSpc>
                <a:spcPct val="150000"/>
              </a:lnSpc>
            </a:pPr>
            <a:r>
              <a:rPr lang="en-US" altLang="ko-KR" sz="1600" dirty="0" smtClean="0"/>
              <a:t>Package</a:t>
            </a:r>
            <a:r>
              <a:rPr lang="en-US" altLang="ko-KR" sz="1600" dirty="0"/>
              <a:t>-</a:t>
            </a:r>
            <a:r>
              <a:rPr lang="en-US" altLang="ko-KR" sz="1600" dirty="0" err="1" smtClean="0"/>
              <a:t>com.space</a:t>
            </a:r>
            <a:endParaRPr lang="en-US" altLang="ko-KR" sz="16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3398151"/>
            <a:ext cx="4298619" cy="2887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7814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en-US" altLang="ko-KR" dirty="0" err="1" smtClean="0"/>
              <a:t>jwboot</a:t>
            </a:r>
            <a:r>
              <a:rPr lang="en-US" altLang="ko-KR" dirty="0" smtClean="0"/>
              <a:t>  </a:t>
            </a:r>
            <a:r>
              <a:rPr lang="ko-KR" altLang="en-US" dirty="0"/>
              <a:t>프로젝트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0552" y="980728"/>
            <a:ext cx="324036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smtClean="0"/>
              <a:t>실습 프로젝트 생성</a:t>
            </a:r>
            <a:endParaRPr lang="en-US" altLang="ko-KR" sz="2000" dirty="0" smtClean="0"/>
          </a:p>
        </p:txBody>
      </p:sp>
      <p:sp>
        <p:nvSpPr>
          <p:cNvPr id="7" name="직사각형 6"/>
          <p:cNvSpPr/>
          <p:nvPr/>
        </p:nvSpPr>
        <p:spPr>
          <a:xfrm>
            <a:off x="1465866" y="2132856"/>
            <a:ext cx="7200800" cy="46166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1600" dirty="0" smtClean="0"/>
              <a:t>Lombok, Spring Web, Spring Boot </a:t>
            </a:r>
            <a:r>
              <a:rPr lang="en-US" altLang="ko-KR" sz="1600" dirty="0" err="1" smtClean="0"/>
              <a:t>DevTools</a:t>
            </a:r>
            <a:r>
              <a:rPr lang="en-US" altLang="ko-KR" sz="1600" dirty="0" smtClean="0"/>
              <a:t>, </a:t>
            </a:r>
            <a:r>
              <a:rPr lang="en-US" altLang="ko-KR" sz="1600" dirty="0" err="1" smtClean="0"/>
              <a:t>Thymeleaf</a:t>
            </a:r>
            <a:r>
              <a:rPr lang="en-US" altLang="ko-KR" sz="1600" dirty="0" smtClean="0"/>
              <a:t> </a:t>
            </a:r>
            <a:r>
              <a:rPr lang="ko-KR" altLang="en-US" sz="1600" dirty="0" smtClean="0"/>
              <a:t>모듈 추가</a:t>
            </a:r>
            <a:endParaRPr lang="en-US" altLang="ko-KR" sz="1600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0666" y="2924944"/>
            <a:ext cx="5162318" cy="283526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433791" y="1540943"/>
            <a:ext cx="7128792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smtClean="0"/>
              <a:t>Spring Boot Version – 3.4.10</a:t>
            </a:r>
          </a:p>
        </p:txBody>
      </p:sp>
    </p:spTree>
    <p:extLst>
      <p:ext uri="{BB962C8B-B14F-4D97-AF65-F5344CB8AC3E}">
        <p14:creationId xmlns:p14="http://schemas.microsoft.com/office/powerpoint/2010/main" val="25198751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en-US" altLang="ko-KR" dirty="0" err="1" smtClean="0"/>
              <a:t>jwboot</a:t>
            </a:r>
            <a:r>
              <a:rPr lang="en-US" altLang="ko-KR" dirty="0" smtClean="0"/>
              <a:t>  </a:t>
            </a:r>
            <a:r>
              <a:rPr lang="ko-KR" altLang="en-US" dirty="0"/>
              <a:t>프로젝트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0552" y="980728"/>
            <a:ext cx="324036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dirty="0"/>
              <a:t>p</a:t>
            </a:r>
            <a:r>
              <a:rPr lang="en-US" altLang="ko-KR" sz="2000" dirty="0" smtClean="0"/>
              <a:t>om.xml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3904" y="1560689"/>
            <a:ext cx="6187977" cy="480863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56719461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en-US" altLang="ko-KR" dirty="0" err="1" smtClean="0"/>
              <a:t>jwboot</a:t>
            </a:r>
            <a:r>
              <a:rPr lang="en-US" altLang="ko-KR" dirty="0" smtClean="0"/>
              <a:t>  </a:t>
            </a:r>
            <a:r>
              <a:rPr lang="ko-KR" altLang="en-US" dirty="0" smtClean="0"/>
              <a:t>프로젝트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1030492"/>
            <a:ext cx="432048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프로젝트 구조</a:t>
            </a:r>
            <a:r>
              <a:rPr lang="en-US" altLang="ko-KR" sz="2000" b="1" dirty="0" smtClean="0"/>
              <a:t>(</a:t>
            </a:r>
            <a:r>
              <a:rPr lang="ko-KR" altLang="en-US" sz="2000" b="1" dirty="0" smtClean="0"/>
              <a:t>프레임 워크 구조</a:t>
            </a:r>
            <a:r>
              <a:rPr lang="en-US" altLang="ko-KR" sz="2000" b="1" dirty="0" smtClean="0"/>
              <a:t>)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8624" y="1743134"/>
            <a:ext cx="3276850" cy="233393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cxnSp>
        <p:nvCxnSpPr>
          <p:cNvPr id="4" name="직선 화살표 연결선 3"/>
          <p:cNvCxnSpPr/>
          <p:nvPr/>
        </p:nvCxnSpPr>
        <p:spPr>
          <a:xfrm>
            <a:off x="3873366" y="2492896"/>
            <a:ext cx="136766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5385048" y="2348880"/>
            <a:ext cx="3456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Java </a:t>
            </a:r>
            <a:r>
              <a:rPr lang="ko-KR" altLang="en-US" dirty="0" smtClean="0"/>
              <a:t>파일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cxnSp>
        <p:nvCxnSpPr>
          <p:cNvPr id="8" name="직선 화살표 연결선 7"/>
          <p:cNvCxnSpPr/>
          <p:nvPr/>
        </p:nvCxnSpPr>
        <p:spPr>
          <a:xfrm>
            <a:off x="3440832" y="3374410"/>
            <a:ext cx="181608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385048" y="3244918"/>
            <a:ext cx="3456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 </a:t>
            </a:r>
            <a:r>
              <a:rPr lang="ko-KR" altLang="en-US" dirty="0" smtClean="0"/>
              <a:t>동적 </a:t>
            </a:r>
            <a:r>
              <a:rPr lang="en-US" altLang="ko-KR" dirty="0" smtClean="0"/>
              <a:t>: html </a:t>
            </a:r>
            <a:r>
              <a:rPr lang="ko-KR" altLang="en-US" dirty="0" smtClean="0"/>
              <a:t>파일 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cxnSp>
        <p:nvCxnSpPr>
          <p:cNvPr id="11" name="직선 화살표 연결선 10"/>
          <p:cNvCxnSpPr/>
          <p:nvPr/>
        </p:nvCxnSpPr>
        <p:spPr>
          <a:xfrm>
            <a:off x="3296816" y="3037602"/>
            <a:ext cx="194421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388456" y="2852936"/>
            <a:ext cx="34563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정적 파일 </a:t>
            </a:r>
            <a:r>
              <a:rPr lang="en-US" altLang="ko-KR" dirty="0" smtClean="0"/>
              <a:t>: </a:t>
            </a:r>
            <a:r>
              <a:rPr lang="en-US" altLang="ko-KR" dirty="0" err="1" smtClean="0"/>
              <a:t>css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js</a:t>
            </a:r>
            <a:r>
              <a:rPr lang="en-US" altLang="ko-KR" dirty="0" smtClean="0"/>
              <a:t>, image </a:t>
            </a:r>
            <a:endParaRPr lang="ko-KR" altLang="en-US" dirty="0"/>
          </a:p>
        </p:txBody>
      </p:sp>
      <p:cxnSp>
        <p:nvCxnSpPr>
          <p:cNvPr id="14" name="직선 화살표 연결선 13"/>
          <p:cNvCxnSpPr/>
          <p:nvPr/>
        </p:nvCxnSpPr>
        <p:spPr>
          <a:xfrm>
            <a:off x="3772812" y="3807280"/>
            <a:ext cx="1072662" cy="4284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953000" y="4149080"/>
            <a:ext cx="3816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설정 파일</a:t>
            </a:r>
            <a:r>
              <a:rPr lang="en-US" altLang="ko-KR" dirty="0" smtClean="0"/>
              <a:t>: </a:t>
            </a:r>
            <a:r>
              <a:rPr lang="ko-KR" altLang="en-US" dirty="0" err="1" smtClean="0"/>
              <a:t>서버설정</a:t>
            </a:r>
            <a:r>
              <a:rPr lang="en-US" altLang="ko-KR" dirty="0" smtClean="0"/>
              <a:t>, DB </a:t>
            </a:r>
            <a:r>
              <a:rPr lang="ko-KR" altLang="en-US" dirty="0" smtClean="0"/>
              <a:t>연결 등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280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en-US" altLang="ko-KR" dirty="0" err="1" smtClean="0"/>
              <a:t>jwboot</a:t>
            </a:r>
            <a:r>
              <a:rPr lang="en-US" altLang="ko-KR" dirty="0" smtClean="0"/>
              <a:t>  </a:t>
            </a:r>
            <a:r>
              <a:rPr lang="ko-KR" altLang="en-US" dirty="0"/>
              <a:t>프로젝트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0552" y="1030492"/>
            <a:ext cx="4320480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dirty="0" err="1" smtClean="0"/>
              <a:t>SpringBoot</a:t>
            </a:r>
            <a:r>
              <a:rPr lang="en-US" altLang="ko-KR" dirty="0" smtClean="0"/>
              <a:t> App</a:t>
            </a:r>
            <a:r>
              <a:rPr lang="ko-KR" altLang="en-US" dirty="0" smtClean="0"/>
              <a:t>으로 실행</a:t>
            </a:r>
            <a:endParaRPr lang="en-US" altLang="ko-KR" dirty="0" smtClean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12727" y="1700808"/>
            <a:ext cx="6759526" cy="170702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0792" y="3356992"/>
            <a:ext cx="5799323" cy="95258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4689" y="4725144"/>
            <a:ext cx="9721081" cy="91894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148273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en-US" altLang="ko-KR" dirty="0" err="1" smtClean="0"/>
              <a:t>jwboot</a:t>
            </a:r>
            <a:r>
              <a:rPr lang="en-US" altLang="ko-KR" dirty="0" smtClean="0"/>
              <a:t>  </a:t>
            </a:r>
            <a:r>
              <a:rPr lang="ko-KR" altLang="en-US" dirty="0"/>
              <a:t>프로젝트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0552" y="1030492"/>
            <a:ext cx="4320480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dirty="0" smtClean="0"/>
              <a:t>http://localhost:8080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2546" y="1700808"/>
            <a:ext cx="6881457" cy="231668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67982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en-US" altLang="ko-KR" dirty="0" err="1" smtClean="0"/>
              <a:t>jwboot</a:t>
            </a:r>
            <a:r>
              <a:rPr lang="en-US" altLang="ko-KR" dirty="0" smtClean="0"/>
              <a:t>  </a:t>
            </a:r>
            <a:r>
              <a:rPr lang="ko-KR" altLang="en-US" dirty="0"/>
              <a:t>프로젝트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0552" y="1030492"/>
            <a:ext cx="432048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 smtClean="0"/>
              <a:t>static – </a:t>
            </a:r>
            <a:r>
              <a:rPr lang="ko-KR" altLang="en-US" sz="2000" b="1" dirty="0" smtClean="0"/>
              <a:t>정적 파일</a:t>
            </a:r>
            <a:endParaRPr lang="en-US" altLang="ko-KR" sz="2000" b="1" dirty="0" smtClean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4439" y="1741231"/>
            <a:ext cx="3744416" cy="125862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4439" y="3202766"/>
            <a:ext cx="4279282" cy="288214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8" name="TextBox 7"/>
          <p:cNvSpPr txBox="1"/>
          <p:nvPr/>
        </p:nvSpPr>
        <p:spPr>
          <a:xfrm>
            <a:off x="5272284" y="3717032"/>
            <a:ext cx="23877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static &gt; </a:t>
            </a:r>
            <a:r>
              <a:rPr lang="en-US" altLang="ko-KR" dirty="0"/>
              <a:t>hello.html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72637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en-US" altLang="ko-KR" dirty="0" err="1" smtClean="0"/>
              <a:t>jwboot</a:t>
            </a:r>
            <a:r>
              <a:rPr lang="en-US" altLang="ko-KR" dirty="0" smtClean="0"/>
              <a:t>  </a:t>
            </a:r>
            <a:r>
              <a:rPr lang="ko-KR" altLang="en-US" dirty="0"/>
              <a:t>프로젝트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0552" y="1030492"/>
            <a:ext cx="432048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 smtClean="0"/>
              <a:t>static – </a:t>
            </a:r>
            <a:r>
              <a:rPr lang="ko-KR" altLang="en-US" sz="2000" b="1" dirty="0" smtClean="0"/>
              <a:t>정적 파일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2234327"/>
            <a:ext cx="4800433" cy="375847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1280592" y="1697205"/>
            <a:ext cx="3600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static &gt; images &gt; time.jpg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965562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메인 페이지 만들기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20552" y="1030492"/>
            <a:ext cx="4320480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dirty="0" smtClean="0"/>
              <a:t>메인 페이지 만들기</a:t>
            </a:r>
            <a:endParaRPr lang="en-US" altLang="ko-KR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656" y="1718402"/>
            <a:ext cx="5582429" cy="2981741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75953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메인 페이지 만들기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20552" y="1030492"/>
            <a:ext cx="4320480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dirty="0" smtClean="0"/>
              <a:t>메인 페이지 만들기</a:t>
            </a:r>
            <a:endParaRPr lang="en-US" altLang="ko-KR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632" y="1687692"/>
            <a:ext cx="4412140" cy="447906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7695986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메인 페이지 만들기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20552" y="1030492"/>
            <a:ext cx="43204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 err="1" smtClean="0"/>
              <a:t>url</a:t>
            </a:r>
            <a:r>
              <a:rPr lang="en-US" altLang="ko-KR" sz="2000" b="1" dirty="0" smtClean="0"/>
              <a:t> </a:t>
            </a:r>
            <a:r>
              <a:rPr lang="ko-KR" altLang="en-US" sz="2000" b="1" dirty="0" smtClean="0"/>
              <a:t>매핑 </a:t>
            </a:r>
            <a:r>
              <a:rPr lang="en-US" altLang="ko-KR" sz="2000" b="1" dirty="0" smtClean="0"/>
              <a:t>- </a:t>
            </a:r>
            <a:r>
              <a:rPr lang="en-US" altLang="ko-KR" sz="2000" b="1" dirty="0" err="1" smtClean="0"/>
              <a:t>HomeController</a:t>
            </a:r>
            <a:endParaRPr lang="en-US" altLang="ko-KR" sz="2000" b="1" dirty="0" smtClean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2"/>
          <a:srcRect t="5873"/>
          <a:stretch/>
        </p:blipFill>
        <p:spPr>
          <a:xfrm>
            <a:off x="1280592" y="1694089"/>
            <a:ext cx="6589198" cy="388843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071297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메인 페이지 만들기</a:t>
            </a:r>
            <a:endParaRPr lang="ko-KR" altLang="en-US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676414"/>
            <a:ext cx="5328592" cy="355513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920552" y="1030492"/>
            <a:ext cx="432048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 smtClean="0"/>
              <a:t>templates &gt; home.html</a:t>
            </a:r>
          </a:p>
        </p:txBody>
      </p:sp>
    </p:spTree>
    <p:extLst>
      <p:ext uri="{BB962C8B-B14F-4D97-AF65-F5344CB8AC3E}">
        <p14:creationId xmlns:p14="http://schemas.microsoft.com/office/powerpoint/2010/main" val="8679746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메인 페이지 만들기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20552" y="1030492"/>
            <a:ext cx="4320480" cy="4542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b="1" dirty="0"/>
              <a:t>t</a:t>
            </a:r>
            <a:r>
              <a:rPr lang="en-US" altLang="ko-KR" b="1" dirty="0" smtClean="0"/>
              <a:t>emplates &gt; pages &gt; time.html</a:t>
            </a:r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628800"/>
            <a:ext cx="5954167" cy="408483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829976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메인 페이지 만들기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20552" y="1030492"/>
            <a:ext cx="43204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/>
              <a:t>s</a:t>
            </a:r>
            <a:r>
              <a:rPr lang="en-US" altLang="ko-KR" sz="2000" b="1" dirty="0" smtClean="0"/>
              <a:t>tatic &gt; </a:t>
            </a:r>
            <a:r>
              <a:rPr lang="en-US" altLang="ko-KR" sz="2000" b="1" dirty="0" err="1" smtClean="0"/>
              <a:t>css</a:t>
            </a:r>
            <a:r>
              <a:rPr lang="en-US" altLang="ko-KR" sz="2000" b="1" dirty="0" smtClean="0"/>
              <a:t> &gt; style.css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631" y="1772816"/>
            <a:ext cx="3558369" cy="192996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828981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메인 페이지 만들기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20552" y="1030492"/>
            <a:ext cx="4320480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en-US" altLang="ko-KR" sz="2000" b="1" dirty="0"/>
              <a:t>s</a:t>
            </a:r>
            <a:r>
              <a:rPr lang="en-US" altLang="ko-KR" sz="2000" b="1" dirty="0" smtClean="0"/>
              <a:t>tatic &gt; </a:t>
            </a:r>
            <a:r>
              <a:rPr lang="en-US" altLang="ko-KR" sz="2000" b="1" dirty="0" err="1" smtClean="0"/>
              <a:t>js</a:t>
            </a:r>
            <a:r>
              <a:rPr lang="en-US" altLang="ko-KR" sz="2000" b="1" dirty="0" smtClean="0"/>
              <a:t> &gt; time.js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2600" y="1745680"/>
            <a:ext cx="7047706" cy="3555528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961865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dirty="0" smtClean="0"/>
              <a:t>메인 페이지 만들기</a:t>
            </a:r>
            <a:endParaRPr lang="ko-KR" alt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920552" y="1030492"/>
            <a:ext cx="5688632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컨트롤러 사용한 </a:t>
            </a:r>
            <a:r>
              <a:rPr lang="en-US" altLang="ko-KR" sz="2000" b="1" dirty="0" smtClean="0"/>
              <a:t>URL </a:t>
            </a:r>
            <a:r>
              <a:rPr lang="ko-KR" altLang="en-US" sz="2000" b="1" dirty="0" smtClean="0"/>
              <a:t>매핑</a:t>
            </a:r>
            <a:endParaRPr lang="en-US" altLang="ko-KR" sz="2000" b="1" dirty="0" smtClean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628800"/>
            <a:ext cx="6433867" cy="4248472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580172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b="1" dirty="0" smtClean="0"/>
              <a:t>스프링 </a:t>
            </a:r>
            <a:r>
              <a:rPr lang="en-US" altLang="ko-KR" b="1" dirty="0"/>
              <a:t>MVC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1030492"/>
            <a:ext cx="4320480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l"/>
            </a:pPr>
            <a:r>
              <a:rPr lang="ko-KR" altLang="en-US" sz="2000" b="1" dirty="0" smtClean="0"/>
              <a:t>계층적 구조의 구현 과정</a:t>
            </a:r>
            <a:endParaRPr lang="en-US" altLang="ko-KR" sz="2000" b="1" dirty="0" smtClean="0"/>
          </a:p>
        </p:txBody>
      </p:sp>
      <p:sp>
        <p:nvSpPr>
          <p:cNvPr id="7" name="모서리가 둥근 직사각형 6"/>
          <p:cNvSpPr/>
          <p:nvPr/>
        </p:nvSpPr>
        <p:spPr>
          <a:xfrm>
            <a:off x="6105128" y="2060848"/>
            <a:ext cx="3456385" cy="1270011"/>
          </a:xfrm>
          <a:prstGeom prst="roundRect">
            <a:avLst/>
          </a:prstGeom>
          <a:solidFill>
            <a:schemeClr val="bg1">
              <a:lumMod val="85000"/>
            </a:schemeClr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/>
          </a:p>
        </p:txBody>
      </p:sp>
      <p:sp>
        <p:nvSpPr>
          <p:cNvPr id="8" name="모서리가 둥근 직사각형 7"/>
          <p:cNvSpPr/>
          <p:nvPr/>
        </p:nvSpPr>
        <p:spPr>
          <a:xfrm>
            <a:off x="6331216" y="2492896"/>
            <a:ext cx="1300125" cy="57606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chemeClr val="tx1"/>
                </a:solidFill>
              </a:rPr>
              <a:t>컨트롤</a:t>
            </a:r>
            <a:r>
              <a:rPr lang="ko-KR" altLang="en-US" sz="1600" dirty="0">
                <a:solidFill>
                  <a:schemeClr val="tx1"/>
                </a:solidFill>
              </a:rPr>
              <a:t>러</a:t>
            </a:r>
          </a:p>
        </p:txBody>
      </p:sp>
      <p:cxnSp>
        <p:nvCxnSpPr>
          <p:cNvPr id="11" name="직선 화살표 연결선 10"/>
          <p:cNvCxnSpPr>
            <a:stCxn id="18" idx="3"/>
            <a:endCxn id="20" idx="1"/>
          </p:cNvCxnSpPr>
          <p:nvPr/>
        </p:nvCxnSpPr>
        <p:spPr>
          <a:xfrm>
            <a:off x="2125811" y="2789375"/>
            <a:ext cx="49001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모서리가 둥근 직사각형 13"/>
          <p:cNvSpPr/>
          <p:nvPr/>
        </p:nvSpPr>
        <p:spPr>
          <a:xfrm>
            <a:off x="8049345" y="2492896"/>
            <a:ext cx="1300125" cy="57606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chemeClr val="tx1"/>
                </a:solidFill>
              </a:rPr>
              <a:t>뷰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897217" y="2123564"/>
            <a:ext cx="216024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smtClean="0"/>
              <a:t>프레젠테이션 계층</a:t>
            </a:r>
            <a:endParaRPr lang="ko-KR" altLang="en-US" sz="1600"/>
          </a:p>
        </p:txBody>
      </p:sp>
      <p:sp>
        <p:nvSpPr>
          <p:cNvPr id="17" name="TextBox 16"/>
          <p:cNvSpPr txBox="1"/>
          <p:nvPr/>
        </p:nvSpPr>
        <p:spPr>
          <a:xfrm>
            <a:off x="7545290" y="3068960"/>
            <a:ext cx="64807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smtClean="0"/>
              <a:t>모델</a:t>
            </a:r>
            <a:endParaRPr lang="ko-KR" altLang="en-US" sz="1600"/>
          </a:p>
        </p:txBody>
      </p:sp>
      <p:sp>
        <p:nvSpPr>
          <p:cNvPr id="18" name="모서리가 둥근 직사각형 17"/>
          <p:cNvSpPr/>
          <p:nvPr/>
        </p:nvSpPr>
        <p:spPr>
          <a:xfrm>
            <a:off x="757660" y="2501343"/>
            <a:ext cx="1368151" cy="57606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smtClean="0">
                <a:solidFill>
                  <a:schemeClr val="tx1"/>
                </a:solidFill>
              </a:rPr>
              <a:t>도메인 객체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cxnSp>
        <p:nvCxnSpPr>
          <p:cNvPr id="19" name="직선 화살표 연결선 18"/>
          <p:cNvCxnSpPr>
            <a:stCxn id="20" idx="3"/>
            <a:endCxn id="22" idx="1"/>
          </p:cNvCxnSpPr>
          <p:nvPr/>
        </p:nvCxnSpPr>
        <p:spPr>
          <a:xfrm>
            <a:off x="3983977" y="2789375"/>
            <a:ext cx="490015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모서리가 둥근 직사각형 19"/>
          <p:cNvSpPr/>
          <p:nvPr/>
        </p:nvSpPr>
        <p:spPr>
          <a:xfrm>
            <a:off x="2615826" y="2501343"/>
            <a:ext cx="1368151" cy="57606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err="1" smtClean="0">
                <a:solidFill>
                  <a:schemeClr val="tx1"/>
                </a:solidFill>
              </a:rPr>
              <a:t>퍼시스턴스</a:t>
            </a:r>
            <a:r>
              <a:rPr lang="ko-KR" altLang="en-US" sz="1600" dirty="0" smtClean="0">
                <a:solidFill>
                  <a:schemeClr val="tx1"/>
                </a:solidFill>
              </a:rPr>
              <a:t> 계층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sp>
        <p:nvSpPr>
          <p:cNvPr id="22" name="모서리가 둥근 직사각형 21"/>
          <p:cNvSpPr/>
          <p:nvPr/>
        </p:nvSpPr>
        <p:spPr>
          <a:xfrm>
            <a:off x="4473992" y="2501343"/>
            <a:ext cx="1368151" cy="576063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 dirty="0" smtClean="0">
                <a:solidFill>
                  <a:schemeClr val="tx1"/>
                </a:solidFill>
              </a:rPr>
              <a:t>비즈니스</a:t>
            </a:r>
            <a:endParaRPr lang="en-US" altLang="ko-KR" sz="1600" dirty="0" smtClean="0">
              <a:solidFill>
                <a:schemeClr val="tx1"/>
              </a:solidFill>
            </a:endParaRPr>
          </a:p>
          <a:p>
            <a:pPr algn="ctr"/>
            <a:r>
              <a:rPr lang="ko-KR" altLang="en-US" sz="1600" dirty="0" smtClean="0">
                <a:solidFill>
                  <a:schemeClr val="tx1"/>
                </a:solidFill>
              </a:rPr>
              <a:t>계층</a:t>
            </a:r>
            <a:endParaRPr lang="ko-KR" altLang="en-US" sz="1600" dirty="0">
              <a:solidFill>
                <a:schemeClr val="tx1"/>
              </a:solidFill>
            </a:endParaRPr>
          </a:p>
        </p:txBody>
      </p:sp>
      <p:cxnSp>
        <p:nvCxnSpPr>
          <p:cNvPr id="23" name="직선 화살표 연결선 22"/>
          <p:cNvCxnSpPr>
            <a:stCxn id="22" idx="3"/>
            <a:endCxn id="8" idx="1"/>
          </p:cNvCxnSpPr>
          <p:nvPr/>
        </p:nvCxnSpPr>
        <p:spPr>
          <a:xfrm flipV="1">
            <a:off x="5842143" y="2780928"/>
            <a:ext cx="489073" cy="8447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직선 화살표 연결선 23"/>
          <p:cNvCxnSpPr/>
          <p:nvPr/>
        </p:nvCxnSpPr>
        <p:spPr>
          <a:xfrm>
            <a:off x="7631341" y="2779793"/>
            <a:ext cx="418004" cy="0"/>
          </a:xfrm>
          <a:prstGeom prst="straightConnector1">
            <a:avLst/>
          </a:prstGeom>
          <a:ln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57660" y="3420289"/>
            <a:ext cx="13681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smtClean="0"/>
              <a:t>Member.java</a:t>
            </a:r>
            <a:endParaRPr lang="ko-KR" altLang="en-US" sz="1600" dirty="0"/>
          </a:p>
        </p:txBody>
      </p:sp>
      <p:sp>
        <p:nvSpPr>
          <p:cNvPr id="32" name="TextBox 31"/>
          <p:cNvSpPr txBox="1"/>
          <p:nvPr/>
        </p:nvSpPr>
        <p:spPr>
          <a:xfrm>
            <a:off x="2468212" y="3402867"/>
            <a:ext cx="154378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/>
              <a:t>MemberRepository.java</a:t>
            </a:r>
            <a:endParaRPr lang="ko-KR" altLang="en-US" sz="1600" dirty="0"/>
          </a:p>
        </p:txBody>
      </p:sp>
      <p:sp>
        <p:nvSpPr>
          <p:cNvPr id="33" name="TextBox 32"/>
          <p:cNvSpPr txBox="1"/>
          <p:nvPr/>
        </p:nvSpPr>
        <p:spPr>
          <a:xfrm>
            <a:off x="6335151" y="3420289"/>
            <a:ext cx="15701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/>
              <a:t>MemberController.java</a:t>
            </a:r>
            <a:endParaRPr lang="ko-KR" altLang="en-US" sz="1600" dirty="0"/>
          </a:p>
        </p:txBody>
      </p:sp>
      <p:sp>
        <p:nvSpPr>
          <p:cNvPr id="34" name="TextBox 33"/>
          <p:cNvSpPr txBox="1"/>
          <p:nvPr/>
        </p:nvSpPr>
        <p:spPr>
          <a:xfrm>
            <a:off x="8044167" y="3520487"/>
            <a:ext cx="154383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/>
              <a:t>members.html</a:t>
            </a:r>
            <a:endParaRPr lang="ko-KR" altLang="en-US" sz="1600" dirty="0"/>
          </a:p>
        </p:txBody>
      </p:sp>
      <p:sp>
        <p:nvSpPr>
          <p:cNvPr id="35" name="TextBox 34"/>
          <p:cNvSpPr txBox="1"/>
          <p:nvPr/>
        </p:nvSpPr>
        <p:spPr>
          <a:xfrm>
            <a:off x="4400184" y="3402866"/>
            <a:ext cx="15467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dirty="0" smtClean="0"/>
              <a:t>MemberService.java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947178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b="1" dirty="0" smtClean="0"/>
              <a:t>스프링 </a:t>
            </a:r>
            <a:r>
              <a:rPr lang="en-US" altLang="ko-KR" b="1" dirty="0"/>
              <a:t>MVC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1030492"/>
            <a:ext cx="489654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스프링 </a:t>
            </a:r>
            <a:r>
              <a:rPr lang="en-US" altLang="ko-KR" sz="2000" b="1" dirty="0" smtClean="0"/>
              <a:t>MVC</a:t>
            </a:r>
            <a:r>
              <a:rPr lang="ko-KR" altLang="en-US" sz="2000" b="1" dirty="0" smtClean="0"/>
              <a:t>의 </a:t>
            </a:r>
            <a:r>
              <a:rPr lang="en-US" altLang="ko-KR" sz="2000" b="1" dirty="0" smtClean="0"/>
              <a:t>3 </a:t>
            </a:r>
            <a:r>
              <a:rPr lang="ko-KR" altLang="en-US" sz="2000" b="1" dirty="0" smtClean="0"/>
              <a:t>계층 구조</a:t>
            </a:r>
            <a:endParaRPr lang="en-US" altLang="ko-KR" sz="2000" b="1" dirty="0" smtClean="0"/>
          </a:p>
        </p:txBody>
      </p:sp>
      <p:graphicFrame>
        <p:nvGraphicFramePr>
          <p:cNvPr id="9" name="표 8"/>
          <p:cNvGraphicFramePr>
            <a:graphicFrameLocks noGrp="1"/>
          </p:cNvGraphicFramePr>
          <p:nvPr>
            <p:extLst/>
          </p:nvPr>
        </p:nvGraphicFramePr>
        <p:xfrm>
          <a:off x="1280592" y="1758996"/>
          <a:ext cx="7704856" cy="196675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912170">
                  <a:extLst>
                    <a:ext uri="{9D8B030D-6E8A-4147-A177-3AD203B41FA5}">
                      <a16:colId xmlns:a16="http://schemas.microsoft.com/office/drawing/2014/main" val="3993985894"/>
                    </a:ext>
                  </a:extLst>
                </a:gridCol>
                <a:gridCol w="21202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7240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9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계층</a:t>
                      </a:r>
                      <a:endParaRPr lang="ko-KR" altLang="en-US" sz="1600" dirty="0"/>
                    </a:p>
                  </a:txBody>
                  <a:tcPr anchor="ctr">
                    <a:lnL w="12700" cmpd="sng">
                      <a:noFill/>
                    </a:lnL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err="1" smtClean="0"/>
                        <a:t>어노테이션</a:t>
                      </a:r>
                      <a:endParaRPr lang="ko-KR" altLang="en-US" sz="1600" dirty="0"/>
                    </a:p>
                  </a:txBody>
                  <a:tcPr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 smtClean="0"/>
                        <a:t>역할</a:t>
                      </a:r>
                      <a:endParaRPr lang="ko-KR" altLang="en-US" sz="1600" dirty="0"/>
                    </a:p>
                  </a:txBody>
                  <a:tcPr anchor="ctr">
                    <a:lnR w="12700" cmpd="sng">
                      <a:noFill/>
                    </a:lnR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Controller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@Controller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600" b="0" dirty="0" smtClean="0"/>
                        <a:t>클라이언트 </a:t>
                      </a:r>
                      <a:r>
                        <a:rPr lang="ko-KR" altLang="en-US" sz="1600" b="0" dirty="0" err="1" smtClean="0"/>
                        <a:t>요청처리</a:t>
                      </a:r>
                      <a:r>
                        <a:rPr lang="en-US" altLang="ko-KR" sz="1600" b="0" dirty="0" smtClean="0"/>
                        <a:t>, </a:t>
                      </a:r>
                      <a:r>
                        <a:rPr lang="ko-KR" altLang="en-US" sz="1600" b="0" dirty="0" smtClean="0"/>
                        <a:t>화면 반환</a:t>
                      </a:r>
                      <a:endParaRPr lang="en-US" altLang="ko-KR" sz="1600" b="0" dirty="0" smtClean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Service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@Service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600" b="0" dirty="0" smtClean="0"/>
                        <a:t>비즈니스 </a:t>
                      </a:r>
                      <a:r>
                        <a:rPr lang="ko-KR" altLang="en-US" sz="1600" b="0" dirty="0" err="1" smtClean="0"/>
                        <a:t>로직</a:t>
                      </a:r>
                      <a:r>
                        <a:rPr lang="ko-KR" altLang="en-US" sz="1600" b="0" dirty="0" smtClean="0"/>
                        <a:t> 수행</a:t>
                      </a:r>
                      <a:endParaRPr lang="ko-KR" altLang="en-US" sz="1600" b="0" dirty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Repository</a:t>
                      </a:r>
                    </a:p>
                  </a:txBody>
                  <a:tcPr anchor="ctr">
                    <a:lnL w="12700" cmpd="sng">
                      <a:noFill/>
                    </a:lnL>
                  </a:tcPr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en-US" altLang="ko-KR" sz="1800" b="0" dirty="0" smtClean="0"/>
                        <a:t>@Repository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>
                        <a:lnSpc>
                          <a:spcPct val="150000"/>
                        </a:lnSpc>
                      </a:pPr>
                      <a:r>
                        <a:rPr lang="ko-KR" altLang="en-US" sz="1600" b="0" dirty="0" smtClean="0"/>
                        <a:t>데이터베이스 접근 </a:t>
                      </a:r>
                      <a:r>
                        <a:rPr lang="en-US" altLang="ko-KR" sz="1600" b="0" dirty="0" smtClean="0"/>
                        <a:t>CRUD </a:t>
                      </a:r>
                      <a:r>
                        <a:rPr lang="ko-KR" altLang="en-US" sz="1600" b="0" dirty="0" smtClean="0"/>
                        <a:t>처리</a:t>
                      </a:r>
                      <a:endParaRPr lang="ko-KR" altLang="en-US" sz="1600" b="0" dirty="0"/>
                    </a:p>
                  </a:txBody>
                  <a:tcPr anchor="ctr">
                    <a:lnR w="12700" cmpd="sng">
                      <a:noFill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67090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b="1" dirty="0" smtClean="0"/>
              <a:t>스프링 </a:t>
            </a:r>
            <a:r>
              <a:rPr lang="en-US" altLang="ko-KR" b="1" dirty="0"/>
              <a:t>MVC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1030492"/>
            <a:ext cx="489654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err="1" smtClean="0"/>
              <a:t>컨트롤러란</a:t>
            </a:r>
            <a:r>
              <a:rPr lang="en-US" altLang="ko-KR" sz="2000" b="1" dirty="0" smtClean="0"/>
              <a:t>?</a:t>
            </a:r>
          </a:p>
        </p:txBody>
      </p:sp>
      <p:sp>
        <p:nvSpPr>
          <p:cNvPr id="2" name="직사각형 1"/>
          <p:cNvSpPr/>
          <p:nvPr/>
        </p:nvSpPr>
        <p:spPr>
          <a:xfrm>
            <a:off x="1352600" y="1556792"/>
            <a:ext cx="72008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 smtClean="0"/>
              <a:t>스프링 </a:t>
            </a:r>
            <a:r>
              <a:rPr lang="en-US" altLang="ko-KR" sz="1600" dirty="0" smtClean="0"/>
              <a:t>MVC </a:t>
            </a:r>
            <a:r>
              <a:rPr lang="ko-KR" altLang="en-US" sz="1600" dirty="0" smtClean="0"/>
              <a:t>패턴과 연동하는 스프링 부트가 웹에서 사용자 요청을 받으면 가장 먼저 내장된 </a:t>
            </a:r>
            <a:r>
              <a:rPr lang="ko-KR" altLang="en-US" sz="1600" dirty="0" err="1" smtClean="0"/>
              <a:t>톰캣</a:t>
            </a:r>
            <a:r>
              <a:rPr lang="ko-KR" altLang="en-US" sz="1600" dirty="0" smtClean="0"/>
              <a:t> 서버의 </a:t>
            </a:r>
            <a:r>
              <a:rPr lang="ko-KR" altLang="en-US" sz="1600" dirty="0" err="1" smtClean="0"/>
              <a:t>디스패처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서블릿으로</a:t>
            </a:r>
            <a:r>
              <a:rPr lang="ko-KR" altLang="en-US" sz="1600" dirty="0" smtClean="0"/>
              <a:t> 전달한다</a:t>
            </a:r>
            <a:r>
              <a:rPr lang="en-US" altLang="ko-KR" sz="1600" dirty="0" smtClean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 err="1" smtClean="0"/>
              <a:t>디스패처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서블릿은</a:t>
            </a:r>
            <a:r>
              <a:rPr lang="ko-KR" altLang="en-US" sz="1600" dirty="0" smtClean="0"/>
              <a:t> 요청을 받는 창구 역할만 할뿐 실제 처리는 컨트롤러</a:t>
            </a:r>
            <a:r>
              <a:rPr lang="en-US" altLang="ko-KR" sz="1600" dirty="0" smtClean="0"/>
              <a:t>(controller)</a:t>
            </a:r>
            <a:r>
              <a:rPr lang="ko-KR" altLang="en-US" sz="1600" dirty="0" smtClean="0"/>
              <a:t>가 한다</a:t>
            </a:r>
            <a:r>
              <a:rPr lang="en-US" altLang="ko-KR" sz="1600" dirty="0" smtClean="0"/>
              <a:t>.</a:t>
            </a:r>
            <a:r>
              <a:rPr lang="ko-KR" altLang="en-US" sz="1600" dirty="0" smtClean="0"/>
              <a:t> </a:t>
            </a:r>
            <a:endParaRPr lang="ko-KR" altLang="en-US" sz="1600" dirty="0"/>
          </a:p>
        </p:txBody>
      </p:sp>
      <p:sp>
        <p:nvSpPr>
          <p:cNvPr id="6" name="TextBox 5"/>
          <p:cNvSpPr txBox="1"/>
          <p:nvPr/>
        </p:nvSpPr>
        <p:spPr>
          <a:xfrm>
            <a:off x="920552" y="3212976"/>
            <a:ext cx="489654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 smtClean="0"/>
              <a:t>@</a:t>
            </a:r>
            <a:r>
              <a:rPr lang="ko-KR" altLang="en-US" sz="2000" b="1" dirty="0" err="1" smtClean="0"/>
              <a:t>Controller</a:t>
            </a:r>
            <a:r>
              <a:rPr lang="ko-KR" altLang="en-US" sz="2000" b="1" dirty="0" smtClean="0"/>
              <a:t> 사용</a:t>
            </a:r>
            <a:endParaRPr lang="en-US" altLang="ko-KR" sz="2000" b="1" dirty="0" smtClean="0"/>
          </a:p>
        </p:txBody>
      </p:sp>
      <p:sp>
        <p:nvSpPr>
          <p:cNvPr id="7" name="직사각형 6"/>
          <p:cNvSpPr/>
          <p:nvPr/>
        </p:nvSpPr>
        <p:spPr>
          <a:xfrm>
            <a:off x="1280592" y="3749633"/>
            <a:ext cx="7848872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 smtClean="0"/>
              <a:t>@</a:t>
            </a:r>
            <a:r>
              <a:rPr lang="ko-KR" altLang="en-US" sz="1600" b="1" dirty="0" err="1" smtClean="0"/>
              <a:t>Controller</a:t>
            </a:r>
            <a:r>
              <a:rPr lang="ko-KR" altLang="en-US" sz="1600" dirty="0" err="1" smtClean="0"/>
              <a:t>는</a:t>
            </a:r>
            <a:r>
              <a:rPr lang="ko-KR" altLang="en-US" sz="1600" dirty="0" smtClean="0"/>
              <a:t> 스프링 MVC 프레임워크에서 사용자의 요청을 받아 웹 브라우저에 보여줄 </a:t>
            </a:r>
            <a:r>
              <a:rPr lang="ko-KR" altLang="en-US" sz="1600" dirty="0" err="1" smtClean="0"/>
              <a:t>HTML을</a:t>
            </a:r>
            <a:r>
              <a:rPr lang="ko-KR" altLang="en-US" sz="1600" dirty="0" smtClean="0"/>
              <a:t> 뷰(</a:t>
            </a:r>
            <a:r>
              <a:rPr lang="ko-KR" altLang="en-US" sz="1600" dirty="0" err="1" smtClean="0"/>
              <a:t>View</a:t>
            </a:r>
            <a:r>
              <a:rPr lang="ko-KR" altLang="en-US" sz="1600" dirty="0" smtClean="0"/>
              <a:t>)로 보내는 역할을 하는 클래스를 지정하는 </a:t>
            </a:r>
            <a:r>
              <a:rPr lang="ko-KR" altLang="en-US" sz="1600" dirty="0" err="1" smtClean="0"/>
              <a:t>어노테이션이다</a:t>
            </a:r>
            <a:r>
              <a:rPr lang="ko-KR" altLang="en-US" sz="1600" dirty="0" smtClean="0"/>
              <a:t>. </a:t>
            </a:r>
          </a:p>
          <a:p>
            <a:pPr>
              <a:lnSpc>
                <a:spcPct val="150000"/>
              </a:lnSpc>
            </a:pPr>
            <a:r>
              <a:rPr lang="ko-KR" altLang="en-US" sz="1600" dirty="0" smtClean="0"/>
              <a:t>클라이언트로부터 HTTP 요청을 받으면, 이를 처리하기 위해 서비스 계층으로 위임하고, 처리 결과를 '뷰 </a:t>
            </a:r>
            <a:r>
              <a:rPr lang="ko-KR" altLang="en-US" sz="1600" dirty="0" err="1" smtClean="0"/>
              <a:t>리졸버</a:t>
            </a:r>
            <a:r>
              <a:rPr lang="ko-KR" altLang="en-US" sz="1600" dirty="0" smtClean="0"/>
              <a:t>(</a:t>
            </a:r>
            <a:r>
              <a:rPr lang="ko-KR" altLang="en-US" sz="1600" dirty="0" err="1" smtClean="0"/>
              <a:t>View</a:t>
            </a:r>
            <a:r>
              <a:rPr lang="ko-KR" altLang="en-US" sz="1600" dirty="0" smtClean="0"/>
              <a:t> </a:t>
            </a:r>
            <a:r>
              <a:rPr lang="ko-KR" altLang="en-US" sz="1600" dirty="0" err="1" smtClean="0"/>
              <a:t>Resolver</a:t>
            </a:r>
            <a:r>
              <a:rPr lang="ko-KR" altLang="en-US" sz="1600" dirty="0" smtClean="0"/>
              <a:t>)'</a:t>
            </a:r>
            <a:r>
              <a:rPr lang="ko-KR" altLang="en-US" sz="1600" dirty="0" err="1" smtClean="0"/>
              <a:t>를</a:t>
            </a:r>
            <a:r>
              <a:rPr lang="ko-KR" altLang="en-US" sz="1600" dirty="0" smtClean="0"/>
              <a:t> 통해 HTML 파일을 찾아 응답으로 반환한다.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8527886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b="1" dirty="0" smtClean="0"/>
              <a:t>스프링 </a:t>
            </a:r>
            <a:r>
              <a:rPr lang="en-US" altLang="ko-KR" b="1" dirty="0"/>
              <a:t>MVC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1030492"/>
            <a:ext cx="4896544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dirty="0" smtClean="0"/>
              <a:t>@</a:t>
            </a:r>
            <a:r>
              <a:rPr lang="en-US" altLang="ko-KR" sz="2000" dirty="0" smtClean="0"/>
              <a:t>Repository</a:t>
            </a:r>
            <a:r>
              <a:rPr lang="ko-KR" altLang="en-US" sz="2000" dirty="0" smtClean="0"/>
              <a:t> 사용</a:t>
            </a:r>
            <a:endParaRPr lang="en-US" altLang="ko-KR" sz="2000" b="1" dirty="0" smtClean="0"/>
          </a:p>
        </p:txBody>
      </p:sp>
      <p:sp>
        <p:nvSpPr>
          <p:cNvPr id="4" name="직사각형 3"/>
          <p:cNvSpPr/>
          <p:nvPr/>
        </p:nvSpPr>
        <p:spPr>
          <a:xfrm>
            <a:off x="1352600" y="1628800"/>
            <a:ext cx="7128792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b="1" dirty="0"/>
              <a:t>@</a:t>
            </a:r>
            <a:r>
              <a:rPr lang="ko-KR" altLang="en-US" sz="1600" b="1" dirty="0" err="1"/>
              <a:t>Repository</a:t>
            </a:r>
            <a:r>
              <a:rPr lang="ko-KR" altLang="en-US" sz="1600" dirty="0" err="1"/>
              <a:t>는</a:t>
            </a:r>
            <a:r>
              <a:rPr lang="ko-KR" altLang="en-US" sz="1600" dirty="0"/>
              <a:t> </a:t>
            </a:r>
            <a:r>
              <a:rPr lang="ko-KR" altLang="en-US" sz="1600" dirty="0" err="1" smtClean="0"/>
              <a:t>Spring</a:t>
            </a:r>
            <a:r>
              <a:rPr lang="ko-KR" altLang="en-US" sz="1600" dirty="0" err="1"/>
              <a:t>에서</a:t>
            </a:r>
            <a:r>
              <a:rPr lang="ko-KR" altLang="en-US" sz="1600" dirty="0"/>
              <a:t> 데이터 접근 계층(DAO, </a:t>
            </a:r>
            <a:r>
              <a:rPr lang="ko-KR" altLang="en-US" sz="1600" dirty="0" err="1"/>
              <a:t>Repository</a:t>
            </a:r>
            <a:r>
              <a:rPr lang="ko-KR" altLang="en-US" sz="1600" dirty="0" smtClean="0"/>
              <a:t>)을 </a:t>
            </a:r>
            <a:r>
              <a:rPr lang="ko-KR" altLang="en-US" sz="1600" dirty="0"/>
              <a:t>나타내는 </a:t>
            </a:r>
            <a:r>
              <a:rPr lang="ko-KR" altLang="en-US" sz="1600" dirty="0" err="1" smtClean="0"/>
              <a:t>어노테이션</a:t>
            </a:r>
            <a:r>
              <a:rPr lang="ko-KR" altLang="en-US" sz="1600" dirty="0"/>
              <a:t>(</a:t>
            </a:r>
            <a:r>
              <a:rPr lang="ko-KR" altLang="en-US" sz="1600" dirty="0" err="1"/>
              <a:t>Annotation</a:t>
            </a:r>
            <a:r>
              <a:rPr lang="ko-KR" altLang="en-US" sz="1600" dirty="0" smtClean="0"/>
              <a:t>)이다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  <a:p>
            <a:pPr>
              <a:lnSpc>
                <a:spcPct val="150000"/>
              </a:lnSpc>
            </a:pPr>
            <a:r>
              <a:rPr lang="ko-KR" altLang="en-US" sz="1600" dirty="0"/>
              <a:t>즉, </a:t>
            </a:r>
            <a:r>
              <a:rPr lang="ko-KR" altLang="en-US" sz="1600" dirty="0" err="1"/>
              <a:t>DB와</a:t>
            </a:r>
            <a:r>
              <a:rPr lang="ko-KR" altLang="en-US" sz="1600" dirty="0"/>
              <a:t> 직접 통신하는 클래스임을 </a:t>
            </a:r>
            <a:r>
              <a:rPr lang="ko-KR" altLang="en-US" sz="1600" dirty="0" err="1"/>
              <a:t>스프링에게</a:t>
            </a:r>
            <a:r>
              <a:rPr lang="ko-KR" altLang="en-US" sz="1600" dirty="0"/>
              <a:t> 알려주는 표시입니다. </a:t>
            </a:r>
          </a:p>
        </p:txBody>
      </p:sp>
      <p:sp>
        <p:nvSpPr>
          <p:cNvPr id="7" name="직사각형 6"/>
          <p:cNvSpPr/>
          <p:nvPr/>
        </p:nvSpPr>
        <p:spPr>
          <a:xfrm>
            <a:off x="1352600" y="3040259"/>
            <a:ext cx="7488832" cy="198515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dirty="0"/>
              <a:t>빈(</a:t>
            </a:r>
            <a:r>
              <a:rPr lang="ko-KR" altLang="en-US" dirty="0" err="1"/>
              <a:t>Bean</a:t>
            </a:r>
            <a:r>
              <a:rPr lang="ko-KR" altLang="en-US" dirty="0"/>
              <a:t>) </a:t>
            </a:r>
            <a:r>
              <a:rPr lang="ko-KR" altLang="en-US" dirty="0" smtClean="0"/>
              <a:t>등록</a:t>
            </a:r>
            <a:endParaRPr lang="ko-KR" altLang="en-US" dirty="0"/>
          </a:p>
          <a:p>
            <a:pPr>
              <a:lnSpc>
                <a:spcPct val="150000"/>
              </a:lnSpc>
            </a:pPr>
            <a:r>
              <a:rPr lang="ko-KR" altLang="en-US" sz="1600" dirty="0"/>
              <a:t>@</a:t>
            </a:r>
            <a:r>
              <a:rPr lang="ko-KR" altLang="en-US" sz="1600" dirty="0" err="1"/>
              <a:t>Repository가</a:t>
            </a:r>
            <a:r>
              <a:rPr lang="ko-KR" altLang="en-US" sz="1600" dirty="0"/>
              <a:t> 붙은 </a:t>
            </a:r>
            <a:r>
              <a:rPr lang="ko-KR" altLang="en-US" sz="1600" dirty="0" smtClean="0"/>
              <a:t>클래스는 </a:t>
            </a:r>
            <a:r>
              <a:rPr lang="ko-KR" altLang="en-US" sz="1600" dirty="0" err="1" smtClean="0"/>
              <a:t>Spring</a:t>
            </a:r>
            <a:r>
              <a:rPr lang="ko-KR" altLang="en-US" sz="1600" dirty="0" err="1"/>
              <a:t>이</a:t>
            </a:r>
            <a:r>
              <a:rPr lang="ko-KR" altLang="en-US" sz="1600" dirty="0"/>
              <a:t> 자동으로 감지해서 스프링 컨테이너에 빈으로 </a:t>
            </a:r>
            <a:r>
              <a:rPr lang="ko-KR" altLang="en-US" sz="1600" dirty="0" smtClean="0"/>
              <a:t>등록한다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  <a:p>
            <a:pPr>
              <a:lnSpc>
                <a:spcPct val="150000"/>
              </a:lnSpc>
            </a:pPr>
            <a:r>
              <a:rPr lang="ko-KR" altLang="en-US" sz="1600" dirty="0"/>
              <a:t>따라서 @</a:t>
            </a:r>
            <a:r>
              <a:rPr lang="ko-KR" altLang="en-US" sz="1600" dirty="0" err="1"/>
              <a:t>Autowired나</a:t>
            </a:r>
            <a:r>
              <a:rPr lang="ko-KR" altLang="en-US" sz="1600" dirty="0"/>
              <a:t> </a:t>
            </a:r>
            <a:r>
              <a:rPr lang="ko-KR" altLang="en-US" sz="1600" dirty="0" err="1"/>
              <a:t>생성자</a:t>
            </a:r>
            <a:r>
              <a:rPr lang="ko-KR" altLang="en-US" sz="1600" dirty="0"/>
              <a:t> 주입을 통해 서비스나 컨트롤러에서 바로 사용할 수 </a:t>
            </a:r>
            <a:r>
              <a:rPr lang="ko-KR" altLang="en-US" sz="1600" dirty="0" smtClean="0"/>
              <a:t>있다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6353942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b="1" dirty="0" smtClean="0"/>
              <a:t>스프링 </a:t>
            </a:r>
            <a:r>
              <a:rPr lang="en-US" altLang="ko-KR" b="1" dirty="0"/>
              <a:t>MVC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1030492"/>
            <a:ext cx="6552728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@</a:t>
            </a:r>
            <a:r>
              <a:rPr lang="en-US" altLang="ko-KR" sz="2000" b="1" dirty="0" err="1" smtClean="0"/>
              <a:t>RequestMapping</a:t>
            </a:r>
            <a:r>
              <a:rPr lang="ko-KR" altLang="en-US" sz="2000" b="1" dirty="0" smtClean="0"/>
              <a:t>을 이용한 요청 매칭 경로 설정</a:t>
            </a:r>
            <a:endParaRPr lang="en-US" altLang="ko-KR" sz="2000" b="1" dirty="0"/>
          </a:p>
        </p:txBody>
      </p:sp>
      <p:sp>
        <p:nvSpPr>
          <p:cNvPr id="2" name="모서리가 둥근 직사각형 1"/>
          <p:cNvSpPr/>
          <p:nvPr/>
        </p:nvSpPr>
        <p:spPr>
          <a:xfrm>
            <a:off x="1208584" y="1844824"/>
            <a:ext cx="7488832" cy="56185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smtClean="0"/>
              <a:t>@</a:t>
            </a:r>
            <a:r>
              <a:rPr lang="en-US" altLang="ko-KR" dirty="0" err="1" smtClean="0"/>
              <a:t>RequestMapping</a:t>
            </a:r>
            <a:r>
              <a:rPr lang="en-US" altLang="ko-KR" dirty="0" smtClean="0"/>
              <a:t>(value=“URL”, method=</a:t>
            </a:r>
            <a:r>
              <a:rPr lang="en-US" altLang="ko-KR" dirty="0" err="1" smtClean="0"/>
              <a:t>RequestMethod.HTTP</a:t>
            </a:r>
            <a:r>
              <a:rPr lang="en-US" altLang="ko-KR" dirty="0" smtClean="0"/>
              <a:t> </a:t>
            </a:r>
            <a:r>
              <a:rPr lang="ko-KR" altLang="en-US" dirty="0" smtClean="0"/>
              <a:t>요청</a:t>
            </a:r>
            <a:r>
              <a:rPr lang="en-US" altLang="ko-KR" dirty="0" smtClean="0"/>
              <a:t>)</a:t>
            </a: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2640" y="3933056"/>
            <a:ext cx="3672408" cy="1495873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모서리가 둥근 직사각형 5"/>
          <p:cNvSpPr/>
          <p:nvPr/>
        </p:nvSpPr>
        <p:spPr>
          <a:xfrm>
            <a:off x="1208584" y="2924944"/>
            <a:ext cx="3600400" cy="561856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dirty="0" smtClean="0"/>
              <a:t>@</a:t>
            </a:r>
            <a:r>
              <a:rPr lang="en-US" altLang="ko-KR" dirty="0" err="1" smtClean="0"/>
              <a:t>RequestMapping</a:t>
            </a:r>
            <a:r>
              <a:rPr lang="en-US" altLang="ko-KR" dirty="0" smtClean="0"/>
              <a:t>(“URL”)</a:t>
            </a:r>
          </a:p>
        </p:txBody>
      </p:sp>
      <p:sp>
        <p:nvSpPr>
          <p:cNvPr id="4" name="아래쪽 화살표 3"/>
          <p:cNvSpPr/>
          <p:nvPr/>
        </p:nvSpPr>
        <p:spPr>
          <a:xfrm>
            <a:off x="2765113" y="2478688"/>
            <a:ext cx="171663" cy="374248"/>
          </a:xfrm>
          <a:prstGeom prst="downArrow">
            <a:avLst/>
          </a:prstGeom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4953000" y="3021206"/>
            <a:ext cx="1224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(</a:t>
            </a:r>
            <a:r>
              <a:rPr lang="ko-KR" altLang="en-US" dirty="0" err="1" smtClean="0"/>
              <a:t>단축형</a:t>
            </a:r>
            <a:r>
              <a:rPr lang="en-US" altLang="ko-KR" dirty="0" smtClean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6478204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b="1" dirty="0" smtClean="0"/>
              <a:t>스프링 </a:t>
            </a:r>
            <a:r>
              <a:rPr lang="en-US" altLang="ko-KR" b="1" dirty="0"/>
              <a:t>MVC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1030492"/>
            <a:ext cx="6552728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@</a:t>
            </a:r>
            <a:r>
              <a:rPr lang="en-US" altLang="ko-KR" sz="2000" b="1" dirty="0" err="1" smtClean="0"/>
              <a:t>RequestMapping</a:t>
            </a:r>
            <a:r>
              <a:rPr lang="ko-KR" altLang="en-US" sz="2000" b="1" dirty="0" smtClean="0"/>
              <a:t>을 이용한 요청 매칭 경로 설정</a:t>
            </a:r>
            <a:endParaRPr lang="en-US" altLang="ko-KR" sz="20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1700808"/>
            <a:ext cx="7128792" cy="2203577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4608" y="4132392"/>
            <a:ext cx="5040560" cy="1860499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6" name="TextBox 5"/>
          <p:cNvSpPr txBox="1"/>
          <p:nvPr/>
        </p:nvSpPr>
        <p:spPr>
          <a:xfrm>
            <a:off x="6609184" y="4666155"/>
            <a:ext cx="223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pages/view01.html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4809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b="1" dirty="0" smtClean="0"/>
              <a:t>스프링 </a:t>
            </a:r>
            <a:r>
              <a:rPr lang="en-US" altLang="ko-KR" b="1" dirty="0"/>
              <a:t>MVC 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1030492"/>
            <a:ext cx="6552728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@</a:t>
            </a:r>
            <a:r>
              <a:rPr lang="en-US" altLang="ko-KR" sz="2000" b="1" dirty="0" err="1" smtClean="0"/>
              <a:t>RestController</a:t>
            </a:r>
            <a:r>
              <a:rPr lang="ko-KR" altLang="en-US" sz="2000" b="1" dirty="0" smtClean="0"/>
              <a:t>를 이용한 컨트롤러 정의</a:t>
            </a:r>
            <a:endParaRPr lang="en-US" altLang="ko-KR" sz="2000" b="1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4608" y="3573016"/>
            <a:ext cx="4536504" cy="1092285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8" name="직사각형 7"/>
          <p:cNvSpPr/>
          <p:nvPr/>
        </p:nvSpPr>
        <p:spPr>
          <a:xfrm>
            <a:off x="1280592" y="1628800"/>
            <a:ext cx="734481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/>
              <a:t>@</a:t>
            </a:r>
            <a:r>
              <a:rPr lang="ko-KR" altLang="en-US" sz="1600" dirty="0" err="1"/>
              <a:t>RestController는</a:t>
            </a:r>
            <a:r>
              <a:rPr lang="ko-KR" altLang="en-US" sz="1600" dirty="0"/>
              <a:t> </a:t>
            </a:r>
            <a:r>
              <a:rPr lang="ko-KR" altLang="en-US" sz="1600" dirty="0" err="1"/>
              <a:t>Spring</a:t>
            </a:r>
            <a:r>
              <a:rPr lang="ko-KR" altLang="en-US" sz="1600" dirty="0"/>
              <a:t> </a:t>
            </a:r>
            <a:r>
              <a:rPr lang="ko-KR" altLang="en-US" sz="1600" dirty="0" err="1"/>
              <a:t>MVC에서</a:t>
            </a:r>
            <a:r>
              <a:rPr lang="ko-KR" altLang="en-US" sz="1600" dirty="0"/>
              <a:t> </a:t>
            </a:r>
            <a:r>
              <a:rPr lang="ko-KR" altLang="en-US" sz="1600" dirty="0" err="1" smtClean="0"/>
              <a:t>RESTful</a:t>
            </a:r>
            <a:r>
              <a:rPr lang="ko-KR" altLang="en-US" sz="1600" dirty="0" smtClean="0"/>
              <a:t> </a:t>
            </a:r>
            <a:r>
              <a:rPr lang="ko-KR" altLang="en-US" sz="1600" dirty="0"/>
              <a:t>웹 서비스(API</a:t>
            </a:r>
            <a:r>
              <a:rPr lang="ko-KR" altLang="en-US" sz="1600" dirty="0" smtClean="0"/>
              <a:t>)</a:t>
            </a:r>
            <a:r>
              <a:rPr lang="ko-KR" altLang="en-US" sz="1600" dirty="0" err="1" smtClean="0"/>
              <a:t>를</a:t>
            </a:r>
            <a:r>
              <a:rPr lang="ko-KR" altLang="en-US" sz="1600" dirty="0" smtClean="0"/>
              <a:t> </a:t>
            </a:r>
            <a:r>
              <a:rPr lang="ko-KR" altLang="en-US" sz="1600" dirty="0"/>
              <a:t>만들 때 사용하는 핵심 </a:t>
            </a:r>
            <a:r>
              <a:rPr lang="ko-KR" altLang="en-US" sz="1600" dirty="0" err="1" smtClean="0"/>
              <a:t>어노테이션이다</a:t>
            </a:r>
            <a:r>
              <a:rPr lang="ko-KR" altLang="en-US" sz="1600" dirty="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웹 화면(HTML)을 반환하는 @</a:t>
            </a:r>
            <a:r>
              <a:rPr lang="ko-KR" altLang="en-US" sz="1600" dirty="0" err="1"/>
              <a:t>Controller</a:t>
            </a:r>
            <a:r>
              <a:rPr lang="ko-KR" altLang="en-US" sz="1600" dirty="0"/>
              <a:t> + </a:t>
            </a:r>
            <a:r>
              <a:rPr lang="ko-KR" altLang="en-US" sz="1600" dirty="0" err="1"/>
              <a:t>Thymeleaf와는</a:t>
            </a:r>
            <a:r>
              <a:rPr lang="ko-KR" altLang="en-US" sz="1600" dirty="0"/>
              <a:t> 달리,</a:t>
            </a:r>
          </a:p>
          <a:p>
            <a:pPr>
              <a:lnSpc>
                <a:spcPct val="150000"/>
              </a:lnSpc>
            </a:pPr>
            <a:r>
              <a:rPr lang="ko-KR" altLang="en-US" sz="1600" dirty="0"/>
              <a:t>@</a:t>
            </a:r>
            <a:r>
              <a:rPr lang="ko-KR" altLang="en-US" sz="1600" dirty="0" err="1"/>
              <a:t>RestController는</a:t>
            </a:r>
            <a:r>
              <a:rPr lang="ko-KR" altLang="en-US" sz="1600" dirty="0"/>
              <a:t> </a:t>
            </a:r>
            <a:r>
              <a:rPr lang="ko-KR" altLang="en-US" sz="1600" dirty="0" smtClean="0"/>
              <a:t>데이터</a:t>
            </a:r>
            <a:r>
              <a:rPr lang="ko-KR" altLang="en-US" sz="1600" dirty="0"/>
              <a:t>(JSON/XML</a:t>
            </a:r>
            <a:r>
              <a:rPr lang="ko-KR" altLang="en-US" sz="1600" dirty="0" smtClean="0"/>
              <a:t>)</a:t>
            </a:r>
            <a:r>
              <a:rPr lang="ko-KR" altLang="en-US" sz="1600" dirty="0" err="1" smtClean="0"/>
              <a:t>를</a:t>
            </a:r>
            <a:r>
              <a:rPr lang="ko-KR" altLang="en-US" sz="1600" dirty="0" smtClean="0"/>
              <a:t> </a:t>
            </a:r>
            <a:r>
              <a:rPr lang="ko-KR" altLang="en-US" sz="1600" dirty="0"/>
              <a:t>직접 반환하는 </a:t>
            </a:r>
            <a:r>
              <a:rPr lang="ko-KR" altLang="en-US" sz="1600" dirty="0" smtClean="0"/>
              <a:t>컨트롤러이다</a:t>
            </a:r>
            <a:r>
              <a:rPr lang="en-US" altLang="ko-KR" sz="1600" dirty="0" smtClean="0"/>
              <a:t>.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8232234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b="1" dirty="0" smtClean="0"/>
              <a:t>스프링 </a:t>
            </a:r>
            <a:r>
              <a:rPr lang="en-US" altLang="ko-KR" b="1" dirty="0"/>
              <a:t>MVC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1030492"/>
            <a:ext cx="6552728" cy="4944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@</a:t>
            </a:r>
            <a:r>
              <a:rPr lang="en-US" altLang="ko-KR" sz="2000" b="1" dirty="0" err="1" smtClean="0"/>
              <a:t>RestController</a:t>
            </a:r>
            <a:r>
              <a:rPr lang="ko-KR" altLang="en-US" sz="2000" b="1" dirty="0" smtClean="0"/>
              <a:t>를 이용한 컨트롤러 정의</a:t>
            </a:r>
            <a:endParaRPr lang="en-US" altLang="ko-KR" sz="2000" b="1" dirty="0"/>
          </a:p>
        </p:txBody>
      </p:sp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16" y="1727894"/>
            <a:ext cx="6773253" cy="252028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6295822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제목 5"/>
          <p:cNvSpPr txBox="1">
            <a:spLocks/>
          </p:cNvSpPr>
          <p:nvPr/>
        </p:nvSpPr>
        <p:spPr>
          <a:xfrm>
            <a:off x="0" y="-27384"/>
            <a:ext cx="7995338" cy="854968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sz="3200" kern="120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  <a:cs typeface="+mj-cs"/>
              </a:defRPr>
            </a:lvl1pPr>
          </a:lstStyle>
          <a:p>
            <a:r>
              <a:rPr lang="en-US" altLang="ko-KR" dirty="0" smtClean="0"/>
              <a:t>  </a:t>
            </a:r>
            <a:r>
              <a:rPr lang="ko-KR" altLang="en-US" b="1" dirty="0" smtClean="0"/>
              <a:t>스프링 </a:t>
            </a:r>
            <a:r>
              <a:rPr lang="en-US" altLang="ko-KR" b="1" dirty="0"/>
              <a:t>MVC</a:t>
            </a:r>
            <a:endParaRPr lang="ko-KR" alt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20552" y="1030492"/>
            <a:ext cx="655272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1" dirty="0" smtClean="0"/>
              <a:t>@</a:t>
            </a:r>
            <a:r>
              <a:rPr lang="en-US" altLang="ko-KR" sz="2000" b="1" dirty="0" err="1" smtClean="0"/>
              <a:t>GetMapping</a:t>
            </a:r>
            <a:r>
              <a:rPr lang="ko-KR" altLang="en-US" sz="2000" b="1" dirty="0" smtClean="0"/>
              <a:t>를 이용한 컨트롤러 정의</a:t>
            </a:r>
            <a:endParaRPr lang="en-US" altLang="ko-KR" sz="2000" b="1" dirty="0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84648" y="1787398"/>
            <a:ext cx="3168352" cy="1454326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4648" y="3573016"/>
            <a:ext cx="5721679" cy="2163660"/>
          </a:xfrm>
          <a:prstGeom prst="rect">
            <a:avLst/>
          </a:prstGeom>
          <a:ln>
            <a:solidFill>
              <a:schemeClr val="bg1">
                <a:lumMod val="85000"/>
              </a:schemeClr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7113240" y="3960590"/>
            <a:ext cx="22322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pages/view02.html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11268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 w="12700"/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13181</TotalTime>
  <Words>843</Words>
  <Application>Microsoft Office PowerPoint</Application>
  <PresentationFormat>A4 용지(210x297mm)</PresentationFormat>
  <Paragraphs>140</Paragraphs>
  <Slides>32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32</vt:i4>
      </vt:variant>
    </vt:vector>
  </HeadingPairs>
  <TitlesOfParts>
    <vt:vector size="39" baseType="lpstr">
      <vt:lpstr>HY헤드라인M</vt:lpstr>
      <vt:lpstr>맑은 고딕</vt:lpstr>
      <vt:lpstr>휴먼모음T</vt:lpstr>
      <vt:lpstr>휴먼엑스포</vt:lpstr>
      <vt:lpstr>Arial</vt:lpstr>
      <vt:lpstr>Wingdings</vt:lpstr>
      <vt:lpstr>Office 테마</vt:lpstr>
      <vt:lpstr>1장. 스프링부트(SpringBoot) 개발 환경</vt:lpstr>
      <vt:lpstr>PowerPoint 프레젠테이션</vt:lpstr>
      <vt:lpstr>PowerPoint 프레젠테이션</vt:lpstr>
      <vt:lpstr>PowerPoint 프레젠테이션</vt:lpstr>
      <vt:lpstr>PowerPoint 프레젠테이션</vt:lpstr>
      <vt:lpstr>  STS4(Spring Tool Suite)</vt:lpstr>
      <vt:lpstr>  STS4(Spring Tool Suite)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LG</cp:lastModifiedBy>
  <cp:revision>813</cp:revision>
  <dcterms:created xsi:type="dcterms:W3CDTF">2019-03-04T02:36:55Z</dcterms:created>
  <dcterms:modified xsi:type="dcterms:W3CDTF">2025-10-21T21:39:12Z</dcterms:modified>
</cp:coreProperties>
</file>