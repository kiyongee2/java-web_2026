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906000" cy="6858000" type="A4"/>
  <p:notesSz cx="9906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9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휴먼엑스포"/>
                <a:cs typeface="휴먼엑스포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휴먼엑스포"/>
                <a:cs typeface="휴먼엑스포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휴먼엑스포"/>
                <a:cs typeface="휴먼엑스포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25348"/>
            <a:ext cx="9906000" cy="332740"/>
          </a:xfrm>
          <a:custGeom>
            <a:avLst/>
            <a:gdLst/>
            <a:ahLst/>
            <a:cxnLst/>
            <a:rect l="l" t="t" r="r" b="b"/>
            <a:pathLst>
              <a:path w="9906000" h="332740">
                <a:moveTo>
                  <a:pt x="9905941" y="332649"/>
                </a:moveTo>
                <a:lnTo>
                  <a:pt x="9905941" y="0"/>
                </a:lnTo>
                <a:lnTo>
                  <a:pt x="0" y="0"/>
                </a:lnTo>
                <a:lnTo>
                  <a:pt x="0" y="332649"/>
                </a:lnTo>
                <a:lnTo>
                  <a:pt x="9905941" y="332649"/>
                </a:lnTo>
                <a:close/>
              </a:path>
            </a:pathLst>
          </a:custGeom>
          <a:solidFill>
            <a:srgbClr val="1737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525348"/>
            <a:ext cx="9906000" cy="332740"/>
          </a:xfrm>
          <a:custGeom>
            <a:avLst/>
            <a:gdLst/>
            <a:ahLst/>
            <a:cxnLst/>
            <a:rect l="l" t="t" r="r" b="b"/>
            <a:pathLst>
              <a:path w="9906000" h="332740">
                <a:moveTo>
                  <a:pt x="9905941" y="332649"/>
                </a:moveTo>
                <a:lnTo>
                  <a:pt x="9905941" y="0"/>
                </a:lnTo>
                <a:lnTo>
                  <a:pt x="0" y="0"/>
                </a:lnTo>
              </a:path>
            </a:pathLst>
          </a:custGeom>
          <a:ln w="126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906000" cy="836930"/>
          </a:xfrm>
          <a:custGeom>
            <a:avLst/>
            <a:gdLst/>
            <a:ahLst/>
            <a:cxnLst/>
            <a:rect l="l" t="t" r="r" b="b"/>
            <a:pathLst>
              <a:path w="9906000" h="836930">
                <a:moveTo>
                  <a:pt x="9906000" y="0"/>
                </a:moveTo>
                <a:lnTo>
                  <a:pt x="0" y="0"/>
                </a:lnTo>
                <a:lnTo>
                  <a:pt x="0" y="836714"/>
                </a:lnTo>
                <a:lnTo>
                  <a:pt x="9906000" y="836714"/>
                </a:lnTo>
                <a:lnTo>
                  <a:pt x="9906000" y="0"/>
                </a:lnTo>
                <a:close/>
              </a:path>
            </a:pathLst>
          </a:custGeom>
          <a:solidFill>
            <a:srgbClr val="30859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8930" y="6412106"/>
            <a:ext cx="381584" cy="3528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484" y="155829"/>
            <a:ext cx="9273031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휴먼엑스포"/>
                <a:cs typeface="휴먼엑스포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0736" y="3384683"/>
            <a:ext cx="7764526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맑은 고딕"/>
                <a:cs typeface="맑은 고딕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177285"/>
            <a:ext cx="2145030" cy="3681095"/>
          </a:xfrm>
          <a:custGeom>
            <a:avLst/>
            <a:gdLst/>
            <a:ahLst/>
            <a:cxnLst/>
            <a:rect l="l" t="t" r="r" b="b"/>
            <a:pathLst>
              <a:path w="2145030" h="3681095">
                <a:moveTo>
                  <a:pt x="0" y="3680713"/>
                </a:moveTo>
                <a:lnTo>
                  <a:pt x="2144649" y="3680713"/>
                </a:lnTo>
                <a:lnTo>
                  <a:pt x="2144649" y="0"/>
                </a:lnTo>
                <a:lnTo>
                  <a:pt x="0" y="0"/>
                </a:lnTo>
                <a:lnTo>
                  <a:pt x="0" y="3680713"/>
                </a:lnTo>
                <a:close/>
              </a:path>
            </a:pathLst>
          </a:custGeom>
          <a:solidFill>
            <a:srgbClr val="30859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145030" cy="3177540"/>
            <a:chOff x="0" y="0"/>
            <a:chExt cx="2145030" cy="31775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2145030" cy="2691130"/>
            </a:xfrm>
            <a:custGeom>
              <a:avLst/>
              <a:gdLst/>
              <a:ahLst/>
              <a:cxnLst/>
              <a:rect l="l" t="t" r="r" b="b"/>
              <a:pathLst>
                <a:path w="2145030" h="2691130">
                  <a:moveTo>
                    <a:pt x="0" y="2691104"/>
                  </a:moveTo>
                  <a:lnTo>
                    <a:pt x="2144649" y="2691104"/>
                  </a:lnTo>
                  <a:lnTo>
                    <a:pt x="2144649" y="0"/>
                  </a:lnTo>
                  <a:lnTo>
                    <a:pt x="0" y="0"/>
                  </a:lnTo>
                  <a:lnTo>
                    <a:pt x="0" y="2691104"/>
                  </a:lnTo>
                  <a:close/>
                </a:path>
              </a:pathLst>
            </a:custGeom>
            <a:solidFill>
              <a:srgbClr val="3085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691104"/>
              <a:ext cx="2145030" cy="486409"/>
            </a:xfrm>
            <a:custGeom>
              <a:avLst/>
              <a:gdLst/>
              <a:ahLst/>
              <a:cxnLst/>
              <a:rect l="l" t="t" r="r" b="b"/>
              <a:pathLst>
                <a:path w="2145030" h="486410">
                  <a:moveTo>
                    <a:pt x="2144649" y="0"/>
                  </a:moveTo>
                  <a:lnTo>
                    <a:pt x="0" y="0"/>
                  </a:lnTo>
                  <a:lnTo>
                    <a:pt x="0" y="486181"/>
                  </a:lnTo>
                  <a:lnTo>
                    <a:pt x="2144649" y="486181"/>
                  </a:lnTo>
                  <a:lnTo>
                    <a:pt x="2144649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4615" y="2691002"/>
              <a:ext cx="741680" cy="432434"/>
            </a:xfrm>
            <a:custGeom>
              <a:avLst/>
              <a:gdLst/>
              <a:ahLst/>
              <a:cxnLst/>
              <a:rect l="l" t="t" r="r" b="b"/>
              <a:pathLst>
                <a:path w="741680" h="432435">
                  <a:moveTo>
                    <a:pt x="370713" y="216027"/>
                  </a:moveTo>
                  <a:lnTo>
                    <a:pt x="0" y="0"/>
                  </a:lnTo>
                  <a:lnTo>
                    <a:pt x="0" y="432054"/>
                  </a:lnTo>
                  <a:lnTo>
                    <a:pt x="370713" y="216027"/>
                  </a:lnTo>
                  <a:close/>
                </a:path>
                <a:path w="741680" h="432435">
                  <a:moveTo>
                    <a:pt x="741299" y="216027"/>
                  </a:moveTo>
                  <a:lnTo>
                    <a:pt x="370713" y="0"/>
                  </a:lnTo>
                  <a:lnTo>
                    <a:pt x="370713" y="216027"/>
                  </a:lnTo>
                  <a:lnTo>
                    <a:pt x="370713" y="432054"/>
                  </a:lnTo>
                  <a:lnTo>
                    <a:pt x="741299" y="216027"/>
                  </a:lnTo>
                  <a:close/>
                </a:path>
              </a:pathLst>
            </a:custGeom>
            <a:solidFill>
              <a:srgbClr val="3085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02000" y="1774647"/>
            <a:ext cx="585139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5" dirty="0" smtClean="0">
                <a:solidFill>
                  <a:srgbClr val="000000"/>
                </a:solidFill>
              </a:rPr>
              <a:t>7</a:t>
            </a:r>
            <a:r>
              <a:rPr spc="5" dirty="0" smtClean="0">
                <a:solidFill>
                  <a:srgbClr val="000000"/>
                </a:solidFill>
              </a:rPr>
              <a:t>장</a:t>
            </a:r>
            <a:r>
              <a:rPr spc="5" dirty="0">
                <a:solidFill>
                  <a:srgbClr val="000000"/>
                </a:solidFill>
              </a:rPr>
              <a:t>.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dirty="0" err="1">
                <a:solidFill>
                  <a:srgbClr val="000000"/>
                </a:solidFill>
              </a:rPr>
              <a:t>Thymeleaf</a:t>
            </a:r>
            <a:r>
              <a:rPr spc="-60" dirty="0">
                <a:solidFill>
                  <a:srgbClr val="000000"/>
                </a:solidFill>
              </a:rPr>
              <a:t> </a:t>
            </a:r>
            <a:r>
              <a:rPr spc="15" dirty="0" smtClean="0">
                <a:solidFill>
                  <a:srgbClr val="000000"/>
                </a:solidFill>
              </a:rPr>
              <a:t>페</a:t>
            </a:r>
            <a:r>
              <a:rPr lang="ko-KR" altLang="en-US" spc="15" dirty="0">
                <a:solidFill>
                  <a:srgbClr val="000000"/>
                </a:solidFill>
              </a:rPr>
              <a:t>이</a:t>
            </a:r>
            <a:r>
              <a:rPr spc="15" dirty="0" smtClean="0">
                <a:solidFill>
                  <a:srgbClr val="000000"/>
                </a:solidFill>
              </a:rPr>
              <a:t>지</a:t>
            </a:r>
            <a:r>
              <a:rPr spc="-70" dirty="0" smtClean="0">
                <a:solidFill>
                  <a:srgbClr val="000000"/>
                </a:solidFill>
              </a:rPr>
              <a:t> </a:t>
            </a:r>
            <a:r>
              <a:rPr spc="5" dirty="0" smtClean="0">
                <a:solidFill>
                  <a:srgbClr val="000000"/>
                </a:solidFill>
              </a:rPr>
              <a:t>레</a:t>
            </a:r>
            <a:r>
              <a:rPr lang="ko-KR" altLang="en-US" spc="5" dirty="0" smtClean="0">
                <a:solidFill>
                  <a:srgbClr val="000000"/>
                </a:solidFill>
              </a:rPr>
              <a:t>이</a:t>
            </a:r>
            <a:r>
              <a:rPr spc="10" dirty="0" err="1" smtClean="0">
                <a:solidFill>
                  <a:srgbClr val="000000"/>
                </a:solidFill>
              </a:rPr>
              <a:t>아웃</a:t>
            </a:r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222754" y="2670822"/>
            <a:ext cx="7683500" cy="504190"/>
          </a:xfrm>
          <a:custGeom>
            <a:avLst/>
            <a:gdLst/>
            <a:ahLst/>
            <a:cxnLst/>
            <a:rect l="l" t="t" r="r" b="b"/>
            <a:pathLst>
              <a:path w="7683500" h="504189">
                <a:moveTo>
                  <a:pt x="7683246" y="0"/>
                </a:moveTo>
                <a:lnTo>
                  <a:pt x="0" y="0"/>
                </a:lnTo>
                <a:lnTo>
                  <a:pt x="0" y="504050"/>
                </a:lnTo>
                <a:lnTo>
                  <a:pt x="7683246" y="504050"/>
                </a:lnTo>
                <a:lnTo>
                  <a:pt x="7683246" y="0"/>
                </a:lnTo>
                <a:close/>
              </a:path>
            </a:pathLst>
          </a:custGeom>
          <a:solidFill>
            <a:srgbClr val="B7DE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302001" y="2762844"/>
            <a:ext cx="918844" cy="2819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50" i="1" spc="-35" dirty="0">
                <a:latin typeface="휴먼모음T"/>
                <a:cs typeface="휴먼모음T"/>
              </a:rPr>
              <a:t>Thymeleaf</a:t>
            </a:r>
            <a:endParaRPr sz="1650">
              <a:latin typeface="휴먼모음T"/>
              <a:cs typeface="휴먼모음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3260" y="4754128"/>
            <a:ext cx="3188218" cy="801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8261350" cy="2981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Thymeleaf</a:t>
            </a:r>
            <a:endParaRPr sz="1800">
              <a:latin typeface="맑은 고딕"/>
              <a:cs typeface="맑은 고딕"/>
            </a:endParaRPr>
          </a:p>
          <a:p>
            <a:pPr marL="300990" marR="575310">
              <a:lnSpc>
                <a:spcPct val="150000"/>
              </a:lnSpc>
              <a:spcBef>
                <a:spcPts val="955"/>
              </a:spcBef>
            </a:pPr>
            <a:r>
              <a:rPr sz="1600" spc="-5" dirty="0">
                <a:latin typeface="맑은 고딕"/>
                <a:cs typeface="맑은 고딕"/>
              </a:rPr>
              <a:t>Thymeleaf는</a:t>
            </a:r>
            <a:r>
              <a:rPr sz="1600" spc="4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웹뿐만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아니라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다른 환경을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위한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최신의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서버-사이드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자바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30" dirty="0">
                <a:latin typeface="맑은 고딕"/>
                <a:cs typeface="맑은 고딕"/>
              </a:rPr>
              <a:t>Template </a:t>
            </a:r>
            <a:r>
              <a:rPr sz="1600" spc="-54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Engine(템플릿</a:t>
            </a:r>
            <a:r>
              <a:rPr sz="1600" spc="2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엔진)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또는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view 엔진이며,</a:t>
            </a:r>
            <a:endParaRPr sz="1600">
              <a:latin typeface="맑은 고딕"/>
              <a:cs typeface="맑은 고딕"/>
            </a:endParaRPr>
          </a:p>
          <a:p>
            <a:pPr marL="30099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맑은 고딕"/>
                <a:cs typeface="맑은 고딕"/>
              </a:rPr>
              <a:t>HTML, CSS,</a:t>
            </a:r>
            <a:r>
              <a:rPr sz="1600" spc="15" dirty="0">
                <a:latin typeface="맑은 고딕"/>
                <a:cs typeface="맑은 고딕"/>
              </a:rPr>
              <a:t> </a:t>
            </a:r>
            <a:r>
              <a:rPr sz="1600" spc="-10" dirty="0">
                <a:latin typeface="맑은 고딕"/>
                <a:cs typeface="맑은 고딕"/>
              </a:rPr>
              <a:t>XML,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JS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및</a:t>
            </a:r>
            <a:r>
              <a:rPr sz="1600" dirty="0">
                <a:latin typeface="맑은 고딕"/>
                <a:cs typeface="맑은 고딕"/>
              </a:rPr>
              <a:t> TEXT까지</a:t>
            </a:r>
            <a:r>
              <a:rPr sz="1600" spc="-5" dirty="0">
                <a:latin typeface="맑은 고딕"/>
                <a:cs typeface="맑은 고딕"/>
              </a:rPr>
              <a:t> 수용(이는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다른</a:t>
            </a:r>
            <a:r>
              <a:rPr sz="160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템플릿</a:t>
            </a:r>
            <a:r>
              <a:rPr sz="1600" spc="1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엔진과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동일)한다.</a:t>
            </a:r>
            <a:endParaRPr sz="1600">
              <a:latin typeface="맑은 고딕"/>
              <a:cs typeface="맑은 고딕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550">
              <a:latin typeface="맑은 고딕"/>
              <a:cs typeface="맑은 고딕"/>
            </a:endParaRPr>
          </a:p>
          <a:p>
            <a:pPr marL="300990" marR="5080" algn="just">
              <a:lnSpc>
                <a:spcPct val="150100"/>
              </a:lnSpc>
            </a:pPr>
            <a:r>
              <a:rPr sz="1600" spc="-5" dirty="0">
                <a:latin typeface="맑은 고딕"/>
                <a:cs typeface="맑은 고딕"/>
              </a:rPr>
              <a:t>타임리프의 주 목표는 유지관리가 쉬운 템플릿 생성 방법을 제공하는 것이며, 실제로 템 </a:t>
            </a:r>
            <a:r>
              <a:rPr sz="1600" spc="-55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플릿에 영향을 주지 </a:t>
            </a:r>
            <a:r>
              <a:rPr sz="1600" spc="-10" dirty="0">
                <a:latin typeface="맑은 고딕"/>
                <a:cs typeface="맑은 고딕"/>
              </a:rPr>
              <a:t>않는(</a:t>
            </a:r>
            <a:r>
              <a:rPr sz="1600" b="1" spc="-10" dirty="0">
                <a:solidFill>
                  <a:srgbClr val="C00000"/>
                </a:solidFill>
                <a:latin typeface="맑은 고딕"/>
                <a:cs typeface="맑은 고딕"/>
              </a:rPr>
              <a:t>HTML의 </a:t>
            </a:r>
            <a:r>
              <a:rPr sz="1600" b="1" spc="-5" dirty="0">
                <a:solidFill>
                  <a:srgbClr val="C00000"/>
                </a:solidFill>
                <a:latin typeface="맑은 고딕"/>
                <a:cs typeface="맑은 고딕"/>
              </a:rPr>
              <a:t>구조를 깨지 않는, 기존 </a:t>
            </a:r>
            <a:r>
              <a:rPr sz="1600" b="1" spc="-10" dirty="0">
                <a:solidFill>
                  <a:srgbClr val="C00000"/>
                </a:solidFill>
                <a:latin typeface="맑은 고딕"/>
                <a:cs typeface="맑은 고딕"/>
              </a:rPr>
              <a:t>HTML </a:t>
            </a:r>
            <a:r>
              <a:rPr sz="1600" b="1" spc="-5" dirty="0">
                <a:solidFill>
                  <a:srgbClr val="C00000"/>
                </a:solidFill>
                <a:latin typeface="맑은 고딕"/>
                <a:cs typeface="맑은 고딕"/>
              </a:rPr>
              <a:t>코드를 변경하지 않고 </a:t>
            </a:r>
            <a:r>
              <a:rPr sz="1600" b="1" spc="-55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맑은 고딕"/>
                <a:cs typeface="맑은 고딕"/>
              </a:rPr>
              <a:t>덧붙이는</a:t>
            </a:r>
            <a:r>
              <a:rPr sz="1600" b="1" spc="5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맑은 고딕"/>
                <a:cs typeface="맑은 고딕"/>
              </a:rPr>
              <a:t>코드</a:t>
            </a:r>
            <a:r>
              <a:rPr sz="1600" spc="-5" dirty="0">
                <a:latin typeface="맑은 고딕"/>
                <a:cs typeface="맑은 고딕"/>
              </a:rPr>
              <a:t>)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방식을</a:t>
            </a:r>
            <a:r>
              <a:rPr sz="1600" spc="1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사용한다.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91169" y="1525092"/>
            <a:ext cx="5347970" cy="4672965"/>
            <a:chOff x="1991169" y="1525092"/>
            <a:chExt cx="5347970" cy="46729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0631" y="1534617"/>
              <a:ext cx="4795685" cy="465366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95932" y="1529854"/>
              <a:ext cx="5338445" cy="4663440"/>
            </a:xfrm>
            <a:custGeom>
              <a:avLst/>
              <a:gdLst/>
              <a:ahLst/>
              <a:cxnLst/>
              <a:rect l="l" t="t" r="r" b="b"/>
              <a:pathLst>
                <a:path w="5338445" h="4663440">
                  <a:moveTo>
                    <a:pt x="0" y="4663186"/>
                  </a:moveTo>
                  <a:lnTo>
                    <a:pt x="5338064" y="4663186"/>
                  </a:lnTo>
                  <a:lnTo>
                    <a:pt x="5338064" y="0"/>
                  </a:lnTo>
                  <a:lnTo>
                    <a:pt x="0" y="0"/>
                  </a:lnTo>
                  <a:lnTo>
                    <a:pt x="0" y="4663186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27303" y="1130553"/>
            <a:ext cx="176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컨트롤러</a:t>
            </a:r>
            <a:r>
              <a:rPr sz="1800" b="1" spc="-90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작성</a:t>
            </a:r>
            <a:endParaRPr sz="18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76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컨트롤러</a:t>
            </a:r>
            <a:r>
              <a:rPr sz="1800" b="1" spc="-90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작성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31124" y="1619250"/>
            <a:ext cx="6298565" cy="4065904"/>
            <a:chOff x="1631124" y="1619250"/>
            <a:chExt cx="6298565" cy="40659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6342" y="1674499"/>
              <a:ext cx="5585911" cy="39246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35886" y="1624012"/>
              <a:ext cx="6289040" cy="4056379"/>
            </a:xfrm>
            <a:custGeom>
              <a:avLst/>
              <a:gdLst/>
              <a:ahLst/>
              <a:cxnLst/>
              <a:rect l="l" t="t" r="r" b="b"/>
              <a:pathLst>
                <a:path w="6289040" h="4056379">
                  <a:moveTo>
                    <a:pt x="0" y="4056126"/>
                  </a:moveTo>
                  <a:lnTo>
                    <a:pt x="6288913" y="4056126"/>
                  </a:lnTo>
                  <a:lnTo>
                    <a:pt x="6288913" y="0"/>
                  </a:lnTo>
                  <a:lnTo>
                    <a:pt x="0" y="0"/>
                  </a:lnTo>
                  <a:lnTo>
                    <a:pt x="0" y="4056126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765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컨트롤러</a:t>
            </a:r>
            <a:r>
              <a:rPr sz="1800" b="1" spc="-90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작성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31785" y="1691195"/>
            <a:ext cx="5658485" cy="2221865"/>
            <a:chOff x="1331785" y="1691195"/>
            <a:chExt cx="5658485" cy="2221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0833" y="1845580"/>
              <a:ext cx="2537688" cy="19433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36547" y="1695957"/>
              <a:ext cx="5648960" cy="2212340"/>
            </a:xfrm>
            <a:custGeom>
              <a:avLst/>
              <a:gdLst/>
              <a:ahLst/>
              <a:cxnLst/>
              <a:rect l="l" t="t" r="r" b="b"/>
              <a:pathLst>
                <a:path w="5648959" h="2212340">
                  <a:moveTo>
                    <a:pt x="0" y="2211959"/>
                  </a:moveTo>
                  <a:lnTo>
                    <a:pt x="5648833" y="2211959"/>
                  </a:lnTo>
                  <a:lnTo>
                    <a:pt x="5648833" y="0"/>
                  </a:lnTo>
                  <a:lnTo>
                    <a:pt x="0" y="0"/>
                  </a:lnTo>
                  <a:lnTo>
                    <a:pt x="0" y="2211959"/>
                  </a:lnTo>
                  <a:close/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426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화면(view)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3088" y="1763255"/>
            <a:ext cx="3585845" cy="964565"/>
            <a:chOff x="1343088" y="1763255"/>
            <a:chExt cx="3585845" cy="9645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549" y="1780464"/>
              <a:ext cx="3566414" cy="7925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47850" y="1768017"/>
              <a:ext cx="3576320" cy="955040"/>
            </a:xfrm>
            <a:custGeom>
              <a:avLst/>
              <a:gdLst/>
              <a:ahLst/>
              <a:cxnLst/>
              <a:rect l="l" t="t" r="r" b="b"/>
              <a:pathLst>
                <a:path w="3576320" h="955039">
                  <a:moveTo>
                    <a:pt x="0" y="954481"/>
                  </a:moveTo>
                  <a:lnTo>
                    <a:pt x="3575939" y="954481"/>
                  </a:lnTo>
                  <a:lnTo>
                    <a:pt x="3575939" y="0"/>
                  </a:lnTo>
                  <a:lnTo>
                    <a:pt x="0" y="0"/>
                  </a:lnTo>
                  <a:lnTo>
                    <a:pt x="0" y="954481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361249" y="3995483"/>
            <a:ext cx="6424930" cy="1475105"/>
            <a:chOff x="1361249" y="3995483"/>
            <a:chExt cx="6424930" cy="14751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0710" y="4005072"/>
              <a:ext cx="4282853" cy="145554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66011" y="4000246"/>
              <a:ext cx="5275580" cy="1465580"/>
            </a:xfrm>
            <a:custGeom>
              <a:avLst/>
              <a:gdLst/>
              <a:ahLst/>
              <a:cxnLst/>
              <a:rect l="l" t="t" r="r" b="b"/>
              <a:pathLst>
                <a:path w="5275580" h="1465579">
                  <a:moveTo>
                    <a:pt x="0" y="1465071"/>
                  </a:moveTo>
                  <a:lnTo>
                    <a:pt x="5275453" y="1465071"/>
                  </a:lnTo>
                  <a:lnTo>
                    <a:pt x="5275453" y="0"/>
                  </a:lnTo>
                  <a:lnTo>
                    <a:pt x="0" y="0"/>
                  </a:lnTo>
                  <a:lnTo>
                    <a:pt x="0" y="1465071"/>
                  </a:lnTo>
                  <a:close/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05144" y="4349750"/>
              <a:ext cx="1674495" cy="314960"/>
            </a:xfrm>
            <a:custGeom>
              <a:avLst/>
              <a:gdLst/>
              <a:ahLst/>
              <a:cxnLst/>
              <a:rect l="l" t="t" r="r" b="b"/>
              <a:pathLst>
                <a:path w="1674495" h="314960">
                  <a:moveTo>
                    <a:pt x="0" y="52450"/>
                  </a:moveTo>
                  <a:lnTo>
                    <a:pt x="4123" y="32039"/>
                  </a:lnTo>
                  <a:lnTo>
                    <a:pt x="15366" y="15366"/>
                  </a:lnTo>
                  <a:lnTo>
                    <a:pt x="32039" y="4123"/>
                  </a:lnTo>
                  <a:lnTo>
                    <a:pt x="52450" y="0"/>
                  </a:lnTo>
                  <a:lnTo>
                    <a:pt x="1621789" y="0"/>
                  </a:lnTo>
                  <a:lnTo>
                    <a:pt x="1642181" y="4123"/>
                  </a:lnTo>
                  <a:lnTo>
                    <a:pt x="1658810" y="15367"/>
                  </a:lnTo>
                  <a:lnTo>
                    <a:pt x="1670010" y="32039"/>
                  </a:lnTo>
                  <a:lnTo>
                    <a:pt x="1674113" y="52450"/>
                  </a:lnTo>
                  <a:lnTo>
                    <a:pt x="1674113" y="262127"/>
                  </a:lnTo>
                  <a:lnTo>
                    <a:pt x="1670010" y="282539"/>
                  </a:lnTo>
                  <a:lnTo>
                    <a:pt x="1658810" y="299212"/>
                  </a:lnTo>
                  <a:lnTo>
                    <a:pt x="1642181" y="310455"/>
                  </a:lnTo>
                  <a:lnTo>
                    <a:pt x="1621789" y="314579"/>
                  </a:lnTo>
                  <a:lnTo>
                    <a:pt x="52450" y="314579"/>
                  </a:lnTo>
                  <a:lnTo>
                    <a:pt x="32039" y="310455"/>
                  </a:lnTo>
                  <a:lnTo>
                    <a:pt x="15366" y="299212"/>
                  </a:lnTo>
                  <a:lnTo>
                    <a:pt x="4123" y="282539"/>
                  </a:lnTo>
                  <a:lnTo>
                    <a:pt x="0" y="262127"/>
                  </a:lnTo>
                  <a:lnTo>
                    <a:pt x="0" y="52450"/>
                  </a:lnTo>
                  <a:close/>
                </a:path>
              </a:pathLst>
            </a:custGeom>
            <a:ln w="127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543293" y="4370323"/>
            <a:ext cx="799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맑은 고딕"/>
                <a:cs typeface="맑은 고딕"/>
              </a:rPr>
              <a:t>ex1.</a:t>
            </a:r>
            <a:r>
              <a:rPr sz="1600" spc="-5" dirty="0">
                <a:latin typeface="맑은 고딕"/>
                <a:cs typeface="맑은 고딕"/>
              </a:rPr>
              <a:t>html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4841" y="3323335"/>
            <a:ext cx="3499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맑은 고딕"/>
                <a:cs typeface="맑은 고딕"/>
              </a:rPr>
              <a:t>th:text</a:t>
            </a:r>
            <a:r>
              <a:rPr sz="1800" b="1" spc="-2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=</a:t>
            </a:r>
            <a:r>
              <a:rPr sz="1800" b="1" spc="-1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“${data}”</a:t>
            </a:r>
            <a:r>
              <a:rPr sz="1800" b="1" spc="-25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:</a:t>
            </a:r>
            <a:r>
              <a:rPr sz="1800" b="1" spc="-15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데이터</a:t>
            </a:r>
            <a:r>
              <a:rPr sz="1800" b="1" spc="-5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출력</a:t>
            </a:r>
            <a:endParaRPr sz="18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426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화면(view)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91983" y="1547304"/>
            <a:ext cx="3951604" cy="1932305"/>
            <a:chOff x="1391983" y="1547304"/>
            <a:chExt cx="3951604" cy="1932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1572" y="1556892"/>
              <a:ext cx="3932301" cy="172223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96746" y="1552066"/>
              <a:ext cx="3942079" cy="1922780"/>
            </a:xfrm>
            <a:custGeom>
              <a:avLst/>
              <a:gdLst/>
              <a:ahLst/>
              <a:cxnLst/>
              <a:rect l="l" t="t" r="r" b="b"/>
              <a:pathLst>
                <a:path w="3942079" h="1922779">
                  <a:moveTo>
                    <a:pt x="0" y="1922272"/>
                  </a:moveTo>
                  <a:lnTo>
                    <a:pt x="3941826" y="1922272"/>
                  </a:lnTo>
                  <a:lnTo>
                    <a:pt x="3941826" y="0"/>
                  </a:lnTo>
                  <a:lnTo>
                    <a:pt x="0" y="0"/>
                  </a:lnTo>
                  <a:lnTo>
                    <a:pt x="0" y="1922272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991169" y="3563530"/>
            <a:ext cx="6734175" cy="2821305"/>
            <a:chOff x="1991169" y="3563530"/>
            <a:chExt cx="6734175" cy="28213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87741" y="3573055"/>
              <a:ext cx="6351784" cy="27366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95932" y="3568293"/>
              <a:ext cx="6724650" cy="2811780"/>
            </a:xfrm>
            <a:custGeom>
              <a:avLst/>
              <a:gdLst/>
              <a:ahLst/>
              <a:cxnLst/>
              <a:rect l="l" t="t" r="r" b="b"/>
              <a:pathLst>
                <a:path w="6724650" h="2811779">
                  <a:moveTo>
                    <a:pt x="0" y="2811526"/>
                  </a:moveTo>
                  <a:lnTo>
                    <a:pt x="6724269" y="2811526"/>
                  </a:lnTo>
                  <a:lnTo>
                    <a:pt x="6724269" y="0"/>
                  </a:lnTo>
                  <a:lnTo>
                    <a:pt x="0" y="0"/>
                  </a:lnTo>
                  <a:lnTo>
                    <a:pt x="0" y="2811526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047356" y="3127629"/>
            <a:ext cx="1674495" cy="314960"/>
          </a:xfrm>
          <a:custGeom>
            <a:avLst/>
            <a:gdLst/>
            <a:ahLst/>
            <a:cxnLst/>
            <a:rect l="l" t="t" r="r" b="b"/>
            <a:pathLst>
              <a:path w="1674495" h="314960">
                <a:moveTo>
                  <a:pt x="0" y="52450"/>
                </a:moveTo>
                <a:lnTo>
                  <a:pt x="4123" y="32039"/>
                </a:lnTo>
                <a:lnTo>
                  <a:pt x="15367" y="15366"/>
                </a:lnTo>
                <a:lnTo>
                  <a:pt x="32039" y="4123"/>
                </a:lnTo>
                <a:lnTo>
                  <a:pt x="52450" y="0"/>
                </a:lnTo>
                <a:lnTo>
                  <a:pt x="1621790" y="0"/>
                </a:lnTo>
                <a:lnTo>
                  <a:pt x="1642201" y="4123"/>
                </a:lnTo>
                <a:lnTo>
                  <a:pt x="1658874" y="15366"/>
                </a:lnTo>
                <a:lnTo>
                  <a:pt x="1670117" y="32039"/>
                </a:lnTo>
                <a:lnTo>
                  <a:pt x="1674241" y="52450"/>
                </a:lnTo>
                <a:lnTo>
                  <a:pt x="1674241" y="262255"/>
                </a:lnTo>
                <a:lnTo>
                  <a:pt x="1670117" y="282666"/>
                </a:lnTo>
                <a:lnTo>
                  <a:pt x="1658874" y="299339"/>
                </a:lnTo>
                <a:lnTo>
                  <a:pt x="1642201" y="310582"/>
                </a:lnTo>
                <a:lnTo>
                  <a:pt x="1621790" y="314706"/>
                </a:lnTo>
                <a:lnTo>
                  <a:pt x="52450" y="314706"/>
                </a:lnTo>
                <a:lnTo>
                  <a:pt x="32039" y="310582"/>
                </a:lnTo>
                <a:lnTo>
                  <a:pt x="15367" y="299339"/>
                </a:lnTo>
                <a:lnTo>
                  <a:pt x="4123" y="282666"/>
                </a:lnTo>
                <a:lnTo>
                  <a:pt x="0" y="262255"/>
                </a:lnTo>
                <a:lnTo>
                  <a:pt x="0" y="52450"/>
                </a:lnTo>
                <a:close/>
              </a:path>
            </a:pathLst>
          </a:custGeom>
          <a:ln w="12699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485633" y="3148075"/>
            <a:ext cx="799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맑은 고딕"/>
                <a:cs typeface="맑은 고딕"/>
              </a:rPr>
              <a:t>ex2.</a:t>
            </a:r>
            <a:r>
              <a:rPr sz="1600" spc="-5" dirty="0">
                <a:latin typeface="맑은 고딕"/>
                <a:cs typeface="맑은 고딕"/>
              </a:rPr>
              <a:t>html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426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화면(view)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03133" y="1835340"/>
            <a:ext cx="5239385" cy="2800985"/>
            <a:chOff x="1703133" y="1835340"/>
            <a:chExt cx="5239385" cy="28009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2594" y="1867664"/>
              <a:ext cx="5220208" cy="24691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07895" y="1840102"/>
              <a:ext cx="5229860" cy="2791460"/>
            </a:xfrm>
            <a:custGeom>
              <a:avLst/>
              <a:gdLst/>
              <a:ahLst/>
              <a:cxnLst/>
              <a:rect l="l" t="t" r="r" b="b"/>
              <a:pathLst>
                <a:path w="5229859" h="2791460">
                  <a:moveTo>
                    <a:pt x="0" y="2791079"/>
                  </a:moveTo>
                  <a:lnTo>
                    <a:pt x="5229733" y="2791079"/>
                  </a:lnTo>
                  <a:lnTo>
                    <a:pt x="5229733" y="0"/>
                  </a:lnTo>
                  <a:lnTo>
                    <a:pt x="0" y="0"/>
                  </a:lnTo>
                  <a:lnTo>
                    <a:pt x="0" y="2791079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3437" y="1545793"/>
            <a:ext cx="4976495" cy="1699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맑은 고딕"/>
                <a:cs typeface="맑은 고딕"/>
              </a:rPr>
              <a:t>th:each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=</a:t>
            </a:r>
            <a:r>
              <a:rPr sz="1800" b="1" spc="-5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“변수: </a:t>
            </a:r>
            <a:r>
              <a:rPr sz="1800" b="1" spc="-5" dirty="0">
                <a:solidFill>
                  <a:srgbClr val="C00000"/>
                </a:solidFill>
                <a:latin typeface="맑은 고딕"/>
                <a:cs typeface="맑은 고딕"/>
              </a:rPr>
              <a:t>${목록}”</a:t>
            </a:r>
            <a:r>
              <a:rPr sz="1800" b="1" spc="-1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–</a:t>
            </a:r>
            <a:r>
              <a:rPr sz="1800" b="1" spc="1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맑은 고딕"/>
                <a:cs typeface="맑은 고딕"/>
              </a:rPr>
              <a:t>데이터를 반복 처리</a:t>
            </a:r>
            <a:endParaRPr sz="1800">
              <a:latin typeface="맑은 고딕"/>
              <a:cs typeface="맑은 고딕"/>
            </a:endParaRPr>
          </a:p>
          <a:p>
            <a:pPr marL="12700" marR="1252855">
              <a:lnSpc>
                <a:spcPts val="5740"/>
              </a:lnSpc>
              <a:spcBef>
                <a:spcPts val="120"/>
              </a:spcBef>
            </a:pPr>
            <a:r>
              <a:rPr sz="1800" b="1" dirty="0">
                <a:latin typeface="맑은 고딕"/>
                <a:cs typeface="맑은 고딕"/>
              </a:rPr>
              <a:t>[[ </a:t>
            </a:r>
            <a:r>
              <a:rPr sz="1800" b="1" spc="-5" dirty="0">
                <a:latin typeface="맑은 고딕"/>
                <a:cs typeface="맑은 고딕"/>
              </a:rPr>
              <a:t>${itemDto.id} </a:t>
            </a:r>
            <a:r>
              <a:rPr sz="1800" b="1" dirty="0">
                <a:latin typeface="맑은 고딕"/>
                <a:cs typeface="맑은 고딕"/>
              </a:rPr>
              <a:t>]]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은 인라인 표현식 </a:t>
            </a:r>
            <a:r>
              <a:rPr sz="1800" b="1" spc="-62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맑은 고딕"/>
                <a:cs typeface="맑은 고딕"/>
              </a:rPr>
              <a:t>th:if</a:t>
            </a:r>
            <a:r>
              <a:rPr sz="1800" b="1" spc="5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=</a:t>
            </a:r>
            <a:r>
              <a:rPr sz="1800" b="1" spc="-1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“조건절” –</a:t>
            </a:r>
            <a:r>
              <a:rPr sz="1800" b="1" spc="-1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조건문</a:t>
            </a:r>
            <a:r>
              <a:rPr sz="1800" b="1" spc="-1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처리</a:t>
            </a:r>
            <a:endParaRPr sz="18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5953" y="1495742"/>
            <a:ext cx="9751060" cy="4424045"/>
            <a:chOff x="135953" y="1495742"/>
            <a:chExt cx="9751060" cy="4424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030" y="1543370"/>
              <a:ext cx="9602077" cy="43513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0715" y="1500505"/>
              <a:ext cx="9741535" cy="4414520"/>
            </a:xfrm>
            <a:custGeom>
              <a:avLst/>
              <a:gdLst/>
              <a:ahLst/>
              <a:cxnLst/>
              <a:rect l="l" t="t" r="r" b="b"/>
              <a:pathLst>
                <a:path w="9741535" h="4414520">
                  <a:moveTo>
                    <a:pt x="0" y="4414266"/>
                  </a:moveTo>
                  <a:lnTo>
                    <a:pt x="9741154" y="4414266"/>
                  </a:lnTo>
                  <a:lnTo>
                    <a:pt x="9741154" y="0"/>
                  </a:lnTo>
                  <a:lnTo>
                    <a:pt x="0" y="0"/>
                  </a:lnTo>
                  <a:lnTo>
                    <a:pt x="0" y="4414266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57287" y="1602232"/>
              <a:ext cx="1674495" cy="314960"/>
            </a:xfrm>
            <a:custGeom>
              <a:avLst/>
              <a:gdLst/>
              <a:ahLst/>
              <a:cxnLst/>
              <a:rect l="l" t="t" r="r" b="b"/>
              <a:pathLst>
                <a:path w="1674495" h="314960">
                  <a:moveTo>
                    <a:pt x="0" y="52450"/>
                  </a:moveTo>
                  <a:lnTo>
                    <a:pt x="4123" y="32039"/>
                  </a:lnTo>
                  <a:lnTo>
                    <a:pt x="15366" y="15366"/>
                  </a:lnTo>
                  <a:lnTo>
                    <a:pt x="32039" y="4123"/>
                  </a:lnTo>
                  <a:lnTo>
                    <a:pt x="52450" y="0"/>
                  </a:lnTo>
                  <a:lnTo>
                    <a:pt x="1621662" y="0"/>
                  </a:lnTo>
                  <a:lnTo>
                    <a:pt x="1642074" y="4123"/>
                  </a:lnTo>
                  <a:lnTo>
                    <a:pt x="1658746" y="15366"/>
                  </a:lnTo>
                  <a:lnTo>
                    <a:pt x="1669990" y="32039"/>
                  </a:lnTo>
                  <a:lnTo>
                    <a:pt x="1674113" y="52450"/>
                  </a:lnTo>
                  <a:lnTo>
                    <a:pt x="1674113" y="262127"/>
                  </a:lnTo>
                  <a:lnTo>
                    <a:pt x="1669990" y="282539"/>
                  </a:lnTo>
                  <a:lnTo>
                    <a:pt x="1658746" y="299212"/>
                  </a:lnTo>
                  <a:lnTo>
                    <a:pt x="1642074" y="310455"/>
                  </a:lnTo>
                  <a:lnTo>
                    <a:pt x="1621662" y="314578"/>
                  </a:lnTo>
                  <a:lnTo>
                    <a:pt x="52450" y="314578"/>
                  </a:lnTo>
                  <a:lnTo>
                    <a:pt x="32039" y="310455"/>
                  </a:lnTo>
                  <a:lnTo>
                    <a:pt x="15367" y="299212"/>
                  </a:lnTo>
                  <a:lnTo>
                    <a:pt x="4123" y="282539"/>
                  </a:lnTo>
                  <a:lnTo>
                    <a:pt x="0" y="262127"/>
                  </a:lnTo>
                  <a:lnTo>
                    <a:pt x="0" y="52450"/>
                  </a:lnTo>
                  <a:close/>
                </a:path>
              </a:pathLst>
            </a:custGeom>
            <a:ln w="127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95692" y="1622298"/>
            <a:ext cx="799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맑은 고딕"/>
                <a:cs typeface="맑은 고딕"/>
              </a:rPr>
              <a:t>ex3.</a:t>
            </a:r>
            <a:r>
              <a:rPr sz="1600" spc="-5" dirty="0">
                <a:latin typeface="맑은 고딕"/>
                <a:cs typeface="맑은 고딕"/>
              </a:rPr>
              <a:t>html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426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화면(view)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1079" y="1619313"/>
            <a:ext cx="3837304" cy="1757045"/>
            <a:chOff x="1271079" y="1619313"/>
            <a:chExt cx="3837304" cy="17570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0540" y="1628774"/>
              <a:ext cx="3818001" cy="139456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75841" y="1624075"/>
              <a:ext cx="3827779" cy="1747520"/>
            </a:xfrm>
            <a:custGeom>
              <a:avLst/>
              <a:gdLst/>
              <a:ahLst/>
              <a:cxnLst/>
              <a:rect l="l" t="t" r="r" b="b"/>
              <a:pathLst>
                <a:path w="3827779" h="1747520">
                  <a:moveTo>
                    <a:pt x="0" y="1747012"/>
                  </a:moveTo>
                  <a:lnTo>
                    <a:pt x="3827526" y="1747012"/>
                  </a:lnTo>
                  <a:lnTo>
                    <a:pt x="3827526" y="0"/>
                  </a:lnTo>
                  <a:lnTo>
                    <a:pt x="0" y="0"/>
                  </a:lnTo>
                  <a:lnTo>
                    <a:pt x="0" y="1747012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95717" y="3635565"/>
            <a:ext cx="7723505" cy="1581785"/>
            <a:chOff x="1295717" y="3635565"/>
            <a:chExt cx="7723505" cy="158178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2832" y="3645027"/>
              <a:ext cx="7216734" cy="153936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00480" y="3640328"/>
              <a:ext cx="7713980" cy="1572260"/>
            </a:xfrm>
            <a:custGeom>
              <a:avLst/>
              <a:gdLst/>
              <a:ahLst/>
              <a:cxnLst/>
              <a:rect l="l" t="t" r="r" b="b"/>
              <a:pathLst>
                <a:path w="7713980" h="1572260">
                  <a:moveTo>
                    <a:pt x="0" y="1571752"/>
                  </a:moveTo>
                  <a:lnTo>
                    <a:pt x="7713980" y="1571752"/>
                  </a:lnTo>
                  <a:lnTo>
                    <a:pt x="7713980" y="0"/>
                  </a:lnTo>
                  <a:lnTo>
                    <a:pt x="0" y="0"/>
                  </a:lnTo>
                  <a:lnTo>
                    <a:pt x="0" y="1571752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158228" y="3209035"/>
            <a:ext cx="1674495" cy="314960"/>
          </a:xfrm>
          <a:custGeom>
            <a:avLst/>
            <a:gdLst/>
            <a:ahLst/>
            <a:cxnLst/>
            <a:rect l="l" t="t" r="r" b="b"/>
            <a:pathLst>
              <a:path w="1674495" h="314960">
                <a:moveTo>
                  <a:pt x="0" y="52450"/>
                </a:moveTo>
                <a:lnTo>
                  <a:pt x="4123" y="32039"/>
                </a:lnTo>
                <a:lnTo>
                  <a:pt x="15367" y="15366"/>
                </a:lnTo>
                <a:lnTo>
                  <a:pt x="32039" y="4123"/>
                </a:lnTo>
                <a:lnTo>
                  <a:pt x="52450" y="0"/>
                </a:lnTo>
                <a:lnTo>
                  <a:pt x="1621790" y="0"/>
                </a:lnTo>
                <a:lnTo>
                  <a:pt x="1642201" y="4123"/>
                </a:lnTo>
                <a:lnTo>
                  <a:pt x="1658874" y="15366"/>
                </a:lnTo>
                <a:lnTo>
                  <a:pt x="1670117" y="32039"/>
                </a:lnTo>
                <a:lnTo>
                  <a:pt x="1674241" y="52450"/>
                </a:lnTo>
                <a:lnTo>
                  <a:pt x="1674241" y="262127"/>
                </a:lnTo>
                <a:lnTo>
                  <a:pt x="1670117" y="282539"/>
                </a:lnTo>
                <a:lnTo>
                  <a:pt x="1658874" y="299212"/>
                </a:lnTo>
                <a:lnTo>
                  <a:pt x="1642201" y="310455"/>
                </a:lnTo>
                <a:lnTo>
                  <a:pt x="1621790" y="314578"/>
                </a:lnTo>
                <a:lnTo>
                  <a:pt x="52450" y="314578"/>
                </a:lnTo>
                <a:lnTo>
                  <a:pt x="32039" y="310455"/>
                </a:lnTo>
                <a:lnTo>
                  <a:pt x="15367" y="299212"/>
                </a:lnTo>
                <a:lnTo>
                  <a:pt x="4123" y="282539"/>
                </a:lnTo>
                <a:lnTo>
                  <a:pt x="0" y="262127"/>
                </a:lnTo>
                <a:lnTo>
                  <a:pt x="0" y="52450"/>
                </a:lnTo>
                <a:close/>
              </a:path>
            </a:pathLst>
          </a:custGeom>
          <a:ln w="12700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596631" y="3229482"/>
            <a:ext cx="799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맑은 고딕"/>
                <a:cs typeface="맑은 고딕"/>
              </a:rPr>
              <a:t>ex4.</a:t>
            </a:r>
            <a:r>
              <a:rPr sz="1600" spc="-5" dirty="0">
                <a:latin typeface="맑은 고딕"/>
                <a:cs typeface="맑은 고딕"/>
              </a:rPr>
              <a:t>html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8104505" cy="1898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Thymeleaf</a:t>
            </a:r>
            <a:r>
              <a:rPr sz="1800" b="1" spc="-40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페이지</a:t>
            </a:r>
            <a:r>
              <a:rPr sz="1800" b="1" spc="-3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레이아웃</a:t>
            </a:r>
            <a:endParaRPr sz="1800">
              <a:latin typeface="맑은 고딕"/>
              <a:cs typeface="맑은 고딕"/>
            </a:endParaRPr>
          </a:p>
          <a:p>
            <a:pPr marL="396875" lvl="1" indent="-262890">
              <a:lnSpc>
                <a:spcPct val="100000"/>
              </a:lnSpc>
              <a:spcBef>
                <a:spcPts val="2020"/>
              </a:spcBef>
              <a:buAutoNum type="arabicParenR"/>
              <a:tabLst>
                <a:tab pos="397510" algn="l"/>
              </a:tabLst>
            </a:pPr>
            <a:r>
              <a:rPr sz="1600" b="1" spc="-10" dirty="0">
                <a:latin typeface="맑은 고딕"/>
                <a:cs typeface="맑은 고딕"/>
              </a:rPr>
              <a:t>include</a:t>
            </a:r>
            <a:r>
              <a:rPr sz="1600" b="1" spc="-1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방식의</a:t>
            </a:r>
            <a:r>
              <a:rPr sz="1600" b="1" spc="-15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처리</a:t>
            </a:r>
            <a:endParaRPr sz="1600">
              <a:latin typeface="맑은 고딕"/>
              <a:cs typeface="맑은 고딕"/>
            </a:endParaRPr>
          </a:p>
          <a:p>
            <a:pPr marL="13462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맑은 고딕"/>
                <a:cs typeface="맑은 고딕"/>
              </a:rPr>
              <a:t>특정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부분을</a:t>
            </a:r>
            <a:r>
              <a:rPr sz="160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다른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내용으로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변경할</a:t>
            </a:r>
            <a:r>
              <a:rPr sz="1600" spc="1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수</a:t>
            </a:r>
            <a:r>
              <a:rPr sz="160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있는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태그는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10" dirty="0">
                <a:latin typeface="맑은 고딕"/>
                <a:cs typeface="맑은 고딕"/>
              </a:rPr>
              <a:t>th:replace</a:t>
            </a:r>
            <a:r>
              <a:rPr sz="1600" spc="3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또는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th:insert가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사용된다.</a:t>
            </a:r>
            <a:endParaRPr sz="1600">
              <a:latin typeface="맑은 고딕"/>
              <a:cs typeface="맑은 고딕"/>
            </a:endParaRPr>
          </a:p>
          <a:p>
            <a:pPr marL="134620" marR="146685">
              <a:lnSpc>
                <a:spcPct val="150000"/>
              </a:lnSpc>
            </a:pPr>
            <a:r>
              <a:rPr sz="1600" spc="-10" dirty="0">
                <a:latin typeface="맑은 고딕"/>
                <a:cs typeface="맑은 고딕"/>
              </a:rPr>
              <a:t>th:replace는</a:t>
            </a:r>
            <a:r>
              <a:rPr sz="1600" spc="4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기존의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내용을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완전히</a:t>
            </a:r>
            <a:r>
              <a:rPr sz="1600" spc="1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대체하는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방식이고,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dirty="0">
                <a:latin typeface="맑은 고딕"/>
                <a:cs typeface="맑은 고딕"/>
              </a:rPr>
              <a:t>th:insert는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기존의</a:t>
            </a:r>
            <a:r>
              <a:rPr sz="1600" spc="1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바깥쪽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태그 </a:t>
            </a:r>
            <a:r>
              <a:rPr sz="1600" spc="-54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는 유지하면서</a:t>
            </a:r>
            <a:r>
              <a:rPr sz="1600" spc="2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추가되는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방식이라는</a:t>
            </a:r>
            <a:r>
              <a:rPr sz="1600" spc="2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차이가</a:t>
            </a:r>
            <a:r>
              <a:rPr sz="160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있다.</a:t>
            </a:r>
            <a:endParaRPr sz="16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87106" y="3419437"/>
            <a:ext cx="2929255" cy="2539365"/>
            <a:chOff x="1487106" y="3419437"/>
            <a:chExt cx="2929255" cy="25393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8158" y="3456159"/>
              <a:ext cx="1903789" cy="243872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91869" y="3424199"/>
              <a:ext cx="2919730" cy="2529840"/>
            </a:xfrm>
            <a:custGeom>
              <a:avLst/>
              <a:gdLst/>
              <a:ahLst/>
              <a:cxnLst/>
              <a:rect l="l" t="t" r="r" b="b"/>
              <a:pathLst>
                <a:path w="2919729" h="2529840">
                  <a:moveTo>
                    <a:pt x="0" y="2529840"/>
                  </a:moveTo>
                  <a:lnTo>
                    <a:pt x="2919603" y="2529840"/>
                  </a:lnTo>
                  <a:lnTo>
                    <a:pt x="2919603" y="0"/>
                  </a:lnTo>
                  <a:lnTo>
                    <a:pt x="0" y="0"/>
                  </a:lnTo>
                  <a:lnTo>
                    <a:pt x="0" y="252984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43958" y="3888999"/>
            <a:ext cx="3983354" cy="148907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055"/>
              </a:spcBef>
            </a:pPr>
            <a:r>
              <a:rPr sz="1600" spc="-10" dirty="0">
                <a:latin typeface="맑은 고딕"/>
                <a:cs typeface="맑은 고딕"/>
              </a:rPr>
              <a:t>templates</a:t>
            </a:r>
            <a:r>
              <a:rPr sz="1600" spc="2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아래에 </a:t>
            </a:r>
            <a:r>
              <a:rPr sz="1600" spc="-10" dirty="0">
                <a:latin typeface="맑은 고딕"/>
                <a:cs typeface="맑은 고딕"/>
              </a:rPr>
              <a:t>fragments</a:t>
            </a:r>
            <a:r>
              <a:rPr sz="1600" spc="2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폴더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생성후</a:t>
            </a:r>
            <a:endParaRPr sz="1600">
              <a:latin typeface="맑은 고딕"/>
              <a:cs typeface="맑은 고딕"/>
            </a:endParaRPr>
          </a:p>
          <a:p>
            <a:pPr marL="83820">
              <a:lnSpc>
                <a:spcPct val="100000"/>
              </a:lnSpc>
              <a:spcBef>
                <a:spcPts val="965"/>
              </a:spcBef>
            </a:pPr>
            <a:r>
              <a:rPr sz="1600" spc="-10" dirty="0">
                <a:latin typeface="맑은 고딕"/>
                <a:cs typeface="맑은 고딕"/>
              </a:rPr>
              <a:t>fragment1.html</a:t>
            </a:r>
            <a:r>
              <a:rPr sz="1600" spc="5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파일을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만듬.</a:t>
            </a:r>
            <a:endParaRPr sz="1600">
              <a:latin typeface="맑은 고딕"/>
              <a:cs typeface="맑은 고딕"/>
            </a:endParaRPr>
          </a:p>
          <a:p>
            <a:pPr marL="8382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solidFill>
                  <a:srgbClr val="C00000"/>
                </a:solidFill>
                <a:latin typeface="맑은 고딕"/>
                <a:cs typeface="맑은 고딕"/>
              </a:rPr>
              <a:t>이</a:t>
            </a:r>
            <a:r>
              <a:rPr sz="1600" spc="-25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600" spc="-5" dirty="0">
                <a:solidFill>
                  <a:srgbClr val="C00000"/>
                </a:solidFill>
                <a:latin typeface="맑은 고딕"/>
                <a:cs typeface="맑은 고딕"/>
              </a:rPr>
              <a:t>파일을</a:t>
            </a:r>
            <a:r>
              <a:rPr sz="1600" spc="-2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600" spc="-5" dirty="0">
                <a:solidFill>
                  <a:srgbClr val="C00000"/>
                </a:solidFill>
                <a:latin typeface="맑은 고딕"/>
                <a:cs typeface="맑은 고딕"/>
              </a:rPr>
              <a:t>사용하기</a:t>
            </a:r>
            <a:r>
              <a:rPr sz="1600" spc="-15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600" spc="-5" dirty="0">
                <a:solidFill>
                  <a:srgbClr val="C00000"/>
                </a:solidFill>
                <a:latin typeface="맑은 고딕"/>
                <a:cs typeface="맑은 고딕"/>
              </a:rPr>
              <a:t>위해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latin typeface="맑은 고딕"/>
                <a:cs typeface="맑은 고딕"/>
              </a:rPr>
              <a:t>sample</a:t>
            </a:r>
            <a:r>
              <a:rPr sz="1600" spc="1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폴더</a:t>
            </a:r>
            <a:r>
              <a:rPr sz="1600" spc="-1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아래에</a:t>
            </a:r>
            <a:r>
              <a:rPr sz="1600" spc="-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exLayout1.html을</a:t>
            </a:r>
            <a:r>
              <a:rPr sz="1600" spc="3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생성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2963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SampleController의</a:t>
            </a:r>
            <a:r>
              <a:rPr sz="1800" b="1" spc="-30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일부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9057" y="1627060"/>
            <a:ext cx="5749925" cy="2237105"/>
            <a:chOff x="1199057" y="1627060"/>
            <a:chExt cx="5749925" cy="22371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8582" y="1636649"/>
              <a:ext cx="3764613" cy="22176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03820" y="1631823"/>
              <a:ext cx="5740400" cy="2227580"/>
            </a:xfrm>
            <a:custGeom>
              <a:avLst/>
              <a:gdLst/>
              <a:ahLst/>
              <a:cxnLst/>
              <a:rect l="l" t="t" r="r" b="b"/>
              <a:pathLst>
                <a:path w="5740400" h="2227579">
                  <a:moveTo>
                    <a:pt x="0" y="2227199"/>
                  </a:moveTo>
                  <a:lnTo>
                    <a:pt x="5740273" y="2227199"/>
                  </a:lnTo>
                  <a:lnTo>
                    <a:pt x="5740273" y="0"/>
                  </a:lnTo>
                  <a:lnTo>
                    <a:pt x="0" y="0"/>
                  </a:lnTo>
                  <a:lnTo>
                    <a:pt x="0" y="2227199"/>
                  </a:lnTo>
                  <a:close/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2015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frag</a:t>
            </a:r>
            <a:r>
              <a:rPr sz="1800" b="1" spc="5" dirty="0">
                <a:latin typeface="맑은 고딕"/>
                <a:cs typeface="맑은 고딕"/>
              </a:rPr>
              <a:t>m</a:t>
            </a:r>
            <a:r>
              <a:rPr sz="1800" b="1" dirty="0">
                <a:latin typeface="맑은 고딕"/>
                <a:cs typeface="맑은 고딕"/>
              </a:rPr>
              <a:t>ent1.h</a:t>
            </a:r>
            <a:r>
              <a:rPr sz="1800" b="1" spc="5" dirty="0">
                <a:latin typeface="맑은 고딕"/>
                <a:cs typeface="맑은 고딕"/>
              </a:rPr>
              <a:t>tm</a:t>
            </a:r>
            <a:r>
              <a:rPr sz="1800" b="1" dirty="0">
                <a:latin typeface="맑은 고딕"/>
                <a:cs typeface="맑은 고딕"/>
              </a:rPr>
              <a:t>l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07274" y="1691322"/>
            <a:ext cx="4926965" cy="3540125"/>
            <a:chOff x="1307274" y="1691322"/>
            <a:chExt cx="4926965" cy="3540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9597" y="1739013"/>
              <a:ext cx="4465666" cy="34673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12036" y="1696085"/>
              <a:ext cx="4917440" cy="3530600"/>
            </a:xfrm>
            <a:custGeom>
              <a:avLst/>
              <a:gdLst/>
              <a:ahLst/>
              <a:cxnLst/>
              <a:rect l="l" t="t" r="r" b="b"/>
              <a:pathLst>
                <a:path w="4917440" h="3530600">
                  <a:moveTo>
                    <a:pt x="0" y="3530219"/>
                  </a:moveTo>
                  <a:lnTo>
                    <a:pt x="4917186" y="3530219"/>
                  </a:lnTo>
                  <a:lnTo>
                    <a:pt x="4917186" y="0"/>
                  </a:lnTo>
                  <a:lnTo>
                    <a:pt x="0" y="0"/>
                  </a:lnTo>
                  <a:lnTo>
                    <a:pt x="0" y="3530219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5614035" cy="728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exLayout1.html</a:t>
            </a:r>
            <a:endParaRPr sz="1800">
              <a:latin typeface="맑은 고딕"/>
              <a:cs typeface="맑은 고딕"/>
            </a:endParaRPr>
          </a:p>
          <a:p>
            <a:pPr marL="372745">
              <a:lnSpc>
                <a:spcPct val="100000"/>
              </a:lnSpc>
              <a:spcBef>
                <a:spcPts val="1450"/>
              </a:spcBef>
            </a:pPr>
            <a:r>
              <a:rPr sz="1600" spc="-5" dirty="0">
                <a:latin typeface="맑은 고딕"/>
                <a:cs typeface="맑은 고딕"/>
              </a:rPr>
              <a:t>fragment1.html의</a:t>
            </a:r>
            <a:r>
              <a:rPr sz="1600" spc="3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조각들을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가져와서</a:t>
            </a:r>
            <a:r>
              <a:rPr sz="160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사용하는 코드</a:t>
            </a:r>
            <a:r>
              <a:rPr sz="160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작성</a:t>
            </a:r>
            <a:endParaRPr sz="16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3088" y="2051367"/>
            <a:ext cx="6382385" cy="3372485"/>
            <a:chOff x="1343088" y="2051367"/>
            <a:chExt cx="6382385" cy="33724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0170" y="2144655"/>
              <a:ext cx="5852627" cy="324636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47850" y="2056129"/>
              <a:ext cx="6372860" cy="3362960"/>
            </a:xfrm>
            <a:custGeom>
              <a:avLst/>
              <a:gdLst/>
              <a:ahLst/>
              <a:cxnLst/>
              <a:rect l="l" t="t" r="r" b="b"/>
              <a:pathLst>
                <a:path w="6372859" h="3362960">
                  <a:moveTo>
                    <a:pt x="0" y="3362579"/>
                  </a:moveTo>
                  <a:lnTo>
                    <a:pt x="6372733" y="3362579"/>
                  </a:lnTo>
                  <a:lnTo>
                    <a:pt x="6372733" y="0"/>
                  </a:lnTo>
                  <a:lnTo>
                    <a:pt x="0" y="0"/>
                  </a:lnTo>
                  <a:lnTo>
                    <a:pt x="0" y="3362579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출력</a:t>
            </a:r>
            <a:r>
              <a:rPr sz="1800" b="1" spc="-8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화면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15097" y="1691322"/>
            <a:ext cx="3951604" cy="3159125"/>
            <a:chOff x="1415097" y="1691322"/>
            <a:chExt cx="3951604" cy="31591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4559" y="1708404"/>
              <a:ext cx="3932301" cy="29263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19860" y="1696085"/>
              <a:ext cx="3942079" cy="3149600"/>
            </a:xfrm>
            <a:custGeom>
              <a:avLst/>
              <a:gdLst/>
              <a:ahLst/>
              <a:cxnLst/>
              <a:rect l="l" t="t" r="r" b="b"/>
              <a:pathLst>
                <a:path w="3942079" h="3149600">
                  <a:moveTo>
                    <a:pt x="0" y="3149219"/>
                  </a:moveTo>
                  <a:lnTo>
                    <a:pt x="3941826" y="3149219"/>
                  </a:lnTo>
                  <a:lnTo>
                    <a:pt x="3941826" y="0"/>
                  </a:lnTo>
                  <a:lnTo>
                    <a:pt x="0" y="0"/>
                  </a:lnTo>
                  <a:lnTo>
                    <a:pt x="0" y="3149219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2015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frag</a:t>
            </a:r>
            <a:r>
              <a:rPr sz="1800" b="1" spc="5" dirty="0">
                <a:latin typeface="맑은 고딕"/>
                <a:cs typeface="맑은 고딕"/>
              </a:rPr>
              <a:t>m</a:t>
            </a:r>
            <a:r>
              <a:rPr sz="1800" b="1" dirty="0">
                <a:latin typeface="맑은 고딕"/>
                <a:cs typeface="맑은 고딕"/>
              </a:rPr>
              <a:t>ent2.h</a:t>
            </a:r>
            <a:r>
              <a:rPr sz="1800" b="1" spc="5" dirty="0">
                <a:latin typeface="맑은 고딕"/>
                <a:cs typeface="맑은 고딕"/>
              </a:rPr>
              <a:t>tm</a:t>
            </a:r>
            <a:r>
              <a:rPr sz="1800" b="1" dirty="0">
                <a:latin typeface="맑은 고딕"/>
                <a:cs typeface="맑은 고딕"/>
              </a:rPr>
              <a:t>l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63218" y="1654492"/>
            <a:ext cx="5551170" cy="2288540"/>
            <a:chOff x="1263218" y="1654492"/>
            <a:chExt cx="5551170" cy="22885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6846" y="1688133"/>
              <a:ext cx="4698293" cy="224492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67980" y="1659254"/>
              <a:ext cx="5541645" cy="2279015"/>
            </a:xfrm>
            <a:custGeom>
              <a:avLst/>
              <a:gdLst/>
              <a:ahLst/>
              <a:cxnLst/>
              <a:rect l="l" t="t" r="r" b="b"/>
              <a:pathLst>
                <a:path w="5541645" h="2279015">
                  <a:moveTo>
                    <a:pt x="0" y="2278507"/>
                  </a:moveTo>
                  <a:lnTo>
                    <a:pt x="5541645" y="2278507"/>
                  </a:lnTo>
                  <a:lnTo>
                    <a:pt x="5541645" y="0"/>
                  </a:lnTo>
                  <a:lnTo>
                    <a:pt x="0" y="0"/>
                  </a:lnTo>
                  <a:lnTo>
                    <a:pt x="0" y="2278507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5639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exLayout1.html</a:t>
            </a:r>
            <a:r>
              <a:rPr sz="1800" b="1" spc="-35" dirty="0">
                <a:latin typeface="맑은 고딕"/>
                <a:cs typeface="맑은 고딕"/>
              </a:rPr>
              <a:t> </a:t>
            </a:r>
            <a:r>
              <a:rPr sz="1800" b="1" spc="-5" dirty="0">
                <a:latin typeface="맑은 고딕"/>
                <a:cs typeface="맑은 고딕"/>
              </a:rPr>
              <a:t>-&gt;</a:t>
            </a:r>
            <a:r>
              <a:rPr sz="1800" b="1" spc="10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fragment2.html</a:t>
            </a:r>
            <a:r>
              <a:rPr sz="1800" b="1" spc="-3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전체 가져오기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71079" y="1619313"/>
            <a:ext cx="6313805" cy="3395345"/>
            <a:chOff x="1271079" y="1619313"/>
            <a:chExt cx="6313805" cy="33953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3402" y="1689739"/>
              <a:ext cx="5852632" cy="32463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75841" y="1624075"/>
              <a:ext cx="6304280" cy="3385820"/>
            </a:xfrm>
            <a:custGeom>
              <a:avLst/>
              <a:gdLst/>
              <a:ahLst/>
              <a:cxnLst/>
              <a:rect l="l" t="t" r="r" b="b"/>
              <a:pathLst>
                <a:path w="6304280" h="3385820">
                  <a:moveTo>
                    <a:pt x="0" y="3385439"/>
                  </a:moveTo>
                  <a:lnTo>
                    <a:pt x="6304153" y="3385439"/>
                  </a:lnTo>
                  <a:lnTo>
                    <a:pt x="6304153" y="0"/>
                  </a:lnTo>
                  <a:lnTo>
                    <a:pt x="0" y="0"/>
                  </a:lnTo>
                  <a:lnTo>
                    <a:pt x="0" y="3385439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출력</a:t>
            </a:r>
            <a:r>
              <a:rPr sz="1800" b="1" spc="-8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화면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62773" y="1691271"/>
            <a:ext cx="5269865" cy="4317365"/>
            <a:chOff x="1362773" y="1691271"/>
            <a:chExt cx="5269865" cy="43173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8086" y="1746520"/>
              <a:ext cx="5159239" cy="413802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67536" y="1696034"/>
              <a:ext cx="5260340" cy="4307840"/>
            </a:xfrm>
            <a:custGeom>
              <a:avLst/>
              <a:gdLst/>
              <a:ahLst/>
              <a:cxnLst/>
              <a:rect l="l" t="t" r="r" b="b"/>
              <a:pathLst>
                <a:path w="5260340" h="4307840">
                  <a:moveTo>
                    <a:pt x="0" y="4307586"/>
                  </a:moveTo>
                  <a:lnTo>
                    <a:pt x="5260213" y="4307586"/>
                  </a:lnTo>
                  <a:lnTo>
                    <a:pt x="5260213" y="0"/>
                  </a:lnTo>
                  <a:lnTo>
                    <a:pt x="0" y="0"/>
                  </a:lnTo>
                  <a:lnTo>
                    <a:pt x="0" y="4307586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7334884" cy="116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Thymeleaf</a:t>
            </a:r>
            <a:r>
              <a:rPr sz="1800" b="1" spc="-40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페이지</a:t>
            </a:r>
            <a:r>
              <a:rPr sz="1800" b="1" spc="-3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레이아웃</a:t>
            </a:r>
            <a:endParaRPr sz="1800">
              <a:latin typeface="맑은 고딕"/>
              <a:cs typeface="맑은 고딕"/>
            </a:endParaRPr>
          </a:p>
          <a:p>
            <a:pPr marL="134620">
              <a:lnSpc>
                <a:spcPct val="100000"/>
              </a:lnSpc>
              <a:spcBef>
                <a:spcPts val="2020"/>
              </a:spcBef>
            </a:pPr>
            <a:r>
              <a:rPr sz="1600" b="1" spc="-5" dirty="0">
                <a:latin typeface="맑은 고딕"/>
                <a:cs typeface="맑은 고딕"/>
              </a:rPr>
              <a:t>2)</a:t>
            </a:r>
            <a:r>
              <a:rPr sz="1600" b="1" spc="-2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파라미터</a:t>
            </a:r>
            <a:r>
              <a:rPr sz="1600" b="1" spc="-1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방식의</a:t>
            </a:r>
            <a:r>
              <a:rPr sz="1600" b="1" spc="-10" dirty="0">
                <a:latin typeface="맑은 고딕"/>
                <a:cs typeface="맑은 고딕"/>
              </a:rPr>
              <a:t> </a:t>
            </a:r>
            <a:r>
              <a:rPr sz="1600" b="1" spc="-5" dirty="0">
                <a:latin typeface="맑은 고딕"/>
                <a:cs typeface="맑은 고딕"/>
              </a:rPr>
              <a:t>처리</a:t>
            </a:r>
            <a:endParaRPr sz="1600">
              <a:latin typeface="맑은 고딕"/>
              <a:cs typeface="맑은 고딕"/>
            </a:endParaRPr>
          </a:p>
          <a:p>
            <a:pPr marL="34925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맑은 고딕"/>
                <a:cs typeface="맑은 고딕"/>
              </a:rPr>
              <a:t>특정한</a:t>
            </a:r>
            <a:r>
              <a:rPr sz="1600" spc="-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태그를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파라미터처럼</a:t>
            </a:r>
            <a:r>
              <a:rPr sz="1600" spc="2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전달해서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다른</a:t>
            </a:r>
            <a:r>
              <a:rPr sz="160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th:fragment에서</a:t>
            </a:r>
            <a:r>
              <a:rPr sz="1600" spc="4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사용할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수 있다.</a:t>
            </a:r>
            <a:endParaRPr sz="16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87106" y="2915348"/>
            <a:ext cx="2929255" cy="2539365"/>
            <a:chOff x="1487106" y="2915348"/>
            <a:chExt cx="2929255" cy="25393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8158" y="2952134"/>
              <a:ext cx="1903789" cy="243872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91869" y="2920110"/>
              <a:ext cx="2919730" cy="2529840"/>
            </a:xfrm>
            <a:custGeom>
              <a:avLst/>
              <a:gdLst/>
              <a:ahLst/>
              <a:cxnLst/>
              <a:rect l="l" t="t" r="r" b="b"/>
              <a:pathLst>
                <a:path w="2919729" h="2529840">
                  <a:moveTo>
                    <a:pt x="0" y="2529840"/>
                  </a:moveTo>
                  <a:lnTo>
                    <a:pt x="2919603" y="2529840"/>
                  </a:lnTo>
                  <a:lnTo>
                    <a:pt x="2919603" y="0"/>
                  </a:lnTo>
                  <a:lnTo>
                    <a:pt x="0" y="0"/>
                  </a:lnTo>
                  <a:lnTo>
                    <a:pt x="0" y="252984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756660">
              <a:lnSpc>
                <a:spcPct val="100000"/>
              </a:lnSpc>
              <a:spcBef>
                <a:spcPts val="1060"/>
              </a:spcBef>
            </a:pPr>
            <a:r>
              <a:rPr spc="-10" dirty="0"/>
              <a:t>templates</a:t>
            </a:r>
            <a:r>
              <a:rPr spc="10" dirty="0"/>
              <a:t> </a:t>
            </a:r>
            <a:r>
              <a:rPr spc="-5" dirty="0"/>
              <a:t>아래에</a:t>
            </a:r>
            <a:r>
              <a:rPr spc="-15" dirty="0"/>
              <a:t> </a:t>
            </a:r>
            <a:r>
              <a:rPr spc="-5" dirty="0"/>
              <a:t>layout폴더</a:t>
            </a:r>
            <a:r>
              <a:rPr spc="5" dirty="0"/>
              <a:t> </a:t>
            </a:r>
            <a:r>
              <a:rPr spc="-5" dirty="0"/>
              <a:t>생성후</a:t>
            </a:r>
          </a:p>
          <a:p>
            <a:pPr marL="3756660">
              <a:lnSpc>
                <a:spcPct val="100000"/>
              </a:lnSpc>
              <a:spcBef>
                <a:spcPts val="960"/>
              </a:spcBef>
            </a:pPr>
            <a:r>
              <a:rPr spc="-5" dirty="0"/>
              <a:t>layout1.html</a:t>
            </a:r>
            <a:r>
              <a:rPr spc="10" dirty="0"/>
              <a:t> </a:t>
            </a:r>
            <a:r>
              <a:rPr spc="-5" dirty="0"/>
              <a:t>파일을</a:t>
            </a:r>
            <a:r>
              <a:rPr spc="-25" dirty="0"/>
              <a:t> </a:t>
            </a:r>
            <a:r>
              <a:rPr spc="-5" dirty="0"/>
              <a:t>만듬.</a:t>
            </a:r>
          </a:p>
          <a:p>
            <a:pPr marL="3756660">
              <a:lnSpc>
                <a:spcPct val="100000"/>
              </a:lnSpc>
              <a:spcBef>
                <a:spcPts val="960"/>
              </a:spcBef>
            </a:pPr>
            <a:r>
              <a:rPr spc="-5" dirty="0">
                <a:solidFill>
                  <a:srgbClr val="C00000"/>
                </a:solidFill>
              </a:rPr>
              <a:t>이</a:t>
            </a:r>
            <a:r>
              <a:rPr spc="-25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파일을</a:t>
            </a:r>
            <a:r>
              <a:rPr spc="-20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사용하기</a:t>
            </a:r>
            <a:r>
              <a:rPr spc="-15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위해</a:t>
            </a:r>
          </a:p>
          <a:p>
            <a:pPr marL="3685540">
              <a:lnSpc>
                <a:spcPct val="100000"/>
              </a:lnSpc>
              <a:spcBef>
                <a:spcPts val="960"/>
              </a:spcBef>
            </a:pPr>
            <a:r>
              <a:rPr spc="-10" dirty="0"/>
              <a:t>sample</a:t>
            </a:r>
            <a:r>
              <a:rPr spc="30" dirty="0"/>
              <a:t> </a:t>
            </a:r>
            <a:r>
              <a:rPr spc="-5" dirty="0"/>
              <a:t>폴더 아래에</a:t>
            </a:r>
            <a:r>
              <a:rPr spc="10" dirty="0"/>
              <a:t> </a:t>
            </a:r>
            <a:r>
              <a:rPr spc="-20" dirty="0"/>
              <a:t>exTemplate.html을</a:t>
            </a:r>
            <a:r>
              <a:rPr spc="60" dirty="0"/>
              <a:t> </a:t>
            </a:r>
            <a:r>
              <a:rPr spc="-5" dirty="0"/>
              <a:t>생성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3082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SampleController의</a:t>
            </a:r>
            <a:r>
              <a:rPr sz="1800" b="1" spc="-25" dirty="0">
                <a:latin typeface="맑은 고딕"/>
                <a:cs typeface="맑은 고딕"/>
              </a:rPr>
              <a:t> </a:t>
            </a:r>
            <a:r>
              <a:rPr sz="1800" b="1" spc="-5" dirty="0">
                <a:latin typeface="맑은 고딕"/>
                <a:cs typeface="맑은 고딕"/>
              </a:rPr>
              <a:t>일부..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33271" y="1638744"/>
            <a:ext cx="5528945" cy="3471545"/>
            <a:chOff x="1233271" y="1638744"/>
            <a:chExt cx="5528945" cy="34715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2796" y="1648333"/>
              <a:ext cx="4968698" cy="345211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38034" y="1643507"/>
              <a:ext cx="5519420" cy="3462020"/>
            </a:xfrm>
            <a:custGeom>
              <a:avLst/>
              <a:gdLst/>
              <a:ahLst/>
              <a:cxnLst/>
              <a:rect l="l" t="t" r="r" b="b"/>
              <a:pathLst>
                <a:path w="5519420" h="3462020">
                  <a:moveTo>
                    <a:pt x="0" y="3461639"/>
                  </a:moveTo>
                  <a:lnTo>
                    <a:pt x="5519293" y="3461639"/>
                  </a:lnTo>
                  <a:lnTo>
                    <a:pt x="5519293" y="0"/>
                  </a:lnTo>
                  <a:lnTo>
                    <a:pt x="0" y="0"/>
                  </a:lnTo>
                  <a:lnTo>
                    <a:pt x="0" y="3461639"/>
                  </a:lnTo>
                  <a:close/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682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layout1.html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73112" y="1763331"/>
            <a:ext cx="7959725" cy="2900045"/>
            <a:chOff x="973112" y="1763331"/>
            <a:chExt cx="7959725" cy="29000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637" y="1772793"/>
              <a:ext cx="7811124" cy="288061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77874" y="1768094"/>
              <a:ext cx="7950200" cy="2890520"/>
            </a:xfrm>
            <a:custGeom>
              <a:avLst/>
              <a:gdLst/>
              <a:ahLst/>
              <a:cxnLst/>
              <a:rect l="l" t="t" r="r" b="b"/>
              <a:pathLst>
                <a:path w="7950200" h="2890520">
                  <a:moveTo>
                    <a:pt x="0" y="2890138"/>
                  </a:moveTo>
                  <a:lnTo>
                    <a:pt x="7950200" y="2890138"/>
                  </a:lnTo>
                  <a:lnTo>
                    <a:pt x="7950200" y="0"/>
                  </a:lnTo>
                  <a:lnTo>
                    <a:pt x="0" y="0"/>
                  </a:lnTo>
                  <a:lnTo>
                    <a:pt x="0" y="2890138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682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layout1.html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43088" y="1691322"/>
            <a:ext cx="3677285" cy="3357245"/>
            <a:chOff x="1343088" y="1691322"/>
            <a:chExt cx="3677285" cy="33572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7791" y="1761748"/>
              <a:ext cx="3642612" cy="327684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47850" y="1696085"/>
              <a:ext cx="3667760" cy="3347720"/>
            </a:xfrm>
            <a:custGeom>
              <a:avLst/>
              <a:gdLst/>
              <a:ahLst/>
              <a:cxnLst/>
              <a:rect l="l" t="t" r="r" b="b"/>
              <a:pathLst>
                <a:path w="3667760" h="3347720">
                  <a:moveTo>
                    <a:pt x="0" y="3347339"/>
                  </a:moveTo>
                  <a:lnTo>
                    <a:pt x="3667379" y="3347339"/>
                  </a:lnTo>
                  <a:lnTo>
                    <a:pt x="3667379" y="0"/>
                  </a:lnTo>
                  <a:lnTo>
                    <a:pt x="0" y="0"/>
                  </a:lnTo>
                  <a:lnTo>
                    <a:pt x="0" y="3347339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682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layout1.html</a:t>
            </a:r>
            <a:endParaRPr sz="1800">
              <a:latin typeface="맑은 고딕"/>
              <a:cs typeface="맑은 고딕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6567" y="1588628"/>
            <a:ext cx="5743829" cy="46219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6503034" cy="800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layout1.html</a:t>
            </a:r>
            <a:r>
              <a:rPr sz="1800" b="1" spc="-60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추가</a:t>
            </a:r>
            <a:endParaRPr sz="1800">
              <a:latin typeface="맑은 고딕"/>
              <a:cs typeface="맑은 고딕"/>
            </a:endParaRPr>
          </a:p>
          <a:p>
            <a:pPr marL="372745">
              <a:lnSpc>
                <a:spcPct val="100000"/>
              </a:lnSpc>
              <a:spcBef>
                <a:spcPts val="2020"/>
              </a:spcBef>
            </a:pPr>
            <a:r>
              <a:rPr sz="1600" spc="-5" dirty="0">
                <a:latin typeface="맑은 고딕"/>
                <a:cs typeface="맑은 고딕"/>
              </a:rPr>
              <a:t>중간에</a:t>
            </a:r>
            <a:r>
              <a:rPr sz="160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“CONTENT”</a:t>
            </a:r>
            <a:r>
              <a:rPr sz="1600" spc="2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로</a:t>
            </a:r>
            <a:r>
              <a:rPr sz="1600" spc="-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표시된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영역이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다른 내용으로</a:t>
            </a:r>
            <a:r>
              <a:rPr sz="1600" spc="1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변경되어야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함</a:t>
            </a:r>
            <a:endParaRPr sz="16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9057" y="2116264"/>
            <a:ext cx="8051165" cy="3181985"/>
            <a:chOff x="1199057" y="2116264"/>
            <a:chExt cx="8051165" cy="31819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3824" y="2194311"/>
              <a:ext cx="7773014" cy="302538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03820" y="2121026"/>
              <a:ext cx="8041640" cy="3172460"/>
            </a:xfrm>
            <a:custGeom>
              <a:avLst/>
              <a:gdLst/>
              <a:ahLst/>
              <a:cxnLst/>
              <a:rect l="l" t="t" r="r" b="b"/>
              <a:pathLst>
                <a:path w="8041640" h="3172460">
                  <a:moveTo>
                    <a:pt x="0" y="3172079"/>
                  </a:moveTo>
                  <a:lnTo>
                    <a:pt x="8041640" y="3172079"/>
                  </a:lnTo>
                  <a:lnTo>
                    <a:pt x="8041640" y="0"/>
                  </a:lnTo>
                  <a:lnTo>
                    <a:pt x="0" y="0"/>
                  </a:lnTo>
                  <a:lnTo>
                    <a:pt x="0" y="3172079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2218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layout1.html</a:t>
            </a:r>
            <a:r>
              <a:rPr sz="1800" b="1" spc="-80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추가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9057" y="1763331"/>
            <a:ext cx="5947410" cy="1459230"/>
            <a:chOff x="1199057" y="1763331"/>
            <a:chExt cx="5947410" cy="1459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8623" y="1931882"/>
              <a:ext cx="4437706" cy="113874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03820" y="1768094"/>
              <a:ext cx="5937885" cy="1449705"/>
            </a:xfrm>
            <a:custGeom>
              <a:avLst/>
              <a:gdLst/>
              <a:ahLst/>
              <a:cxnLst/>
              <a:rect l="l" t="t" r="r" b="b"/>
              <a:pathLst>
                <a:path w="5937884" h="1449705">
                  <a:moveTo>
                    <a:pt x="0" y="1449704"/>
                  </a:moveTo>
                  <a:lnTo>
                    <a:pt x="5937631" y="1449704"/>
                  </a:lnTo>
                  <a:lnTo>
                    <a:pt x="5937631" y="0"/>
                  </a:lnTo>
                  <a:lnTo>
                    <a:pt x="0" y="0"/>
                  </a:lnTo>
                  <a:lnTo>
                    <a:pt x="0" y="1449704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99057" y="3450907"/>
            <a:ext cx="4279265" cy="1680845"/>
            <a:chOff x="1199057" y="3450907"/>
            <a:chExt cx="4279265" cy="168084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8582" y="3597666"/>
              <a:ext cx="4259961" cy="152411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03820" y="3455670"/>
              <a:ext cx="4269740" cy="1671320"/>
            </a:xfrm>
            <a:custGeom>
              <a:avLst/>
              <a:gdLst/>
              <a:ahLst/>
              <a:cxnLst/>
              <a:rect l="l" t="t" r="r" b="b"/>
              <a:pathLst>
                <a:path w="4269740" h="1671320">
                  <a:moveTo>
                    <a:pt x="0" y="1670811"/>
                  </a:moveTo>
                  <a:lnTo>
                    <a:pt x="4269486" y="1670811"/>
                  </a:lnTo>
                  <a:lnTo>
                    <a:pt x="4269486" y="0"/>
                  </a:lnTo>
                  <a:lnTo>
                    <a:pt x="0" y="0"/>
                  </a:lnTo>
                  <a:lnTo>
                    <a:pt x="0" y="1670811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2113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15" dirty="0">
                <a:latin typeface="맑은 고딕"/>
                <a:cs typeface="맑은 고딕"/>
              </a:rPr>
              <a:t>exTemplate.html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55039" y="1763204"/>
            <a:ext cx="8020684" cy="2237105"/>
            <a:chOff x="1055039" y="1763204"/>
            <a:chExt cx="8020684" cy="22371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9805" y="1818518"/>
              <a:ext cx="7986393" cy="217194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59802" y="1767967"/>
              <a:ext cx="8011159" cy="2227580"/>
            </a:xfrm>
            <a:custGeom>
              <a:avLst/>
              <a:gdLst/>
              <a:ahLst/>
              <a:cxnLst/>
              <a:rect l="l" t="t" r="r" b="b"/>
              <a:pathLst>
                <a:path w="8011159" h="2227579">
                  <a:moveTo>
                    <a:pt x="0" y="2227198"/>
                  </a:moveTo>
                  <a:lnTo>
                    <a:pt x="8011159" y="2227198"/>
                  </a:lnTo>
                  <a:lnTo>
                    <a:pt x="8011159" y="0"/>
                  </a:lnTo>
                  <a:lnTo>
                    <a:pt x="0" y="0"/>
                  </a:lnTo>
                  <a:lnTo>
                    <a:pt x="0" y="2227198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출력</a:t>
            </a:r>
            <a:r>
              <a:rPr sz="1800" b="1" spc="-8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화면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01175" y="928230"/>
            <a:ext cx="5203825" cy="5467350"/>
            <a:chOff x="2801175" y="928230"/>
            <a:chExt cx="5203825" cy="54673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0764" y="967005"/>
              <a:ext cx="5184520" cy="541854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805938" y="932992"/>
              <a:ext cx="5194300" cy="5457825"/>
            </a:xfrm>
            <a:custGeom>
              <a:avLst/>
              <a:gdLst/>
              <a:ahLst/>
              <a:cxnLst/>
              <a:rect l="l" t="t" r="r" b="b"/>
              <a:pathLst>
                <a:path w="5194300" h="5457825">
                  <a:moveTo>
                    <a:pt x="0" y="5457317"/>
                  </a:moveTo>
                  <a:lnTo>
                    <a:pt x="5194046" y="5457317"/>
                  </a:lnTo>
                  <a:lnTo>
                    <a:pt x="5194046" y="0"/>
                  </a:lnTo>
                  <a:lnTo>
                    <a:pt x="0" y="0"/>
                  </a:lnTo>
                  <a:lnTo>
                    <a:pt x="0" y="5457317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40341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latin typeface="맑은 고딕"/>
                <a:cs typeface="맑은 고딕"/>
              </a:rPr>
              <a:t>layout1.css</a:t>
            </a:r>
            <a:r>
              <a:rPr sz="1800" b="1" spc="-1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파일로</a:t>
            </a:r>
            <a:r>
              <a:rPr sz="1800" b="1" spc="-2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스타일</a:t>
            </a:r>
            <a:r>
              <a:rPr sz="1800" b="1" spc="-30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적용하기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7048" y="1763331"/>
            <a:ext cx="7517765" cy="1368425"/>
            <a:chOff x="1127048" y="1763331"/>
            <a:chExt cx="7517765" cy="13684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056" y="1772793"/>
              <a:ext cx="7468232" cy="13488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31811" y="1768094"/>
              <a:ext cx="7508240" cy="1358900"/>
            </a:xfrm>
            <a:custGeom>
              <a:avLst/>
              <a:gdLst/>
              <a:ahLst/>
              <a:cxnLst/>
              <a:rect l="l" t="t" r="r" b="b"/>
              <a:pathLst>
                <a:path w="7508240" h="1358900">
                  <a:moveTo>
                    <a:pt x="0" y="1358391"/>
                  </a:moveTo>
                  <a:lnTo>
                    <a:pt x="7508240" y="1358391"/>
                  </a:lnTo>
                  <a:lnTo>
                    <a:pt x="7508240" y="0"/>
                  </a:lnTo>
                  <a:lnTo>
                    <a:pt x="0" y="0"/>
                  </a:lnTo>
                  <a:lnTo>
                    <a:pt x="0" y="1358391"/>
                  </a:lnTo>
                  <a:close/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27048" y="3407600"/>
            <a:ext cx="6550025" cy="2038985"/>
            <a:chOff x="1127048" y="3407600"/>
            <a:chExt cx="6550025" cy="203898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6573" y="3417062"/>
              <a:ext cx="6096474" cy="20194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31811" y="3412363"/>
              <a:ext cx="6540500" cy="2029460"/>
            </a:xfrm>
            <a:custGeom>
              <a:avLst/>
              <a:gdLst/>
              <a:ahLst/>
              <a:cxnLst/>
              <a:rect l="l" t="t" r="r" b="b"/>
              <a:pathLst>
                <a:path w="6540500" h="2029460">
                  <a:moveTo>
                    <a:pt x="0" y="2028952"/>
                  </a:moveTo>
                  <a:lnTo>
                    <a:pt x="6540373" y="2028952"/>
                  </a:lnTo>
                  <a:lnTo>
                    <a:pt x="6540373" y="0"/>
                  </a:lnTo>
                  <a:lnTo>
                    <a:pt x="0" y="0"/>
                  </a:lnTo>
                  <a:lnTo>
                    <a:pt x="0" y="2028952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5664200" cy="1165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Thymeleaf</a:t>
            </a:r>
            <a:r>
              <a:rPr sz="1800" b="1" spc="-40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페이지</a:t>
            </a:r>
            <a:r>
              <a:rPr sz="1800" b="1" spc="-3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레이아웃</a:t>
            </a:r>
            <a:endParaRPr sz="1800">
              <a:latin typeface="맑은 고딕"/>
              <a:cs typeface="맑은 고딕"/>
            </a:endParaRPr>
          </a:p>
          <a:p>
            <a:pPr marL="349250">
              <a:lnSpc>
                <a:spcPct val="100000"/>
              </a:lnSpc>
              <a:spcBef>
                <a:spcPts val="2020"/>
              </a:spcBef>
            </a:pPr>
            <a:r>
              <a:rPr sz="1600" b="1" spc="-5" dirty="0">
                <a:solidFill>
                  <a:srgbClr val="C00000"/>
                </a:solidFill>
                <a:latin typeface="맑은 고딕"/>
                <a:cs typeface="맑은 고딕"/>
              </a:rPr>
              <a:t>Thymeleaf</a:t>
            </a:r>
            <a:r>
              <a:rPr sz="1600" b="1" spc="25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맑은 고딕"/>
                <a:cs typeface="맑은 고딕"/>
              </a:rPr>
              <a:t>Layout</a:t>
            </a:r>
            <a:r>
              <a:rPr sz="1600" b="1" spc="1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600" b="1" spc="-5" dirty="0">
                <a:solidFill>
                  <a:srgbClr val="C00000"/>
                </a:solidFill>
                <a:latin typeface="맑은 고딕"/>
                <a:cs typeface="맑은 고딕"/>
              </a:rPr>
              <a:t>Dialect</a:t>
            </a:r>
            <a:r>
              <a:rPr sz="1600" b="1" spc="1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600" b="1" spc="-10" dirty="0">
                <a:solidFill>
                  <a:srgbClr val="C00000"/>
                </a:solidFill>
                <a:latin typeface="맑은 고딕"/>
                <a:cs typeface="맑은 고딕"/>
              </a:rPr>
              <a:t>dependency</a:t>
            </a:r>
            <a:r>
              <a:rPr sz="1600" b="1" spc="1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추가하기</a:t>
            </a:r>
            <a:endParaRPr sz="1600">
              <a:latin typeface="맑은 고딕"/>
              <a:cs typeface="맑은 고딕"/>
            </a:endParaRPr>
          </a:p>
          <a:p>
            <a:pPr marL="27813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맑은 고딕"/>
                <a:cs typeface="맑은 고딕"/>
              </a:rPr>
              <a:t>- 하나의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레이아웃을</a:t>
            </a:r>
            <a:r>
              <a:rPr sz="160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여러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페이지에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똑같이</a:t>
            </a:r>
            <a:r>
              <a:rPr sz="160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적용할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수</a:t>
            </a:r>
            <a:r>
              <a:rPr sz="1600" spc="-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있다.</a:t>
            </a:r>
            <a:endParaRPr sz="16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1384" y="2555430"/>
            <a:ext cx="7441565" cy="1017905"/>
            <a:chOff x="1121384" y="2555430"/>
            <a:chExt cx="7441565" cy="10179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3952" y="2607946"/>
              <a:ext cx="6371996" cy="9385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26147" y="2560192"/>
              <a:ext cx="7432040" cy="1008380"/>
            </a:xfrm>
            <a:custGeom>
              <a:avLst/>
              <a:gdLst/>
              <a:ahLst/>
              <a:cxnLst/>
              <a:rect l="l" t="t" r="r" b="b"/>
              <a:pathLst>
                <a:path w="7432040" h="1008379">
                  <a:moveTo>
                    <a:pt x="0" y="1008379"/>
                  </a:moveTo>
                  <a:lnTo>
                    <a:pt x="7432040" y="1008379"/>
                  </a:lnTo>
                  <a:lnTo>
                    <a:pt x="7432040" y="0"/>
                  </a:lnTo>
                  <a:lnTo>
                    <a:pt x="0" y="0"/>
                  </a:lnTo>
                  <a:lnTo>
                    <a:pt x="0" y="1008379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71079" y="3923512"/>
            <a:ext cx="2409825" cy="1747520"/>
            <a:chOff x="1271079" y="3923512"/>
            <a:chExt cx="2409825" cy="174752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5899" y="3933037"/>
              <a:ext cx="1629666" cy="166553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75841" y="3928274"/>
              <a:ext cx="2400300" cy="1737995"/>
            </a:xfrm>
            <a:custGeom>
              <a:avLst/>
              <a:gdLst/>
              <a:ahLst/>
              <a:cxnLst/>
              <a:rect l="l" t="t" r="r" b="b"/>
              <a:pathLst>
                <a:path w="2400300" h="1737995">
                  <a:moveTo>
                    <a:pt x="0" y="1737741"/>
                  </a:moveTo>
                  <a:lnTo>
                    <a:pt x="2400300" y="1737741"/>
                  </a:lnTo>
                  <a:lnTo>
                    <a:pt x="2400300" y="0"/>
                  </a:lnTo>
                  <a:lnTo>
                    <a:pt x="0" y="0"/>
                  </a:lnTo>
                  <a:lnTo>
                    <a:pt x="0" y="1737741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95750" y="4060342"/>
            <a:ext cx="511619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00" spc="-10" dirty="0">
                <a:latin typeface="맑은 고딕"/>
                <a:cs typeface="맑은 고딕"/>
              </a:rPr>
              <a:t>templates</a:t>
            </a:r>
            <a:r>
              <a:rPr sz="1600" spc="3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아래에</a:t>
            </a:r>
            <a:r>
              <a:rPr sz="1600" spc="15" dirty="0">
                <a:latin typeface="맑은 고딕"/>
                <a:cs typeface="맑은 고딕"/>
              </a:rPr>
              <a:t> </a:t>
            </a:r>
            <a:r>
              <a:rPr sz="1600" spc="-10" dirty="0">
                <a:latin typeface="맑은 고딕"/>
                <a:cs typeface="맑은 고딕"/>
              </a:rPr>
              <a:t>fragments</a:t>
            </a:r>
            <a:r>
              <a:rPr sz="1600" spc="3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폴더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생성후</a:t>
            </a:r>
            <a:r>
              <a:rPr sz="1600" spc="15" dirty="0">
                <a:latin typeface="맑은 고딕"/>
                <a:cs typeface="맑은 고딕"/>
              </a:rPr>
              <a:t> </a:t>
            </a:r>
            <a:r>
              <a:rPr sz="1600" spc="-20" dirty="0">
                <a:latin typeface="맑은 고딕"/>
                <a:cs typeface="맑은 고딕"/>
              </a:rPr>
              <a:t>header.html과 </a:t>
            </a:r>
            <a:r>
              <a:rPr sz="1600" spc="-550" dirty="0">
                <a:latin typeface="맑은 고딕"/>
                <a:cs typeface="맑은 고딕"/>
              </a:rPr>
              <a:t> </a:t>
            </a:r>
            <a:r>
              <a:rPr sz="1600" spc="-20" dirty="0">
                <a:latin typeface="맑은 고딕"/>
                <a:cs typeface="맑은 고딕"/>
              </a:rPr>
              <a:t>footer.html을</a:t>
            </a:r>
            <a:r>
              <a:rPr sz="1600" spc="3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생성.</a:t>
            </a:r>
            <a:endParaRPr sz="1600">
              <a:latin typeface="맑은 고딕"/>
              <a:cs typeface="맑은 고딕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5" dirty="0">
                <a:latin typeface="맑은 고딕"/>
                <a:cs typeface="맑은 고딕"/>
              </a:rPr>
              <a:t>다음</a:t>
            </a:r>
            <a:r>
              <a:rPr sz="1600" spc="-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layouts</a:t>
            </a:r>
            <a:r>
              <a:rPr sz="1600" spc="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폴더를</a:t>
            </a:r>
            <a:r>
              <a:rPr sz="1600" spc="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만들고</a:t>
            </a:r>
            <a:r>
              <a:rPr sz="1600" spc="-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layout1.html</a:t>
            </a:r>
            <a:r>
              <a:rPr sz="1600" spc="35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파일을</a:t>
            </a:r>
            <a:r>
              <a:rPr sz="1600" spc="-10" dirty="0">
                <a:latin typeface="맑은 고딕"/>
                <a:cs typeface="맑은 고딕"/>
              </a:rPr>
              <a:t> </a:t>
            </a:r>
            <a:r>
              <a:rPr sz="1600" spc="-5" dirty="0">
                <a:latin typeface="맑은 고딕"/>
                <a:cs typeface="맑은 고딕"/>
              </a:rPr>
              <a:t>생성함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3204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Thymeleaf</a:t>
            </a:r>
            <a:r>
              <a:rPr sz="1800" b="1" spc="-5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페이지</a:t>
            </a:r>
            <a:r>
              <a:rPr sz="1800" b="1" spc="-4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레이아웃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97876" y="1763204"/>
            <a:ext cx="6710680" cy="1819275"/>
            <a:chOff x="1297876" y="1763204"/>
            <a:chExt cx="6710680" cy="1819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3187" y="1796376"/>
              <a:ext cx="4606590" cy="17530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02638" y="1767967"/>
              <a:ext cx="5339715" cy="1809750"/>
            </a:xfrm>
            <a:custGeom>
              <a:avLst/>
              <a:gdLst/>
              <a:ahLst/>
              <a:cxnLst/>
              <a:rect l="l" t="t" r="r" b="b"/>
              <a:pathLst>
                <a:path w="5339715" h="1809750">
                  <a:moveTo>
                    <a:pt x="0" y="1809750"/>
                  </a:moveTo>
                  <a:lnTo>
                    <a:pt x="5339334" y="1809750"/>
                  </a:lnTo>
                  <a:lnTo>
                    <a:pt x="5339334" y="0"/>
                  </a:lnTo>
                  <a:lnTo>
                    <a:pt x="0" y="0"/>
                  </a:lnTo>
                  <a:lnTo>
                    <a:pt x="0" y="1809750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27648" y="2358390"/>
              <a:ext cx="1674495" cy="314960"/>
            </a:xfrm>
            <a:custGeom>
              <a:avLst/>
              <a:gdLst/>
              <a:ahLst/>
              <a:cxnLst/>
              <a:rect l="l" t="t" r="r" b="b"/>
              <a:pathLst>
                <a:path w="1674495" h="314960">
                  <a:moveTo>
                    <a:pt x="0" y="52324"/>
                  </a:moveTo>
                  <a:lnTo>
                    <a:pt x="4123" y="31932"/>
                  </a:lnTo>
                  <a:lnTo>
                    <a:pt x="15366" y="15303"/>
                  </a:lnTo>
                  <a:lnTo>
                    <a:pt x="32039" y="4103"/>
                  </a:lnTo>
                  <a:lnTo>
                    <a:pt x="52450" y="0"/>
                  </a:lnTo>
                  <a:lnTo>
                    <a:pt x="1621790" y="0"/>
                  </a:lnTo>
                  <a:lnTo>
                    <a:pt x="1642201" y="4103"/>
                  </a:lnTo>
                  <a:lnTo>
                    <a:pt x="1658874" y="15303"/>
                  </a:lnTo>
                  <a:lnTo>
                    <a:pt x="1670117" y="31932"/>
                  </a:lnTo>
                  <a:lnTo>
                    <a:pt x="1674241" y="52324"/>
                  </a:lnTo>
                  <a:lnTo>
                    <a:pt x="1674241" y="262127"/>
                  </a:lnTo>
                  <a:lnTo>
                    <a:pt x="1670117" y="282539"/>
                  </a:lnTo>
                  <a:lnTo>
                    <a:pt x="1658874" y="299212"/>
                  </a:lnTo>
                  <a:lnTo>
                    <a:pt x="1642201" y="310455"/>
                  </a:lnTo>
                  <a:lnTo>
                    <a:pt x="1621790" y="314579"/>
                  </a:lnTo>
                  <a:lnTo>
                    <a:pt x="52450" y="314579"/>
                  </a:lnTo>
                  <a:lnTo>
                    <a:pt x="32039" y="310455"/>
                  </a:lnTo>
                  <a:lnTo>
                    <a:pt x="15366" y="299212"/>
                  </a:lnTo>
                  <a:lnTo>
                    <a:pt x="4123" y="282539"/>
                  </a:lnTo>
                  <a:lnTo>
                    <a:pt x="0" y="262127"/>
                  </a:lnTo>
                  <a:lnTo>
                    <a:pt x="0" y="52324"/>
                  </a:lnTo>
                  <a:close/>
                </a:path>
              </a:pathLst>
            </a:custGeom>
            <a:ln w="127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297876" y="3923550"/>
            <a:ext cx="6710680" cy="1764664"/>
            <a:chOff x="1297876" y="3923550"/>
            <a:chExt cx="6710680" cy="1764664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464" y="3933075"/>
              <a:ext cx="4503841" cy="17451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02638" y="3928313"/>
              <a:ext cx="5443220" cy="1755139"/>
            </a:xfrm>
            <a:custGeom>
              <a:avLst/>
              <a:gdLst/>
              <a:ahLst/>
              <a:cxnLst/>
              <a:rect l="l" t="t" r="r" b="b"/>
              <a:pathLst>
                <a:path w="5443220" h="1755139">
                  <a:moveTo>
                    <a:pt x="0" y="1754631"/>
                  </a:moveTo>
                  <a:lnTo>
                    <a:pt x="5443093" y="1754631"/>
                  </a:lnTo>
                  <a:lnTo>
                    <a:pt x="5443093" y="0"/>
                  </a:lnTo>
                  <a:lnTo>
                    <a:pt x="0" y="0"/>
                  </a:lnTo>
                  <a:lnTo>
                    <a:pt x="0" y="1754631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27648" y="4471543"/>
              <a:ext cx="1674495" cy="314960"/>
            </a:xfrm>
            <a:custGeom>
              <a:avLst/>
              <a:gdLst/>
              <a:ahLst/>
              <a:cxnLst/>
              <a:rect l="l" t="t" r="r" b="b"/>
              <a:pathLst>
                <a:path w="1674495" h="314960">
                  <a:moveTo>
                    <a:pt x="0" y="52450"/>
                  </a:moveTo>
                  <a:lnTo>
                    <a:pt x="4123" y="32039"/>
                  </a:lnTo>
                  <a:lnTo>
                    <a:pt x="15366" y="15366"/>
                  </a:lnTo>
                  <a:lnTo>
                    <a:pt x="32039" y="4123"/>
                  </a:lnTo>
                  <a:lnTo>
                    <a:pt x="52450" y="0"/>
                  </a:lnTo>
                  <a:lnTo>
                    <a:pt x="1621790" y="0"/>
                  </a:lnTo>
                  <a:lnTo>
                    <a:pt x="1642201" y="4123"/>
                  </a:lnTo>
                  <a:lnTo>
                    <a:pt x="1658874" y="15366"/>
                  </a:lnTo>
                  <a:lnTo>
                    <a:pt x="1670117" y="32039"/>
                  </a:lnTo>
                  <a:lnTo>
                    <a:pt x="1674241" y="52450"/>
                  </a:lnTo>
                  <a:lnTo>
                    <a:pt x="1674241" y="262127"/>
                  </a:lnTo>
                  <a:lnTo>
                    <a:pt x="1670117" y="282539"/>
                  </a:lnTo>
                  <a:lnTo>
                    <a:pt x="1658874" y="299211"/>
                  </a:lnTo>
                  <a:lnTo>
                    <a:pt x="1642201" y="310455"/>
                  </a:lnTo>
                  <a:lnTo>
                    <a:pt x="1621790" y="314578"/>
                  </a:lnTo>
                  <a:lnTo>
                    <a:pt x="52450" y="314578"/>
                  </a:lnTo>
                  <a:lnTo>
                    <a:pt x="32039" y="310455"/>
                  </a:lnTo>
                  <a:lnTo>
                    <a:pt x="15366" y="299211"/>
                  </a:lnTo>
                  <a:lnTo>
                    <a:pt x="4123" y="282539"/>
                  </a:lnTo>
                  <a:lnTo>
                    <a:pt x="0" y="262127"/>
                  </a:lnTo>
                  <a:lnTo>
                    <a:pt x="0" y="52450"/>
                  </a:lnTo>
                  <a:close/>
                </a:path>
              </a:pathLst>
            </a:custGeom>
            <a:ln w="127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14921" y="2378455"/>
            <a:ext cx="11004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맑은 고딕"/>
                <a:cs typeface="맑은 고딕"/>
              </a:rPr>
              <a:t>header.html</a:t>
            </a:r>
            <a:endParaRPr sz="1600">
              <a:latin typeface="맑은 고딕"/>
              <a:cs typeface="맑은 고딕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53276" y="4492244"/>
            <a:ext cx="1022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맑은 고딕"/>
                <a:cs typeface="맑은 고딕"/>
              </a:rPr>
              <a:t>footer.html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44270"/>
            <a:ext cx="5037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spc="-5" dirty="0">
                <a:solidFill>
                  <a:srgbClr val="C00000"/>
                </a:solidFill>
                <a:latin typeface="맑은 고딕"/>
                <a:cs typeface="맑은 고딕"/>
              </a:rPr>
              <a:t>layout1</a:t>
            </a:r>
            <a:r>
              <a:rPr sz="1800" b="1" spc="-2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파일을</a:t>
            </a:r>
            <a:r>
              <a:rPr sz="1800" b="1" spc="-2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맑은 고딕"/>
                <a:cs typeface="맑은 고딕"/>
              </a:rPr>
              <a:t>기본(표준)</a:t>
            </a:r>
            <a:r>
              <a:rPr sz="1800" b="1" spc="-15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템플릿이라고도</a:t>
            </a:r>
            <a:r>
              <a:rPr sz="1800" b="1" spc="-30" dirty="0">
                <a:solidFill>
                  <a:srgbClr val="C00000"/>
                </a:solidFill>
                <a:latin typeface="맑은 고딕"/>
                <a:cs typeface="맑은 고딕"/>
              </a:rPr>
              <a:t> </a:t>
            </a:r>
            <a:r>
              <a:rPr sz="1800" b="1" dirty="0">
                <a:solidFill>
                  <a:srgbClr val="C00000"/>
                </a:solidFill>
                <a:latin typeface="맑은 고딕"/>
                <a:cs typeface="맑은 고딕"/>
              </a:rPr>
              <a:t>함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00213" y="1691258"/>
            <a:ext cx="7809865" cy="4180204"/>
            <a:chOff x="1200213" y="1691258"/>
            <a:chExt cx="7809865" cy="41802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9738" y="1700783"/>
              <a:ext cx="6744322" cy="416090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04975" y="1696021"/>
              <a:ext cx="6891020" cy="4170679"/>
            </a:xfrm>
            <a:custGeom>
              <a:avLst/>
              <a:gdLst/>
              <a:ahLst/>
              <a:cxnLst/>
              <a:rect l="l" t="t" r="r" b="b"/>
              <a:pathLst>
                <a:path w="6891020" h="4170679">
                  <a:moveTo>
                    <a:pt x="0" y="4170426"/>
                  </a:moveTo>
                  <a:lnTo>
                    <a:pt x="6891020" y="4170426"/>
                  </a:lnTo>
                  <a:lnTo>
                    <a:pt x="6891020" y="0"/>
                  </a:lnTo>
                  <a:lnTo>
                    <a:pt x="0" y="0"/>
                  </a:lnTo>
                  <a:lnTo>
                    <a:pt x="0" y="4170426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29297" y="2826384"/>
              <a:ext cx="1674495" cy="314960"/>
            </a:xfrm>
            <a:custGeom>
              <a:avLst/>
              <a:gdLst/>
              <a:ahLst/>
              <a:cxnLst/>
              <a:rect l="l" t="t" r="r" b="b"/>
              <a:pathLst>
                <a:path w="1674495" h="314960">
                  <a:moveTo>
                    <a:pt x="0" y="52450"/>
                  </a:moveTo>
                  <a:lnTo>
                    <a:pt x="4123" y="32039"/>
                  </a:lnTo>
                  <a:lnTo>
                    <a:pt x="15367" y="15366"/>
                  </a:lnTo>
                  <a:lnTo>
                    <a:pt x="32039" y="4123"/>
                  </a:lnTo>
                  <a:lnTo>
                    <a:pt x="52450" y="0"/>
                  </a:lnTo>
                  <a:lnTo>
                    <a:pt x="1621662" y="0"/>
                  </a:lnTo>
                  <a:lnTo>
                    <a:pt x="1642074" y="4123"/>
                  </a:lnTo>
                  <a:lnTo>
                    <a:pt x="1658746" y="15366"/>
                  </a:lnTo>
                  <a:lnTo>
                    <a:pt x="1669990" y="32039"/>
                  </a:lnTo>
                  <a:lnTo>
                    <a:pt x="1674113" y="52450"/>
                  </a:lnTo>
                  <a:lnTo>
                    <a:pt x="1674113" y="262127"/>
                  </a:lnTo>
                  <a:lnTo>
                    <a:pt x="1669990" y="282539"/>
                  </a:lnTo>
                  <a:lnTo>
                    <a:pt x="1658747" y="299212"/>
                  </a:lnTo>
                  <a:lnTo>
                    <a:pt x="1642074" y="310455"/>
                  </a:lnTo>
                  <a:lnTo>
                    <a:pt x="1621662" y="314578"/>
                  </a:lnTo>
                  <a:lnTo>
                    <a:pt x="52450" y="314578"/>
                  </a:lnTo>
                  <a:lnTo>
                    <a:pt x="32039" y="310455"/>
                  </a:lnTo>
                  <a:lnTo>
                    <a:pt x="15367" y="299212"/>
                  </a:lnTo>
                  <a:lnTo>
                    <a:pt x="4123" y="282539"/>
                  </a:lnTo>
                  <a:lnTo>
                    <a:pt x="0" y="262127"/>
                  </a:lnTo>
                  <a:lnTo>
                    <a:pt x="0" y="52450"/>
                  </a:lnTo>
                  <a:close/>
                </a:path>
              </a:pathLst>
            </a:custGeom>
            <a:ln w="127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586218" y="2846577"/>
            <a:ext cx="1160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맑은 고딕"/>
                <a:cs typeface="맑은 고딕"/>
              </a:rPr>
              <a:t>layo</a:t>
            </a:r>
            <a:r>
              <a:rPr sz="1600" spc="-5" dirty="0">
                <a:latin typeface="맑은 고딕"/>
                <a:cs typeface="맑은 고딕"/>
              </a:rPr>
              <a:t>ut1.html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6484" y="155829"/>
            <a:ext cx="366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" dirty="0"/>
              <a:t>Thymeleaf(타임</a:t>
            </a:r>
            <a:r>
              <a:rPr spc="-170" dirty="0"/>
              <a:t> </a:t>
            </a:r>
            <a:r>
              <a:rPr spc="5" dirty="0"/>
              <a:t>리프)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7303" y="1130553"/>
            <a:ext cx="3204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b="1" dirty="0">
                <a:latin typeface="맑은 고딕"/>
                <a:cs typeface="맑은 고딕"/>
              </a:rPr>
              <a:t>Thymeleaf</a:t>
            </a:r>
            <a:r>
              <a:rPr sz="1800" b="1" spc="-5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페이지</a:t>
            </a:r>
            <a:r>
              <a:rPr sz="1800" b="1" spc="-45" dirty="0">
                <a:latin typeface="맑은 고딕"/>
                <a:cs typeface="맑은 고딕"/>
              </a:rPr>
              <a:t> </a:t>
            </a:r>
            <a:r>
              <a:rPr sz="1800" b="1" dirty="0">
                <a:latin typeface="맑은 고딕"/>
                <a:cs typeface="맑은 고딕"/>
              </a:rPr>
              <a:t>레이아웃</a:t>
            </a:r>
            <a:endParaRPr sz="1800">
              <a:latin typeface="맑은 고딕"/>
              <a:cs typeface="맑은 고딕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9057" y="1824037"/>
            <a:ext cx="7811134" cy="2005330"/>
            <a:chOff x="1199057" y="1824037"/>
            <a:chExt cx="7811134" cy="20053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8582" y="1833499"/>
              <a:ext cx="6506115" cy="198577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03820" y="1828800"/>
              <a:ext cx="6724650" cy="1995805"/>
            </a:xfrm>
            <a:custGeom>
              <a:avLst/>
              <a:gdLst/>
              <a:ahLst/>
              <a:cxnLst/>
              <a:rect l="l" t="t" r="r" b="b"/>
              <a:pathLst>
                <a:path w="6724650" h="1995804">
                  <a:moveTo>
                    <a:pt x="0" y="1995297"/>
                  </a:moveTo>
                  <a:lnTo>
                    <a:pt x="6724269" y="1995297"/>
                  </a:lnTo>
                  <a:lnTo>
                    <a:pt x="6724269" y="0"/>
                  </a:lnTo>
                  <a:lnTo>
                    <a:pt x="0" y="0"/>
                  </a:lnTo>
                  <a:lnTo>
                    <a:pt x="0" y="1995297"/>
                  </a:lnTo>
                  <a:close/>
                </a:path>
              </a:pathLst>
            </a:custGeom>
            <a:ln w="952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29297" y="2826385"/>
              <a:ext cx="1674495" cy="314960"/>
            </a:xfrm>
            <a:custGeom>
              <a:avLst/>
              <a:gdLst/>
              <a:ahLst/>
              <a:cxnLst/>
              <a:rect l="l" t="t" r="r" b="b"/>
              <a:pathLst>
                <a:path w="1674495" h="314960">
                  <a:moveTo>
                    <a:pt x="0" y="52450"/>
                  </a:moveTo>
                  <a:lnTo>
                    <a:pt x="4123" y="32039"/>
                  </a:lnTo>
                  <a:lnTo>
                    <a:pt x="15367" y="15366"/>
                  </a:lnTo>
                  <a:lnTo>
                    <a:pt x="32039" y="4123"/>
                  </a:lnTo>
                  <a:lnTo>
                    <a:pt x="52450" y="0"/>
                  </a:lnTo>
                  <a:lnTo>
                    <a:pt x="1621662" y="0"/>
                  </a:lnTo>
                  <a:lnTo>
                    <a:pt x="1642074" y="4123"/>
                  </a:lnTo>
                  <a:lnTo>
                    <a:pt x="1658746" y="15366"/>
                  </a:lnTo>
                  <a:lnTo>
                    <a:pt x="1669990" y="32039"/>
                  </a:lnTo>
                  <a:lnTo>
                    <a:pt x="1674113" y="52450"/>
                  </a:lnTo>
                  <a:lnTo>
                    <a:pt x="1674113" y="262127"/>
                  </a:lnTo>
                  <a:lnTo>
                    <a:pt x="1669990" y="282539"/>
                  </a:lnTo>
                  <a:lnTo>
                    <a:pt x="1658747" y="299212"/>
                  </a:lnTo>
                  <a:lnTo>
                    <a:pt x="1642074" y="310455"/>
                  </a:lnTo>
                  <a:lnTo>
                    <a:pt x="1621662" y="314578"/>
                  </a:lnTo>
                  <a:lnTo>
                    <a:pt x="52450" y="314578"/>
                  </a:lnTo>
                  <a:lnTo>
                    <a:pt x="32039" y="310455"/>
                  </a:lnTo>
                  <a:lnTo>
                    <a:pt x="15367" y="299212"/>
                  </a:lnTo>
                  <a:lnTo>
                    <a:pt x="4123" y="282539"/>
                  </a:lnTo>
                  <a:lnTo>
                    <a:pt x="0" y="262127"/>
                  </a:lnTo>
                  <a:lnTo>
                    <a:pt x="0" y="52450"/>
                  </a:lnTo>
                  <a:close/>
                </a:path>
              </a:pathLst>
            </a:custGeom>
            <a:ln w="127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552257" y="4283544"/>
            <a:ext cx="3856990" cy="1459230"/>
            <a:chOff x="1552257" y="4283544"/>
            <a:chExt cx="3856990" cy="14592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1845" y="4301693"/>
              <a:ext cx="3837559" cy="10262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557019" y="4288307"/>
              <a:ext cx="3847465" cy="1449705"/>
            </a:xfrm>
            <a:custGeom>
              <a:avLst/>
              <a:gdLst/>
              <a:ahLst/>
              <a:cxnLst/>
              <a:rect l="l" t="t" r="r" b="b"/>
              <a:pathLst>
                <a:path w="3847465" h="1449704">
                  <a:moveTo>
                    <a:pt x="0" y="1449705"/>
                  </a:moveTo>
                  <a:lnTo>
                    <a:pt x="3847083" y="1449705"/>
                  </a:lnTo>
                  <a:lnTo>
                    <a:pt x="3847083" y="0"/>
                  </a:lnTo>
                  <a:lnTo>
                    <a:pt x="0" y="0"/>
                  </a:lnTo>
                  <a:lnTo>
                    <a:pt x="0" y="1449705"/>
                  </a:lnTo>
                  <a:close/>
                </a:path>
              </a:pathLst>
            </a:custGeom>
            <a:ln w="952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767573" y="2846577"/>
            <a:ext cx="799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맑은 고딕"/>
                <a:cs typeface="맑은 고딕"/>
              </a:rPr>
              <a:t>ex5.</a:t>
            </a:r>
            <a:r>
              <a:rPr sz="1600" spc="-5" dirty="0">
                <a:latin typeface="맑은 고딕"/>
                <a:cs typeface="맑은 고딕"/>
              </a:rPr>
              <a:t>html</a:t>
            </a:r>
            <a:endParaRPr sz="1600">
              <a:latin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513</Words>
  <Application>Microsoft Office PowerPoint</Application>
  <PresentationFormat>A4 용지(210x297mm)</PresentationFormat>
  <Paragraphs>98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9" baseType="lpstr">
      <vt:lpstr>맑은 고딕</vt:lpstr>
      <vt:lpstr>휴먼모음T</vt:lpstr>
      <vt:lpstr>휴먼엑스포</vt:lpstr>
      <vt:lpstr>Calibri</vt:lpstr>
      <vt:lpstr>Wingdings</vt:lpstr>
      <vt:lpstr>Office Theme</vt:lpstr>
      <vt:lpstr>7장. Thymeleaf 페이지 레이아웃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  <vt:lpstr>Thymeleaf(타임 리프)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1</cp:revision>
  <dcterms:created xsi:type="dcterms:W3CDTF">2022-10-07T00:35:44Z</dcterms:created>
  <dcterms:modified xsi:type="dcterms:W3CDTF">2025-10-10T07:58:42Z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2022-10-07T00:00:00Z</vt:filetime>
  </property>
</Properties>
</file>