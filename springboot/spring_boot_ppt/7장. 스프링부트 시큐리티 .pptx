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3"/>
  </p:notesMasterIdLst>
  <p:sldIdLst>
    <p:sldId id="256" r:id="rId2"/>
    <p:sldId id="413" r:id="rId3"/>
    <p:sldId id="551" r:id="rId4"/>
    <p:sldId id="412" r:id="rId5"/>
    <p:sldId id="506" r:id="rId6"/>
    <p:sldId id="494" r:id="rId7"/>
    <p:sldId id="507" r:id="rId8"/>
    <p:sldId id="416" r:id="rId9"/>
    <p:sldId id="472" r:id="rId10"/>
    <p:sldId id="417" r:id="rId11"/>
    <p:sldId id="547" r:id="rId12"/>
    <p:sldId id="467" r:id="rId13"/>
    <p:sldId id="546" r:id="rId14"/>
    <p:sldId id="465" r:id="rId15"/>
    <p:sldId id="508" r:id="rId16"/>
    <p:sldId id="550" r:id="rId17"/>
    <p:sldId id="473" r:id="rId18"/>
    <p:sldId id="509" r:id="rId19"/>
    <p:sldId id="497" r:id="rId20"/>
    <p:sldId id="498" r:id="rId21"/>
    <p:sldId id="499" r:id="rId22"/>
    <p:sldId id="501" r:id="rId23"/>
    <p:sldId id="504" r:id="rId24"/>
    <p:sldId id="502" r:id="rId25"/>
    <p:sldId id="505" r:id="rId26"/>
    <p:sldId id="478" r:id="rId27"/>
    <p:sldId id="434" r:id="rId28"/>
    <p:sldId id="535" r:id="rId29"/>
    <p:sldId id="534" r:id="rId30"/>
    <p:sldId id="511" r:id="rId31"/>
    <p:sldId id="510" r:id="rId32"/>
    <p:sldId id="512" r:id="rId33"/>
    <p:sldId id="482" r:id="rId34"/>
    <p:sldId id="513" r:id="rId35"/>
    <p:sldId id="514" r:id="rId36"/>
    <p:sldId id="515" r:id="rId37"/>
    <p:sldId id="516" r:id="rId38"/>
    <p:sldId id="536" r:id="rId39"/>
    <p:sldId id="517" r:id="rId40"/>
    <p:sldId id="565" r:id="rId41"/>
    <p:sldId id="561" r:id="rId42"/>
    <p:sldId id="484" r:id="rId43"/>
    <p:sldId id="518" r:id="rId44"/>
    <p:sldId id="519" r:id="rId45"/>
    <p:sldId id="520" r:id="rId46"/>
    <p:sldId id="555" r:id="rId47"/>
    <p:sldId id="556" r:id="rId48"/>
    <p:sldId id="557" r:id="rId49"/>
    <p:sldId id="522" r:id="rId50"/>
    <p:sldId id="523" r:id="rId51"/>
    <p:sldId id="524" r:id="rId52"/>
    <p:sldId id="562" r:id="rId53"/>
    <p:sldId id="552" r:id="rId54"/>
    <p:sldId id="526" r:id="rId55"/>
    <p:sldId id="525" r:id="rId56"/>
    <p:sldId id="558" r:id="rId57"/>
    <p:sldId id="559" r:id="rId58"/>
    <p:sldId id="560" r:id="rId59"/>
    <p:sldId id="527" r:id="rId60"/>
    <p:sldId id="529" r:id="rId61"/>
    <p:sldId id="528" r:id="rId62"/>
    <p:sldId id="537" r:id="rId63"/>
    <p:sldId id="538" r:id="rId64"/>
    <p:sldId id="539" r:id="rId65"/>
    <p:sldId id="540" r:id="rId66"/>
    <p:sldId id="541" r:id="rId67"/>
    <p:sldId id="542" r:id="rId68"/>
    <p:sldId id="544" r:id="rId69"/>
    <p:sldId id="543" r:id="rId70"/>
    <p:sldId id="564" r:id="rId71"/>
    <p:sldId id="563" r:id="rId7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 autoAdjust="0"/>
    <p:restoredTop sz="94660"/>
  </p:normalViewPr>
  <p:slideViewPr>
    <p:cSldViewPr>
      <p:cViewPr varScale="1">
        <p:scale>
          <a:sx n="88" d="100"/>
          <a:sy n="88" d="100"/>
        </p:scale>
        <p:origin x="883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7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8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authentication</a:t>
            </a:r>
            <a:endParaRPr lang="ko-KR" altLang="en-US" sz="18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인증과 인가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556792"/>
            <a:ext cx="7920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인증을 통해 사용자를 식별하고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인가를 통해 시스템 자원에 대한 접근을 통제한다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C00000"/>
                </a:solidFill>
              </a:rPr>
              <a:t>인증</a:t>
            </a:r>
            <a:r>
              <a:rPr lang="en-US" altLang="ko-KR" sz="1600" b="1" dirty="0">
                <a:solidFill>
                  <a:srgbClr val="C00000"/>
                </a:solidFill>
              </a:rPr>
              <a:t>(Authentication)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어떤 직원이 회사 건물에 들어가기 위해서는 </a:t>
            </a:r>
            <a:r>
              <a:rPr lang="ko-KR" altLang="en-US" sz="1600" dirty="0" err="1" smtClean="0"/>
              <a:t>사원증이나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RFID </a:t>
            </a:r>
            <a:r>
              <a:rPr lang="ko-KR" altLang="en-US" sz="1600" dirty="0" smtClean="0"/>
              <a:t>카드를 이용해서 반드시 인증에 통과해야 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인증에 실패한 사람이 회사 건물에 들어가려고 하면 당연히 보안 직원이 </a:t>
            </a:r>
            <a:r>
              <a:rPr lang="ko-KR" altLang="en-US" sz="1600" dirty="0"/>
              <a:t>재</a:t>
            </a:r>
            <a:r>
              <a:rPr lang="ko-KR" altLang="en-US" sz="1600" dirty="0" smtClean="0"/>
              <a:t>제할 것이다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C00000"/>
                </a:solidFill>
              </a:rPr>
              <a:t>인가</a:t>
            </a:r>
            <a:r>
              <a:rPr lang="en-US" altLang="ko-KR" sz="1600" b="1" dirty="0">
                <a:solidFill>
                  <a:srgbClr val="C00000"/>
                </a:solidFill>
              </a:rPr>
              <a:t>(Authorization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)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그리고 직급과 직무에 따라 부여된 권한이 다르기 때문에 회사 내에서 열람할 수 있는 문서의 종류도 제한되어 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이렇게 직원이 특정 자원에 접근할 때 적절한 권한이 있는지 확인하는 과정을 인가라고 할 수 있다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884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34678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계층 구조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534726"/>
            <a:ext cx="3629083" cy="47025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823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2329" y="994487"/>
            <a:ext cx="71467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Home page </a:t>
            </a:r>
            <a:r>
              <a:rPr lang="ko-KR" altLang="en-US" sz="2000" b="1" dirty="0" smtClean="0"/>
              <a:t>생성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2880320" cy="10842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502" y="2996952"/>
            <a:ext cx="4017534" cy="21602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032" y="3501008"/>
            <a:ext cx="4032448" cy="22673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2329" y="994487"/>
            <a:ext cx="714679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spring security </a:t>
            </a:r>
            <a:r>
              <a:rPr lang="ko-KR" altLang="en-US" sz="2000" b="1" dirty="0" smtClean="0"/>
              <a:t>설정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 smtClean="0"/>
              <a:t>시큐리티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스타터</a:t>
            </a:r>
            <a:r>
              <a:rPr lang="ko-KR" altLang="en-US" b="1" dirty="0" smtClean="0"/>
              <a:t> 추가 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2204864"/>
            <a:ext cx="3888432" cy="1771202"/>
          </a:xfrm>
          <a:prstGeom prst="rect">
            <a:avLst/>
          </a:prstGeom>
        </p:spPr>
      </p:pic>
      <p:sp>
        <p:nvSpPr>
          <p:cNvPr id="3" name="아래쪽 화살표 2"/>
          <p:cNvSpPr/>
          <p:nvPr/>
        </p:nvSpPr>
        <p:spPr>
          <a:xfrm>
            <a:off x="3574938" y="3885662"/>
            <a:ext cx="144016" cy="360040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41499"/>
          <a:stretch/>
        </p:blipFill>
        <p:spPr>
          <a:xfrm>
            <a:off x="1784648" y="4437112"/>
            <a:ext cx="4968552" cy="136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1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2329" y="994487"/>
            <a:ext cx="7146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spring security </a:t>
            </a:r>
            <a:r>
              <a:rPr lang="ko-KR" altLang="en-US" sz="2000" b="1" dirty="0" smtClean="0"/>
              <a:t>설정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p</a:t>
            </a:r>
            <a:r>
              <a:rPr lang="en-US" altLang="ko-KR" sz="2000" b="1" dirty="0" smtClean="0"/>
              <a:t>om.xml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2177053"/>
            <a:ext cx="7704856" cy="23777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0728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2329" y="994487"/>
            <a:ext cx="71467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spring security </a:t>
            </a:r>
            <a:r>
              <a:rPr lang="ko-KR" altLang="en-US" sz="2000" b="1" dirty="0" smtClean="0"/>
              <a:t>실행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2166471"/>
            <a:ext cx="8112405" cy="2126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모서리가 둥근 직사각형 3"/>
          <p:cNvSpPr/>
          <p:nvPr/>
        </p:nvSpPr>
        <p:spPr>
          <a:xfrm>
            <a:off x="3728864" y="2022455"/>
            <a:ext cx="5616624" cy="792088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41232" y="1655884"/>
            <a:ext cx="223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비밀번호 자동 생성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8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제공된 로그인 폼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3127376"/>
            <a:ext cx="3600400" cy="21818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3145632"/>
            <a:ext cx="3147832" cy="2587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592" y="1497480"/>
            <a:ext cx="78488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/>
              <a:t>메인 </a:t>
            </a:r>
            <a:r>
              <a:rPr lang="ko-KR" altLang="en-US" b="1" dirty="0" err="1" smtClean="0"/>
              <a:t>앱을</a:t>
            </a:r>
            <a:r>
              <a:rPr lang="ko-KR" altLang="en-US" b="1" dirty="0" smtClean="0"/>
              <a:t> 실행하고 브라우저를 새로 열어서 </a:t>
            </a:r>
            <a:r>
              <a:rPr lang="en-US" altLang="ko-KR" b="1" dirty="0" smtClean="0"/>
              <a:t>hello.html </a:t>
            </a:r>
            <a:r>
              <a:rPr lang="ko-KR" altLang="en-US" b="1" dirty="0" smtClean="0"/>
              <a:t>요청하면</a:t>
            </a:r>
            <a:r>
              <a:rPr lang="en-US" altLang="ko-KR" b="1" dirty="0"/>
              <a:t> </a:t>
            </a:r>
            <a:r>
              <a:rPr lang="ko-KR" altLang="en-US" b="1" dirty="0" smtClean="0"/>
              <a:t>스프링 </a:t>
            </a:r>
            <a:r>
              <a:rPr lang="ko-KR" altLang="en-US" b="1" dirty="0" err="1" smtClean="0"/>
              <a:t>시큐리티가</a:t>
            </a:r>
            <a:r>
              <a:rPr lang="ko-KR" altLang="en-US" b="1" dirty="0" smtClean="0"/>
              <a:t> 제공하는 기본 로그인 화면이 제공됨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</a:rPr>
              <a:t>Username</a:t>
            </a:r>
            <a:r>
              <a:rPr lang="ko-KR" altLang="en-US" b="1" dirty="0" smtClean="0">
                <a:solidFill>
                  <a:srgbClr val="C00000"/>
                </a:solidFill>
              </a:rPr>
              <a:t>에 </a:t>
            </a:r>
            <a:r>
              <a:rPr lang="en-US" altLang="ko-KR" b="1" dirty="0" smtClean="0">
                <a:solidFill>
                  <a:srgbClr val="C00000"/>
                </a:solidFill>
              </a:rPr>
              <a:t>‘user’, Password</a:t>
            </a:r>
            <a:r>
              <a:rPr lang="ko-KR" altLang="en-US" b="1" dirty="0" smtClean="0">
                <a:solidFill>
                  <a:srgbClr val="C00000"/>
                </a:solidFill>
              </a:rPr>
              <a:t>에 콘솔에서 복사한 암호를 입력함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27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8496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참조 </a:t>
            </a:r>
            <a:r>
              <a:rPr lang="ko-KR" altLang="en-US" sz="2000" b="1" dirty="0" err="1" smtClean="0"/>
              <a:t>메뉴얼</a:t>
            </a:r>
            <a:endParaRPr lang="en-US" altLang="ko-KR" sz="2000" b="1" dirty="0" smtClean="0"/>
          </a:p>
          <a:p>
            <a:pPr>
              <a:lnSpc>
                <a:spcPct val="150000"/>
              </a:lnSpc>
            </a:pPr>
            <a:r>
              <a:rPr lang="en-US" altLang="ko-KR" sz="2000" b="1" dirty="0" smtClean="0"/>
              <a:t>   </a:t>
            </a:r>
            <a:r>
              <a:rPr lang="en-US" altLang="ko-KR" b="1" dirty="0" smtClean="0"/>
              <a:t>Spring.io &gt; Learn &gt; Guides &gt; sec</a:t>
            </a:r>
            <a:r>
              <a:rPr lang="ko-KR" altLang="en-US" b="1" dirty="0" smtClean="0"/>
              <a:t>로 검색</a:t>
            </a:r>
            <a:r>
              <a:rPr lang="en-US" altLang="ko-KR" b="1" dirty="0"/>
              <a:t> </a:t>
            </a:r>
            <a:r>
              <a:rPr lang="en-US" altLang="ko-KR" b="1" dirty="0" smtClean="0"/>
              <a:t>&gt; Securing a </a:t>
            </a:r>
            <a:r>
              <a:rPr lang="en-US" altLang="ko-KR" b="1" dirty="0"/>
              <a:t>W</a:t>
            </a:r>
            <a:r>
              <a:rPr lang="en-US" altLang="ko-KR" b="1" dirty="0" smtClean="0"/>
              <a:t>eb Application </a:t>
            </a:r>
            <a:endParaRPr lang="en-US" altLang="ko-KR" sz="2000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433" y="1996391"/>
            <a:ext cx="6497260" cy="4320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464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90290"/>
            <a:ext cx="33123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시큐리티</a:t>
            </a:r>
            <a:r>
              <a:rPr lang="ko-KR" altLang="en-US" sz="2000" b="1" dirty="0" smtClean="0"/>
              <a:t> 설정파일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023032" y="4227734"/>
            <a:ext cx="8064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 smtClean="0">
                <a:solidFill>
                  <a:srgbClr val="C00000"/>
                </a:solidFill>
              </a:rPr>
              <a:t>SecurityFilterChain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클래스가 빈으로 등록되</a:t>
            </a:r>
            <a:r>
              <a:rPr lang="ko-KR" altLang="en-US" sz="1600" b="1" dirty="0">
                <a:solidFill>
                  <a:srgbClr val="C00000"/>
                </a:solidFill>
              </a:rPr>
              <a:t>면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 애플리케이션에서는 더 이상 </a:t>
            </a:r>
            <a:r>
              <a:rPr lang="ko-KR" altLang="en-US" sz="1600" b="1" dirty="0" err="1" smtClean="0">
                <a:solidFill>
                  <a:srgbClr val="C00000"/>
                </a:solidFill>
              </a:rPr>
              <a:t>로그인을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 요구하지 않는다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38" y="1628800"/>
            <a:ext cx="8465066" cy="2185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584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시큐리티</a:t>
            </a:r>
            <a:r>
              <a:rPr lang="ko-KR" altLang="en-US" sz="2000" b="1" dirty="0" smtClean="0"/>
              <a:t> 전반 동작 개요</a:t>
            </a:r>
            <a:endParaRPr lang="en-US" altLang="ko-KR" sz="2000" b="1" dirty="0" smtClean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1208584" y="1772816"/>
          <a:ext cx="7848872" cy="29873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구 분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 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SecurityConfig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스프링 </a:t>
                      </a:r>
                      <a:r>
                        <a:rPr lang="ko-KR" altLang="en-US" sz="1600" b="0" dirty="0" err="1" smtClean="0"/>
                        <a:t>시큐리티</a:t>
                      </a:r>
                      <a:r>
                        <a:rPr lang="ko-KR" altLang="en-US" sz="1600" b="0" dirty="0" smtClean="0"/>
                        <a:t> 전반 설정 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en-US" altLang="ko-KR" sz="1600" b="0" dirty="0" err="1" smtClean="0"/>
                        <a:t>formLogin</a:t>
                      </a:r>
                      <a:r>
                        <a:rPr lang="en-US" altLang="ko-KR" sz="1600" b="0" dirty="0" smtClean="0"/>
                        <a:t>, logout, </a:t>
                      </a:r>
                      <a:r>
                        <a:rPr lang="ko-KR" altLang="en-US" sz="1600" b="0" dirty="0" err="1" smtClean="0"/>
                        <a:t>권한별</a:t>
                      </a:r>
                      <a:r>
                        <a:rPr lang="ko-KR" altLang="en-US" sz="1600" b="0" dirty="0" smtClean="0"/>
                        <a:t> </a:t>
                      </a:r>
                      <a:endParaRPr lang="en-US" altLang="ko-KR" sz="1600" b="0" dirty="0" smtClean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접근제한</a:t>
                      </a:r>
                      <a:r>
                        <a:rPr lang="en-US" altLang="ko-KR" sz="1600" b="0" dirty="0" smtClean="0"/>
                        <a:t>)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CustomUserDetails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DB </a:t>
                      </a:r>
                      <a:r>
                        <a:rPr lang="ko-KR" altLang="en-US" sz="1600" b="0" dirty="0" smtClean="0"/>
                        <a:t>회원정보</a:t>
                      </a:r>
                      <a:r>
                        <a:rPr lang="en-US" altLang="ko-KR" sz="1600" b="0" dirty="0" smtClean="0"/>
                        <a:t>(Member)</a:t>
                      </a:r>
                      <a:r>
                        <a:rPr lang="ko-KR" altLang="en-US" sz="1600" b="0" dirty="0" smtClean="0"/>
                        <a:t>를 </a:t>
                      </a:r>
                      <a:r>
                        <a:rPr lang="en-US" altLang="ko-KR" sz="1600" b="0" dirty="0" err="1" smtClean="0"/>
                        <a:t>UserDetails</a:t>
                      </a: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객체로 감싸 </a:t>
                      </a:r>
                      <a:r>
                        <a:rPr lang="ko-KR" altLang="en-US" sz="1600" b="0" dirty="0" err="1" smtClean="0"/>
                        <a:t>시큐</a:t>
                      </a:r>
                      <a:endParaRPr lang="en-US" altLang="ko-KR" sz="1600" b="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리티에서</a:t>
                      </a:r>
                      <a:r>
                        <a:rPr lang="ko-KR" altLang="en-US" sz="1600" b="0" dirty="0" smtClean="0"/>
                        <a:t> 인증 처리 가능하게 함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Thymeleaf</a:t>
                      </a: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보안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en-US" altLang="ko-KR" sz="1600" b="0" dirty="0" err="1" smtClean="0"/>
                        <a:t>sec:authorize</a:t>
                      </a:r>
                      <a:r>
                        <a:rPr lang="en-US" altLang="ko-KR" sz="1600" b="0" dirty="0" smtClean="0"/>
                        <a:t>, ${#authentication.principal.name}</a:t>
                      </a:r>
                      <a:r>
                        <a:rPr lang="ko-KR" altLang="en-US" sz="1600" b="0" dirty="0" smtClean="0"/>
                        <a:t>을 통해 로그인 상태 표시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29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4528" y="904945"/>
            <a:ext cx="619268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HttpSecurity</a:t>
            </a:r>
            <a:r>
              <a:rPr lang="ko-KR" altLang="en-US" sz="2000" b="1" dirty="0" smtClean="0"/>
              <a:t>가 제공하는 주요 </a:t>
            </a:r>
            <a:r>
              <a:rPr lang="ko-KR" altLang="en-US" sz="2000" b="1" dirty="0" err="1" smtClean="0"/>
              <a:t>메소드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27003"/>
              </p:ext>
            </p:extLst>
          </p:nvPr>
        </p:nvGraphicFramePr>
        <p:xfrm>
          <a:off x="992560" y="1628800"/>
          <a:ext cx="8496943" cy="4615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7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메서드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사용가능한</a:t>
                      </a:r>
                      <a:r>
                        <a:rPr lang="ko-KR" altLang="en-US" sz="1600" dirty="0" smtClean="0"/>
                        <a:t> 메서드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의미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36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authorizeHttpRequests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 smtClean="0"/>
                        <a:t>사용자 인증과 권한을 설정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6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requestMatchers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dirty="0" smtClean="0"/>
                        <a:t>(“</a:t>
                      </a:r>
                      <a:r>
                        <a:rPr lang="en-US" altLang="ko-KR" sz="1800" b="0" dirty="0" err="1" smtClean="0"/>
                        <a:t>url</a:t>
                      </a:r>
                      <a:r>
                        <a:rPr lang="ko-KR" altLang="en-US" sz="1800" b="0" dirty="0" smtClean="0"/>
                        <a:t>패턴</a:t>
                      </a:r>
                      <a:r>
                        <a:rPr lang="en-US" altLang="ko-KR" sz="1800" b="0" dirty="0" smtClean="0"/>
                        <a:t>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/>
                        <a:t>매칭되는 </a:t>
                      </a:r>
                      <a:r>
                        <a:rPr lang="en-US" altLang="ko-KR" sz="1600" b="0" dirty="0" err="1" smtClean="0"/>
                        <a:t>url</a:t>
                      </a: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패터들에</a:t>
                      </a:r>
                      <a:r>
                        <a:rPr lang="ko-KR" altLang="en-US" sz="1600" b="0" dirty="0" smtClean="0"/>
                        <a:t> 대한 접근 허용</a:t>
                      </a:r>
                      <a:endParaRPr lang="en-US" altLang="ko-KR" sz="1600" b="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err="1" smtClean="0"/>
                        <a:t>permitAll</a:t>
                      </a:r>
                      <a:r>
                        <a:rPr lang="en-US" altLang="ko-KR" sz="1600" b="0" dirty="0" smtClean="0"/>
                        <a:t>()</a:t>
                      </a:r>
                      <a:r>
                        <a:rPr lang="ko-KR" altLang="en-US" sz="1600" b="0" dirty="0" smtClean="0"/>
                        <a:t>은 모든 사용자에게 접근 허용</a:t>
                      </a:r>
                      <a:endParaRPr lang="en-US" altLang="ko-KR" sz="1600" b="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err="1" smtClean="0"/>
                        <a:t>hasRole</a:t>
                      </a:r>
                      <a:r>
                        <a:rPr lang="en-US" altLang="ko-KR" sz="1600" b="0" dirty="0" smtClean="0"/>
                        <a:t>(“</a:t>
                      </a:r>
                      <a:r>
                        <a:rPr lang="ko-KR" altLang="en-US" sz="1600" b="0" dirty="0" smtClean="0"/>
                        <a:t>권한</a:t>
                      </a:r>
                      <a:r>
                        <a:rPr lang="en-US" altLang="ko-KR" sz="1600" b="0" dirty="0" smtClean="0"/>
                        <a:t>”)</a:t>
                      </a:r>
                      <a:r>
                        <a:rPr lang="ko-KR" altLang="en-US" sz="1600" b="0" dirty="0" smtClean="0"/>
                        <a:t>은</a:t>
                      </a: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특정 권한을 가진 사용자만 접근 허용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formLogin</a:t>
                      </a:r>
                      <a:r>
                        <a:rPr lang="en-US" altLang="ko-KR" sz="1800" b="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/>
                        <a:t>로그인 페이지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614">
                <a:tc>
                  <a:txBody>
                    <a:bodyPr/>
                    <a:lstStyle/>
                    <a:p>
                      <a:pPr algn="l" latinLnBrk="1"/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loginPage</a:t>
                      </a:r>
                      <a:r>
                        <a:rPr lang="en-US" altLang="ko-KR" sz="1800" b="0" dirty="0" smtClean="0"/>
                        <a:t>(“/login”)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err="1" smtClean="0"/>
                        <a:t>로그인이</a:t>
                      </a:r>
                      <a:r>
                        <a:rPr lang="ko-KR" altLang="en-US" sz="1600" b="0" dirty="0" smtClean="0"/>
                        <a:t> 필요한 </a:t>
                      </a:r>
                      <a:r>
                        <a:rPr lang="en-US" altLang="ko-KR" sz="1600" b="0" dirty="0" err="1" smtClean="0"/>
                        <a:t>url</a:t>
                      </a:r>
                      <a:r>
                        <a:rPr lang="ko-KR" altLang="en-US" sz="1600" b="0" dirty="0" smtClean="0"/>
                        <a:t>로 접근하면 </a:t>
                      </a:r>
                      <a:r>
                        <a:rPr lang="en-US" altLang="ko-KR" sz="1600" b="0" dirty="0" smtClean="0"/>
                        <a:t>‘/login’ </a:t>
                      </a:r>
                      <a:r>
                        <a:rPr lang="ko-KR" altLang="en-US" sz="1600" b="0" dirty="0" smtClean="0"/>
                        <a:t>화면으로 이동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614">
                <a:tc>
                  <a:txBody>
                    <a:bodyPr/>
                    <a:lstStyle/>
                    <a:p>
                      <a:pPr algn="l" latinLnBrk="1"/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loginProcessUrl</a:t>
                      </a:r>
                      <a:r>
                        <a:rPr lang="en-US" altLang="ko-KR" sz="1800" b="0" dirty="0" smtClean="0"/>
                        <a:t>(</a:t>
                      </a:r>
                    </a:p>
                    <a:p>
                      <a:pPr algn="l" latinLnBrk="1"/>
                      <a:r>
                        <a:rPr lang="en-US" altLang="ko-KR" sz="1800" b="0" dirty="0" smtClean="0"/>
                        <a:t>  “/</a:t>
                      </a:r>
                      <a:r>
                        <a:rPr lang="en-US" altLang="ko-KR" sz="1800" b="0" dirty="0" err="1" smtClean="0"/>
                        <a:t>perform_login</a:t>
                      </a:r>
                      <a:r>
                        <a:rPr lang="en-US" altLang="ko-KR" sz="1800" b="0" dirty="0" smtClean="0"/>
                        <a:t>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/</a:t>
                      </a:r>
                      <a:r>
                        <a:rPr lang="en-US" altLang="ko-KR" sz="1600" b="0" dirty="0" err="1" smtClean="0"/>
                        <a:t>perform</a:t>
                      </a:r>
                      <a:r>
                        <a:rPr lang="en-US" altLang="ko-KR" sz="1600" b="0" baseline="0" dirty="0" err="1" smtClean="0"/>
                        <a:t>_login</a:t>
                      </a:r>
                      <a:r>
                        <a:rPr lang="ko-KR" altLang="en-US" sz="1600" b="0" baseline="0" dirty="0" smtClean="0"/>
                        <a:t>을 </a:t>
                      </a:r>
                      <a:r>
                        <a:rPr lang="en-US" altLang="ko-KR" sz="1600" b="0" baseline="0" dirty="0" smtClean="0"/>
                        <a:t>action </a:t>
                      </a:r>
                      <a:r>
                        <a:rPr lang="ko-KR" altLang="en-US" sz="1600" b="0" baseline="0" dirty="0" smtClean="0"/>
                        <a:t>경로로 로그인 처리됨</a:t>
                      </a:r>
                      <a:endParaRPr lang="ko-KR" altLang="en-US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0006822"/>
                  </a:ext>
                </a:extLst>
              </a:tr>
              <a:tr h="395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logout()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/>
                        <a:t>로그아웃 페이지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14">
                <a:tc>
                  <a:txBody>
                    <a:bodyPr/>
                    <a:lstStyle/>
                    <a:p>
                      <a:pPr algn="l" latinLnBrk="1"/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logoutUrl</a:t>
                      </a:r>
                      <a:r>
                        <a:rPr lang="en-US" altLang="ko-KR" sz="1800" b="0" dirty="0" smtClean="0"/>
                        <a:t>(“/logout”)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/>
                        <a:t>로그아웃을 처리하는 페이지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57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4528" y="904945"/>
            <a:ext cx="619268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sec:authorize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보안 조건부 렌더링 </a:t>
            </a:r>
            <a:endParaRPr lang="ko-KR" altLang="en-US" sz="20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835082"/>
              </p:ext>
            </p:extLst>
          </p:nvPr>
        </p:nvGraphicFramePr>
        <p:xfrm>
          <a:off x="1136576" y="2950638"/>
          <a:ext cx="7704856" cy="2350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조건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의미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isAuthenticated</a:t>
                      </a:r>
                      <a:r>
                        <a:rPr lang="en-US" altLang="ko-KR" sz="1800" b="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로그인한 사용자일 경우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isAnonymous</a:t>
                      </a:r>
                      <a:r>
                        <a:rPr lang="en-US" altLang="ko-KR" sz="1800" b="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로그인하지 않은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ko-KR" altLang="en-US" sz="1600" b="0" dirty="0" smtClean="0"/>
                        <a:t>익명</a:t>
                      </a:r>
                      <a:r>
                        <a:rPr lang="en-US" altLang="ko-KR" sz="1600" b="0" dirty="0" smtClean="0"/>
                        <a:t>) </a:t>
                      </a:r>
                      <a:r>
                        <a:rPr lang="ko-KR" altLang="en-US" sz="1600" b="0" dirty="0" smtClean="0"/>
                        <a:t>사용자	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hasRole</a:t>
                      </a:r>
                      <a:r>
                        <a:rPr lang="en-US" altLang="ko-KR" sz="1800" b="0" dirty="0" smtClean="0"/>
                        <a:t>('ADMIN')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ADMIN </a:t>
                      </a:r>
                      <a:r>
                        <a:rPr lang="ko-KR" altLang="en-US" sz="1600" b="0" dirty="0" smtClean="0"/>
                        <a:t>권한이 있을 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hasAnyRole</a:t>
                      </a:r>
                      <a:r>
                        <a:rPr lang="en-US" altLang="ko-KR" sz="1800" b="0" dirty="0" smtClean="0"/>
                        <a:t>('USER','ADMIN')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여러 권한 중 하나라도 있으면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1136576" y="1641574"/>
            <a:ext cx="6408712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&lt;</a:t>
            </a:r>
            <a:r>
              <a:rPr lang="ko-KR" altLang="en-US" dirty="0" err="1"/>
              <a:t>th:block</a:t>
            </a:r>
            <a:r>
              <a:rPr lang="ko-KR" altLang="en-US" dirty="0"/>
              <a:t> </a:t>
            </a:r>
            <a:r>
              <a:rPr lang="ko-KR" altLang="en-US" dirty="0" err="1"/>
              <a:t>sec:authorize</a:t>
            </a:r>
            <a:r>
              <a:rPr lang="ko-KR" altLang="en-US" dirty="0"/>
              <a:t>="조건"&gt;</a:t>
            </a:r>
          </a:p>
          <a:p>
            <a:r>
              <a:rPr lang="ko-KR" altLang="en-US" dirty="0"/>
              <a:t>    &lt;!-- 조건이 </a:t>
            </a:r>
            <a:r>
              <a:rPr lang="ko-KR" altLang="en-US" dirty="0" err="1"/>
              <a:t>true일</a:t>
            </a:r>
            <a:r>
              <a:rPr lang="ko-KR" altLang="en-US" dirty="0"/>
              <a:t> 때만 보이는 내용 --&gt;</a:t>
            </a:r>
          </a:p>
          <a:p>
            <a:r>
              <a:rPr lang="ko-KR" altLang="en-US" dirty="0"/>
              <a:t>&lt;/</a:t>
            </a:r>
            <a:r>
              <a:rPr lang="ko-KR" altLang="en-US" dirty="0" err="1"/>
              <a:t>th:block</a:t>
            </a:r>
            <a:r>
              <a:rPr lang="ko-KR" alt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0016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시큐리티</a:t>
            </a:r>
            <a:r>
              <a:rPr lang="ko-KR" altLang="en-US" sz="2000" b="1" dirty="0" smtClean="0"/>
              <a:t> 설정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1641703"/>
            <a:ext cx="7920880" cy="44012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056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/>
              <a:t>시큐리티</a:t>
            </a:r>
            <a:r>
              <a:rPr lang="ko-KR" altLang="en-US" sz="2000" b="1" dirty="0"/>
              <a:t> 설정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30" y="1641703"/>
            <a:ext cx="8640960" cy="21473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787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/>
              <a:t>시큐리티</a:t>
            </a:r>
            <a:r>
              <a:rPr lang="ko-KR" altLang="en-US" sz="2000" b="1" dirty="0"/>
              <a:t> 설정</a:t>
            </a:r>
            <a:endParaRPr lang="en-US" altLang="ko-KR" sz="20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555437"/>
              </p:ext>
            </p:extLst>
          </p:nvPr>
        </p:nvGraphicFramePr>
        <p:xfrm>
          <a:off x="1208584" y="1700808"/>
          <a:ext cx="8136904" cy="32907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구성 요소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역할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@Configuration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설정 클래스로 등록 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ko-KR" altLang="en-US" sz="1600" b="0" dirty="0" smtClean="0"/>
                        <a:t>스프링이 인식</a:t>
                      </a:r>
                      <a:r>
                        <a:rPr lang="en-US" altLang="ko-KR" sz="1600" b="0" dirty="0" smtClean="0"/>
                        <a:t>)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@</a:t>
                      </a:r>
                      <a:r>
                        <a:rPr lang="en-US" altLang="ko-KR" sz="1800" b="0" dirty="0" err="1" smtClean="0"/>
                        <a:t>EnableWebSecurity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Spring Security </a:t>
                      </a:r>
                      <a:r>
                        <a:rPr lang="ko-KR" altLang="en-US" sz="1600" b="0" dirty="0" smtClean="0"/>
                        <a:t>웹 보안 기능 활성화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@</a:t>
                      </a:r>
                      <a:r>
                        <a:rPr lang="en-US" altLang="ko-KR" sz="1800" b="0" dirty="0" err="1" smtClean="0"/>
                        <a:t>RequiredArgsConstructor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final </a:t>
                      </a:r>
                      <a:r>
                        <a:rPr lang="ko-KR" altLang="en-US" sz="1600" b="0" dirty="0" smtClean="0"/>
                        <a:t>필드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en-US" altLang="ko-KR" sz="1600" b="0" dirty="0" err="1" smtClean="0"/>
                        <a:t>userDetailsService</a:t>
                      </a:r>
                      <a:r>
                        <a:rPr lang="en-US" altLang="ko-KR" sz="1600" b="0" dirty="0" smtClean="0"/>
                        <a:t>) </a:t>
                      </a:r>
                      <a:r>
                        <a:rPr lang="ko-KR" altLang="en-US" sz="1600" b="0" dirty="0" smtClean="0"/>
                        <a:t>자동 주입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DaoAuthenticationProvider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DB </a:t>
                      </a:r>
                      <a:r>
                        <a:rPr lang="ko-KR" altLang="en-US" sz="1600" b="0" dirty="0" smtClean="0"/>
                        <a:t>기반 사용자 인증 처리기 등록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SecurityFilterChain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HTTP </a:t>
                      </a:r>
                      <a:r>
                        <a:rPr lang="ko-KR" altLang="en-US" sz="1600" b="0" dirty="0" err="1" smtClean="0"/>
                        <a:t>요청별</a:t>
                      </a:r>
                      <a:r>
                        <a:rPr lang="ko-KR" altLang="en-US" sz="1600" b="0" dirty="0" smtClean="0"/>
                        <a:t> 보안 규칙 정의 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ko-KR" altLang="en-US" sz="1600" b="0" dirty="0" smtClean="0"/>
                        <a:t>핵심 설정 부분</a:t>
                      </a:r>
                      <a:r>
                        <a:rPr lang="en-US" altLang="ko-KR" sz="1600" b="0" dirty="0" smtClean="0"/>
                        <a:t>)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5369057"/>
                  </a:ext>
                </a:extLst>
              </a:tr>
              <a:tr h="47011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PasswordEncoder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비밀번호 암호화 방식 지정 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en-US" altLang="ko-KR" sz="1600" b="0" dirty="0" err="1" smtClean="0"/>
                        <a:t>BCrypt</a:t>
                      </a:r>
                      <a:r>
                        <a:rPr lang="en-US" altLang="ko-KR" sz="1600" b="0" dirty="0" smtClean="0"/>
                        <a:t>)</a:t>
                      </a:r>
                      <a:endParaRPr lang="ko-KR" altLang="en-US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24860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30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AuthController.java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6272575" cy="48388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2885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AuthController.java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1654654"/>
            <a:ext cx="6480720" cy="29435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175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viewPage.html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98431"/>
            <a:ext cx="8150622" cy="34051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380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homePage.html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366"/>
            <a:ext cx="7214940" cy="34984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6339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userPage.html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192688" cy="19429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92" y="4324725"/>
            <a:ext cx="6192688" cy="18545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544" y="3726594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adminPage.html</a:t>
            </a:r>
          </a:p>
        </p:txBody>
      </p:sp>
    </p:spTree>
    <p:extLst>
      <p:ext uri="{BB962C8B-B14F-4D97-AF65-F5344CB8AC3E}">
        <p14:creationId xmlns:p14="http://schemas.microsoft.com/office/powerpoint/2010/main" val="356790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login.html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2271494"/>
            <a:ext cx="7704856" cy="30243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73128" y="1623856"/>
            <a:ext cx="634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name </a:t>
            </a:r>
            <a:r>
              <a:rPr lang="ko-KR" altLang="en-US" dirty="0" smtClean="0"/>
              <a:t>속성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아이디</a:t>
            </a:r>
            <a:r>
              <a:rPr lang="en-US" altLang="ko-KR" dirty="0" smtClean="0"/>
              <a:t>: username, </a:t>
            </a:r>
            <a:r>
              <a:rPr lang="ko-KR" altLang="en-US" dirty="0" smtClean="0"/>
              <a:t>비밀번호</a:t>
            </a:r>
            <a:r>
              <a:rPr lang="en-US" altLang="ko-KR" dirty="0" smtClean="0"/>
              <a:t>: password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136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사용자 계정 설정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16304"/>
            <a:ext cx="6120680" cy="47645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18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사용자 계정 설정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2248369"/>
            <a:ext cx="2522800" cy="20784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4453984" y="3131510"/>
            <a:ext cx="360040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280592" y="1628800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&lt;&lt; guest</a:t>
            </a:r>
            <a:r>
              <a:rPr lang="ko-KR" altLang="en-US" dirty="0" smtClean="0"/>
              <a:t>로 로그인 </a:t>
            </a:r>
            <a:r>
              <a:rPr lang="en-US" altLang="ko-KR" dirty="0" smtClean="0"/>
              <a:t>&gt;&gt;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575" y="2344603"/>
            <a:ext cx="3479445" cy="18044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466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스프링부트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사용자 계정 설정</a:t>
            </a:r>
            <a:endParaRPr lang="en-US" altLang="ko-KR" sz="2000" b="1" dirty="0" smtClean="0"/>
          </a:p>
        </p:txBody>
      </p:sp>
      <p:sp>
        <p:nvSpPr>
          <p:cNvPr id="6" name="오른쪽 화살표 5"/>
          <p:cNvSpPr/>
          <p:nvPr/>
        </p:nvSpPr>
        <p:spPr>
          <a:xfrm>
            <a:off x="4525188" y="3131510"/>
            <a:ext cx="360040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280591" y="1628800"/>
            <a:ext cx="294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&lt;&lt; admin</a:t>
            </a:r>
            <a:r>
              <a:rPr lang="ko-KR" altLang="en-US" dirty="0" smtClean="0"/>
              <a:t>으로 로그인 </a:t>
            </a:r>
            <a:r>
              <a:rPr lang="en-US" altLang="ko-KR" dirty="0" smtClean="0"/>
              <a:t>&gt;&gt;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13" y="2276872"/>
            <a:ext cx="2543371" cy="21645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203" y="2405827"/>
            <a:ext cx="3820493" cy="17432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6286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회원 </a:t>
            </a:r>
            <a:r>
              <a:rPr lang="ko-KR" altLang="en-US" dirty="0" smtClean="0"/>
              <a:t>정보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8544" y="990290"/>
            <a:ext cx="33123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계층 구조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17955"/>
            <a:ext cx="3312368" cy="45565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496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/>
              <a:t>DB </a:t>
            </a:r>
            <a:r>
              <a:rPr lang="ko-KR" altLang="en-US" dirty="0" smtClean="0"/>
              <a:t>기반 사용자 인증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1196752"/>
            <a:ext cx="5008052" cy="48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0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44" y="990290"/>
            <a:ext cx="33123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a</a:t>
            </a:r>
            <a:r>
              <a:rPr lang="en-US" altLang="ko-KR" sz="2000" b="1" dirty="0" err="1" smtClean="0"/>
              <a:t>pplication.property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641932"/>
            <a:ext cx="8870619" cy="27800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457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44" y="990290"/>
            <a:ext cx="33123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시큐리티</a:t>
            </a:r>
            <a:r>
              <a:rPr lang="ko-KR" altLang="en-US" sz="2000" b="1" dirty="0" smtClean="0"/>
              <a:t> 설정파일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92" y="1556792"/>
            <a:ext cx="8742828" cy="38545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636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44" y="990290"/>
            <a:ext cx="33123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시큐리티</a:t>
            </a:r>
            <a:r>
              <a:rPr lang="ko-KR" altLang="en-US" sz="2000" b="1" dirty="0" smtClean="0"/>
              <a:t> 설정파일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5" y="1653629"/>
            <a:ext cx="9134483" cy="30715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5" y="4787959"/>
            <a:ext cx="6016995" cy="15264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038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27280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 </a:t>
            </a: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89366"/>
            <a:ext cx="6120680" cy="44003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539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27280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 </a:t>
            </a: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366"/>
            <a:ext cx="6753683" cy="45369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모서리가 둥근 직사각형 1"/>
          <p:cNvSpPr/>
          <p:nvPr/>
        </p:nvSpPr>
        <p:spPr>
          <a:xfrm>
            <a:off x="2000672" y="4941168"/>
            <a:ext cx="3672408" cy="432048"/>
          </a:xfrm>
          <a:prstGeom prst="round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5673080" y="515719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69577" y="4847386"/>
            <a:ext cx="2484778" cy="64698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smtClean="0"/>
              <a:t>관리자는</a:t>
            </a:r>
            <a:endParaRPr lang="en-US" altLang="ko-KR" sz="1600" dirty="0" smtClean="0"/>
          </a:p>
          <a:p>
            <a:r>
              <a:rPr lang="en-US" altLang="ko-KR" sz="1600" dirty="0" smtClean="0"/>
              <a:t>ROLE_ADMIN</a:t>
            </a:r>
            <a:r>
              <a:rPr lang="ko-KR" altLang="en-US" sz="1600" dirty="0" smtClean="0"/>
              <a:t>으로 변경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1717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98201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 Repository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1772816"/>
            <a:ext cx="9028376" cy="1440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8689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 Service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79713"/>
            <a:ext cx="8177519" cy="39284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344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 Service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28366"/>
            <a:ext cx="8352928" cy="28886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3490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 Controller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01619"/>
            <a:ext cx="5688632" cy="47437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78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1412776"/>
            <a:ext cx="5192694" cy="39211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242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j</a:t>
            </a:r>
            <a:r>
              <a:rPr lang="en-US" altLang="ko-KR" sz="2000" b="1" dirty="0" smtClean="0"/>
              <a:t>oin.html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28366"/>
            <a:ext cx="7195004" cy="41048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028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j</a:t>
            </a:r>
            <a:r>
              <a:rPr lang="en-US" altLang="ko-KR" sz="2000" b="1" dirty="0" smtClean="0"/>
              <a:t>oin.html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366"/>
            <a:ext cx="8434332" cy="3960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630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관리자 가입하기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58942"/>
            <a:ext cx="6714746" cy="31646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모서리가 둥근 직사각형 4"/>
          <p:cNvSpPr/>
          <p:nvPr/>
        </p:nvSpPr>
        <p:spPr>
          <a:xfrm>
            <a:off x="1784648" y="3717032"/>
            <a:ext cx="3672408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3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가입 후 </a:t>
            </a:r>
            <a:r>
              <a:rPr lang="en-US" altLang="ko-KR" sz="2000" b="1" dirty="0" smtClean="0"/>
              <a:t>DB </a:t>
            </a:r>
            <a:r>
              <a:rPr lang="ko-KR" altLang="en-US" sz="2000" b="1" dirty="0" smtClean="0"/>
              <a:t>확인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700808"/>
            <a:ext cx="9289032" cy="9079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528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590465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사용자 정의 </a:t>
            </a:r>
            <a:r>
              <a:rPr lang="en-US" altLang="ko-KR" sz="2000" b="1" dirty="0" err="1" smtClean="0"/>
              <a:t>UserDetailsService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구현하기</a:t>
            </a:r>
            <a:endParaRPr lang="en-US" altLang="ko-KR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1700808"/>
            <a:ext cx="8424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인증 관리자는 </a:t>
            </a:r>
            <a:r>
              <a:rPr lang="en-US" altLang="ko-KR" sz="1600" dirty="0" err="1" smtClean="0"/>
              <a:t>UserDetailsService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객체를 통해 </a:t>
            </a:r>
            <a:r>
              <a:rPr lang="en-US" altLang="ko-KR" sz="1600" dirty="0" err="1" smtClean="0"/>
              <a:t>UserDetails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객체를 획득하고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UserDetails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객체에서 인증과 인가에 필요한 정보들을 추출하여 사용한다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스프링부트는 </a:t>
            </a:r>
            <a:r>
              <a:rPr lang="en-US" altLang="ko-KR" sz="1600" dirty="0" err="1" smtClean="0"/>
              <a:t>UserDetailsService</a:t>
            </a:r>
            <a:r>
              <a:rPr lang="ko-KR" altLang="en-US" sz="1600" dirty="0" smtClean="0"/>
              <a:t>를 구현한 클래스를 기본으로 제공한다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그리고 이클립스가 제공하는 </a:t>
            </a:r>
            <a:r>
              <a:rPr lang="en-US" altLang="ko-KR" sz="1600" dirty="0" err="1" smtClean="0"/>
              <a:t>UserDetails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객체는 아이디가 </a:t>
            </a:r>
            <a:r>
              <a:rPr lang="en-US" altLang="ko-KR" sz="1600" dirty="0" smtClean="0"/>
              <a:t>‘user’ </a:t>
            </a:r>
            <a:r>
              <a:rPr lang="ko-KR" altLang="en-US" sz="1600" dirty="0" smtClean="0"/>
              <a:t>이고 비밀번호는 암호화되어 콘솔에 출력되는 긴 문자열이다</a:t>
            </a:r>
            <a:r>
              <a:rPr lang="en-US" altLang="ko-KR" sz="1600" dirty="0" smtClean="0"/>
              <a:t>.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스프링부트가 제공하는 </a:t>
            </a:r>
            <a:r>
              <a:rPr lang="en-US" altLang="ko-KR" sz="1600" dirty="0" err="1" smtClean="0"/>
              <a:t>UserDetailsService</a:t>
            </a:r>
            <a:r>
              <a:rPr lang="ko-KR" altLang="en-US" sz="1600" dirty="0" smtClean="0"/>
              <a:t>를 </a:t>
            </a:r>
            <a:r>
              <a:rPr lang="ko-KR" altLang="en-US" sz="1600" dirty="0" err="1" smtClean="0"/>
              <a:t>커스터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마이징하고</a:t>
            </a:r>
            <a:r>
              <a:rPr lang="ko-KR" altLang="en-US" sz="1600" dirty="0" smtClean="0"/>
              <a:t> 싶으면 </a:t>
            </a:r>
            <a:r>
              <a:rPr lang="en-US" altLang="ko-KR" sz="1600" dirty="0" err="1" smtClean="0"/>
              <a:t>UserDetailsService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인터페이스를 구현한 클래스를 직접 작성하여 등록하면 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8556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CustomUserDetails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40875"/>
            <a:ext cx="8208912" cy="28266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241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CustomUserDetails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4698289" cy="4608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0860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Service - </a:t>
            </a:r>
            <a:r>
              <a:rPr lang="en-US" altLang="ko-KR" sz="2000" b="1" dirty="0" err="1" smtClean="0"/>
              <a:t>CustomUserDetailsService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628366"/>
            <a:ext cx="8662523" cy="39548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4284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SecurityConfig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설정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628366"/>
            <a:ext cx="9232222" cy="43929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016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633207"/>
            <a:ext cx="9226837" cy="3672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SecurityConfig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설정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155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SecurityConfig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설정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700807"/>
            <a:ext cx="9217024" cy="24196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883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로그인 성공하면 회원 목록 페이지 열림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72816"/>
            <a:ext cx="6768752" cy="23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9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658035"/>
            <a:ext cx="8869770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list.html</a:t>
            </a:r>
          </a:p>
        </p:txBody>
      </p:sp>
    </p:spTree>
    <p:extLst>
      <p:ext uri="{BB962C8B-B14F-4D97-AF65-F5344CB8AC3E}">
        <p14:creationId xmlns:p14="http://schemas.microsoft.com/office/powerpoint/2010/main" val="19231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</a:t>
            </a:r>
            <a:r>
              <a:rPr lang="en-US" altLang="ko-KR" sz="2000" b="1" dirty="0" smtClean="0"/>
              <a:t>ogin.html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79" y="2060848"/>
            <a:ext cx="5978767" cy="43352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119445" y="1556792"/>
            <a:ext cx="7019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이메일 </a:t>
            </a:r>
            <a:r>
              <a:rPr lang="en-US" altLang="ko-KR" dirty="0" smtClean="0"/>
              <a:t>name = “username”, </a:t>
            </a:r>
            <a:r>
              <a:rPr lang="ko-KR" altLang="en-US" dirty="0" smtClean="0"/>
              <a:t>비밀번호 </a:t>
            </a:r>
            <a:r>
              <a:rPr lang="en-US" altLang="ko-KR" dirty="0" smtClean="0"/>
              <a:t>name = “password”</a:t>
            </a:r>
            <a:r>
              <a:rPr lang="ko-KR" altLang="en-US" dirty="0" smtClean="0"/>
              <a:t>로 변경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37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로그인 처리 흐름</a:t>
            </a:r>
            <a:r>
              <a:rPr lang="en-US" altLang="ko-KR" sz="2000" b="1" dirty="0" smtClean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208584" y="1628366"/>
            <a:ext cx="813690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/</a:t>
            </a:r>
            <a:r>
              <a:rPr lang="ko-KR" altLang="en-US" dirty="0" err="1"/>
              <a:t>login</a:t>
            </a:r>
            <a:r>
              <a:rPr lang="ko-KR" altLang="en-US" dirty="0"/>
              <a:t> 요청 발생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DaoAuthenticationProvider</a:t>
            </a:r>
            <a:r>
              <a:rPr lang="ko-KR" altLang="en-US" dirty="0" err="1"/>
              <a:t>가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 err="1" smtClean="0"/>
              <a:t>userDetailsService.loadUserByUsername</a:t>
            </a:r>
            <a:r>
              <a:rPr lang="ko-KR" altLang="en-US" dirty="0"/>
              <a:t>() 호출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DB</a:t>
            </a:r>
            <a:r>
              <a:rPr lang="ko-KR" altLang="en-US" dirty="0" err="1"/>
              <a:t>의</a:t>
            </a:r>
            <a:r>
              <a:rPr lang="ko-KR" altLang="en-US" dirty="0"/>
              <a:t> 비밀번호와 입력된 비밀번호를 </a:t>
            </a:r>
            <a:r>
              <a:rPr lang="ko-KR" altLang="en-US" dirty="0" err="1"/>
              <a:t>BCryptPasswordEncoder.matches</a:t>
            </a:r>
            <a:r>
              <a:rPr lang="ko-KR" altLang="en-US" dirty="0"/>
              <a:t>()로 비교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성공 </a:t>
            </a:r>
            <a:r>
              <a:rPr lang="ko-KR" altLang="en-US" dirty="0"/>
              <a:t>시 </a:t>
            </a:r>
            <a:r>
              <a:rPr lang="ko-KR" altLang="en-US" dirty="0" err="1"/>
              <a:t>Authentication</a:t>
            </a:r>
            <a:r>
              <a:rPr lang="ko-KR" altLang="en-US" dirty="0"/>
              <a:t> 객체 생성 후 세션 저장</a:t>
            </a:r>
          </a:p>
        </p:txBody>
      </p:sp>
    </p:spTree>
    <p:extLst>
      <p:ext uri="{BB962C8B-B14F-4D97-AF65-F5344CB8AC3E}">
        <p14:creationId xmlns:p14="http://schemas.microsoft.com/office/powerpoint/2010/main" val="326102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DaoAuthenticationProvider</a:t>
            </a:r>
            <a:r>
              <a:rPr lang="en-US" altLang="ko-KR" sz="2000" b="1" dirty="0" smtClean="0"/>
              <a:t> (</a:t>
            </a:r>
            <a:r>
              <a:rPr lang="ko-KR" altLang="en-US" sz="2000" b="1" dirty="0" smtClean="0"/>
              <a:t>인증 공급자</a:t>
            </a:r>
            <a:r>
              <a:rPr lang="en-US" altLang="ko-KR" sz="2000" b="1" dirty="0" smtClean="0"/>
              <a:t>)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80592" y="1628366"/>
            <a:ext cx="79928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역할</a:t>
            </a:r>
            <a:endParaRPr lang="ko-KR" altLang="en-US" b="1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    </a:t>
            </a:r>
            <a:r>
              <a:rPr lang="ko-KR" altLang="en-US" dirty="0" err="1" smtClean="0"/>
              <a:t>Spring</a:t>
            </a:r>
            <a:r>
              <a:rPr lang="ko-KR" altLang="en-US" dirty="0" smtClean="0"/>
              <a:t> </a:t>
            </a:r>
            <a:r>
              <a:rPr lang="ko-KR" altLang="en-US" dirty="0" err="1"/>
              <a:t>Security가</a:t>
            </a:r>
            <a:r>
              <a:rPr lang="ko-KR" altLang="en-US" dirty="0"/>
              <a:t> 로그인 시 입력한 ID/</a:t>
            </a:r>
            <a:r>
              <a:rPr lang="ko-KR" altLang="en-US" dirty="0" err="1"/>
              <a:t>PW를</a:t>
            </a:r>
            <a:r>
              <a:rPr lang="ko-KR" altLang="en-US" dirty="0"/>
              <a:t> DB 정보와 비교할 </a:t>
            </a:r>
            <a:r>
              <a:rPr lang="ko-KR" altLang="en-US" dirty="0" smtClean="0"/>
              <a:t>때 이 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DaoAuthenticationProvider</a:t>
            </a:r>
            <a:r>
              <a:rPr lang="ko-KR" altLang="en-US" dirty="0" err="1"/>
              <a:t>를</a:t>
            </a:r>
            <a:r>
              <a:rPr lang="ko-KR" altLang="en-US" dirty="0"/>
              <a:t> 사용합니다.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내부적으로 </a:t>
            </a:r>
            <a:r>
              <a:rPr lang="ko-KR" altLang="en-US" dirty="0" err="1"/>
              <a:t>UserDetailsService를</a:t>
            </a:r>
            <a:r>
              <a:rPr lang="ko-KR" altLang="en-US" dirty="0"/>
              <a:t> 호출해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    </a:t>
            </a:r>
            <a:r>
              <a:rPr lang="ko-KR" altLang="en-US" dirty="0" err="1" smtClean="0"/>
              <a:t>UserDetails</a:t>
            </a:r>
            <a:r>
              <a:rPr lang="ko-KR" altLang="en-US" dirty="0" smtClean="0"/>
              <a:t> </a:t>
            </a:r>
            <a:r>
              <a:rPr lang="ko-KR" altLang="en-US" dirty="0"/>
              <a:t>객체(</a:t>
            </a:r>
            <a:r>
              <a:rPr lang="ko-KR" altLang="en-US" dirty="0" err="1"/>
              <a:t>CustomUserDetails</a:t>
            </a:r>
            <a:r>
              <a:rPr lang="ko-KR" altLang="en-US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가져옵니다.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</a:t>
            </a:r>
            <a:r>
              <a:rPr lang="ko-KR" altLang="en-US" dirty="0" err="1"/>
              <a:t>PasswordEncoder로</a:t>
            </a:r>
            <a:r>
              <a:rPr lang="ko-KR" altLang="en-US" dirty="0"/>
              <a:t> 비밀번호를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4383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${#authentication} — </a:t>
            </a:r>
            <a:r>
              <a:rPr lang="ko-KR" altLang="en-US" sz="2000" b="1" dirty="0"/>
              <a:t>인증 객체 접근</a:t>
            </a:r>
            <a:r>
              <a:rPr lang="en-US" altLang="ko-KR" sz="2000" b="1" dirty="0" smtClean="0"/>
              <a:t>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08584" y="1475222"/>
            <a:ext cx="806489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#</a:t>
            </a:r>
            <a:r>
              <a:rPr lang="ko-KR" altLang="en-US" sz="1600" dirty="0" err="1"/>
              <a:t>authentication은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Spring</a:t>
            </a:r>
            <a:r>
              <a:rPr lang="ko-KR" altLang="en-US" sz="1600" dirty="0"/>
              <a:t> </a:t>
            </a:r>
            <a:r>
              <a:rPr lang="ko-KR" altLang="en-US" sz="1600" dirty="0" err="1"/>
              <a:t>Security가</a:t>
            </a:r>
            <a:r>
              <a:rPr lang="ko-KR" altLang="en-US" sz="1600" dirty="0"/>
              <a:t> 제공하는 </a:t>
            </a:r>
            <a:r>
              <a:rPr lang="ko-KR" altLang="en-US" sz="1600" dirty="0" smtClean="0"/>
              <a:t>현재 </a:t>
            </a:r>
            <a:r>
              <a:rPr lang="ko-KR" altLang="en-US" sz="1600" dirty="0"/>
              <a:t>인증 정보(</a:t>
            </a:r>
            <a:r>
              <a:rPr lang="ko-KR" altLang="en-US" sz="1600" dirty="0" err="1"/>
              <a:t>Authentication</a:t>
            </a:r>
            <a:r>
              <a:rPr lang="ko-KR" altLang="en-US" sz="1600" dirty="0"/>
              <a:t> 객체</a:t>
            </a:r>
            <a:r>
              <a:rPr lang="ko-KR" altLang="en-US" sz="1600" dirty="0" smtClean="0"/>
              <a:t>)</a:t>
            </a:r>
            <a:r>
              <a:rPr lang="ko-KR" altLang="en-US" sz="1600" dirty="0" err="1" smtClean="0"/>
              <a:t>를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참조할 수 있는 </a:t>
            </a:r>
            <a:r>
              <a:rPr lang="ko-KR" altLang="en-US" sz="1600" dirty="0" err="1"/>
              <a:t>Thymeleaf</a:t>
            </a:r>
            <a:r>
              <a:rPr lang="ko-KR" altLang="en-US" sz="1600" dirty="0"/>
              <a:t> 내장 객체입니다</a:t>
            </a:r>
            <a:r>
              <a:rPr lang="ko-KR" altLang="en-US" sz="1600" dirty="0" smtClean="0"/>
              <a:t>.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즉, 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코드에서 </a:t>
            </a:r>
            <a:r>
              <a:rPr lang="ko-KR" altLang="en-US" sz="1600" dirty="0" err="1"/>
              <a:t>SecurityContextHolder.getContext</a:t>
            </a:r>
            <a:r>
              <a:rPr lang="ko-KR" altLang="en-US" sz="1600" dirty="0"/>
              <a:t>().</a:t>
            </a:r>
            <a:r>
              <a:rPr lang="ko-KR" altLang="en-US" sz="1600" dirty="0" err="1"/>
              <a:t>getAuthentication</a:t>
            </a:r>
            <a:r>
              <a:rPr lang="ko-KR" altLang="en-US" sz="1600" dirty="0"/>
              <a:t>()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을 꺼내는 것과 </a:t>
            </a:r>
            <a:r>
              <a:rPr lang="ko-KR" altLang="en-US" sz="1600" dirty="0" smtClean="0"/>
              <a:t>동일하다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360669"/>
              </p:ext>
            </p:extLst>
          </p:nvPr>
        </p:nvGraphicFramePr>
        <p:xfrm>
          <a:off x="992560" y="3212976"/>
          <a:ext cx="8640960" cy="2778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5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4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속성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의미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예시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${#authentication.name}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로그인한 사용자 이름   </a:t>
                      </a:r>
                      <a:endParaRPr lang="en-US" altLang="ko-KR" sz="1800" b="0" dirty="0" smtClean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(username)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이메일이나 </a:t>
                      </a:r>
                      <a:r>
                        <a:rPr lang="en-US" altLang="ko-KR" sz="1600" b="0" dirty="0" smtClean="0"/>
                        <a:t>ID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${#</a:t>
                      </a:r>
                      <a:r>
                        <a:rPr lang="en-US" altLang="ko-KR" sz="1800" b="0" dirty="0" err="1" smtClean="0"/>
                        <a:t>authentication.principal</a:t>
                      </a:r>
                      <a:r>
                        <a:rPr lang="en-US" altLang="ko-KR" sz="1800" b="0" dirty="0" smtClean="0"/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사용자 정보</a:t>
                      </a:r>
                      <a:endParaRPr lang="en-US" altLang="ko-KR" sz="1800" b="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/>
                        <a:t> </a:t>
                      </a:r>
                      <a:r>
                        <a:rPr lang="en-US" altLang="ko-KR" sz="1800" b="0" dirty="0" smtClean="0"/>
                        <a:t>(</a:t>
                      </a:r>
                      <a:r>
                        <a:rPr lang="en-US" altLang="ko-KR" sz="1800" b="0" dirty="0" err="1" smtClean="0"/>
                        <a:t>UserDetails</a:t>
                      </a: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객체</a:t>
                      </a:r>
                      <a:r>
                        <a:rPr lang="en-US" altLang="ko-KR" sz="1800" b="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err="1" smtClean="0"/>
                        <a:t>CustomUserDetails</a:t>
                      </a:r>
                      <a:endParaRPr lang="ko-KR" altLang="en-US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${#</a:t>
                      </a:r>
                      <a:r>
                        <a:rPr lang="en-US" altLang="ko-KR" sz="1800" b="0" dirty="0" err="1" smtClean="0"/>
                        <a:t>authentication.authorities</a:t>
                      </a:r>
                      <a:r>
                        <a:rPr lang="en-US" altLang="ko-KR" sz="1800" b="0" dirty="0" smtClean="0"/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 smtClean="0"/>
                        <a:t> 사용자 권한 목록</a:t>
                      </a:r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[ROLE_USER, ROLE_ADMIN]</a:t>
                      </a:r>
                      <a:endParaRPr lang="ko-KR" altLang="en-US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86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8" y="980728"/>
            <a:ext cx="4703700" cy="4752528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2648744" y="5013176"/>
            <a:ext cx="1728192" cy="720080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89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index.html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83" y="2060848"/>
            <a:ext cx="7828127" cy="44669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183" y="1503052"/>
            <a:ext cx="7935281" cy="4748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638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</a:t>
            </a:r>
            <a:r>
              <a:rPr lang="en-US" altLang="ko-KR" sz="2000" b="1" dirty="0" smtClean="0"/>
              <a:t>tyle.css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40" y="1601619"/>
            <a:ext cx="4111205" cy="42756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528" y="1628367"/>
            <a:ext cx="4195984" cy="42489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9135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</a:t>
            </a:r>
            <a:r>
              <a:rPr lang="en-US" altLang="ko-KR" sz="2000" b="1" dirty="0" smtClean="0"/>
              <a:t>tyle.css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488636"/>
            <a:ext cx="4464496" cy="50418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895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1124744"/>
            <a:ext cx="5357841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9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info.html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1628366"/>
            <a:ext cx="6840760" cy="46704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292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DB </a:t>
            </a:r>
            <a:r>
              <a:rPr lang="ko-KR" altLang="en-US" dirty="0"/>
              <a:t>기반 사용자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info.html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628366"/>
            <a:ext cx="8914689" cy="39983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58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관리자 대시보드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052736"/>
            <a:ext cx="4896544" cy="4904520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5169024" y="5085184"/>
            <a:ext cx="936104" cy="6480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34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관리자 대시보드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700808"/>
            <a:ext cx="7453798" cy="18739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462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관리자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대시보드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AdminController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1" y="1662321"/>
            <a:ext cx="6912768" cy="24682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8954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관리자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대시보드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adminPage.html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1700808"/>
            <a:ext cx="6624736" cy="19210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02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권한 오류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2060848"/>
            <a:ext cx="7513758" cy="19177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48544" y="1211395"/>
            <a:ext cx="806489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srgbClr val="C00000"/>
                </a:solidFill>
              </a:rPr>
              <a:t>ROLE_USER </a:t>
            </a:r>
            <a:r>
              <a:rPr lang="ko-KR" altLang="en-US" dirty="0" smtClean="0">
                <a:solidFill>
                  <a:srgbClr val="C00000"/>
                </a:solidFill>
              </a:rPr>
              <a:t>권한으로 관리자 메뉴에 접근하면권한 에러 페이지로 이동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9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권한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오류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SecurityConfig</a:t>
            </a:r>
            <a:endParaRPr lang="en-US" altLang="ko-KR" sz="2000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12172"/>
          <a:stretch/>
        </p:blipFill>
        <p:spPr>
          <a:xfrm>
            <a:off x="1136576" y="1647893"/>
            <a:ext cx="7992888" cy="28627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/>
          <p:cNvSpPr/>
          <p:nvPr/>
        </p:nvSpPr>
        <p:spPr>
          <a:xfrm>
            <a:off x="1928664" y="3140968"/>
            <a:ext cx="6768752" cy="72008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98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권한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오류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AccessErrorController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55303"/>
            <a:ext cx="5688632" cy="2330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509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권한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오류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accessDenied.html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1" y="1628800"/>
            <a:ext cx="5184576" cy="20348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752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name </a:t>
            </a:r>
            <a:r>
              <a:rPr lang="ko-KR" altLang="en-US" dirty="0"/>
              <a:t>속성 그대로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</a:t>
            </a:r>
            <a:r>
              <a:rPr lang="en-US" altLang="ko-KR" sz="2000" b="1" dirty="0" smtClean="0"/>
              <a:t>ogin.html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9445" y="1556792"/>
            <a:ext cx="6328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이메일 </a:t>
            </a:r>
            <a:r>
              <a:rPr lang="en-US" altLang="ko-KR" dirty="0" smtClean="0"/>
              <a:t>name = “email”, </a:t>
            </a:r>
            <a:r>
              <a:rPr lang="ko-KR" altLang="en-US" dirty="0" smtClean="0"/>
              <a:t>비밀번호 </a:t>
            </a:r>
            <a:r>
              <a:rPr lang="en-US" altLang="ko-KR" dirty="0" smtClean="0"/>
              <a:t>name = “</a:t>
            </a:r>
            <a:r>
              <a:rPr lang="en-US" altLang="ko-KR" dirty="0" err="1" smtClean="0"/>
              <a:t>passwd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로 변경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2007694"/>
            <a:ext cx="5774090" cy="44456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1604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name </a:t>
            </a:r>
            <a:r>
              <a:rPr lang="ko-KR" altLang="en-US" dirty="0" smtClean="0"/>
              <a:t>속성 그대로 사용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75608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SecurityConfig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설정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3244" b="2685"/>
          <a:stretch/>
        </p:blipFill>
        <p:spPr>
          <a:xfrm>
            <a:off x="1496616" y="2122539"/>
            <a:ext cx="6498722" cy="18683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36576" y="1628366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파라미터</a:t>
            </a:r>
            <a:r>
              <a:rPr lang="ko-KR" altLang="en-US" dirty="0" smtClean="0"/>
              <a:t> 사용으로 </a:t>
            </a:r>
            <a:r>
              <a:rPr lang="en-US" altLang="ko-KR" dirty="0" smtClean="0"/>
              <a:t>name </a:t>
            </a:r>
            <a:r>
              <a:rPr lang="ko-KR" altLang="en-US" dirty="0" smtClean="0"/>
              <a:t>속성 그대로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470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16277</TotalTime>
  <Words>1117</Words>
  <Application>Microsoft Office PowerPoint</Application>
  <PresentationFormat>A4 용지(210x297mm)</PresentationFormat>
  <Paragraphs>251</Paragraphs>
  <Slides>71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8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7장. 스프링부트 시큐리티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961</cp:revision>
  <dcterms:created xsi:type="dcterms:W3CDTF">2019-03-04T02:36:55Z</dcterms:created>
  <dcterms:modified xsi:type="dcterms:W3CDTF">2025-11-03T20:58:24Z</dcterms:modified>
</cp:coreProperties>
</file>