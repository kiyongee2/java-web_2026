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65" r:id="rId6"/>
    <p:sldId id="267" r:id="rId7"/>
    <p:sldId id="286" r:id="rId8"/>
    <p:sldId id="270" r:id="rId9"/>
    <p:sldId id="271" r:id="rId10"/>
    <p:sldId id="273" r:id="rId11"/>
    <p:sldId id="274" r:id="rId12"/>
    <p:sldId id="275" r:id="rId13"/>
    <p:sldId id="295" r:id="rId14"/>
    <p:sldId id="276" r:id="rId15"/>
    <p:sldId id="277" r:id="rId16"/>
    <p:sldId id="278" r:id="rId17"/>
    <p:sldId id="287" r:id="rId18"/>
    <p:sldId id="288" r:id="rId19"/>
    <p:sldId id="289" r:id="rId20"/>
    <p:sldId id="296" r:id="rId21"/>
    <p:sldId id="291" r:id="rId22"/>
    <p:sldId id="292" r:id="rId23"/>
    <p:sldId id="293" r:id="rId24"/>
    <p:sldId id="297" r:id="rId2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92" autoAdjust="0"/>
    <p:restoredTop sz="94660"/>
  </p:normalViewPr>
  <p:slideViewPr>
    <p:cSldViewPr>
      <p:cViewPr varScale="1">
        <p:scale>
          <a:sx n="88" d="100"/>
          <a:sy n="88" d="100"/>
        </p:scale>
        <p:origin x="998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pic>
        <p:nvPicPr>
          <p:cNvPr id="9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5953107"/>
            <a:ext cx="654360" cy="65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186687" cy="1226567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4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액션 태그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 smtClean="0">
                <a:solidFill>
                  <a:schemeClr val="bg1"/>
                </a:solidFill>
              </a:rPr>
              <a:t> ACTION TAG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6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191" y="4082682"/>
            <a:ext cx="1938605" cy="19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액션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b="1" dirty="0" smtClean="0"/>
              <a:t>액션 태그</a:t>
            </a:r>
            <a:endParaRPr lang="en-US" altLang="ko-KR" sz="22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JSP </a:t>
            </a:r>
            <a:r>
              <a:rPr lang="ko-KR" altLang="en-US" b="1" dirty="0" smtClean="0"/>
              <a:t>에서 객체 생성과 공유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페이지 이동과 </a:t>
            </a:r>
            <a:r>
              <a:rPr lang="ko-KR" altLang="en-US" b="1" dirty="0" err="1" smtClean="0"/>
              <a:t>전달등의</a:t>
            </a:r>
            <a:r>
              <a:rPr lang="ko-KR" altLang="en-US" b="1" dirty="0" smtClean="0"/>
              <a:t> 기능을 제공하는 태그</a:t>
            </a:r>
            <a:r>
              <a:rPr lang="en-US" altLang="ko-KR" b="1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smtClean="0">
                <a:solidFill>
                  <a:srgbClr val="C00000"/>
                </a:solidFill>
              </a:rPr>
              <a:t>&lt;% … %&gt;</a:t>
            </a:r>
            <a:r>
              <a:rPr lang="ko-KR" altLang="en-US" b="1" dirty="0" smtClean="0"/>
              <a:t>와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같은 스크립트 태그 형식이 아닌 </a:t>
            </a:r>
            <a:r>
              <a:rPr lang="en-US" altLang="ko-KR" b="1" dirty="0" smtClean="0">
                <a:solidFill>
                  <a:srgbClr val="C00000"/>
                </a:solidFill>
              </a:rPr>
              <a:t>XML </a:t>
            </a:r>
            <a:r>
              <a:rPr lang="ko-KR" altLang="en-US" b="1" dirty="0" smtClean="0">
                <a:solidFill>
                  <a:srgbClr val="C00000"/>
                </a:solidFill>
              </a:rPr>
              <a:t>형식 </a:t>
            </a:r>
            <a:r>
              <a:rPr lang="en-US" altLang="ko-KR" b="1" dirty="0" smtClean="0">
                <a:solidFill>
                  <a:srgbClr val="C00000"/>
                </a:solidFill>
              </a:rPr>
              <a:t>&lt;</a:t>
            </a:r>
            <a:r>
              <a:rPr lang="en-US" altLang="ko-KR" b="1" dirty="0" err="1" smtClean="0">
                <a:solidFill>
                  <a:srgbClr val="C00000"/>
                </a:solidFill>
              </a:rPr>
              <a:t>jsp</a:t>
            </a:r>
            <a:r>
              <a:rPr lang="en-US" altLang="ko-KR" b="1" dirty="0" smtClean="0">
                <a:solidFill>
                  <a:srgbClr val="C00000"/>
                </a:solidFill>
              </a:rPr>
              <a:t>: …/&gt;</a:t>
            </a:r>
            <a:r>
              <a:rPr lang="ko-KR" altLang="en-US" b="1" dirty="0" smtClean="0"/>
              <a:t>을 사용함 </a:t>
            </a:r>
            <a:endParaRPr lang="en-US" altLang="ko-KR" b="1" dirty="0" smtClean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500151"/>
              </p:ext>
            </p:extLst>
          </p:nvPr>
        </p:nvGraphicFramePr>
        <p:xfrm>
          <a:off x="956556" y="2708920"/>
          <a:ext cx="8784976" cy="2808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액션 태그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형식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 명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forward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en-US" altLang="ko-KR" sz="1600" b="1" dirty="0" err="1" smtClean="0">
                          <a:solidFill>
                            <a:srgbClr val="0070C0"/>
                          </a:solidFill>
                        </a:rPr>
                        <a:t>jsp:forward</a:t>
                      </a: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</a:rPr>
                        <a:t> … /&gt;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다른 페이지로의 이동과 같은 페이지 흐름 제어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include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en-US" altLang="ko-KR" sz="1600" b="1" dirty="0" err="1" smtClean="0">
                          <a:solidFill>
                            <a:srgbClr val="0070C0"/>
                          </a:solidFill>
                        </a:rPr>
                        <a:t>jsp:include</a:t>
                      </a: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</a:rPr>
                        <a:t> … /&gt;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외부 페이지의 내용을 포함하거나 페이지를 모듈화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</a:t>
                      </a:r>
                      <a:r>
                        <a:rPr lang="en-US" altLang="ko-KR" sz="1800" dirty="0" err="1" smtClean="0"/>
                        <a:t>useBean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en-US" altLang="ko-KR" sz="1600" b="1" dirty="0" err="1" smtClean="0">
                          <a:solidFill>
                            <a:srgbClr val="0070C0"/>
                          </a:solidFill>
                        </a:rPr>
                        <a:t>jsp:useBean</a:t>
                      </a: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</a:rPr>
                        <a:t> … /&gt;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JSP </a:t>
                      </a:r>
                      <a:r>
                        <a:rPr lang="ko-KR" altLang="en-US" sz="1600" dirty="0" smtClean="0"/>
                        <a:t>페이지에 </a:t>
                      </a:r>
                      <a:r>
                        <a:rPr lang="ko-KR" altLang="en-US" sz="1600" dirty="0" err="1" smtClean="0"/>
                        <a:t>자바빈즈를</a:t>
                      </a:r>
                      <a:r>
                        <a:rPr lang="ko-KR" altLang="en-US" sz="1600" dirty="0" smtClean="0"/>
                        <a:t> 설정함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</a:t>
                      </a:r>
                      <a:r>
                        <a:rPr lang="en-US" altLang="ko-KR" sz="1800" dirty="0" err="1" smtClean="0"/>
                        <a:t>setProperty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en-US" altLang="ko-KR" sz="1600" b="1" dirty="0" err="1" smtClean="0">
                          <a:solidFill>
                            <a:srgbClr val="0070C0"/>
                          </a:solidFill>
                        </a:rPr>
                        <a:t>jsp:setProperty</a:t>
                      </a: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</a:rPr>
                        <a:t> … /&gt;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err="1" smtClean="0"/>
                        <a:t>자바빈즈의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err="1" smtClean="0"/>
                        <a:t>프로퍼티값을</a:t>
                      </a:r>
                      <a:r>
                        <a:rPr lang="ko-KR" altLang="en-US" sz="1600" dirty="0" smtClean="0"/>
                        <a:t> 설정함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</a:t>
                      </a:r>
                      <a:r>
                        <a:rPr lang="en-US" altLang="ko-KR" sz="1800" dirty="0" err="1" smtClean="0"/>
                        <a:t>getProperty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en-US" altLang="ko-KR" sz="1600" b="1" dirty="0" err="1" smtClean="0">
                          <a:solidFill>
                            <a:srgbClr val="0070C0"/>
                          </a:solidFill>
                        </a:rPr>
                        <a:t>jsp:getProperty</a:t>
                      </a:r>
                      <a:r>
                        <a:rPr lang="en-US" altLang="ko-KR" sz="1600" b="1" dirty="0" smtClean="0">
                          <a:solidFill>
                            <a:srgbClr val="0070C0"/>
                          </a:solidFill>
                        </a:rPr>
                        <a:t> … /&gt;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err="1" smtClean="0"/>
                        <a:t>자바빈즈의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err="1" smtClean="0"/>
                        <a:t>프로퍼티값을</a:t>
                      </a:r>
                      <a:r>
                        <a:rPr lang="ko-KR" altLang="en-US" sz="1600" dirty="0" smtClean="0"/>
                        <a:t> 얻어옴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35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액션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2880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forward </a:t>
            </a:r>
            <a:r>
              <a:rPr lang="ko-KR" altLang="en-US" sz="2000" b="1" dirty="0" smtClean="0"/>
              <a:t>액션 태그 </a:t>
            </a:r>
            <a:endParaRPr lang="en-US" altLang="ko-KR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216696" y="2179814"/>
            <a:ext cx="3875923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B050"/>
                </a:solidFill>
              </a:rPr>
              <a:t>&lt;</a:t>
            </a:r>
            <a:r>
              <a:rPr lang="en-US" altLang="ko-KR" b="1" dirty="0" err="1" smtClean="0">
                <a:solidFill>
                  <a:srgbClr val="00B050"/>
                </a:solidFill>
              </a:rPr>
              <a:t>jsp:forward</a:t>
            </a:r>
            <a:r>
              <a:rPr lang="en-US" altLang="ko-KR" b="1" dirty="0" smtClean="0">
                <a:solidFill>
                  <a:srgbClr val="00B050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page=“</a:t>
            </a:r>
            <a:r>
              <a:rPr lang="ko-KR" altLang="en-US" b="1" dirty="0" smtClean="0">
                <a:solidFill>
                  <a:schemeClr val="tx1"/>
                </a:solidFill>
              </a:rPr>
              <a:t>파일명</a:t>
            </a:r>
            <a:r>
              <a:rPr lang="en-US" altLang="ko-KR" b="1" dirty="0" smtClean="0">
                <a:solidFill>
                  <a:schemeClr val="tx1"/>
                </a:solidFill>
              </a:rPr>
              <a:t>” </a:t>
            </a:r>
            <a:r>
              <a:rPr lang="en-US" altLang="ko-KR" b="1" dirty="0" smtClean="0">
                <a:solidFill>
                  <a:srgbClr val="00B050"/>
                </a:solidFill>
              </a:rPr>
              <a:t>/&gt;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20"/>
          <a:stretch/>
        </p:blipFill>
        <p:spPr>
          <a:xfrm>
            <a:off x="1985566" y="3104660"/>
            <a:ext cx="5166589" cy="24125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673080" y="3270358"/>
            <a:ext cx="2322258" cy="36182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action/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forward.jsp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08584" y="1480199"/>
            <a:ext cx="583264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현재 </a:t>
            </a:r>
            <a:r>
              <a:rPr lang="en-US" altLang="ko-KR" dirty="0"/>
              <a:t>JSP page</a:t>
            </a:r>
            <a:r>
              <a:rPr lang="ko-KR" altLang="en-US" dirty="0"/>
              <a:t>에서 다른 </a:t>
            </a:r>
            <a:r>
              <a:rPr lang="en-US" altLang="ko-KR" dirty="0"/>
              <a:t>page</a:t>
            </a:r>
            <a:r>
              <a:rPr lang="ko-KR" altLang="en-US" dirty="0"/>
              <a:t>로 이동하는 태그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015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936" y="4329269"/>
            <a:ext cx="4031882" cy="16920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24" y="1916832"/>
            <a:ext cx="4896544" cy="17581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액션 태그</a:t>
            </a:r>
            <a:endParaRPr lang="ko-KR" altLang="en-US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241032" y="2222814"/>
            <a:ext cx="2808312" cy="36182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action/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forward_date.jsp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177136" y="3208660"/>
            <a:ext cx="2534296" cy="792088"/>
          </a:xfrm>
          <a:prstGeom prst="round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 err="1" smtClean="0">
                <a:solidFill>
                  <a:sysClr val="windowText" lastClr="000000"/>
                </a:solidFill>
              </a:rPr>
              <a:t>url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은 현재 페이지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이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지만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, 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컨텐츠는 이동페이지임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16" name="직선 화살표 연결선 15"/>
          <p:cNvCxnSpPr>
            <a:stCxn id="13" idx="2"/>
            <a:endCxn id="10" idx="0"/>
          </p:cNvCxnSpPr>
          <p:nvPr/>
        </p:nvCxnSpPr>
        <p:spPr>
          <a:xfrm flipH="1">
            <a:off x="7113240" y="4000748"/>
            <a:ext cx="331044" cy="252064"/>
          </a:xfrm>
          <a:prstGeom prst="straightConnector1">
            <a:avLst/>
          </a:prstGeom>
          <a:ln w="1270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241032" y="4252812"/>
            <a:ext cx="3744416" cy="482657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2560" y="1000530"/>
            <a:ext cx="2880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forward </a:t>
            </a:r>
            <a:r>
              <a:rPr lang="ko-KR" altLang="en-US" sz="2000" b="1" dirty="0" smtClean="0"/>
              <a:t>액션 태그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410559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자바빈즈</a:t>
            </a:r>
            <a:r>
              <a:rPr lang="ko-KR" altLang="en-US" dirty="0" smtClean="0"/>
              <a:t> 액션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20891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자바 </a:t>
            </a:r>
            <a:r>
              <a:rPr lang="ko-KR" altLang="en-US" sz="2000" b="1" dirty="0" err="1" smtClean="0"/>
              <a:t>빈즈</a:t>
            </a:r>
            <a:r>
              <a:rPr lang="en-US" altLang="ko-KR" sz="2000" b="1" dirty="0" smtClean="0"/>
              <a:t>(beans)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자바 코드를 사용하여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자바 클래스</a:t>
            </a:r>
            <a:r>
              <a:rPr lang="ko-KR" altLang="en-US" sz="1600" dirty="0" smtClean="0"/>
              <a:t>로 </a:t>
            </a:r>
            <a:r>
              <a:rPr lang="ko-KR" altLang="en-US" sz="1600" dirty="0" err="1" smtClean="0"/>
              <a:t>로직을</a:t>
            </a:r>
            <a:r>
              <a:rPr lang="ko-KR" altLang="en-US" sz="1600" dirty="0" smtClean="0"/>
              <a:t> 작성하는 방법이다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자바코드와 </a:t>
            </a:r>
            <a:r>
              <a:rPr lang="en-US" altLang="ko-KR" sz="1600" dirty="0" smtClean="0"/>
              <a:t>HTML </a:t>
            </a:r>
            <a:r>
              <a:rPr lang="ko-KR" altLang="en-US" sz="1600" dirty="0" smtClean="0"/>
              <a:t>코드를 함께 작성하면 기능을 확장하거나 코드를 재사용하는데 어려움이 있다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JSP </a:t>
            </a:r>
            <a:r>
              <a:rPr lang="ko-KR" altLang="en-US" sz="1600" dirty="0" smtClean="0"/>
              <a:t>페이지에서 화면을 표현하기 위한 </a:t>
            </a:r>
            <a:r>
              <a:rPr lang="ko-KR" altLang="en-US" sz="1600" b="1" dirty="0" smtClean="0"/>
              <a:t>계산식이나 자료의 처리를 담당하는 자바 코드</a:t>
            </a:r>
            <a:r>
              <a:rPr lang="ko-KR" altLang="en-US" sz="1600" dirty="0" smtClean="0"/>
              <a:t>를 따로 분리하여 작성한다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</p:txBody>
      </p:sp>
      <p:pic>
        <p:nvPicPr>
          <p:cNvPr id="1031" name="Picture 7" descr="C:\Users\user\AppData\Local\Microsoft\Windows\INetCache\IE\THIXYB3K\9d984200007b04e0e5bce3eee4d4395f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92247" y="3517265"/>
            <a:ext cx="1440160" cy="956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접힌 도형 4"/>
          <p:cNvSpPr/>
          <p:nvPr/>
        </p:nvSpPr>
        <p:spPr>
          <a:xfrm>
            <a:off x="3872880" y="3589273"/>
            <a:ext cx="720080" cy="812250"/>
          </a:xfrm>
          <a:prstGeom prst="foldedCorner">
            <a:avLst>
              <a:gd name="adj" fmla="val 3783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70C0"/>
                </a:solidFill>
              </a:rPr>
              <a:t>JSP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5313040" y="3681472"/>
            <a:ext cx="1152128" cy="50405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</a:rPr>
              <a:t>자바빈</a:t>
            </a:r>
            <a:r>
              <a:rPr lang="ko-KR" altLang="en-US" sz="1600" dirty="0" err="1">
                <a:solidFill>
                  <a:schemeClr val="tx1"/>
                </a:solidFill>
              </a:rPr>
              <a:t>즈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원통 6"/>
          <p:cNvSpPr/>
          <p:nvPr/>
        </p:nvSpPr>
        <p:spPr>
          <a:xfrm>
            <a:off x="7185248" y="3681472"/>
            <a:ext cx="1368152" cy="504056"/>
          </a:xfrm>
          <a:prstGeom prst="can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데이터베이스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98515" y="3517265"/>
            <a:ext cx="868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① 요청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2902294" y="4215859"/>
            <a:ext cx="936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④ 응답</a:t>
            </a:r>
            <a:endParaRPr lang="ko-KR" altLang="en-US" sz="1400" dirty="0"/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3080792" y="3901786"/>
            <a:ext cx="63452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3080792" y="4133744"/>
            <a:ext cx="634525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V="1">
            <a:off x="4664968" y="3901787"/>
            <a:ext cx="504056" cy="7428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V="1">
            <a:off x="6537176" y="3901787"/>
            <a:ext cx="504056" cy="7428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625080" y="4739660"/>
            <a:ext cx="62442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 smtClean="0"/>
              <a:t>웹 브라우저가 </a:t>
            </a:r>
            <a:r>
              <a:rPr lang="en-US" altLang="ko-KR" sz="1600" dirty="0" smtClean="0"/>
              <a:t>JSP </a:t>
            </a:r>
            <a:r>
              <a:rPr lang="ko-KR" altLang="en-US" sz="1600" dirty="0" smtClean="0"/>
              <a:t>페이지에 요청한다</a:t>
            </a:r>
            <a:r>
              <a:rPr lang="en-US" altLang="ko-KR" sz="16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 smtClean="0"/>
              <a:t>JSP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페이지는 자바 </a:t>
            </a:r>
            <a:r>
              <a:rPr lang="ko-KR" altLang="en-US" sz="1600" dirty="0" err="1" smtClean="0"/>
              <a:t>빈즈와</a:t>
            </a:r>
            <a:r>
              <a:rPr lang="ko-KR" altLang="en-US" sz="1600" dirty="0" smtClean="0"/>
              <a:t> 통신한다</a:t>
            </a:r>
            <a:r>
              <a:rPr lang="en-US" altLang="ko-KR" sz="16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dirty="0" smtClean="0"/>
              <a:t>자바 </a:t>
            </a:r>
            <a:r>
              <a:rPr lang="ko-KR" altLang="en-US" sz="1600" dirty="0" err="1" smtClean="0"/>
              <a:t>빈즈가</a:t>
            </a:r>
            <a:r>
              <a:rPr lang="ko-KR" altLang="en-US" sz="1600" dirty="0" smtClean="0"/>
              <a:t> 데이터베이스에 연결된다</a:t>
            </a:r>
            <a:r>
              <a:rPr lang="en-US" altLang="ko-KR" sz="16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600" dirty="0" smtClean="0"/>
              <a:t>JSP </a:t>
            </a:r>
            <a:r>
              <a:rPr lang="ko-KR" altLang="en-US" sz="1600" dirty="0" smtClean="0"/>
              <a:t>페이지가 브라우저에 응답한다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4630" y="3517264"/>
            <a:ext cx="404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6892" y="3517264"/>
            <a:ext cx="404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③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2946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자바빈즈</a:t>
            </a:r>
            <a:r>
              <a:rPr lang="ko-KR" altLang="en-US" dirty="0" smtClean="0"/>
              <a:t> 액션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 smtClean="0"/>
              <a:t>useBean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액션 태그로 </a:t>
            </a:r>
            <a:r>
              <a:rPr lang="ko-KR" altLang="en-US" sz="2000" b="1" dirty="0" err="1" smtClean="0"/>
              <a:t>자바빈즈</a:t>
            </a:r>
            <a:r>
              <a:rPr lang="ko-KR" altLang="en-US" sz="2000" b="1" dirty="0" smtClean="0"/>
              <a:t> 사용하기</a:t>
            </a:r>
            <a:endParaRPr lang="en-US" altLang="ko-KR" sz="2000" b="1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1136576" y="1484784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자바빈즈를</a:t>
            </a:r>
            <a:r>
              <a:rPr lang="ko-KR" altLang="en-US" sz="1600" dirty="0" smtClean="0"/>
              <a:t> 사용하기 위해 실제 자바 클래스를 선언하고 초기화하는 태그</a:t>
            </a:r>
            <a:r>
              <a:rPr lang="en-US" altLang="ko-KR" sz="16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설정된 </a:t>
            </a:r>
            <a:r>
              <a:rPr lang="en-US" altLang="ko-KR" sz="1600" dirty="0" smtClean="0"/>
              <a:t>id, scope </a:t>
            </a:r>
            <a:r>
              <a:rPr lang="ko-KR" altLang="en-US" sz="1600" dirty="0" smtClean="0"/>
              <a:t>속성으로 </a:t>
            </a:r>
            <a:r>
              <a:rPr lang="ko-KR" altLang="en-US" sz="1600" dirty="0" err="1" smtClean="0"/>
              <a:t>자바빈즈의</a:t>
            </a:r>
            <a:r>
              <a:rPr lang="ko-KR" altLang="en-US" sz="1600" dirty="0" smtClean="0"/>
              <a:t>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객체</a:t>
            </a:r>
            <a:r>
              <a:rPr lang="ko-KR" altLang="en-US" sz="1600" dirty="0" smtClean="0"/>
              <a:t>를 검색하고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객체가 발견되지 않으면 빈 객체를 생성한다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593" y="2852936"/>
            <a:ext cx="7704855" cy="408623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70C0"/>
                </a:solidFill>
              </a:rPr>
              <a:t>&lt;</a:t>
            </a:r>
            <a:r>
              <a:rPr lang="en-US" altLang="ko-KR" b="1" dirty="0" err="1" smtClean="0">
                <a:solidFill>
                  <a:srgbClr val="0070C0"/>
                </a:solidFill>
              </a:rPr>
              <a:t>jsp:useBean</a:t>
            </a:r>
            <a:r>
              <a:rPr lang="en-US" altLang="ko-KR" b="1" dirty="0" smtClean="0">
                <a:solidFill>
                  <a:srgbClr val="0070C0"/>
                </a:solidFill>
              </a:rPr>
              <a:t> id=“</a:t>
            </a:r>
            <a:r>
              <a:rPr lang="ko-KR" altLang="en-US" b="1" dirty="0" smtClean="0">
                <a:solidFill>
                  <a:srgbClr val="0070C0"/>
                </a:solidFill>
              </a:rPr>
              <a:t>식별 이름</a:t>
            </a:r>
            <a:r>
              <a:rPr lang="en-US" altLang="ko-KR" b="1" dirty="0" smtClean="0">
                <a:solidFill>
                  <a:srgbClr val="0070C0"/>
                </a:solidFill>
              </a:rPr>
              <a:t>” class=“</a:t>
            </a:r>
            <a:r>
              <a:rPr lang="ko-KR" altLang="en-US" b="1" dirty="0" err="1" smtClean="0">
                <a:solidFill>
                  <a:srgbClr val="0070C0"/>
                </a:solidFill>
              </a:rPr>
              <a:t>자바빈즈</a:t>
            </a:r>
            <a:r>
              <a:rPr lang="ko-KR" altLang="en-US" b="1" dirty="0" smtClean="0">
                <a:solidFill>
                  <a:srgbClr val="0070C0"/>
                </a:solidFill>
              </a:rPr>
              <a:t> 이름</a:t>
            </a:r>
            <a:r>
              <a:rPr lang="en-US" altLang="ko-KR" b="1" dirty="0" smtClean="0">
                <a:solidFill>
                  <a:srgbClr val="0070C0"/>
                </a:solidFill>
              </a:rPr>
              <a:t>”  scope=“</a:t>
            </a:r>
            <a:r>
              <a:rPr lang="ko-KR" altLang="en-US" b="1" dirty="0" smtClean="0">
                <a:solidFill>
                  <a:srgbClr val="0070C0"/>
                </a:solidFill>
              </a:rPr>
              <a:t>범위</a:t>
            </a:r>
            <a:r>
              <a:rPr lang="en-US" altLang="ko-KR" b="1" dirty="0" smtClean="0">
                <a:solidFill>
                  <a:srgbClr val="0070C0"/>
                </a:solidFill>
              </a:rPr>
              <a:t>”/&gt;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3" y="3789040"/>
            <a:ext cx="7848872" cy="7291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019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자바빈즈</a:t>
            </a:r>
            <a:r>
              <a:rPr lang="ko-KR" altLang="en-US" dirty="0" smtClean="0"/>
              <a:t> 액션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 smtClean="0"/>
              <a:t>useBean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액션 태그로 </a:t>
            </a:r>
            <a:r>
              <a:rPr lang="ko-KR" altLang="en-US" sz="2000" b="1" dirty="0" err="1" smtClean="0"/>
              <a:t>자바빈즈</a:t>
            </a:r>
            <a:r>
              <a:rPr lang="ko-KR" altLang="en-US" sz="2000" b="1" dirty="0" smtClean="0"/>
              <a:t> 사용하기</a:t>
            </a:r>
            <a:endParaRPr lang="en-US" altLang="ko-KR" sz="2000" b="1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070296"/>
              </p:ext>
            </p:extLst>
          </p:nvPr>
        </p:nvGraphicFramePr>
        <p:xfrm>
          <a:off x="1496616" y="2124707"/>
          <a:ext cx="7830126" cy="18083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5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0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속성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 명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08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id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err="1" smtClean="0"/>
                        <a:t>자바빈즈를</a:t>
                      </a:r>
                      <a:r>
                        <a:rPr lang="ko-KR" altLang="en-US" sz="1600" dirty="0" smtClean="0"/>
                        <a:t> 식별하기 위한 이름이다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08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class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패키지 이름을 포함한 </a:t>
                      </a:r>
                      <a:r>
                        <a:rPr lang="ko-KR" altLang="en-US" sz="1600" dirty="0" err="1" smtClean="0"/>
                        <a:t>자바빈즈의</a:t>
                      </a:r>
                      <a:r>
                        <a:rPr lang="ko-KR" altLang="en-US" sz="1600" dirty="0" smtClean="0"/>
                        <a:t> 이름이다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08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scope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page(</a:t>
                      </a:r>
                      <a:r>
                        <a:rPr lang="ko-KR" altLang="en-US" sz="1600" dirty="0" smtClean="0"/>
                        <a:t>기본값</a:t>
                      </a:r>
                      <a:r>
                        <a:rPr lang="en-US" altLang="ko-KR" sz="1600" dirty="0" smtClean="0"/>
                        <a:t>), </a:t>
                      </a:r>
                      <a:r>
                        <a:rPr lang="en-US" altLang="ko-KR" sz="1600" b="1" dirty="0" smtClean="0"/>
                        <a:t>request, session</a:t>
                      </a:r>
                      <a:r>
                        <a:rPr lang="en-US" altLang="ko-KR" sz="1600" dirty="0" smtClean="0"/>
                        <a:t>, application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smtClean="0"/>
                        <a:t>중 하나의 값을 사용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333855" y="1690877"/>
            <a:ext cx="3528391" cy="361822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ko-KR" b="1" dirty="0" err="1" smtClean="0">
                <a:solidFill>
                  <a:srgbClr val="0070C0"/>
                </a:solidFill>
              </a:rPr>
              <a:t>useBean</a:t>
            </a:r>
            <a:r>
              <a:rPr lang="en-US" altLang="ko-KR" b="1" dirty="0" smtClean="0">
                <a:solidFill>
                  <a:srgbClr val="0070C0"/>
                </a:solidFill>
              </a:rPr>
              <a:t> </a:t>
            </a:r>
            <a:r>
              <a:rPr lang="ko-KR" altLang="en-US" b="1" dirty="0" smtClean="0">
                <a:solidFill>
                  <a:srgbClr val="0070C0"/>
                </a:solidFill>
              </a:rPr>
              <a:t>액션 태그의 속성</a:t>
            </a:r>
            <a:endParaRPr lang="en-US" altLang="ko-KR" b="1" dirty="0" smtClean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40632" y="4149080"/>
            <a:ext cx="4536504" cy="1328023"/>
          </a:xfrm>
          <a:prstGeom prst="wedgeRoundRectCallout">
            <a:avLst>
              <a:gd name="adj1" fmla="val -34746"/>
              <a:gd name="adj2" fmla="val -73722"/>
              <a:gd name="adj3" fmla="val 16667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scope</a:t>
            </a:r>
            <a:r>
              <a:rPr lang="ko-KR" altLang="en-US" sz="1600" dirty="0" smtClean="0"/>
              <a:t>는 생명주기 범위를 의미하며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 만약 </a:t>
            </a:r>
            <a:r>
              <a:rPr lang="en-US" altLang="ko-KR" sz="1600" dirty="0" smtClean="0"/>
              <a:t>session</a:t>
            </a:r>
            <a:r>
              <a:rPr lang="ko-KR" altLang="en-US" sz="1600" dirty="0" smtClean="0"/>
              <a:t>으</a:t>
            </a:r>
            <a:r>
              <a:rPr lang="ko-KR" altLang="en-US" sz="1600" dirty="0"/>
              <a:t>로</a:t>
            </a:r>
            <a:r>
              <a:rPr lang="ko-KR" altLang="en-US" sz="1600" dirty="0" smtClean="0"/>
              <a:t> 설정하면 </a:t>
            </a:r>
            <a:r>
              <a:rPr lang="en-US" altLang="ko-KR" sz="1600" dirty="0" smtClean="0"/>
              <a:t>session</a:t>
            </a:r>
            <a:r>
              <a:rPr lang="ko-KR" altLang="en-US" sz="1600" dirty="0" smtClean="0"/>
              <a:t>의 유효 범위 동안 해당 클래스 </a:t>
            </a:r>
            <a:r>
              <a:rPr lang="ko-KR" altLang="en-US" sz="1600" dirty="0" err="1" smtClean="0"/>
              <a:t>인스턴스의</a:t>
            </a:r>
            <a:r>
              <a:rPr lang="ko-KR" altLang="en-US" sz="1600" dirty="0" smtClean="0"/>
              <a:t> 상태가 유지된다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5001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자바빈즈</a:t>
            </a:r>
            <a:r>
              <a:rPr lang="ko-KR" altLang="en-US" dirty="0" smtClean="0"/>
              <a:t> 액션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36576" y="980728"/>
            <a:ext cx="360040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dirty="0" smtClean="0"/>
              <a:t>Member </a:t>
            </a:r>
            <a:r>
              <a:rPr lang="ko-KR" altLang="en-US" sz="2000" b="1" dirty="0" smtClean="0"/>
              <a:t>클래스 생성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952" y="1628800"/>
            <a:ext cx="4806472" cy="46085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8853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자바빈즈</a:t>
            </a:r>
            <a:r>
              <a:rPr lang="ko-KR" altLang="en-US" dirty="0" smtClean="0"/>
              <a:t> 액션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64568" y="980728"/>
            <a:ext cx="532859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dirty="0" err="1" smtClean="0"/>
              <a:t>useBean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액션 태그로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아이디와 이름 출력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995" y="4016097"/>
            <a:ext cx="8126517" cy="14016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177633" y="4221088"/>
            <a:ext cx="2034226" cy="432048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321709" y="5081620"/>
            <a:ext cx="2160240" cy="651636"/>
          </a:xfrm>
          <a:prstGeom prst="round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request 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객체는 저장 기능이 있다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.</a:t>
            </a:r>
          </a:p>
        </p:txBody>
      </p:sp>
      <p:cxnSp>
        <p:nvCxnSpPr>
          <p:cNvPr id="12" name="직선 화살표 연결선 11"/>
          <p:cNvCxnSpPr/>
          <p:nvPr/>
        </p:nvCxnSpPr>
        <p:spPr>
          <a:xfrm flipV="1">
            <a:off x="8367695" y="4653136"/>
            <a:ext cx="0" cy="440700"/>
          </a:xfrm>
          <a:prstGeom prst="straightConnector1">
            <a:avLst/>
          </a:prstGeom>
          <a:ln w="1270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858042" y="3542529"/>
            <a:ext cx="2448272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action/member01.jsp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771" y="1759878"/>
            <a:ext cx="4668186" cy="14632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0573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자바빈즈</a:t>
            </a:r>
            <a:r>
              <a:rPr lang="ko-KR" altLang="en-US" dirty="0" smtClean="0"/>
              <a:t> 액션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980728"/>
            <a:ext cx="69127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dirty="0" err="1" smtClean="0"/>
              <a:t>setProperty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액션 태그로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>
                <a:solidFill>
                  <a:srgbClr val="C00000"/>
                </a:solidFill>
              </a:rPr>
              <a:t>아이디와 이름 설정</a:t>
            </a:r>
            <a:r>
              <a:rPr lang="ko-KR" altLang="en-US" sz="2000" b="1" dirty="0" smtClean="0"/>
              <a:t>하여 출력</a:t>
            </a:r>
            <a:endParaRPr lang="en-US" altLang="ko-KR" sz="2000" b="1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28" y="3851111"/>
            <a:ext cx="7651144" cy="17603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720" y="1795060"/>
            <a:ext cx="4686706" cy="11735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330300" y="3379236"/>
            <a:ext cx="2448272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action/member02.jsp</a:t>
            </a:r>
          </a:p>
        </p:txBody>
      </p:sp>
    </p:spTree>
    <p:extLst>
      <p:ext uri="{BB962C8B-B14F-4D97-AF65-F5344CB8AC3E}">
        <p14:creationId xmlns:p14="http://schemas.microsoft.com/office/powerpoint/2010/main" val="123061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자바빈즈</a:t>
            </a:r>
            <a:r>
              <a:rPr lang="ko-KR" altLang="en-US" dirty="0" smtClean="0"/>
              <a:t> 액션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30492"/>
            <a:ext cx="87129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err="1" smtClean="0">
                <a:solidFill>
                  <a:srgbClr val="C00000"/>
                </a:solidFill>
              </a:rPr>
              <a:t>디렉티브</a:t>
            </a:r>
            <a:r>
              <a:rPr lang="ko-KR" altLang="en-US" b="1" dirty="0" smtClean="0">
                <a:solidFill>
                  <a:srgbClr val="C00000"/>
                </a:solidFill>
              </a:rPr>
              <a:t> </a:t>
            </a:r>
            <a:r>
              <a:rPr lang="en-US" altLang="ko-KR" b="1" dirty="0" smtClean="0">
                <a:solidFill>
                  <a:srgbClr val="C00000"/>
                </a:solidFill>
              </a:rPr>
              <a:t>page</a:t>
            </a:r>
            <a:r>
              <a:rPr lang="ko-KR" altLang="en-US" b="1" dirty="0" smtClean="0">
                <a:solidFill>
                  <a:srgbClr val="C00000"/>
                </a:solidFill>
              </a:rPr>
              <a:t>로</a:t>
            </a:r>
            <a:r>
              <a:rPr lang="en-US" altLang="ko-KR" b="1" dirty="0" smtClean="0">
                <a:solidFill>
                  <a:srgbClr val="C00000"/>
                </a:solidFill>
              </a:rPr>
              <a:t> import </a:t>
            </a:r>
            <a:r>
              <a:rPr lang="ko-KR" altLang="en-US" b="1" dirty="0" smtClean="0"/>
              <a:t>하여 아이디와 이름 설정하여 출력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741231"/>
            <a:ext cx="4824536" cy="14516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37" y="3861048"/>
            <a:ext cx="5133120" cy="23477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889104" y="4077072"/>
            <a:ext cx="2448272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action/member03.jsp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640" y="3500458"/>
            <a:ext cx="4176464" cy="260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836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사용자 로그인 구현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37061" y="980728"/>
            <a:ext cx="35118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사용자 로그인 구현</a:t>
            </a:r>
            <a:endParaRPr lang="en-US" altLang="ko-KR" sz="2000" b="1" dirty="0" smtClean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512402"/>
              </p:ext>
            </p:extLst>
          </p:nvPr>
        </p:nvGraphicFramePr>
        <p:xfrm>
          <a:off x="992560" y="2128403"/>
          <a:ext cx="8496944" cy="21104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0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파일 이름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역 할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loginForm.html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사용자 </a:t>
                      </a:r>
                      <a:r>
                        <a:rPr lang="ko-KR" altLang="en-US" sz="1600" dirty="0" err="1" smtClean="0"/>
                        <a:t>로그인을</a:t>
                      </a:r>
                      <a:r>
                        <a:rPr lang="ko-KR" altLang="en-US" sz="1600" dirty="0" smtClean="0"/>
                        <a:t> 위해 아이디와 비밀번호 </a:t>
                      </a:r>
                      <a:r>
                        <a:rPr lang="ko-KR" altLang="en-US" sz="1600" dirty="0" err="1" smtClean="0"/>
                        <a:t>입력받는</a:t>
                      </a:r>
                      <a:r>
                        <a:rPr lang="ko-KR" altLang="en-US" sz="1600" dirty="0" smtClean="0"/>
                        <a:t> 화면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err="1" smtClean="0"/>
                        <a:t>loginProcess.jsp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 smtClean="0"/>
                        <a:t>입력받은</a:t>
                      </a:r>
                      <a:r>
                        <a:rPr lang="ko-KR" altLang="en-US" sz="1600" dirty="0" smtClean="0"/>
                        <a:t> 아이디 정보를 </a:t>
                      </a:r>
                      <a:r>
                        <a:rPr lang="ko-KR" altLang="en-US" sz="1600" dirty="0" err="1" smtClean="0"/>
                        <a:t>빈즈</a:t>
                      </a:r>
                      <a:r>
                        <a:rPr lang="ko-KR" altLang="en-US" sz="1600" dirty="0" smtClean="0"/>
                        <a:t> 클래스를 이용 확인 처리한  화면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43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LoginBean.java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사용자가 입력한 계정 정보를 </a:t>
                      </a:r>
                      <a:r>
                        <a:rPr lang="ko-KR" altLang="en-US" sz="1600" dirty="0" err="1" smtClean="0"/>
                        <a:t>매핑하는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err="1" smtClean="0"/>
                        <a:t>빈즈</a:t>
                      </a:r>
                      <a:r>
                        <a:rPr lang="ko-KR" altLang="en-US" sz="1600" dirty="0" smtClean="0"/>
                        <a:t> 클래스로써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미리 저장된 계정 값과 비교해 로그인 성공 여부를 반환하는 </a:t>
                      </a:r>
                      <a:r>
                        <a:rPr lang="ko-KR" altLang="en-US" sz="1600" dirty="0" err="1" smtClean="0"/>
                        <a:t>메서드를</a:t>
                      </a:r>
                      <a:r>
                        <a:rPr lang="ko-KR" altLang="en-US" sz="1600" dirty="0" smtClean="0"/>
                        <a:t> 포함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7360" y="1656993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프로그램 소스 목록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3746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사용자 로그인 구현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37061" y="980728"/>
            <a:ext cx="37999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사용자 로그인 구현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988840"/>
            <a:ext cx="2984849" cy="19571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096" y="2146836"/>
            <a:ext cx="2592288" cy="1641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오른쪽 화살표 5"/>
          <p:cNvSpPr/>
          <p:nvPr/>
        </p:nvSpPr>
        <p:spPr>
          <a:xfrm>
            <a:off x="4953000" y="2780929"/>
            <a:ext cx="360040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92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사용자 </a:t>
            </a:r>
            <a:r>
              <a:rPr lang="ko-KR" altLang="en-US" dirty="0"/>
              <a:t>로그인 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061" y="980728"/>
            <a:ext cx="343987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사용자 로그인 구현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144" y="2204864"/>
            <a:ext cx="6844942" cy="38164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452" y="1628800"/>
            <a:ext cx="3596472" cy="2952328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3980236" y="1733636"/>
            <a:ext cx="1831004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loginBean.java</a:t>
            </a:r>
          </a:p>
        </p:txBody>
      </p:sp>
    </p:spTree>
    <p:extLst>
      <p:ext uri="{BB962C8B-B14F-4D97-AF65-F5344CB8AC3E}">
        <p14:creationId xmlns:p14="http://schemas.microsoft.com/office/powerpoint/2010/main" val="274904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사용자 </a:t>
            </a:r>
            <a:r>
              <a:rPr lang="ko-KR" altLang="en-US" dirty="0"/>
              <a:t>로그인 구현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366"/>
            <a:ext cx="6408983" cy="39086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897216" y="2132856"/>
            <a:ext cx="1686988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ysClr val="windowText" lastClr="000000"/>
                </a:solidFill>
              </a:rPr>
              <a:t>loginForm.jsp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7061" y="980728"/>
            <a:ext cx="343987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사용자 로그인 구현</a:t>
            </a:r>
            <a:endParaRPr lang="en-US" altLang="ko-KR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4316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JSP </a:t>
            </a:r>
            <a:r>
              <a:rPr lang="ko-KR" altLang="en-US" dirty="0" err="1" smtClean="0"/>
              <a:t>빈즈</a:t>
            </a:r>
            <a:r>
              <a:rPr lang="ko-KR" altLang="en-US" dirty="0" smtClean="0"/>
              <a:t> 프로그래밍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366"/>
            <a:ext cx="7662682" cy="42489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758220" y="1556792"/>
            <a:ext cx="1686988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ysClr val="windowText" lastClr="000000"/>
                </a:solidFill>
              </a:rPr>
              <a:t>loginProcess.jsp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7061" y="980728"/>
            <a:ext cx="343987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사용자 로그인 구현</a:t>
            </a:r>
            <a:endParaRPr lang="en-US" altLang="ko-KR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00352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포워드 기능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8064896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포워드</a:t>
            </a:r>
            <a:r>
              <a:rPr lang="en-US" altLang="ko-KR" sz="2000" b="1" dirty="0" smtClean="0"/>
              <a:t>(forward) </a:t>
            </a:r>
            <a:r>
              <a:rPr lang="ko-KR" altLang="en-US" sz="2000" b="1" dirty="0" smtClean="0"/>
              <a:t>기능</a:t>
            </a:r>
            <a:endParaRPr lang="en-US" altLang="ko-KR" sz="2000" b="1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하나의 </a:t>
            </a:r>
            <a:r>
              <a:rPr lang="ko-KR" altLang="en-US" dirty="0" err="1" smtClean="0"/>
              <a:t>서블릿에서</a:t>
            </a:r>
            <a:r>
              <a:rPr lang="ko-KR" altLang="en-US" dirty="0" smtClean="0"/>
              <a:t> 다른 </a:t>
            </a:r>
            <a:r>
              <a:rPr lang="ko-KR" altLang="en-US" dirty="0" err="1" smtClean="0"/>
              <a:t>서블릿이나</a:t>
            </a:r>
            <a:r>
              <a:rPr lang="ko-KR" altLang="en-US" dirty="0" smtClean="0"/>
              <a:t> </a:t>
            </a:r>
            <a:r>
              <a:rPr lang="en-US" altLang="ko-KR" dirty="0" smtClean="0"/>
              <a:t>JSP</a:t>
            </a:r>
            <a:r>
              <a:rPr lang="ko-KR" altLang="en-US" dirty="0" smtClean="0"/>
              <a:t>와 연동하는 방법</a:t>
            </a:r>
            <a:endParaRPr lang="en-US" altLang="ko-KR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992560" y="2118602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포워드 방법</a:t>
            </a:r>
            <a:endParaRPr lang="en-US" altLang="ko-KR" sz="2000" b="1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208584" y="2672600"/>
            <a:ext cx="821525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redirect </a:t>
            </a:r>
            <a:r>
              <a:rPr lang="ko-KR" altLang="en-US" b="1" dirty="0"/>
              <a:t>방법 </a:t>
            </a:r>
            <a:r>
              <a:rPr lang="en-US" altLang="ko-KR" dirty="0"/>
              <a:t>– </a:t>
            </a:r>
            <a:r>
              <a:rPr lang="en-US" altLang="ko-KR" dirty="0" err="1"/>
              <a:t>HttpServletResponse</a:t>
            </a:r>
            <a:r>
              <a:rPr lang="en-US" altLang="ko-KR" dirty="0"/>
              <a:t> </a:t>
            </a:r>
            <a:r>
              <a:rPr lang="ko-KR" altLang="en-US" dirty="0"/>
              <a:t>객체의 </a:t>
            </a:r>
            <a:r>
              <a:rPr lang="en-US" altLang="ko-KR" dirty="0" err="1"/>
              <a:t>sendRedirect</a:t>
            </a:r>
            <a:r>
              <a:rPr lang="en-US" altLang="ko-KR" dirty="0"/>
              <a:t>() </a:t>
            </a:r>
            <a:r>
              <a:rPr lang="ko-KR" altLang="en-US" dirty="0"/>
              <a:t>메서드 이용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    </a:t>
            </a:r>
            <a:r>
              <a:rPr lang="ko-KR" altLang="en-US" b="1" dirty="0" err="1" smtClean="0"/>
              <a:t>리디렉션</a:t>
            </a:r>
            <a:r>
              <a:rPr lang="en-US" altLang="ko-KR" dirty="0"/>
              <a:t>: </a:t>
            </a:r>
            <a:r>
              <a:rPr lang="ko-KR" altLang="en-US" dirty="0"/>
              <a:t>서버가 클라이언트에게 새로운 페이지로 다시 접속하도록 응답을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보내고</a:t>
            </a:r>
            <a:r>
              <a:rPr lang="en-US" altLang="ko-KR" dirty="0"/>
              <a:t>, </a:t>
            </a:r>
            <a:r>
              <a:rPr lang="ko-KR" altLang="en-US" dirty="0" smtClean="0"/>
              <a:t>응답을 </a:t>
            </a:r>
            <a:r>
              <a:rPr lang="ko-KR" altLang="en-US" dirty="0"/>
              <a:t>받은 클라이언트가 다시 새로운 페이지로 접속하는 </a:t>
            </a:r>
            <a:r>
              <a:rPr lang="ko-KR" altLang="en-US" dirty="0" smtClean="0"/>
              <a:t>방식</a:t>
            </a: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1280592" y="4077072"/>
            <a:ext cx="8424936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err="1"/>
              <a:t>dspatch</a:t>
            </a:r>
            <a:r>
              <a:rPr lang="en-US" altLang="ko-KR" b="1" dirty="0"/>
              <a:t> </a:t>
            </a:r>
            <a:r>
              <a:rPr lang="ko-KR" altLang="en-US" b="1" dirty="0"/>
              <a:t>방법 </a:t>
            </a:r>
            <a:r>
              <a:rPr lang="en-US" altLang="ko-KR" dirty="0"/>
              <a:t>– </a:t>
            </a:r>
            <a:r>
              <a:rPr lang="en-US" altLang="ko-KR" dirty="0" err="1"/>
              <a:t>RequestDispatcher</a:t>
            </a:r>
            <a:r>
              <a:rPr lang="en-US" altLang="ko-KR" dirty="0"/>
              <a:t> </a:t>
            </a:r>
            <a:r>
              <a:rPr lang="ko-KR" altLang="en-US" dirty="0"/>
              <a:t>클래스의 </a:t>
            </a:r>
            <a:r>
              <a:rPr lang="en-US" altLang="ko-KR" dirty="0"/>
              <a:t>forward() </a:t>
            </a:r>
            <a:r>
              <a:rPr lang="ko-KR" altLang="en-US" dirty="0"/>
              <a:t>메서드 이용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en-US" altLang="ko-KR" b="1" dirty="0" smtClean="0"/>
              <a:t>forward </a:t>
            </a:r>
            <a:r>
              <a:rPr lang="ko-KR" altLang="en-US" b="1" dirty="0"/>
              <a:t>액션</a:t>
            </a:r>
            <a:r>
              <a:rPr lang="en-US" altLang="ko-KR" dirty="0"/>
              <a:t>: </a:t>
            </a:r>
            <a:r>
              <a:rPr lang="ko-KR" altLang="en-US" dirty="0"/>
              <a:t>클라이언트가 새롭게 접속하는 것이 아니라 서버에서 </a:t>
            </a:r>
            <a:r>
              <a:rPr lang="ko-KR" altLang="en-US" dirty="0" smtClean="0"/>
              <a:t>내부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적으로 </a:t>
            </a:r>
            <a:r>
              <a:rPr lang="ko-KR" altLang="en-US" dirty="0"/>
              <a:t>새로운 페이지로 </a:t>
            </a:r>
            <a:r>
              <a:rPr lang="ko-KR" altLang="en-US" dirty="0" smtClean="0"/>
              <a:t>이동하고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그 페이지의 </a:t>
            </a:r>
            <a:r>
              <a:rPr lang="ko-KR" altLang="en-US" dirty="0" smtClean="0"/>
              <a:t>내용을 </a:t>
            </a:r>
            <a:r>
              <a:rPr lang="ko-KR" altLang="en-US" dirty="0"/>
              <a:t>클라이언트에게 </a:t>
            </a:r>
            <a:r>
              <a:rPr lang="ko-KR" altLang="en-US" dirty="0" smtClean="0"/>
              <a:t>응답 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으로 </a:t>
            </a:r>
            <a:r>
              <a:rPr lang="ko-KR" altLang="en-US" dirty="0"/>
              <a:t>전달하는 방식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0167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포워드 기능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0900" y="980728"/>
            <a:ext cx="445816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 smtClean="0"/>
              <a:t>redirect</a:t>
            </a:r>
            <a:r>
              <a:rPr lang="ko-KR" altLang="en-US" sz="2000" b="1" dirty="0" smtClean="0"/>
              <a:t>를 이용한 </a:t>
            </a:r>
            <a:r>
              <a:rPr lang="ko-KR" altLang="en-US" sz="2000" b="1" dirty="0" err="1" smtClean="0"/>
              <a:t>포워딩</a:t>
            </a:r>
            <a:r>
              <a:rPr lang="ko-KR" altLang="en-US" sz="2000" b="1" dirty="0" smtClean="0"/>
              <a:t> 과정</a:t>
            </a:r>
            <a:endParaRPr lang="en-US" altLang="ko-KR" b="1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8" y="2413743"/>
            <a:ext cx="1252890" cy="1177716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001591" y="1844824"/>
            <a:ext cx="2751609" cy="27571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4232919" y="2225695"/>
            <a:ext cx="1576523" cy="77690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FirstServlet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4405287" y="3983877"/>
            <a:ext cx="1987873" cy="77690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SecondServlet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3014076" y="2459398"/>
            <a:ext cx="1146836" cy="486962"/>
          </a:xfrm>
          <a:custGeom>
            <a:avLst/>
            <a:gdLst>
              <a:gd name="connsiteX0" fmla="*/ 0 w 1026368"/>
              <a:gd name="connsiteY0" fmla="*/ 486962 h 486962"/>
              <a:gd name="connsiteX1" fmla="*/ 419878 w 1026368"/>
              <a:gd name="connsiteY1" fmla="*/ 11100 h 486962"/>
              <a:gd name="connsiteX2" fmla="*/ 1026368 w 1026368"/>
              <a:gd name="connsiteY2" fmla="*/ 197713 h 48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6368" h="486962">
                <a:moveTo>
                  <a:pt x="0" y="486962"/>
                </a:moveTo>
                <a:cubicBezTo>
                  <a:pt x="124408" y="273135"/>
                  <a:pt x="248817" y="59308"/>
                  <a:pt x="419878" y="11100"/>
                </a:cubicBezTo>
                <a:cubicBezTo>
                  <a:pt x="590939" y="-37108"/>
                  <a:pt x="808653" y="80302"/>
                  <a:pt x="1026368" y="197713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3014076" y="3377823"/>
            <a:ext cx="1506876" cy="72008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80792" y="2081679"/>
            <a:ext cx="5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①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477734" y="2817622"/>
            <a:ext cx="5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3386" y="4941168"/>
            <a:ext cx="8298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① 클라이언트의 웹 브라우저에서 첫번째 </a:t>
            </a:r>
            <a:r>
              <a:rPr lang="ko-KR" altLang="en-US" sz="1600" dirty="0" err="1" smtClean="0"/>
              <a:t>서블릿에</a:t>
            </a:r>
            <a:r>
              <a:rPr lang="ko-KR" altLang="en-US" sz="1600" dirty="0" smtClean="0"/>
              <a:t> 요청합니다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② 첫번째 </a:t>
            </a:r>
            <a:r>
              <a:rPr lang="ko-KR" altLang="en-US" sz="1600" dirty="0" err="1" smtClean="0"/>
              <a:t>서블릿은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sendRedirect</a:t>
            </a:r>
            <a:r>
              <a:rPr lang="en-US" altLang="ko-KR" sz="1600" dirty="0" smtClean="0"/>
              <a:t>() </a:t>
            </a:r>
            <a:r>
              <a:rPr lang="ko-KR" altLang="en-US" sz="1600" dirty="0" err="1" smtClean="0"/>
              <a:t>메서드를</a:t>
            </a:r>
            <a:r>
              <a:rPr lang="ko-KR" altLang="en-US" sz="1600" dirty="0" smtClean="0"/>
              <a:t> 이용해 웹 브라우저에게 다시 요청하게 함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③ 웹 브라우저는 두 번째 </a:t>
            </a:r>
            <a:r>
              <a:rPr lang="ko-KR" altLang="en-US" sz="1600" dirty="0" err="1" smtClean="0"/>
              <a:t>서블릿으로</a:t>
            </a:r>
            <a:r>
              <a:rPr lang="ko-KR" altLang="en-US" sz="1600" dirty="0" smtClean="0"/>
              <a:t> 다시 요청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(URL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은 두번째 </a:t>
            </a:r>
            <a:r>
              <a:rPr lang="ko-KR" altLang="en-US" sz="1600" b="1" dirty="0" err="1" smtClean="0">
                <a:solidFill>
                  <a:srgbClr val="C00000"/>
                </a:solidFill>
              </a:rPr>
              <a:t>서블릿</a:t>
            </a:r>
            <a:r>
              <a:rPr lang="ko-KR" altLang="en-US" sz="1600" b="1" dirty="0">
                <a:solidFill>
                  <a:srgbClr val="C00000"/>
                </a:solidFill>
              </a:rPr>
              <a:t>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경로로 </a:t>
            </a:r>
            <a:r>
              <a:rPr lang="ko-KR" altLang="en-US" sz="1600" b="1" dirty="0">
                <a:solidFill>
                  <a:srgbClr val="C00000"/>
                </a:solidFill>
              </a:rPr>
              <a:t>이동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)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13040" y="1937663"/>
            <a:ext cx="1353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err="1" smtClean="0"/>
              <a:t>톰캣</a:t>
            </a:r>
            <a:r>
              <a:rPr lang="ko-KR" altLang="en-US" sz="1400" dirty="0" smtClean="0"/>
              <a:t> 컨테이너</a:t>
            </a:r>
            <a:endParaRPr lang="ko-KR" alt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3430295" y="3860740"/>
            <a:ext cx="5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③</a:t>
            </a:r>
          </a:p>
        </p:txBody>
      </p:sp>
      <p:sp>
        <p:nvSpPr>
          <p:cNvPr id="22" name="자유형 21"/>
          <p:cNvSpPr/>
          <p:nvPr/>
        </p:nvSpPr>
        <p:spPr>
          <a:xfrm flipH="1" flipV="1">
            <a:off x="3194096" y="2856283"/>
            <a:ext cx="1146836" cy="330671"/>
          </a:xfrm>
          <a:custGeom>
            <a:avLst/>
            <a:gdLst>
              <a:gd name="connsiteX0" fmla="*/ 0 w 1026368"/>
              <a:gd name="connsiteY0" fmla="*/ 486962 h 486962"/>
              <a:gd name="connsiteX1" fmla="*/ 419878 w 1026368"/>
              <a:gd name="connsiteY1" fmla="*/ 11100 h 486962"/>
              <a:gd name="connsiteX2" fmla="*/ 1026368 w 1026368"/>
              <a:gd name="connsiteY2" fmla="*/ 197713 h 48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6368" h="486962">
                <a:moveTo>
                  <a:pt x="0" y="486962"/>
                </a:moveTo>
                <a:cubicBezTo>
                  <a:pt x="124408" y="273135"/>
                  <a:pt x="248817" y="59308"/>
                  <a:pt x="419878" y="11100"/>
                </a:cubicBezTo>
                <a:cubicBezTo>
                  <a:pt x="590939" y="-37108"/>
                  <a:pt x="808653" y="80302"/>
                  <a:pt x="1026368" y="197713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포워드 기능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4568" y="980728"/>
            <a:ext cx="36724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/>
              <a:t> </a:t>
            </a:r>
            <a:r>
              <a:rPr lang="en-US" altLang="ko-KR" sz="2000" b="1" dirty="0" smtClean="0"/>
              <a:t>redirect </a:t>
            </a:r>
            <a:r>
              <a:rPr lang="ko-KR" altLang="en-US" sz="2000" b="1" dirty="0" smtClean="0"/>
              <a:t>방법 실습</a:t>
            </a:r>
            <a:endParaRPr lang="en-US" altLang="ko-KR" b="1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3349545"/>
            <a:ext cx="7807953" cy="21676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745088" y="3133521"/>
            <a:ext cx="3744416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ysClr val="windowText" lastClr="000000"/>
                </a:solidFill>
              </a:rPr>
              <a:t>forward.redirect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/FirstServlet.java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24" y="1687870"/>
            <a:ext cx="4972744" cy="11907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6643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포워드 기능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4568" y="980728"/>
            <a:ext cx="36724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/>
              <a:t> </a:t>
            </a:r>
            <a:r>
              <a:rPr lang="en-US" altLang="ko-KR" sz="2000" b="1" dirty="0" smtClean="0"/>
              <a:t>redirect </a:t>
            </a:r>
            <a:r>
              <a:rPr lang="ko-KR" altLang="en-US" sz="2000" b="1" dirty="0" smtClean="0"/>
              <a:t>방법 실습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04" y="1879557"/>
            <a:ext cx="8651737" cy="34353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601072" y="1700808"/>
            <a:ext cx="3744416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ysClr val="windowText" lastClr="000000"/>
                </a:solidFill>
              </a:rPr>
              <a:t>forward.redirect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/SecondServlet.java</a:t>
            </a:r>
          </a:p>
        </p:txBody>
      </p:sp>
    </p:spTree>
    <p:extLst>
      <p:ext uri="{BB962C8B-B14F-4D97-AF65-F5344CB8AC3E}">
        <p14:creationId xmlns:p14="http://schemas.microsoft.com/office/powerpoint/2010/main" val="84139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포워드 기능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0900" y="980728"/>
            <a:ext cx="42421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/>
              <a:t>d</a:t>
            </a:r>
            <a:r>
              <a:rPr lang="en-US" altLang="ko-KR" sz="2000" b="1" dirty="0" smtClean="0"/>
              <a:t>ispatch</a:t>
            </a:r>
            <a:r>
              <a:rPr lang="ko-KR" altLang="en-US" sz="2000" b="1" dirty="0" smtClean="0"/>
              <a:t>를 이용한 </a:t>
            </a:r>
            <a:r>
              <a:rPr lang="ko-KR" altLang="en-US" sz="2000" b="1" dirty="0" err="1" smtClean="0"/>
              <a:t>포워딩</a:t>
            </a:r>
            <a:r>
              <a:rPr lang="ko-KR" altLang="en-US" sz="2000" b="1" dirty="0" smtClean="0"/>
              <a:t> 과정</a:t>
            </a:r>
            <a:endParaRPr lang="en-US" altLang="ko-KR" b="1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67" y="2485751"/>
            <a:ext cx="1252890" cy="1177716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092610" y="1916832"/>
            <a:ext cx="2751609" cy="27571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4323938" y="2297703"/>
            <a:ext cx="1576523" cy="77690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FirstServlet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4496306" y="4055885"/>
            <a:ext cx="1987873" cy="77690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ysClr val="windowText" lastClr="000000"/>
                </a:solidFill>
              </a:rPr>
              <a:t>SecondServlet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3105095" y="2531406"/>
            <a:ext cx="1146836" cy="486962"/>
          </a:xfrm>
          <a:custGeom>
            <a:avLst/>
            <a:gdLst>
              <a:gd name="connsiteX0" fmla="*/ 0 w 1026368"/>
              <a:gd name="connsiteY0" fmla="*/ 486962 h 486962"/>
              <a:gd name="connsiteX1" fmla="*/ 419878 w 1026368"/>
              <a:gd name="connsiteY1" fmla="*/ 11100 h 486962"/>
              <a:gd name="connsiteX2" fmla="*/ 1026368 w 1026368"/>
              <a:gd name="connsiteY2" fmla="*/ 197713 h 48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6368" h="486962">
                <a:moveTo>
                  <a:pt x="0" y="486962"/>
                </a:moveTo>
                <a:cubicBezTo>
                  <a:pt x="124408" y="273135"/>
                  <a:pt x="248817" y="59308"/>
                  <a:pt x="419878" y="11100"/>
                </a:cubicBezTo>
                <a:cubicBezTo>
                  <a:pt x="590939" y="-37108"/>
                  <a:pt x="808653" y="80302"/>
                  <a:pt x="1026368" y="197713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5065742" y="3047374"/>
            <a:ext cx="248201" cy="97852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71811" y="2153687"/>
            <a:ext cx="5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①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652984" y="3307569"/>
            <a:ext cx="50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4406" y="5084717"/>
            <a:ext cx="7919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① 클라이언트의 웹 브라우저에서 첫 번째 </a:t>
            </a:r>
            <a:r>
              <a:rPr lang="ko-KR" altLang="en-US" sz="1600" dirty="0" err="1" smtClean="0"/>
              <a:t>서블릿에</a:t>
            </a:r>
            <a:r>
              <a:rPr lang="ko-KR" altLang="en-US" sz="1600" dirty="0" smtClean="0"/>
              <a:t> 요청합니다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② 첫 번째 </a:t>
            </a:r>
            <a:r>
              <a:rPr lang="ko-KR" altLang="en-US" sz="1600" dirty="0" err="1" smtClean="0"/>
              <a:t>서블릿은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RequestDispatcher</a:t>
            </a:r>
            <a:r>
              <a:rPr lang="ko-KR" altLang="en-US" sz="1600" dirty="0" smtClean="0"/>
              <a:t>를 이용해 두 번째 </a:t>
            </a:r>
            <a:r>
              <a:rPr lang="ko-KR" altLang="en-US" sz="1600" dirty="0" err="1" smtClean="0"/>
              <a:t>서블릿으로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포워드합니다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(URL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경로는 첫번째 </a:t>
            </a:r>
            <a:r>
              <a:rPr lang="ko-KR" altLang="en-US" sz="1600" b="1" dirty="0" err="1" smtClean="0">
                <a:solidFill>
                  <a:srgbClr val="C00000"/>
                </a:solidFill>
              </a:rPr>
              <a:t>서블릿임</a:t>
            </a:r>
            <a:r>
              <a:rPr lang="en-US" altLang="ko-KR" sz="1600" dirty="0" smtClean="0"/>
              <a:t>)</a:t>
            </a:r>
            <a:endParaRPr lang="ko-KR" alt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5404059" y="2009671"/>
            <a:ext cx="1353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err="1" smtClean="0"/>
              <a:t>톰캣</a:t>
            </a:r>
            <a:r>
              <a:rPr lang="ko-KR" altLang="en-US" sz="1400" dirty="0" smtClean="0"/>
              <a:t> 컨테이너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84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포워드 기능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4568" y="980728"/>
            <a:ext cx="6048672" cy="915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dirty="0" smtClean="0"/>
              <a:t>Java EE API</a:t>
            </a:r>
            <a:r>
              <a:rPr lang="en-US" altLang="ko-KR" b="1" dirty="0" smtClean="0"/>
              <a:t>-&gt; </a:t>
            </a:r>
            <a:r>
              <a:rPr lang="ko-KR" altLang="en-US" b="1" dirty="0" err="1" smtClean="0"/>
              <a:t>서블릿</a:t>
            </a:r>
            <a:r>
              <a:rPr lang="ko-KR" altLang="en-US" b="1" dirty="0" smtClean="0"/>
              <a:t>  </a:t>
            </a:r>
            <a:r>
              <a:rPr lang="en-US" altLang="ko-KR" b="1" dirty="0" smtClean="0"/>
              <a:t>-&gt; </a:t>
            </a:r>
            <a:r>
              <a:rPr lang="en-US" altLang="ko-KR" b="1" dirty="0" err="1" smtClean="0"/>
              <a:t>RequestDispatcher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클래스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1701420"/>
            <a:ext cx="6150267" cy="27583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992560" y="4548796"/>
            <a:ext cx="85857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클라이언트에서 요청을 수신하여 서버의 리소스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서블릿</a:t>
            </a:r>
            <a:r>
              <a:rPr lang="en-US" altLang="ko-KR" sz="1600" dirty="0"/>
              <a:t>, HTML </a:t>
            </a:r>
            <a:r>
              <a:rPr lang="ko-KR" altLang="en-US" sz="1600" dirty="0"/>
              <a:t>파일 또는 </a:t>
            </a:r>
            <a:r>
              <a:rPr lang="en-US" altLang="ko-KR" sz="1600" dirty="0"/>
              <a:t>JSP </a:t>
            </a:r>
            <a:r>
              <a:rPr lang="ko-KR" altLang="en-US" sz="1600" dirty="0"/>
              <a:t>파일</a:t>
            </a:r>
            <a:r>
              <a:rPr lang="en-US" altLang="ko-KR" sz="1600" dirty="0"/>
              <a:t>)</a:t>
            </a:r>
            <a:r>
              <a:rPr lang="ko-KR" altLang="en-US" sz="1600" dirty="0"/>
              <a:t>로 보내는 </a:t>
            </a:r>
            <a:r>
              <a:rPr lang="ko-KR" altLang="en-US" sz="1600" dirty="0" smtClean="0"/>
              <a:t>객체를 </a:t>
            </a:r>
            <a:r>
              <a:rPr lang="ko-KR" altLang="en-US" sz="1600" dirty="0"/>
              <a:t>정의합니다</a:t>
            </a:r>
            <a:r>
              <a:rPr lang="en-US" altLang="ko-KR" sz="1600" dirty="0"/>
              <a:t>. 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err="1" smtClean="0"/>
              <a:t>서블릿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컨테이너는 </a:t>
            </a:r>
            <a:r>
              <a:rPr lang="en-US" altLang="ko-KR" sz="1600" dirty="0" err="1"/>
              <a:t>RequestDispatcher</a:t>
            </a:r>
            <a:r>
              <a:rPr lang="en-US" altLang="ko-KR" sz="1600" dirty="0"/>
              <a:t> </a:t>
            </a:r>
            <a:r>
              <a:rPr lang="ko-KR" altLang="en-US" sz="1600" dirty="0"/>
              <a:t>객</a:t>
            </a:r>
            <a:r>
              <a:rPr lang="ko-KR" altLang="en-US" sz="1600" dirty="0" smtClean="0"/>
              <a:t>체를 </a:t>
            </a:r>
            <a:r>
              <a:rPr lang="ko-KR" altLang="en-US" sz="1600" dirty="0"/>
              <a:t>생성하며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</a:t>
            </a:r>
            <a:r>
              <a:rPr lang="ko-KR" altLang="en-US" sz="1600" dirty="0" smtClean="0"/>
              <a:t>객체는 </a:t>
            </a:r>
            <a:r>
              <a:rPr lang="ko-KR" altLang="en-US" sz="1600" dirty="0"/>
              <a:t>특정 경로에 있거나 특정 이름에 의해 지정된 서버 리소스를 감싸는 </a:t>
            </a:r>
            <a:r>
              <a:rPr lang="ko-KR" altLang="en-US" sz="1600" dirty="0" err="1"/>
              <a:t>래퍼로</a:t>
            </a:r>
            <a:r>
              <a:rPr lang="ko-KR" altLang="en-US" sz="1600" dirty="0"/>
              <a:t> 사용됩니다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3726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포워드 기능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36724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/>
              <a:t> </a:t>
            </a:r>
            <a:r>
              <a:rPr lang="en-US" altLang="ko-KR" sz="2000" b="1" dirty="0" smtClean="0"/>
              <a:t> dispatch</a:t>
            </a:r>
            <a:r>
              <a:rPr lang="ko-KR" altLang="en-US" sz="2000" b="1" dirty="0" smtClean="0"/>
              <a:t>방법 실</a:t>
            </a:r>
            <a:r>
              <a:rPr lang="ko-KR" altLang="en-US" sz="2000" b="1" dirty="0"/>
              <a:t>습</a:t>
            </a:r>
            <a:endParaRPr lang="en-US" altLang="ko-KR" b="1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47" y="3203136"/>
            <a:ext cx="8661681" cy="28199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177136" y="3023116"/>
            <a:ext cx="3384376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ysClr val="windowText" lastClr="000000"/>
                </a:solidFill>
              </a:rPr>
              <a:t>forward.dispatch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/FirstServlet2.java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9" y="1695332"/>
            <a:ext cx="5256584" cy="10348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9615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포워드 기능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36724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b="1" dirty="0"/>
              <a:t> </a:t>
            </a:r>
            <a:r>
              <a:rPr lang="en-US" altLang="ko-KR" sz="2000" b="1" dirty="0" smtClean="0"/>
              <a:t> dispatch</a:t>
            </a:r>
            <a:r>
              <a:rPr lang="ko-KR" altLang="en-US" sz="2000" b="1" dirty="0" smtClean="0"/>
              <a:t>방법 실</a:t>
            </a:r>
            <a:r>
              <a:rPr lang="ko-KR" altLang="en-US" sz="2000" b="1" dirty="0"/>
              <a:t>습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610" y="1844824"/>
            <a:ext cx="7428860" cy="37995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241032" y="1628800"/>
            <a:ext cx="3888432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ysClr val="windowText" lastClr="000000"/>
                </a:solidFill>
              </a:rPr>
              <a:t>forward.dispatch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/SecondServlet2.java</a:t>
            </a:r>
          </a:p>
        </p:txBody>
      </p:sp>
    </p:spTree>
    <p:extLst>
      <p:ext uri="{BB962C8B-B14F-4D97-AF65-F5344CB8AC3E}">
        <p14:creationId xmlns:p14="http://schemas.microsoft.com/office/powerpoint/2010/main" val="306927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13392</TotalTime>
  <Words>744</Words>
  <Application>Microsoft Office PowerPoint</Application>
  <PresentationFormat>A4 용지(210x297mm)</PresentationFormat>
  <Paragraphs>149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4장. 액션 태그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840</cp:revision>
  <dcterms:created xsi:type="dcterms:W3CDTF">2019-03-04T02:36:55Z</dcterms:created>
  <dcterms:modified xsi:type="dcterms:W3CDTF">2025-10-13T20:53:43Z</dcterms:modified>
</cp:coreProperties>
</file>