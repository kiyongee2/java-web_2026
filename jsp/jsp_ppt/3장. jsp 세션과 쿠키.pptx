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400" r:id="rId3"/>
    <p:sldId id="424" r:id="rId4"/>
    <p:sldId id="425" r:id="rId5"/>
    <p:sldId id="427" r:id="rId6"/>
    <p:sldId id="448" r:id="rId7"/>
    <p:sldId id="401" r:id="rId8"/>
    <p:sldId id="402" r:id="rId9"/>
    <p:sldId id="447" r:id="rId10"/>
    <p:sldId id="403" r:id="rId11"/>
    <p:sldId id="404" r:id="rId12"/>
    <p:sldId id="405" r:id="rId13"/>
    <p:sldId id="407" r:id="rId14"/>
    <p:sldId id="409" r:id="rId15"/>
    <p:sldId id="410" r:id="rId16"/>
    <p:sldId id="411" r:id="rId17"/>
    <p:sldId id="416" r:id="rId18"/>
    <p:sldId id="417" r:id="rId19"/>
    <p:sldId id="418" r:id="rId20"/>
    <p:sldId id="419" r:id="rId21"/>
    <p:sldId id="421" r:id="rId22"/>
    <p:sldId id="422" r:id="rId23"/>
    <p:sldId id="433" r:id="rId24"/>
    <p:sldId id="389" r:id="rId25"/>
    <p:sldId id="390" r:id="rId26"/>
    <p:sldId id="391" r:id="rId27"/>
    <p:sldId id="392" r:id="rId28"/>
    <p:sldId id="449" r:id="rId29"/>
    <p:sldId id="393" r:id="rId30"/>
    <p:sldId id="398" r:id="rId31"/>
    <p:sldId id="394" r:id="rId32"/>
    <p:sldId id="399" r:id="rId33"/>
    <p:sldId id="395" r:id="rId34"/>
    <p:sldId id="430" r:id="rId35"/>
    <p:sldId id="437" r:id="rId36"/>
    <p:sldId id="442" r:id="rId37"/>
    <p:sldId id="443" r:id="rId38"/>
    <p:sldId id="444" r:id="rId39"/>
    <p:sldId id="445" r:id="rId40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692" autoAdjust="0"/>
    <p:restoredTop sz="94660"/>
  </p:normalViewPr>
  <p:slideViewPr>
    <p:cSldViewPr>
      <p:cViewPr varScale="1">
        <p:scale>
          <a:sx n="88" d="100"/>
          <a:sy n="88" d="100"/>
        </p:scale>
        <p:origin x="998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pic>
        <p:nvPicPr>
          <p:cNvPr id="9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72" y="5953107"/>
            <a:ext cx="654360" cy="65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186687" cy="122656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3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세션과 쿠키</a:t>
            </a:r>
            <a:endParaRPr lang="ko-KR" altLang="en-US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1800" i="1" dirty="0" smtClean="0">
                <a:solidFill>
                  <a:schemeClr val="bg1"/>
                </a:solidFill>
              </a:rPr>
              <a:t> session / cookie 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26" name="Picture 2" descr="JSP] sendRedirect() 메소드로 파라미터 값을 받아오기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191" y="4082682"/>
            <a:ext cx="1938605" cy="1938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22235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</a:t>
            </a:r>
          </a:p>
        </p:txBody>
      </p:sp>
      <p:sp>
        <p:nvSpPr>
          <p:cNvPr id="13" name="모서리가 둥근 직사각형 12"/>
          <p:cNvSpPr/>
          <p:nvPr/>
        </p:nvSpPr>
        <p:spPr>
          <a:xfrm>
            <a:off x="5529064" y="4178449"/>
            <a:ext cx="1872208" cy="2130871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5668266" y="4286460"/>
            <a:ext cx="1588122" cy="18788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 smtClean="0"/>
              <a:t>JSP </a:t>
            </a:r>
            <a:r>
              <a:rPr lang="ko-KR" altLang="en-US" sz="1400" dirty="0" smtClean="0"/>
              <a:t>컨테이너</a:t>
            </a:r>
            <a:endParaRPr lang="en-US" altLang="ko-KR" sz="1400" dirty="0" smtClean="0"/>
          </a:p>
          <a:p>
            <a:pPr algn="ctr"/>
            <a:endParaRPr lang="en-US" altLang="ko-KR" sz="1400" dirty="0" smtClean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 smtClean="0"/>
          </a:p>
          <a:p>
            <a:pPr algn="ctr"/>
            <a:endParaRPr lang="en-US" altLang="ko-KR" sz="1400" dirty="0"/>
          </a:p>
          <a:p>
            <a:pPr algn="ctr"/>
            <a:endParaRPr lang="en-US" altLang="ko-KR" sz="1400" dirty="0" smtClean="0"/>
          </a:p>
          <a:p>
            <a:pPr algn="ctr"/>
            <a:endParaRPr lang="ko-KR" altLang="en-US" sz="1400" dirty="0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6066283" y="4823024"/>
            <a:ext cx="792087" cy="4679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세션</a:t>
            </a:r>
            <a:endParaRPr lang="ko-KR" altLang="en-US" sz="1400" dirty="0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6066283" y="5481319"/>
            <a:ext cx="792087" cy="46796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세션</a:t>
            </a:r>
            <a:endParaRPr lang="ko-KR" altLang="en-US" sz="1400" dirty="0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762017" y="4165695"/>
            <a:ext cx="1614919" cy="214362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989448" y="4902217"/>
            <a:ext cx="1971664" cy="1547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>
            <a:stCxn id="34" idx="3"/>
          </p:cNvCxnSpPr>
          <p:nvPr/>
        </p:nvCxnSpPr>
        <p:spPr>
          <a:xfrm>
            <a:off x="3989448" y="5651231"/>
            <a:ext cx="1971664" cy="6406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053" y="4545669"/>
            <a:ext cx="845395" cy="684197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34" name="그림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9503" y="5358235"/>
            <a:ext cx="839945" cy="58599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726" y="3926195"/>
            <a:ext cx="659578" cy="9615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4"/>
          <a:stretch/>
        </p:blipFill>
        <p:spPr>
          <a:xfrm>
            <a:off x="2532238" y="3890112"/>
            <a:ext cx="764578" cy="58456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031509" y="3880145"/>
            <a:ext cx="1075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클라이언트</a:t>
            </a:r>
            <a:endParaRPr lang="ko-KR" alt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6343697" y="3858859"/>
            <a:ext cx="912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웹 서버</a:t>
            </a:r>
            <a:endParaRPr lang="ko-KR" altLang="en-US" sz="1400" dirty="0"/>
          </a:p>
        </p:txBody>
      </p:sp>
      <p:sp>
        <p:nvSpPr>
          <p:cNvPr id="2" name="직사각형 1"/>
          <p:cNvSpPr/>
          <p:nvPr/>
        </p:nvSpPr>
        <p:spPr>
          <a:xfrm>
            <a:off x="1208584" y="1527723"/>
            <a:ext cx="84969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클라이언트와 웹 서버 간의 상태를 지속적으로 유지하는 방법을 말한다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사용자 인증을 통해 특정 페이지를 사용할 수 있도록 권한 상태 유지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 </a:t>
            </a:r>
            <a:r>
              <a:rPr lang="ko-KR" altLang="en-US" sz="1600" dirty="0" smtClean="0"/>
              <a:t>  예</a:t>
            </a:r>
            <a:r>
              <a:rPr lang="en-US" altLang="ko-KR" sz="1600" dirty="0"/>
              <a:t>) </a:t>
            </a:r>
            <a:r>
              <a:rPr lang="ko-KR" altLang="en-US" sz="1600" dirty="0"/>
              <a:t>웹 쇼핑몰 </a:t>
            </a:r>
            <a:r>
              <a:rPr lang="en-US" altLang="ko-KR" sz="1600" dirty="0"/>
              <a:t>– </a:t>
            </a:r>
            <a:r>
              <a:rPr lang="ko-KR" altLang="en-US" sz="1600" dirty="0"/>
              <a:t>장바구니나 주문 처리와 같은 회원 전용 페이지 로그인 후 다른 웹 </a:t>
            </a:r>
            <a:r>
              <a:rPr lang="ko-KR" altLang="en-US" sz="1600" dirty="0" smtClean="0"/>
              <a:t>페이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지에 </a:t>
            </a:r>
            <a:r>
              <a:rPr lang="ko-KR" altLang="en-US" sz="1600" dirty="0"/>
              <a:t>갔다가 돌아와도 로그인 상태 유지됨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세션은 오직 웹 서버에 존재하는 객체로 웹 브라우저마다 </a:t>
            </a:r>
            <a:r>
              <a:rPr lang="ko-KR" altLang="en-US" sz="1600" dirty="0">
                <a:solidFill>
                  <a:srgbClr val="C00000"/>
                </a:solidFill>
              </a:rPr>
              <a:t>하나씩</a:t>
            </a:r>
            <a:r>
              <a:rPr lang="ko-KR" altLang="en-US" sz="1600" dirty="0"/>
              <a:t> 존재하므로 브라우저를 닫기 전까지 웹 페이지를 이동하더라도 사용자 정보가 유지된다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0153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</a:t>
            </a:r>
            <a:r>
              <a:rPr lang="ko-KR" altLang="en-US" sz="2000" b="1" dirty="0" smtClean="0"/>
              <a:t>이란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1168963" y="1534726"/>
            <a:ext cx="828092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/>
              <a:t>세션은 </a:t>
            </a:r>
            <a:r>
              <a:rPr lang="en-US" altLang="ko-KR" sz="1600" b="1" dirty="0"/>
              <a:t>HTTP </a:t>
            </a:r>
            <a:r>
              <a:rPr lang="ko-KR" altLang="en-US" sz="1600" b="1" dirty="0"/>
              <a:t>프로토콜을 이용하는 웹 환경에서 상태를 유지하기 위한 </a:t>
            </a:r>
            <a:r>
              <a:rPr lang="ko-KR" altLang="en-US" sz="1600" b="1" dirty="0" smtClean="0"/>
              <a:t>기술이다</a:t>
            </a:r>
            <a:r>
              <a:rPr lang="en-US" altLang="ko-KR" sz="1600" dirty="0" smtClean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HTTP</a:t>
            </a:r>
            <a:r>
              <a:rPr lang="ko-KR" altLang="en-US" sz="1600" dirty="0"/>
              <a:t>는 요청과 응답으로 이루어지며</a:t>
            </a:r>
            <a:r>
              <a:rPr lang="en-US" altLang="ko-KR" sz="1600" dirty="0"/>
              <a:t>, 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특정 </a:t>
            </a:r>
            <a:r>
              <a:rPr lang="en-US" altLang="ko-KR" sz="1600" dirty="0"/>
              <a:t>URL</a:t>
            </a:r>
            <a:r>
              <a:rPr lang="ko-KR" altLang="en-US" sz="1600" dirty="0"/>
              <a:t>을 </a:t>
            </a:r>
            <a:r>
              <a:rPr lang="ko-KR" altLang="en-US" sz="1600" dirty="0" smtClean="0"/>
              <a:t>요청할 때마다 </a:t>
            </a:r>
            <a:r>
              <a:rPr lang="ko-KR" altLang="en-US" sz="1600" b="1" dirty="0">
                <a:solidFill>
                  <a:srgbClr val="C00000"/>
                </a:solidFill>
              </a:rPr>
              <a:t>새로운 </a:t>
            </a:r>
            <a:r>
              <a:rPr lang="en-US" altLang="ko-KR" sz="1600" b="1" dirty="0">
                <a:solidFill>
                  <a:srgbClr val="C00000"/>
                </a:solidFill>
              </a:rPr>
              <a:t>HTTP </a:t>
            </a:r>
            <a:r>
              <a:rPr lang="ko-KR" altLang="en-US" sz="1600" b="1" dirty="0">
                <a:solidFill>
                  <a:srgbClr val="C00000"/>
                </a:solidFill>
              </a:rPr>
              <a:t>요청이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생성</a:t>
            </a:r>
            <a:r>
              <a:rPr lang="ko-KR" altLang="en-US" sz="1600" dirty="0" smtClean="0"/>
              <a:t>되기 때문에 </a:t>
            </a:r>
            <a:r>
              <a:rPr lang="ko-KR" altLang="en-US" sz="1600" dirty="0"/>
              <a:t>이들간에 상태를 유지할 수 있는 방법이 </a:t>
            </a:r>
            <a:r>
              <a:rPr lang="ko-KR" altLang="en-US" sz="1600" dirty="0" smtClean="0"/>
              <a:t>없다</a:t>
            </a:r>
            <a:r>
              <a:rPr lang="en-US" altLang="ko-KR" sz="16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    예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 </a:t>
            </a:r>
            <a:r>
              <a:rPr lang="en-US" altLang="ko-KR" sz="1600" dirty="0"/>
              <a:t>/</a:t>
            </a:r>
            <a:r>
              <a:rPr lang="en-US" altLang="ko-KR" sz="1600" dirty="0" err="1" smtClean="0"/>
              <a:t>login.jsp</a:t>
            </a:r>
            <a:r>
              <a:rPr lang="en-US" altLang="ko-KR" sz="1600" dirty="0" smtClean="0"/>
              <a:t> </a:t>
            </a:r>
            <a:r>
              <a:rPr lang="ko-KR" altLang="en-US" sz="1600" dirty="0"/>
              <a:t>라는 </a:t>
            </a:r>
            <a:r>
              <a:rPr lang="en-US" altLang="ko-KR" sz="1600" dirty="0"/>
              <a:t>URL</a:t>
            </a:r>
            <a:r>
              <a:rPr lang="ko-KR" altLang="en-US" sz="1600" dirty="0"/>
              <a:t>에서 </a:t>
            </a:r>
            <a:r>
              <a:rPr lang="ko-KR" altLang="en-US" sz="1600" dirty="0" smtClean="0"/>
              <a:t>로그 인을 </a:t>
            </a:r>
            <a:r>
              <a:rPr lang="ko-KR" altLang="en-US" sz="1600" dirty="0"/>
              <a:t>했다고 하더라도 </a:t>
            </a:r>
            <a:r>
              <a:rPr lang="en-US" altLang="ko-KR" sz="1600" dirty="0"/>
              <a:t>/boards </a:t>
            </a:r>
            <a:r>
              <a:rPr lang="ko-KR" altLang="en-US" sz="1600" dirty="0"/>
              <a:t>페이지로 이동하게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되면 </a:t>
            </a:r>
            <a:r>
              <a:rPr lang="ko-KR" altLang="en-US" sz="1600" dirty="0"/>
              <a:t>새로운 </a:t>
            </a:r>
            <a:r>
              <a:rPr lang="en-US" altLang="ko-KR" sz="1600" dirty="0"/>
              <a:t>HTTP </a:t>
            </a:r>
            <a:r>
              <a:rPr lang="ko-KR" altLang="en-US" sz="1600" dirty="0"/>
              <a:t>요청이므로 </a:t>
            </a:r>
            <a:r>
              <a:rPr lang="ko-KR" altLang="en-US" sz="1600" dirty="0" smtClean="0"/>
              <a:t>로그 인을 </a:t>
            </a:r>
            <a:r>
              <a:rPr lang="ko-KR" altLang="en-US" sz="1600" dirty="0"/>
              <a:t>했다는 정보를 </a:t>
            </a:r>
            <a:r>
              <a:rPr lang="ko-KR" altLang="en-US" sz="1600" dirty="0" smtClean="0"/>
              <a:t>확인할 </a:t>
            </a:r>
            <a:r>
              <a:rPr lang="ko-KR" altLang="en-US" sz="1600" dirty="0"/>
              <a:t>수 </a:t>
            </a:r>
            <a:r>
              <a:rPr lang="ko-KR" altLang="en-US" sz="1600" dirty="0" smtClean="0"/>
              <a:t>없는 것이다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이러한 </a:t>
            </a:r>
            <a:r>
              <a:rPr lang="en-US" altLang="ko-KR" sz="1600" dirty="0" smtClean="0"/>
              <a:t>HTTP</a:t>
            </a:r>
            <a:r>
              <a:rPr lang="ko-KR" altLang="en-US" sz="1600" dirty="0"/>
              <a:t>의 </a:t>
            </a:r>
            <a:r>
              <a:rPr lang="ko-KR" altLang="en-US" sz="1600" dirty="0" err="1"/>
              <a:t>무상태</a:t>
            </a:r>
            <a:r>
              <a:rPr lang="en-US" altLang="ko-KR" sz="1600" dirty="0"/>
              <a:t>(Stateless)</a:t>
            </a:r>
            <a:r>
              <a:rPr lang="ko-KR" altLang="en-US" sz="1600" dirty="0"/>
              <a:t>한 특성을 극복하고자 나온 기술이 쿠키와 </a:t>
            </a:r>
            <a:r>
              <a:rPr lang="ko-KR" altLang="en-US" sz="1600" dirty="0" smtClean="0"/>
              <a:t>세션이다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 </a:t>
            </a:r>
            <a:r>
              <a:rPr lang="ko-KR" altLang="en-US" sz="1600" dirty="0"/>
              <a:t>둘은 특정 데이터를 저장해두고 페이지를 이동하거나 </a:t>
            </a:r>
            <a:r>
              <a:rPr lang="ko-KR" altLang="en-US" sz="1600" dirty="0" smtClean="0"/>
              <a:t>새로 고침 </a:t>
            </a:r>
            <a:r>
              <a:rPr lang="ko-KR" altLang="en-US" sz="1600" dirty="0"/>
              <a:t>하는 등 </a:t>
            </a:r>
            <a:r>
              <a:rPr lang="en-US" altLang="ko-KR" sz="1600" dirty="0"/>
              <a:t>HTTP </a:t>
            </a:r>
            <a:r>
              <a:rPr lang="ko-KR" altLang="en-US" sz="1600" dirty="0"/>
              <a:t>요청이 매번 발생해도 특정 상태</a:t>
            </a:r>
            <a:r>
              <a:rPr lang="en-US" altLang="ko-KR" sz="1600" dirty="0"/>
              <a:t>(</a:t>
            </a:r>
            <a:r>
              <a:rPr lang="ko-KR" altLang="en-US" sz="1600" dirty="0"/>
              <a:t>데이터</a:t>
            </a:r>
            <a:r>
              <a:rPr lang="en-US" altLang="ko-KR" sz="1600" dirty="0"/>
              <a:t>)</a:t>
            </a:r>
            <a:r>
              <a:rPr lang="ko-KR" altLang="en-US" sz="1600" dirty="0"/>
              <a:t>를 유지할 수 있는 </a:t>
            </a:r>
            <a:r>
              <a:rPr lang="ko-KR" altLang="en-US" sz="1600" dirty="0" smtClean="0"/>
              <a:t>기술이다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57984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967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생성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717931"/>
            <a:ext cx="4313294" cy="339119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984" y="2754732"/>
            <a:ext cx="4404742" cy="127265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889440" y="2047590"/>
            <a:ext cx="2943880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/session/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createSession.jsp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005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28092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ko-KR" altLang="en-US" sz="2000" b="1" dirty="0"/>
              <a:t>의</a:t>
            </a:r>
            <a:r>
              <a:rPr lang="ko-KR" altLang="en-US" sz="2000" b="1" dirty="0" smtClean="0"/>
              <a:t> 프로세스</a:t>
            </a:r>
            <a:r>
              <a:rPr lang="en-US" altLang="ko-KR" sz="2000" b="1" dirty="0" smtClean="0"/>
              <a:t>(Process</a:t>
            </a:r>
            <a:r>
              <a:rPr lang="en-US" altLang="ko-KR" sz="2000" b="1" dirty="0" smtClean="0"/>
              <a:t>) – </a:t>
            </a:r>
            <a:r>
              <a:rPr lang="ko-KR" altLang="en-US" sz="2000" b="1" dirty="0" smtClean="0"/>
              <a:t>브라우저 </a:t>
            </a:r>
            <a:r>
              <a:rPr lang="en-US" altLang="ko-KR" sz="2000" b="1" dirty="0" smtClean="0"/>
              <a:t>&gt; </a:t>
            </a:r>
            <a:r>
              <a:rPr lang="ko-KR" altLang="en-US" sz="2000" b="1" dirty="0" err="1" smtClean="0"/>
              <a:t>개발자도구</a:t>
            </a:r>
            <a:r>
              <a:rPr lang="ko-KR" altLang="en-US" sz="2000" b="1" dirty="0" smtClean="0"/>
              <a:t> </a:t>
            </a:r>
            <a:r>
              <a:rPr lang="en-US" altLang="ko-KR" sz="2000" b="1" dirty="0" smtClean="0"/>
              <a:t>&gt; Network </a:t>
            </a:r>
            <a:r>
              <a:rPr lang="ko-KR" altLang="en-US" sz="2000" b="1" dirty="0" smtClean="0"/>
              <a:t>탭</a:t>
            </a:r>
            <a:endParaRPr lang="en-US" altLang="ko-KR" sz="2000" b="1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1103420" y="1484784"/>
            <a:ext cx="77391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브라우저가 </a:t>
            </a:r>
            <a:r>
              <a:rPr lang="ko-KR" altLang="en-US" sz="1600" dirty="0" smtClean="0"/>
              <a:t>서버 측에 </a:t>
            </a:r>
            <a:r>
              <a:rPr lang="ko-KR" altLang="en-US" sz="1600" dirty="0"/>
              <a:t>특정 페이지를 요청합니다</a:t>
            </a:r>
            <a:r>
              <a:rPr lang="en-US" altLang="ko-KR" sz="1600" dirty="0"/>
              <a:t>. /</a:t>
            </a:r>
            <a:r>
              <a:rPr lang="en-US" altLang="ko-KR" sz="1600" dirty="0" err="1"/>
              <a:t>createSession.jsp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요청</a:t>
            </a:r>
            <a:endParaRPr lang="ko-KR" altLang="en-US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1888193"/>
            <a:ext cx="5804348" cy="109911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직사각형 6"/>
          <p:cNvSpPr/>
          <p:nvPr/>
        </p:nvSpPr>
        <p:spPr>
          <a:xfrm>
            <a:off x="1103420" y="3078252"/>
            <a:ext cx="773913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2. </a:t>
            </a:r>
            <a:r>
              <a:rPr lang="ko-KR" altLang="en-US" sz="1600" dirty="0" smtClean="0"/>
              <a:t>이후 요청 시마다 </a:t>
            </a:r>
            <a:r>
              <a:rPr lang="ko-KR" altLang="en-US" sz="1600" dirty="0"/>
              <a:t>해당 세션 </a:t>
            </a:r>
            <a:r>
              <a:rPr lang="en-US" altLang="ko-KR" sz="1600" dirty="0"/>
              <a:t>ID</a:t>
            </a:r>
            <a:r>
              <a:rPr lang="ko-KR" altLang="en-US" sz="1600" dirty="0"/>
              <a:t>를 </a:t>
            </a:r>
            <a:r>
              <a:rPr lang="en-US" altLang="ko-KR" sz="1600" dirty="0"/>
              <a:t>HTTP </a:t>
            </a:r>
            <a:r>
              <a:rPr lang="ko-KR" altLang="en-US" sz="1600" dirty="0"/>
              <a:t>요청 헤더에 포함하여 </a:t>
            </a:r>
            <a:r>
              <a:rPr lang="ko-KR" altLang="en-US" sz="1600" dirty="0" smtClean="0"/>
              <a:t>요청한다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70"/>
          <a:stretch/>
        </p:blipFill>
        <p:spPr>
          <a:xfrm>
            <a:off x="1795221" y="3438292"/>
            <a:ext cx="3997620" cy="184077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직사각형 5"/>
          <p:cNvSpPr/>
          <p:nvPr/>
        </p:nvSpPr>
        <p:spPr>
          <a:xfrm>
            <a:off x="1152129" y="5415607"/>
            <a:ext cx="85533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 smtClean="0"/>
              <a:t>3. </a:t>
            </a:r>
            <a:r>
              <a:rPr lang="ko-KR" altLang="en-US" sz="1600" dirty="0" smtClean="0"/>
              <a:t>서버는 </a:t>
            </a:r>
            <a:r>
              <a:rPr lang="ko-KR" altLang="en-US" sz="1600" dirty="0"/>
              <a:t>요청 헤더의 </a:t>
            </a:r>
            <a:r>
              <a:rPr lang="en-US" altLang="ko-KR" sz="1600" dirty="0"/>
              <a:t>JSESSIONID </a:t>
            </a:r>
            <a:r>
              <a:rPr lang="ko-KR" altLang="en-US" sz="1600" dirty="0"/>
              <a:t>쿠키를 참조하여 자신이 가지고 있는 </a:t>
            </a:r>
            <a:r>
              <a:rPr lang="ko-KR" altLang="en-US" sz="1600" dirty="0" smtClean="0"/>
              <a:t>세션 객체를 구분한다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예를 </a:t>
            </a:r>
            <a:r>
              <a:rPr lang="ko-KR" altLang="en-US" sz="1600" dirty="0"/>
              <a:t>들어 해당 세션에 </a:t>
            </a:r>
            <a:r>
              <a:rPr lang="ko-KR" altLang="en-US" sz="1600" dirty="0" smtClean="0"/>
              <a:t>로그인 된 </a:t>
            </a:r>
            <a:r>
              <a:rPr lang="ko-KR" altLang="en-US" sz="1600" dirty="0"/>
              <a:t>사용자 </a:t>
            </a:r>
            <a:r>
              <a:rPr lang="ko-KR" altLang="en-US" sz="1600" dirty="0" smtClean="0"/>
              <a:t>정보 등이 담겨 있으면 </a:t>
            </a:r>
            <a:r>
              <a:rPr lang="ko-KR" altLang="en-US" sz="1600" dirty="0" err="1" smtClean="0"/>
              <a:t>로그인이</a:t>
            </a:r>
            <a:r>
              <a:rPr lang="ko-KR" altLang="en-US" sz="1600" dirty="0" smtClean="0"/>
              <a:t> 되어 있는 것으로 </a:t>
            </a:r>
            <a:r>
              <a:rPr lang="ko-KR" altLang="en-US" sz="1600" dirty="0" smtClean="0"/>
              <a:t>판단하게 </a:t>
            </a:r>
            <a:r>
              <a:rPr lang="ko-KR" altLang="en-US" sz="1600" dirty="0" smtClean="0"/>
              <a:t>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2417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6656" y="3933056"/>
            <a:ext cx="5969285" cy="24482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201079" y="1484784"/>
            <a:ext cx="800039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톰캣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컨테이너에서 세션을 유지하기 위해 발급하는 </a:t>
            </a:r>
            <a:r>
              <a:rPr lang="ko-KR" altLang="en-US" sz="1600" dirty="0" smtClean="0"/>
              <a:t>키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HTTP </a:t>
            </a:r>
            <a:r>
              <a:rPr lang="ko-KR" altLang="en-US" sz="1600" dirty="0" smtClean="0"/>
              <a:t>프로토콜은 </a:t>
            </a:r>
            <a:r>
              <a:rPr lang="en-US" altLang="ko-KR" sz="1600" dirty="0" smtClean="0"/>
              <a:t>stateless </a:t>
            </a:r>
            <a:r>
              <a:rPr lang="ko-KR" altLang="en-US" sz="1600" dirty="0" smtClean="0"/>
              <a:t>하다</a:t>
            </a:r>
            <a:r>
              <a:rPr lang="en-US" altLang="ko-KR" sz="1600" dirty="0" smtClean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요청시마다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새로운 연결이 생성되고 </a:t>
            </a:r>
            <a:r>
              <a:rPr lang="ko-KR" altLang="en-US" sz="1600" dirty="0" err="1"/>
              <a:t>응답후</a:t>
            </a:r>
            <a:r>
              <a:rPr lang="ko-KR" altLang="en-US" sz="1600" dirty="0"/>
              <a:t> 연결은 끊기게 되므로 </a:t>
            </a:r>
            <a:r>
              <a:rPr lang="ko-KR" altLang="en-US" sz="1600" dirty="0" smtClean="0"/>
              <a:t>상태를 </a:t>
            </a:r>
            <a:r>
              <a:rPr lang="ko-KR" altLang="en-US" sz="1600" dirty="0"/>
              <a:t>유지할 수 없다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상태를 </a:t>
            </a:r>
            <a:r>
              <a:rPr lang="ko-KR" altLang="en-US" sz="1600" dirty="0"/>
              <a:t>저장하기 위해서 </a:t>
            </a:r>
            <a:r>
              <a:rPr lang="ko-KR" altLang="en-US" sz="1600" dirty="0" err="1"/>
              <a:t>톰캣은</a:t>
            </a:r>
            <a:r>
              <a:rPr lang="ko-KR" altLang="en-US" sz="1600" dirty="0"/>
              <a:t> </a:t>
            </a:r>
            <a:r>
              <a:rPr lang="en-US" altLang="ko-KR" sz="1600" dirty="0"/>
              <a:t>JSESSIONID </a:t>
            </a:r>
            <a:r>
              <a:rPr lang="ko-KR" altLang="en-US" sz="1600" dirty="0"/>
              <a:t>쿠키를 클라이언트에게 발급해주고 이 </a:t>
            </a:r>
            <a:r>
              <a:rPr lang="ko-KR" altLang="en-US" sz="1600" dirty="0" smtClean="0"/>
              <a:t>값을 </a:t>
            </a:r>
            <a:r>
              <a:rPr lang="ko-KR" altLang="en-US" sz="1600" dirty="0"/>
              <a:t>통해 </a:t>
            </a:r>
            <a:r>
              <a:rPr lang="ko-KR" altLang="en-US" sz="1600" dirty="0" smtClean="0"/>
              <a:t>세션을 </a:t>
            </a:r>
            <a:r>
              <a:rPr lang="ko-KR" altLang="en-US" sz="1600" dirty="0"/>
              <a:t>유지할 수 있도록 한다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  <p:sp>
        <p:nvSpPr>
          <p:cNvPr id="3" name="직사각형 2"/>
          <p:cNvSpPr/>
          <p:nvPr/>
        </p:nvSpPr>
        <p:spPr>
          <a:xfrm>
            <a:off x="920552" y="1052736"/>
            <a:ext cx="19976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000" b="1" dirty="0"/>
              <a:t>JSESSIONID</a:t>
            </a:r>
            <a:r>
              <a:rPr lang="ko-KR" altLang="en-US" sz="2000" b="1" dirty="0"/>
              <a:t>란</a:t>
            </a:r>
            <a:r>
              <a:rPr lang="en-US" altLang="ko-KR" sz="2000" b="1" dirty="0"/>
              <a:t>?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89752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56886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내장 객체 </a:t>
            </a:r>
            <a:r>
              <a:rPr lang="ko-KR" altLang="en-US" sz="2000" b="1" dirty="0" err="1" smtClean="0"/>
              <a:t>메서드</a:t>
            </a:r>
            <a:endParaRPr lang="en-US" altLang="ko-KR" sz="2000" b="1" dirty="0" smtClean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7137645"/>
              </p:ext>
            </p:extLst>
          </p:nvPr>
        </p:nvGraphicFramePr>
        <p:xfrm>
          <a:off x="1280592" y="1687870"/>
          <a:ext cx="8136904" cy="39733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16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0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1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메서드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95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setAttribute</a:t>
                      </a:r>
                      <a:r>
                        <a:rPr lang="en-US" altLang="ko-KR" sz="1600" b="1" dirty="0" smtClean="0"/>
                        <a:t>(String name, Object value)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세션 속성 이름이 </a:t>
                      </a:r>
                      <a:r>
                        <a:rPr lang="en-US" altLang="ko-KR" sz="1600" dirty="0" smtClean="0"/>
                        <a:t>name </a:t>
                      </a:r>
                      <a:r>
                        <a:rPr lang="ko-KR" altLang="en-US" sz="1600" dirty="0" smtClean="0"/>
                        <a:t>속성에 </a:t>
                      </a:r>
                      <a:r>
                        <a:rPr lang="en-US" altLang="ko-KR" sz="1600" dirty="0" smtClean="0"/>
                        <a:t>value</a:t>
                      </a:r>
                      <a:r>
                        <a:rPr lang="ko-KR" altLang="en-US" sz="1600" dirty="0" smtClean="0"/>
                        <a:t>를 할당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695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getAttribute</a:t>
                      </a:r>
                      <a:r>
                        <a:rPr lang="en-US" altLang="ko-KR" sz="1600" b="1" dirty="0" smtClean="0"/>
                        <a:t>(String</a:t>
                      </a:r>
                      <a:r>
                        <a:rPr lang="en-US" altLang="ko-KR" sz="1600" b="1" baseline="0" dirty="0" smtClean="0"/>
                        <a:t> name)</a:t>
                      </a:r>
                      <a:endParaRPr lang="en-US" altLang="ko-KR" sz="1600" b="1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세션 속성 이름이 </a:t>
                      </a:r>
                      <a:r>
                        <a:rPr lang="en-US" altLang="ko-KR" sz="1600" dirty="0" smtClean="0"/>
                        <a:t>name</a:t>
                      </a:r>
                      <a:r>
                        <a:rPr lang="ko-KR" altLang="en-US" sz="1600" dirty="0" smtClean="0"/>
                        <a:t>인 값을 </a:t>
                      </a:r>
                      <a:r>
                        <a:rPr lang="en-US" altLang="ko-KR" sz="1600" dirty="0" smtClean="0"/>
                        <a:t>Object</a:t>
                      </a:r>
                      <a:r>
                        <a:rPr lang="ko-KR" altLang="en-US" sz="1600" dirty="0" smtClean="0"/>
                        <a:t>형으로 반환한다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b="1" dirty="0" smtClean="0"/>
                        <a:t>형 변환</a:t>
                      </a:r>
                      <a:r>
                        <a:rPr lang="ko-KR" altLang="en-US" sz="1600" dirty="0" smtClean="0"/>
                        <a:t>이 필요함</a:t>
                      </a:r>
                      <a:r>
                        <a:rPr lang="en-US" altLang="ko-KR" sz="1600" dirty="0" smtClean="0"/>
                        <a:t>(Object-&gt;String)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9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 smtClean="0"/>
                        <a:t>getId</a:t>
                      </a:r>
                      <a:r>
                        <a:rPr lang="en-US" altLang="ko-KR" sz="1600" b="1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세션에 할당된 고유 아이디를 </a:t>
                      </a:r>
                      <a:r>
                        <a:rPr lang="en-US" altLang="ko-KR" sz="1600" dirty="0" smtClean="0"/>
                        <a:t>String</a:t>
                      </a:r>
                      <a:r>
                        <a:rPr lang="ko-KR" altLang="en-US" sz="1600" dirty="0" smtClean="0"/>
                        <a:t>형으로 반환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695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dirty="0" err="1" smtClean="0"/>
                        <a:t>setMaxInactiveInterval</a:t>
                      </a:r>
                      <a:r>
                        <a:rPr lang="en-US" altLang="ko-KR" sz="1600" b="1" dirty="0" smtClean="0"/>
                        <a:t>(</a:t>
                      </a:r>
                      <a:r>
                        <a:rPr lang="en-US" altLang="ko-KR" sz="1600" b="1" dirty="0" err="1" smtClean="0"/>
                        <a:t>int</a:t>
                      </a:r>
                      <a:r>
                        <a:rPr lang="en-US" altLang="ko-KR" sz="1600" b="1" baseline="0" dirty="0" smtClean="0"/>
                        <a:t> interval)</a:t>
                      </a:r>
                      <a:endParaRPr lang="en-US" altLang="ko-KR" sz="1600" b="1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해당 세션을 유지하기 위해 세션 유지 시간을 초 단위로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695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getMaxInactiveInterval</a:t>
                      </a:r>
                      <a:r>
                        <a:rPr lang="en-US" altLang="ko-KR" sz="1600" b="1" dirty="0" smtClean="0"/>
                        <a:t>(</a:t>
                      </a:r>
                      <a:r>
                        <a:rPr lang="en-US" altLang="ko-KR" sz="1600" b="1" dirty="0" err="1" smtClean="0"/>
                        <a:t>int</a:t>
                      </a:r>
                      <a:r>
                        <a:rPr lang="en-US" altLang="ko-KR" sz="1600" b="1" baseline="0" dirty="0" smtClean="0"/>
                        <a:t> interval)</a:t>
                      </a:r>
                      <a:endParaRPr lang="en-US" altLang="ko-KR" sz="1600" b="1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해당 세션을 유지하기 위해 세션 유지 시간을 반환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dirty="0" smtClean="0">
                          <a:solidFill>
                            <a:srgbClr val="C00000"/>
                          </a:solidFill>
                        </a:rPr>
                        <a:t>기본값은 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1800</a:t>
                      </a:r>
                      <a:r>
                        <a:rPr lang="ko-KR" altLang="en-US" sz="1600" dirty="0" smtClean="0">
                          <a:solidFill>
                            <a:srgbClr val="C00000"/>
                          </a:solidFill>
                        </a:rPr>
                        <a:t>초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(30</a:t>
                      </a:r>
                      <a:r>
                        <a:rPr lang="ko-KR" altLang="en-US" sz="1600" dirty="0" smtClean="0">
                          <a:solidFill>
                            <a:srgbClr val="C00000"/>
                          </a:solidFill>
                        </a:rPr>
                        <a:t>분</a:t>
                      </a:r>
                      <a:r>
                        <a:rPr lang="en-US" altLang="ko-KR" sz="1600" dirty="0" smtClean="0">
                          <a:solidFill>
                            <a:srgbClr val="C00000"/>
                          </a:solidFill>
                        </a:rPr>
                        <a:t>)</a:t>
                      </a:r>
                      <a:r>
                        <a:rPr lang="ko-KR" altLang="en-US" sz="1600" dirty="0" smtClean="0">
                          <a:solidFill>
                            <a:srgbClr val="C00000"/>
                          </a:solidFill>
                        </a:rPr>
                        <a:t>임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192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smtClean="0"/>
                        <a:t>invalidate()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현재 세션에 저장된 모든 세션 속성을 제거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5815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7444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생성</a:t>
            </a:r>
            <a:endParaRPr lang="en-US" altLang="ko-KR" sz="2000" b="1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1807874" y="2516321"/>
            <a:ext cx="4644144" cy="40862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void </a:t>
            </a:r>
            <a:r>
              <a:rPr lang="en-US" altLang="ko-KR" b="1" dirty="0" err="1" smtClean="0">
                <a:solidFill>
                  <a:schemeClr val="tx1"/>
                </a:solidFill>
              </a:rPr>
              <a:t>setAttribute</a:t>
            </a:r>
            <a:r>
              <a:rPr lang="en-US" altLang="ko-KR" b="1" dirty="0" smtClean="0">
                <a:solidFill>
                  <a:schemeClr val="tx1"/>
                </a:solidFill>
              </a:rPr>
              <a:t>(“</a:t>
            </a:r>
            <a:r>
              <a:rPr lang="en-US" altLang="ko-KR" b="1" dirty="0" err="1" smtClean="0">
                <a:solidFill>
                  <a:srgbClr val="0070C0"/>
                </a:solidFill>
              </a:rPr>
              <a:t>userId</a:t>
            </a:r>
            <a:r>
              <a:rPr lang="en-US" altLang="ko-KR" b="1" dirty="0" smtClean="0">
                <a:solidFill>
                  <a:schemeClr val="tx1"/>
                </a:solidFill>
              </a:rPr>
              <a:t>”, </a:t>
            </a:r>
            <a:r>
              <a:rPr lang="en-US" altLang="ko-KR" b="1" dirty="0" err="1" smtClean="0">
                <a:solidFill>
                  <a:schemeClr val="tx1"/>
                </a:solidFill>
              </a:rPr>
              <a:t>userId</a:t>
            </a:r>
            <a:r>
              <a:rPr lang="en-US" altLang="ko-KR" b="1" dirty="0" smtClean="0">
                <a:solidFill>
                  <a:schemeClr val="tx1"/>
                </a:solidFill>
              </a:rPr>
              <a:t>);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4808983" y="4021312"/>
            <a:ext cx="360040" cy="161493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136575" y="1449620"/>
            <a:ext cx="714527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    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1280591" y="1494273"/>
            <a:ext cx="70012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세션 생성은 </a:t>
            </a:r>
            <a:r>
              <a:rPr lang="en-US" altLang="ko-KR" dirty="0"/>
              <a:t>session </a:t>
            </a:r>
            <a:r>
              <a:rPr lang="ko-KR" altLang="en-US" dirty="0"/>
              <a:t>객체의 </a:t>
            </a:r>
            <a:r>
              <a:rPr lang="en-US" altLang="ko-KR" dirty="0" err="1"/>
              <a:t>setAttribute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사용한다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세션 </a:t>
            </a:r>
            <a:r>
              <a:rPr lang="ko-KR" altLang="en-US" dirty="0"/>
              <a:t>속성 이름 </a:t>
            </a:r>
            <a:r>
              <a:rPr lang="en-US" altLang="ko-KR" dirty="0"/>
              <a:t>– </a:t>
            </a:r>
            <a:r>
              <a:rPr lang="en-US" altLang="ko-KR" dirty="0" err="1"/>
              <a:t>userId</a:t>
            </a:r>
            <a:r>
              <a:rPr lang="en-US" altLang="ko-KR" dirty="0"/>
              <a:t>,  </a:t>
            </a:r>
            <a:r>
              <a:rPr lang="ko-KR" altLang="en-US" dirty="0"/>
              <a:t>속성 값 </a:t>
            </a:r>
            <a:r>
              <a:rPr lang="en-US" altLang="ko-KR" dirty="0"/>
              <a:t>- admin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4053" y="3356992"/>
            <a:ext cx="3050915" cy="19125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056" y="3645024"/>
            <a:ext cx="3264989" cy="11423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99089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7444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생성</a:t>
            </a:r>
            <a:endParaRPr lang="en-US" altLang="ko-KR" sz="2000" b="1" dirty="0" smtClean="0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097016" y="1723892"/>
            <a:ext cx="244827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session/session01.jsp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136575" y="1449620"/>
            <a:ext cx="7145275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    </a:t>
            </a:r>
            <a:endParaRPr lang="ko-KR" altLang="en-US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2358204"/>
            <a:ext cx="6905265" cy="149003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7668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4032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생성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부여</a:t>
            </a:r>
            <a:r>
              <a:rPr lang="en-US" altLang="ko-KR" sz="2000" b="1" dirty="0" smtClean="0"/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155989"/>
            <a:ext cx="7331075" cy="391701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483170" y="1991083"/>
            <a:ext cx="3024336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session/session01_process.jsp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144352" y="1480138"/>
            <a:ext cx="640093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세션이 생성</a:t>
            </a:r>
            <a:r>
              <a:rPr lang="en-US" altLang="ko-KR" dirty="0"/>
              <a:t>(</a:t>
            </a:r>
            <a:r>
              <a:rPr lang="ko-KR" altLang="en-US" dirty="0"/>
              <a:t>부여</a:t>
            </a:r>
            <a:r>
              <a:rPr lang="en-US" altLang="ko-KR" dirty="0"/>
              <a:t>)</a:t>
            </a:r>
            <a:r>
              <a:rPr lang="ko-KR" altLang="en-US" dirty="0"/>
              <a:t>되는 시기는 </a:t>
            </a:r>
            <a:r>
              <a:rPr lang="ko-KR" altLang="en-US" dirty="0" err="1"/>
              <a:t>로그인에</a:t>
            </a:r>
            <a:r>
              <a:rPr lang="ko-KR" altLang="en-US" dirty="0"/>
              <a:t> 성공한 때이다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97525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53285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정보 얻기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단일 세션 정보</a:t>
            </a:r>
            <a:endParaRPr lang="en-US" altLang="ko-KR" sz="2000" b="1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1543489" y="2516321"/>
            <a:ext cx="6408712" cy="40862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en-US" altLang="ko-KR" b="1" dirty="0" smtClean="0">
                <a:solidFill>
                  <a:schemeClr val="tx1"/>
                </a:solidFill>
              </a:rPr>
              <a:t>String id = (String)</a:t>
            </a:r>
            <a:r>
              <a:rPr lang="en-US" altLang="ko-KR" b="1" dirty="0" err="1" smtClean="0">
                <a:solidFill>
                  <a:schemeClr val="tx1"/>
                </a:solidFill>
              </a:rPr>
              <a:t>session.getAttribute</a:t>
            </a:r>
            <a:r>
              <a:rPr lang="en-US" altLang="ko-KR" b="1" dirty="0" smtClean="0">
                <a:solidFill>
                  <a:schemeClr val="tx1"/>
                </a:solidFill>
              </a:rPr>
              <a:t>(“</a:t>
            </a:r>
            <a:r>
              <a:rPr lang="en-US" altLang="ko-KR" b="1" dirty="0" err="1" smtClean="0">
                <a:solidFill>
                  <a:schemeClr val="tx1"/>
                </a:solidFill>
              </a:rPr>
              <a:t>userId</a:t>
            </a:r>
            <a:r>
              <a:rPr lang="en-US" altLang="ko-KR" b="1" dirty="0" smtClean="0">
                <a:solidFill>
                  <a:schemeClr val="tx1"/>
                </a:solidFill>
              </a:rPr>
              <a:t>”);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592" y="4221088"/>
            <a:ext cx="54726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같은 브라우저에서 세션이 부여되면 계속 유지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저장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됨</a:t>
            </a:r>
            <a:endParaRPr lang="ko-KR" altLang="en-US" sz="1600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237" y="4681788"/>
            <a:ext cx="6645216" cy="14555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537176" y="4501768"/>
            <a:ext cx="2448272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session/session02.jsp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92" y="3146977"/>
            <a:ext cx="4198984" cy="914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1180356" y="1518686"/>
            <a:ext cx="7229028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세션 정보는 </a:t>
            </a:r>
            <a:r>
              <a:rPr lang="en-US" altLang="ko-KR" dirty="0"/>
              <a:t>session </a:t>
            </a:r>
            <a:r>
              <a:rPr lang="ko-KR" altLang="en-US" dirty="0"/>
              <a:t>객체의 </a:t>
            </a:r>
            <a:r>
              <a:rPr lang="en-US" altLang="ko-KR" dirty="0" err="1"/>
              <a:t>getAttribute</a:t>
            </a:r>
            <a:r>
              <a:rPr lang="en-US" altLang="ko-KR" dirty="0"/>
              <a:t>() </a:t>
            </a:r>
            <a:r>
              <a:rPr lang="ko-KR" altLang="en-US" dirty="0" err="1"/>
              <a:t>메소드를</a:t>
            </a:r>
            <a:r>
              <a:rPr lang="ko-KR" altLang="en-US" dirty="0"/>
              <a:t> 사용한다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반환 유형이 </a:t>
            </a:r>
            <a:r>
              <a:rPr lang="en-US" altLang="ko-KR" dirty="0"/>
              <a:t>Object</a:t>
            </a:r>
            <a:r>
              <a:rPr lang="ko-KR" altLang="en-US" dirty="0"/>
              <a:t>형이므로 반드시 형 변환을 사용해야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495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84969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smtClean="0"/>
              <a:t>유지 </a:t>
            </a:r>
            <a:r>
              <a:rPr lang="en-US" altLang="ko-KR" sz="2000" b="1" dirty="0" smtClean="0"/>
              <a:t>– </a:t>
            </a:r>
            <a:r>
              <a:rPr lang="ko-KR" altLang="en-US" sz="2000" b="1" dirty="0" smtClean="0"/>
              <a:t>웹 브라우저 단위</a:t>
            </a:r>
            <a:endParaRPr lang="en-US" altLang="ko-KR" sz="2000" b="1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6249144" y="4735060"/>
            <a:ext cx="2880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solidFill>
                  <a:srgbClr val="C00000"/>
                </a:solidFill>
              </a:rPr>
              <a:t>브라우저를 새로 열면 세션이 유지되지 않음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33087" y="2880228"/>
            <a:ext cx="32844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세션이 생성된 브라우저는 </a:t>
            </a:r>
            <a:r>
              <a:rPr lang="ko-KR" altLang="en-US" sz="1600" dirty="0" err="1" smtClean="0"/>
              <a:t>새창을</a:t>
            </a:r>
            <a:r>
              <a:rPr lang="ko-KR" altLang="en-US" sz="1600" dirty="0" smtClean="0"/>
              <a:t> 열어도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세션이 계속 유지됨</a:t>
            </a:r>
            <a:endParaRPr lang="ko-KR" altLang="en-US" sz="1600" dirty="0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780928"/>
            <a:ext cx="4198984" cy="914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049" y="4577828"/>
            <a:ext cx="4179551" cy="9394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1208584" y="1478695"/>
            <a:ext cx="835292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세션은 오직 웹 서버에 존재하는 객체로 웹 브라우저마다 </a:t>
            </a:r>
            <a:r>
              <a:rPr lang="ko-KR" altLang="en-US" sz="1600" dirty="0">
                <a:solidFill>
                  <a:srgbClr val="C00000"/>
                </a:solidFill>
              </a:rPr>
              <a:t>하나씩</a:t>
            </a:r>
            <a:r>
              <a:rPr lang="ko-KR" altLang="en-US" sz="1600" dirty="0"/>
              <a:t> 존재하므로 브라우저를 닫기 전까지 웹 페이지를 이동하더라도 사용자 정보가 유지된다</a:t>
            </a:r>
            <a:r>
              <a:rPr lang="en-US" altLang="ko-KR" sz="1600" dirty="0"/>
              <a:t>.</a:t>
            </a:r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5313040" y="4005818"/>
            <a:ext cx="2232248" cy="576064"/>
          </a:xfrm>
          <a:prstGeom prst="wedgeRoundRectCallout">
            <a:avLst>
              <a:gd name="adj1" fmla="val -67648"/>
              <a:gd name="adj2" fmla="val 53430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mtClean="0"/>
              <a:t>Session02.jsp </a:t>
            </a:r>
            <a:r>
              <a:rPr lang="ko-KR" altLang="en-US" dirty="0" smtClean="0"/>
              <a:t>실행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2012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25922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모든 세션 삭제</a:t>
            </a:r>
            <a:endParaRPr lang="en-US" altLang="ko-KR" sz="2000" b="1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508340" y="1769624"/>
            <a:ext cx="3012612" cy="44267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 err="1" smtClean="0">
                <a:solidFill>
                  <a:srgbClr val="C00000"/>
                </a:solidFill>
              </a:rPr>
              <a:t>session.invalidate</a:t>
            </a:r>
            <a:r>
              <a:rPr lang="en-US" altLang="ko-KR" sz="2000" b="1" dirty="0" smtClean="0">
                <a:solidFill>
                  <a:srgbClr val="C00000"/>
                </a:solidFill>
              </a:rPr>
              <a:t>();</a:t>
            </a:r>
            <a:endParaRPr lang="ko-KR" alt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844420" y="2408099"/>
            <a:ext cx="2376264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session/session03.jsp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2950730"/>
            <a:ext cx="6508044" cy="16841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976" y="4211416"/>
            <a:ext cx="4179551" cy="93940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1500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81642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err="1" smtClean="0"/>
              <a:t>유효시간</a:t>
            </a:r>
            <a:r>
              <a:rPr lang="ko-KR" altLang="en-US" sz="2000" b="1" dirty="0" smtClean="0"/>
              <a:t> 설정</a:t>
            </a:r>
            <a:endParaRPr lang="en-US" altLang="ko-KR" sz="2000" b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1208584" y="2453605"/>
            <a:ext cx="8064896" cy="408623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0070C0"/>
                </a:solidFill>
              </a:rPr>
              <a:t> </a:t>
            </a:r>
            <a:r>
              <a:rPr lang="en-US" altLang="ko-KR" b="1" dirty="0" err="1" smtClean="0">
                <a:solidFill>
                  <a:srgbClr val="0070C0"/>
                </a:solidFill>
              </a:rPr>
              <a:t>session.setMaxInactiveInterval</a:t>
            </a:r>
            <a:r>
              <a:rPr lang="en-US" altLang="ko-KR" b="1" dirty="0" smtClean="0">
                <a:solidFill>
                  <a:srgbClr val="0070C0"/>
                </a:solidFill>
              </a:rPr>
              <a:t>(10*60);  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//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세션 유효시간 </a:t>
            </a:r>
            <a:r>
              <a:rPr lang="en-US" altLang="ko-KR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0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분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(600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초</a:t>
            </a:r>
            <a:r>
              <a:rPr lang="en-US" altLang="ko-KR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r>
              <a:rPr lang="ko-KR" altLang="en-US" sz="16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설정 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28664" y="2924944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경로 </a:t>
            </a:r>
            <a:r>
              <a:rPr lang="en-US" altLang="ko-KR" dirty="0" smtClean="0"/>
              <a:t>: </a:t>
            </a:r>
            <a:r>
              <a:rPr lang="en-US" altLang="ko-KR" b="1" dirty="0" smtClean="0">
                <a:solidFill>
                  <a:srgbClr val="C00000"/>
                </a:solidFill>
              </a:rPr>
              <a:t>servers &gt; web.xml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672" y="3356992"/>
            <a:ext cx="4957138" cy="29389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1064568" y="1489360"/>
            <a:ext cx="80648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세션 유효 시간은 세션을 유지하기 위한 세션의 일정 </a:t>
            </a:r>
            <a:r>
              <a:rPr lang="ko-KR" altLang="en-US" sz="1600" dirty="0" smtClean="0"/>
              <a:t>시간으로 기본값은 </a:t>
            </a:r>
            <a:r>
              <a:rPr lang="en-US" altLang="ko-KR" sz="1600" dirty="0"/>
              <a:t>30</a:t>
            </a:r>
            <a:r>
              <a:rPr lang="ko-KR" altLang="en-US" sz="1600" dirty="0"/>
              <a:t>분이다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유효시간을</a:t>
            </a:r>
            <a:r>
              <a:rPr lang="ko-KR" altLang="en-US" sz="1600" dirty="0"/>
              <a:t> 설정할 때는 </a:t>
            </a:r>
            <a:r>
              <a:rPr lang="en-US" altLang="ko-KR" sz="1600" dirty="0"/>
              <a:t>session </a:t>
            </a:r>
            <a:r>
              <a:rPr lang="ko-KR" altLang="en-US" sz="1600" dirty="0"/>
              <a:t>객체의 </a:t>
            </a:r>
            <a:r>
              <a:rPr lang="en-US" altLang="ko-KR" sz="1600" b="1" dirty="0" err="1"/>
              <a:t>setMaxInactiveInterval</a:t>
            </a:r>
            <a:r>
              <a:rPr lang="en-US" altLang="ko-KR" sz="1600" b="1" dirty="0"/>
              <a:t>()</a:t>
            </a:r>
            <a:r>
              <a:rPr lang="ko-KR" altLang="en-US" sz="1600" dirty="0"/>
              <a:t>을 사용한다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9544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67240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err="1" smtClean="0"/>
              <a:t>유효시간</a:t>
            </a:r>
            <a:r>
              <a:rPr lang="ko-KR" altLang="en-US" sz="2000" b="1" dirty="0" smtClean="0"/>
              <a:t> 설정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435" y="2556193"/>
            <a:ext cx="3626566" cy="2520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049" y="2556193"/>
            <a:ext cx="3575282" cy="2520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385049" y="5220489"/>
            <a:ext cx="3672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 smtClean="0"/>
              <a:t>변경후</a:t>
            </a:r>
            <a:r>
              <a:rPr lang="ko-KR" altLang="en-US" sz="1600" dirty="0" smtClean="0"/>
              <a:t> 브라우저를 </a:t>
            </a:r>
            <a:r>
              <a:rPr lang="ko-KR" altLang="en-US" sz="1600" dirty="0" err="1" smtClean="0"/>
              <a:t>새로고침하면</a:t>
            </a:r>
            <a:r>
              <a:rPr lang="ko-KR" altLang="en-US" sz="1600" dirty="0" smtClean="0"/>
              <a:t> 변경된 유효시간을 표시함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33839" y="1478239"/>
            <a:ext cx="7632848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은행사이트에 로그인한 경우 </a:t>
            </a:r>
            <a:r>
              <a:rPr lang="en-US" altLang="ko-KR" sz="1600" dirty="0" smtClean="0"/>
              <a:t>10</a:t>
            </a:r>
            <a:r>
              <a:rPr lang="ko-KR" altLang="en-US" sz="1600" dirty="0" smtClean="0"/>
              <a:t>분에서 초단위로 </a:t>
            </a:r>
            <a:r>
              <a:rPr lang="ko-KR" altLang="en-US" sz="1600" dirty="0" err="1" smtClean="0"/>
              <a:t>역카운팅</a:t>
            </a:r>
            <a:r>
              <a:rPr lang="ko-KR" altLang="en-US" sz="1600" dirty="0" smtClean="0"/>
              <a:t> 되면서 </a:t>
            </a:r>
            <a:r>
              <a:rPr lang="en-US" altLang="ko-KR" sz="1600" dirty="0" smtClean="0"/>
              <a:t>10</a:t>
            </a:r>
            <a:r>
              <a:rPr lang="ko-KR" altLang="en-US" sz="1600" dirty="0" smtClean="0"/>
              <a:t>분이 지나면 자동 로그아웃</a:t>
            </a:r>
            <a:r>
              <a:rPr lang="en-US" altLang="ko-KR" sz="1600" dirty="0"/>
              <a:t>[</a:t>
            </a:r>
            <a:r>
              <a:rPr lang="en-US" altLang="ko-KR" sz="1600" dirty="0" err="1" smtClean="0"/>
              <a:t>session.invalidate</a:t>
            </a:r>
            <a:r>
              <a:rPr lang="en-US" altLang="ko-KR" sz="1600" dirty="0" smtClean="0"/>
              <a:t>()]</a:t>
            </a:r>
            <a:r>
              <a:rPr lang="ko-KR" altLang="en-US" sz="1600" dirty="0" smtClean="0"/>
              <a:t> 됨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5135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980728"/>
            <a:ext cx="38884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</a:t>
            </a:r>
            <a:r>
              <a:rPr lang="en-US" altLang="ko-KR" sz="2000" b="1" dirty="0" smtClean="0"/>
              <a:t>(session) </a:t>
            </a:r>
            <a:r>
              <a:rPr lang="ko-KR" altLang="en-US" sz="2000" b="1" dirty="0" err="1" smtClean="0"/>
              <a:t>유효시간</a:t>
            </a:r>
            <a:r>
              <a:rPr lang="ko-KR" altLang="en-US" sz="2000" b="1" dirty="0" smtClean="0"/>
              <a:t> 설정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318" y="1628800"/>
            <a:ext cx="5342882" cy="48398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601072" y="2852936"/>
            <a:ext cx="2304256" cy="36004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session/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timeout.jsp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495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1074802"/>
            <a:ext cx="58326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 실습 </a:t>
            </a:r>
            <a:r>
              <a:rPr lang="en-US" altLang="ko-KR" sz="2000" b="1" dirty="0" smtClean="0"/>
              <a:t>- </a:t>
            </a:r>
            <a:r>
              <a:rPr lang="ko-KR" altLang="en-US" sz="2000" b="1" dirty="0" smtClean="0"/>
              <a:t>장바구니</a:t>
            </a:r>
            <a:r>
              <a:rPr lang="en-US" altLang="ko-KR" sz="2000" b="1" dirty="0" smtClean="0"/>
              <a:t>(Shopping Cart)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901596"/>
              </p:ext>
            </p:extLst>
          </p:nvPr>
        </p:nvGraphicFramePr>
        <p:xfrm>
          <a:off x="848544" y="2365380"/>
          <a:ext cx="8496944" cy="27198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4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20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39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파일 이름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역 할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971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err="1" smtClean="0"/>
                        <a:t>loginForm.jsp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로그인 폼 화면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사용자 이름을 입력하는 양식만 제공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5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/>
                        <a:t>selProcuct.jsp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상품을 선택하는 화면으로 리스트에서 원하는 상품을 선택하고 </a:t>
                      </a:r>
                      <a:r>
                        <a:rPr lang="en-US" altLang="ko-KR" sz="1600" dirty="0" smtClean="0"/>
                        <a:t>&lt;</a:t>
                      </a:r>
                      <a:r>
                        <a:rPr lang="ko-KR" altLang="en-US" sz="1600" dirty="0" smtClean="0"/>
                        <a:t>추가</a:t>
                      </a:r>
                      <a:r>
                        <a:rPr lang="en-US" altLang="ko-KR" sz="1600" dirty="0" smtClean="0"/>
                        <a:t>&gt;</a:t>
                      </a:r>
                      <a:r>
                        <a:rPr lang="ko-KR" altLang="en-US" sz="1600" dirty="0" smtClean="0"/>
                        <a:t>버튼을</a:t>
                      </a:r>
                      <a:r>
                        <a:rPr lang="en-US" altLang="ko-KR" sz="1600" dirty="0" smtClean="0"/>
                        <a:t> </a:t>
                      </a:r>
                      <a:r>
                        <a:rPr lang="ko-KR" altLang="en-US" sz="1600" dirty="0" smtClean="0"/>
                        <a:t>눌러 상품을 추가한다</a:t>
                      </a:r>
                      <a:r>
                        <a:rPr lang="en-US" altLang="ko-KR" sz="1600" dirty="0" smtClean="0"/>
                        <a:t>.  </a:t>
                      </a:r>
                      <a:r>
                        <a:rPr lang="ko-KR" altLang="en-US" sz="1600" dirty="0" smtClean="0"/>
                        <a:t>사용자 세션 설정</a:t>
                      </a:r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9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 err="1" smtClean="0"/>
                        <a:t>productAdd.jsp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 err="1" smtClean="0"/>
                        <a:t>selProduct</a:t>
                      </a:r>
                      <a:r>
                        <a:rPr lang="ko-KR" altLang="en-US" sz="1600" dirty="0" smtClean="0"/>
                        <a:t>에서 선택한 상품을 세션에 넣는다</a:t>
                      </a:r>
                      <a:r>
                        <a:rPr lang="en-US" altLang="ko-KR" sz="1600" dirty="0" smtClean="0"/>
                        <a:t>. </a:t>
                      </a:r>
                      <a:r>
                        <a:rPr lang="ko-KR" altLang="en-US" sz="1600" dirty="0" smtClean="0"/>
                        <a:t>선택된 데이터를 모두 </a:t>
                      </a:r>
                      <a:r>
                        <a:rPr lang="ko-KR" altLang="en-US" sz="1600" dirty="0" err="1" smtClean="0"/>
                        <a:t>선택해야하므로</a:t>
                      </a:r>
                      <a:r>
                        <a:rPr lang="ko-KR" altLang="en-US" sz="1600" dirty="0" smtClean="0"/>
                        <a:t> </a:t>
                      </a:r>
                      <a:r>
                        <a:rPr lang="en-US" altLang="ko-KR" sz="1600" dirty="0" err="1" smtClean="0"/>
                        <a:t>ArrayList</a:t>
                      </a:r>
                      <a:r>
                        <a:rPr lang="ko-KR" altLang="en-US" sz="1600" dirty="0" smtClean="0"/>
                        <a:t>를 이용한다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953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err="1" smtClean="0"/>
                        <a:t>checkOut.jsp</a:t>
                      </a:r>
                      <a:endParaRPr lang="en-US" altLang="ko-KR" sz="1800" dirty="0" smtClean="0"/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세션이 살아 있고</a:t>
                      </a:r>
                      <a:r>
                        <a:rPr lang="en-US" altLang="ko-KR" sz="1600" dirty="0" smtClean="0"/>
                        <a:t>, </a:t>
                      </a:r>
                      <a:r>
                        <a:rPr lang="ko-KR" altLang="en-US" sz="1600" dirty="0" smtClean="0"/>
                        <a:t>하나</a:t>
                      </a:r>
                      <a:r>
                        <a:rPr lang="ko-KR" altLang="en-US" sz="1600" baseline="0" dirty="0" smtClean="0"/>
                        <a:t> 이상의 상품을 선택한 상태라면 선택한 상품의 목록을 보여준다</a:t>
                      </a:r>
                      <a:r>
                        <a:rPr lang="en-US" altLang="ko-KR" sz="1600" baseline="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48544" y="1916832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프로그램 소스 목록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856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040" y="1851155"/>
            <a:ext cx="3198713" cy="173158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907300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세션을 이용한 장바구니</a:t>
            </a:r>
            <a:r>
              <a:rPr lang="en-US" altLang="ko-KR" sz="2000" b="1" dirty="0" smtClean="0"/>
              <a:t>(Shopping Cart) </a:t>
            </a:r>
            <a:r>
              <a:rPr lang="ko-KR" altLang="en-US" sz="2000" b="1" dirty="0" smtClean="0"/>
              <a:t>구현</a:t>
            </a:r>
            <a:endParaRPr lang="en-US" altLang="ko-KR" sz="2000" b="1" dirty="0" smtClean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4304928" y="2636912"/>
            <a:ext cx="83779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7160422" y="3006678"/>
            <a:ext cx="456874" cy="8543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/>
          <p:cNvCxnSpPr/>
          <p:nvPr/>
        </p:nvCxnSpPr>
        <p:spPr>
          <a:xfrm flipH="1">
            <a:off x="4983580" y="3302117"/>
            <a:ext cx="1394455" cy="9932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97" r="15304"/>
          <a:stretch/>
        </p:blipFill>
        <p:spPr>
          <a:xfrm>
            <a:off x="1162309" y="2034958"/>
            <a:ext cx="3013387" cy="120390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640" y="4095448"/>
            <a:ext cx="3168352" cy="18392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5128" y="4006042"/>
            <a:ext cx="3340506" cy="97001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5095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907300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세션을 이용한 장바구니</a:t>
            </a:r>
            <a:r>
              <a:rPr lang="en-US" altLang="ko-KR" sz="2000" b="1" dirty="0" smtClean="0"/>
              <a:t>(Shopping Cart) </a:t>
            </a:r>
            <a:r>
              <a:rPr lang="ko-KR" altLang="en-US" sz="2000" b="1" dirty="0" smtClean="0"/>
              <a:t>구현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560" y="1772816"/>
            <a:ext cx="8508420" cy="41849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961112" y="1675428"/>
            <a:ext cx="2266393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cart/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loginform.jsp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915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124744"/>
            <a:ext cx="7635358" cy="51673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329264" y="1772816"/>
            <a:ext cx="2266393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cart/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selproduct.jsp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6548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512" y="1484784"/>
            <a:ext cx="9217024" cy="401541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113240" y="1340768"/>
            <a:ext cx="2266393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cart/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addproduct.jsp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76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세션</a:t>
            </a:r>
            <a:r>
              <a:rPr lang="en-US" altLang="ko-KR" dirty="0" smtClean="0"/>
              <a:t>(session) – </a:t>
            </a:r>
            <a:r>
              <a:rPr lang="ko-KR" altLang="en-US" dirty="0" smtClean="0"/>
              <a:t>장바구니 </a:t>
            </a:r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72" y="1576873"/>
            <a:ext cx="9561512" cy="36802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609184" y="1418048"/>
            <a:ext cx="2266393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cart/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cart.jsp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81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쿠</a:t>
            </a:r>
            <a:r>
              <a:rPr lang="ko-KR" altLang="en-US" dirty="0"/>
              <a:t>키</a:t>
            </a:r>
            <a:r>
              <a:rPr lang="en-US" altLang="ko-KR" dirty="0" smtClean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8584" y="1615925"/>
            <a:ext cx="84969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클라이언트와 웹 서버간의 상태를 지속적으로 유지하는 방법으로 쿠키와 세션이 있다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쿠</a:t>
            </a:r>
            <a:r>
              <a:rPr lang="ko-KR" altLang="en-US" sz="1600" dirty="0" smtClean="0"/>
              <a:t>키는 서버가 </a:t>
            </a:r>
            <a:r>
              <a:rPr lang="ko-KR" altLang="en-US" sz="1600" dirty="0"/>
              <a:t>클라이언트에 저장하는 정보로서 클라이언트 쪽에 필요한 정보를 저장해놓고 필요할 때 추출하는 것을 지원하는 </a:t>
            </a:r>
            <a:r>
              <a:rPr lang="ko-KR" altLang="en-US" sz="1600" dirty="0" smtClean="0"/>
              <a:t>기술이다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쿠키는 세션과 달리 상태 정보를 웹 서버가 아닌 클라이언트에 저장한다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 </a:t>
            </a:r>
            <a:r>
              <a:rPr lang="ko-KR" altLang="en-US" sz="1600" dirty="0" smtClean="0"/>
              <a:t>    예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어떤 웹 사이트를 처음 방문한 사용자가 로그인 인증을 하고 나면 아이디와 </a:t>
            </a:r>
            <a:r>
              <a:rPr lang="ko-KR" altLang="en-US" sz="1600" dirty="0" err="1" smtClean="0"/>
              <a:t>비밀번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    </a:t>
            </a:r>
            <a:r>
              <a:rPr lang="ko-KR" altLang="en-US" sz="1600" dirty="0" smtClean="0"/>
              <a:t>호를 기록한 쿠키가 만들어지고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그 다음부터 사용자가  그 사이트에 접속하면 별도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     </a:t>
            </a:r>
            <a:r>
              <a:rPr lang="ko-KR" altLang="en-US" sz="1600" dirty="0" smtClean="0"/>
              <a:t>의 절차를 거치지 않고 쉽게 접속할 수 있다</a:t>
            </a:r>
            <a:r>
              <a:rPr lang="en-US" altLang="ko-KR" sz="1600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쿠키는 클라이언트의 일정 폴더에 정보를 저장하므로 웹 서버의 부하를 줄일 수 있으나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/>
              <a:t> </a:t>
            </a:r>
            <a:r>
              <a:rPr lang="en-US" altLang="ko-KR" sz="1600" dirty="0" smtClean="0"/>
              <a:t>   </a:t>
            </a:r>
            <a:r>
              <a:rPr lang="ko-KR" altLang="en-US" sz="1600" dirty="0" smtClean="0"/>
              <a:t>개인 정보 기록이 남기 때문에 보안에 문제가 있다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  <p:sp>
        <p:nvSpPr>
          <p:cNvPr id="2" name="직사각형 1"/>
          <p:cNvSpPr/>
          <p:nvPr/>
        </p:nvSpPr>
        <p:spPr>
          <a:xfrm>
            <a:off x="992560" y="980728"/>
            <a:ext cx="2048959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(cookie)</a:t>
            </a:r>
            <a:r>
              <a:rPr lang="ko-KR" altLang="en-US" sz="2000" b="1" dirty="0"/>
              <a:t>란</a:t>
            </a:r>
            <a:r>
              <a:rPr lang="en-US" altLang="ko-KR" sz="2000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336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쿠</a:t>
            </a:r>
            <a:r>
              <a:rPr lang="ko-KR" altLang="en-US" dirty="0"/>
              <a:t>키</a:t>
            </a:r>
            <a:r>
              <a:rPr lang="en-US" altLang="ko-KR" dirty="0" smtClean="0"/>
              <a:t>(cookie)</a:t>
            </a:r>
            <a:endParaRPr lang="ko-KR" altLang="en-US" dirty="0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5954099" y="2525336"/>
            <a:ext cx="1045905" cy="1631079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2106932" y="2223868"/>
            <a:ext cx="1614919" cy="2143625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/>
          <p:cNvCxnSpPr/>
          <p:nvPr/>
        </p:nvCxnSpPr>
        <p:spPr>
          <a:xfrm flipH="1">
            <a:off x="3636693" y="3018438"/>
            <a:ext cx="2245398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/>
          <p:cNvCxnSpPr/>
          <p:nvPr/>
        </p:nvCxnSpPr>
        <p:spPr>
          <a:xfrm>
            <a:off x="3721851" y="3415948"/>
            <a:ext cx="216024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그림 3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303" y="2532758"/>
            <a:ext cx="1021055" cy="826363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pic>
        <p:nvPicPr>
          <p:cNvPr id="40" name="그림 3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128" y="2147481"/>
            <a:ext cx="659578" cy="96157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4"/>
          <a:stretch/>
        </p:blipFill>
        <p:spPr>
          <a:xfrm>
            <a:off x="1777635" y="1948285"/>
            <a:ext cx="764578" cy="584563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376424" y="1938318"/>
            <a:ext cx="10759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클라이언트</a:t>
            </a:r>
            <a:endParaRPr lang="ko-KR" alt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5954099" y="2080145"/>
            <a:ext cx="9126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 smtClean="0"/>
              <a:t>웹 서버</a:t>
            </a:r>
            <a:endParaRPr lang="ko-KR" altLang="en-US" sz="1400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2376424" y="3470015"/>
            <a:ext cx="1201411" cy="83834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쿠키저장소</a:t>
            </a:r>
            <a:endParaRPr lang="en-US" altLang="ko-KR" sz="1400" dirty="0" smtClean="0"/>
          </a:p>
          <a:p>
            <a:pPr algn="ctr"/>
            <a:endParaRPr lang="en-US" altLang="ko-KR" sz="1400" dirty="0"/>
          </a:p>
          <a:p>
            <a:pPr algn="ctr"/>
            <a:endParaRPr lang="ko-KR" altLang="en-US" sz="1400" dirty="0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2588718" y="3822261"/>
            <a:ext cx="792087" cy="3420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smtClean="0"/>
              <a:t>쿠</a:t>
            </a:r>
            <a:r>
              <a:rPr lang="ko-KR" altLang="en-US" sz="1400"/>
              <a:t>키</a:t>
            </a:r>
            <a:endParaRPr lang="ko-KR" altLang="en-US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2852216" y="4158229"/>
            <a:ext cx="46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②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21851" y="3531104"/>
            <a:ext cx="46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 smtClean="0">
                <a:solidFill>
                  <a:srgbClr val="C00000"/>
                </a:solidFill>
              </a:rPr>
              <a:t>③</a:t>
            </a:r>
            <a:endParaRPr lang="ko-KR" altLang="en-US" dirty="0">
              <a:solidFill>
                <a:srgbClr val="C0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36691" y="2370366"/>
            <a:ext cx="469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rgbClr val="C00000"/>
                </a:solidFill>
              </a:rPr>
              <a:t>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44888" y="2443760"/>
            <a:ext cx="222523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쿠키생성</a:t>
            </a:r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response.addCookie</a:t>
            </a:r>
            <a:r>
              <a:rPr lang="en-US" altLang="ko-KR" sz="1400" dirty="0" smtClean="0"/>
              <a:t>())</a:t>
            </a:r>
            <a:endParaRPr lang="ko-KR" altLang="en-US" sz="1400" dirty="0"/>
          </a:p>
        </p:txBody>
      </p:sp>
      <p:sp>
        <p:nvSpPr>
          <p:cNvPr id="30" name="TextBox 29"/>
          <p:cNvSpPr txBox="1"/>
          <p:nvPr/>
        </p:nvSpPr>
        <p:spPr>
          <a:xfrm>
            <a:off x="3220039" y="4242574"/>
            <a:ext cx="11381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쿠키저장</a:t>
            </a:r>
            <a:endParaRPr lang="ko-KR" alt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4102671" y="3531104"/>
            <a:ext cx="19954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쿠키전송</a:t>
            </a:r>
            <a:endParaRPr lang="en-US" altLang="ko-KR" sz="1600" dirty="0" smtClean="0"/>
          </a:p>
          <a:p>
            <a:r>
              <a:rPr lang="en-US" altLang="ko-KR" sz="1400" dirty="0" smtClean="0"/>
              <a:t>(</a:t>
            </a:r>
            <a:r>
              <a:rPr lang="en-US" altLang="ko-KR" sz="1400" dirty="0" err="1" smtClean="0"/>
              <a:t>request.getCookie</a:t>
            </a:r>
            <a:r>
              <a:rPr lang="en-US" altLang="ko-KR" sz="1400" dirty="0" smtClean="0"/>
              <a:t>())</a:t>
            </a:r>
            <a:endParaRPr lang="ko-KR" altLang="en-US" sz="1400" dirty="0"/>
          </a:p>
        </p:txBody>
      </p:sp>
      <p:sp>
        <p:nvSpPr>
          <p:cNvPr id="20" name="직사각형 19"/>
          <p:cNvSpPr/>
          <p:nvPr/>
        </p:nvSpPr>
        <p:spPr>
          <a:xfrm>
            <a:off x="992560" y="980728"/>
            <a:ext cx="313900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</a:t>
            </a:r>
            <a:r>
              <a:rPr lang="ko-KR" altLang="en-US" sz="2000" b="1" dirty="0" smtClean="0"/>
              <a:t>의 작동 원리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81724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</a:t>
            </a:r>
            <a:r>
              <a:rPr lang="ko-KR" altLang="en-US" dirty="0" smtClean="0"/>
              <a:t>쿠</a:t>
            </a:r>
            <a:r>
              <a:rPr lang="ko-KR" altLang="en-US" dirty="0"/>
              <a:t>키</a:t>
            </a:r>
            <a:r>
              <a:rPr lang="en-US" altLang="ko-KR" dirty="0" smtClean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28083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/>
              <a:t>쿠</a:t>
            </a:r>
            <a:r>
              <a:rPr lang="ko-KR" altLang="en-US" sz="2000" b="1" dirty="0"/>
              <a:t>키</a:t>
            </a:r>
            <a:r>
              <a:rPr lang="en-US" altLang="ko-KR" sz="2000" b="1" dirty="0" smtClean="0"/>
              <a:t>(cookie)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590" y="2132856"/>
            <a:ext cx="3808956" cy="2618657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1171590" y="1628800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C00000"/>
                </a:solidFill>
              </a:rPr>
              <a:t>Chrome </a:t>
            </a:r>
            <a:r>
              <a:rPr lang="ko-KR" altLang="en-US" sz="1600" dirty="0" err="1" smtClean="0">
                <a:solidFill>
                  <a:srgbClr val="C00000"/>
                </a:solidFill>
              </a:rPr>
              <a:t>폴더안의</a:t>
            </a:r>
            <a:r>
              <a:rPr lang="ko-KR" altLang="en-US" sz="1600" dirty="0" smtClean="0">
                <a:solidFill>
                  <a:srgbClr val="C00000"/>
                </a:solidFill>
              </a:rPr>
              <a:t> 쿠키 파일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9608" y="2132856"/>
            <a:ext cx="2695880" cy="2826180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046" y="3385636"/>
            <a:ext cx="2659828" cy="2577032"/>
          </a:xfrm>
          <a:prstGeom prst="rect">
            <a:avLst/>
          </a:prstGeom>
          <a:ln>
            <a:solidFill>
              <a:schemeClr val="accent6">
                <a:lumMod val="20000"/>
                <a:lumOff val="80000"/>
              </a:schemeClr>
            </a:solidFill>
          </a:ln>
        </p:spPr>
      </p:pic>
      <p:sp>
        <p:nvSpPr>
          <p:cNvPr id="27" name="모서리가 둥근 직사각형 26"/>
          <p:cNvSpPr/>
          <p:nvPr/>
        </p:nvSpPr>
        <p:spPr>
          <a:xfrm>
            <a:off x="8078538" y="5856521"/>
            <a:ext cx="725900" cy="380791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smtClean="0">
                <a:solidFill>
                  <a:sysClr val="windowText" lastClr="000000"/>
                </a:solidFill>
              </a:rPr>
              <a:t>클</a:t>
            </a:r>
            <a:r>
              <a:rPr lang="ko-KR" altLang="en-US" sz="1600">
                <a:solidFill>
                  <a:sysClr val="windowText" lastClr="000000"/>
                </a:solidFill>
              </a:rPr>
              <a:t>릭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/>
          <p:cNvCxnSpPr>
            <a:stCxn id="27" idx="1"/>
          </p:cNvCxnSpPr>
          <p:nvPr/>
        </p:nvCxnSpPr>
        <p:spPr>
          <a:xfrm flipH="1" flipV="1">
            <a:off x="7736426" y="5783738"/>
            <a:ext cx="342112" cy="263179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932230" y="5604808"/>
            <a:ext cx="858674" cy="357860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64078" y="1628800"/>
            <a:ext cx="3456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C00000"/>
                </a:solidFill>
              </a:rPr>
              <a:t>Internet </a:t>
            </a:r>
            <a:r>
              <a:rPr lang="en-US" altLang="ko-KR" sz="1600" dirty="0" err="1" smtClean="0">
                <a:solidFill>
                  <a:srgbClr val="C00000"/>
                </a:solidFill>
              </a:rPr>
              <a:t>Exploer</a:t>
            </a:r>
            <a:r>
              <a:rPr lang="en-US" altLang="ko-KR" sz="1600" dirty="0" smtClean="0">
                <a:solidFill>
                  <a:srgbClr val="C00000"/>
                </a:solidFill>
              </a:rPr>
              <a:t> </a:t>
            </a:r>
            <a:r>
              <a:rPr lang="ko-KR" altLang="en-US" sz="1600" dirty="0" smtClean="0">
                <a:solidFill>
                  <a:srgbClr val="C00000"/>
                </a:solidFill>
              </a:rPr>
              <a:t>쿠키 파일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92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6552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 </a:t>
            </a:r>
            <a:r>
              <a:rPr lang="ko-KR" altLang="en-US" sz="2000" b="1" dirty="0" smtClean="0"/>
              <a:t>내장 객체 </a:t>
            </a:r>
            <a:r>
              <a:rPr lang="ko-KR" altLang="en-US" sz="2000" b="1" dirty="0" err="1" smtClean="0"/>
              <a:t>메서드</a:t>
            </a:r>
            <a:endParaRPr lang="en-US" altLang="ko-KR" sz="2000" b="1" dirty="0" smtClean="0"/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207413"/>
              </p:ext>
            </p:extLst>
          </p:nvPr>
        </p:nvGraphicFramePr>
        <p:xfrm>
          <a:off x="1280592" y="1772816"/>
          <a:ext cx="6355690" cy="20162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2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4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메서드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설 명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getName</a:t>
                      </a:r>
                      <a:r>
                        <a:rPr lang="en-US" altLang="ko-KR" sz="1600" b="1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 smtClean="0"/>
                        <a:t>쿠키의 이름을 반환한다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getValue</a:t>
                      </a:r>
                      <a:r>
                        <a:rPr lang="en-US" altLang="ko-KR" sz="1600" b="1" dirty="0" smtClean="0"/>
                        <a:t>()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쿠키에 설정된 값을 반환한다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56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b="1" dirty="0" err="1" smtClean="0"/>
                        <a:t>setMaxAge</a:t>
                      </a:r>
                      <a:r>
                        <a:rPr lang="en-US" altLang="ko-KR" sz="1600" b="1" dirty="0" smtClean="0"/>
                        <a:t>(</a:t>
                      </a:r>
                      <a:r>
                        <a:rPr lang="en-US" altLang="ko-KR" sz="1600" b="1" dirty="0" err="1" smtClean="0"/>
                        <a:t>int</a:t>
                      </a:r>
                      <a:r>
                        <a:rPr lang="en-US" altLang="ko-KR" sz="1600" b="1" dirty="0" smtClean="0"/>
                        <a:t>)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smtClean="0"/>
                        <a:t>쿠키의 유효 기간을 설정한다</a:t>
                      </a:r>
                      <a:r>
                        <a:rPr lang="en-US" altLang="ko-KR" sz="1600" dirty="0" smtClean="0"/>
                        <a:t>.</a:t>
                      </a:r>
                      <a:endParaRPr lang="ko-KR" altLang="en-US" sz="160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627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08584" y="1511688"/>
            <a:ext cx="727280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쿠키 생성은 </a:t>
            </a:r>
            <a:r>
              <a:rPr lang="en-US" altLang="ko-KR" dirty="0" smtClean="0"/>
              <a:t>Cookie </a:t>
            </a:r>
            <a:r>
              <a:rPr lang="ko-KR" altLang="en-US" dirty="0" smtClean="0"/>
              <a:t>클래스로 쿠키를 생성한 후 </a:t>
            </a:r>
            <a:r>
              <a:rPr lang="en-US" altLang="ko-KR" dirty="0" smtClean="0"/>
              <a:t>response </a:t>
            </a:r>
            <a:r>
              <a:rPr lang="ko-KR" altLang="en-US" dirty="0" smtClean="0"/>
              <a:t>객체의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addCookie</a:t>
            </a:r>
            <a:r>
              <a:rPr lang="en-US" altLang="ko-KR" b="1" dirty="0" smtClean="0">
                <a:solidFill>
                  <a:srgbClr val="C00000"/>
                </a:solidFill>
              </a:rPr>
              <a:t>()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사용한</a:t>
            </a:r>
            <a:r>
              <a:rPr lang="ko-KR" altLang="en-US" dirty="0" err="1" smtClean="0"/>
              <a:t>여</a:t>
            </a:r>
            <a:r>
              <a:rPr lang="ko-KR" altLang="en-US" dirty="0" smtClean="0"/>
              <a:t> 로컬 컴퓨터</a:t>
            </a:r>
            <a:r>
              <a:rPr lang="en-US" altLang="ko-KR" dirty="0" smtClean="0"/>
              <a:t>(</a:t>
            </a:r>
            <a:r>
              <a:rPr lang="ko-KR" altLang="en-US" dirty="0" smtClean="0"/>
              <a:t>브라우저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보낸다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쿠키 </a:t>
            </a:r>
            <a:r>
              <a:rPr lang="ko-KR" altLang="en-US" dirty="0"/>
              <a:t>이름 </a:t>
            </a:r>
            <a:r>
              <a:rPr lang="en-US" altLang="ko-KR" dirty="0"/>
              <a:t>– </a:t>
            </a:r>
            <a:r>
              <a:rPr lang="en-US" altLang="ko-KR" dirty="0" err="1" smtClean="0"/>
              <a:t>userId</a:t>
            </a:r>
            <a:r>
              <a:rPr lang="en-US" altLang="ko-KR" dirty="0"/>
              <a:t>, </a:t>
            </a:r>
            <a:r>
              <a:rPr lang="en-US" altLang="ko-KR" dirty="0" smtClean="0"/>
              <a:t> </a:t>
            </a:r>
            <a:r>
              <a:rPr lang="ko-KR" altLang="en-US" dirty="0" smtClean="0"/>
              <a:t>쿠키 값 </a:t>
            </a:r>
            <a:r>
              <a:rPr lang="en-US" altLang="ko-KR" dirty="0" smtClean="0"/>
              <a:t>- </a:t>
            </a:r>
            <a:r>
              <a:rPr lang="en-US" altLang="ko-KR" dirty="0" smtClean="0"/>
              <a:t>id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1568624" y="3140968"/>
            <a:ext cx="5994294" cy="1123712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Cookie </a:t>
            </a:r>
            <a:r>
              <a:rPr lang="en-US" altLang="ko-KR" sz="2000" b="1" dirty="0" err="1" smtClean="0">
                <a:solidFill>
                  <a:srgbClr val="C00000"/>
                </a:solidFill>
              </a:rPr>
              <a:t>cookie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 = new Cookie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(“</a:t>
            </a:r>
            <a:r>
              <a:rPr lang="en-US" altLang="ko-KR" sz="2000" b="1" dirty="0" err="1" smtClean="0">
                <a:solidFill>
                  <a:srgbClr val="0070C0"/>
                </a:solidFill>
              </a:rPr>
              <a:t>user</a:t>
            </a:r>
            <a:r>
              <a:rPr lang="en-US" altLang="ko-KR" sz="2000" b="1" dirty="0" err="1" smtClean="0">
                <a:solidFill>
                  <a:srgbClr val="0070C0"/>
                </a:solidFill>
              </a:rPr>
              <a:t>Id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”, 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id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);</a:t>
            </a:r>
            <a:endParaRPr lang="en-US" altLang="ko-KR" sz="2000" b="1" dirty="0" smtClean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 err="1" smtClean="0">
                <a:solidFill>
                  <a:srgbClr val="0070C0"/>
                </a:solidFill>
              </a:rPr>
              <a:t>response.</a:t>
            </a:r>
            <a:r>
              <a:rPr lang="en-US" altLang="ko-KR" sz="2000" b="1" dirty="0" err="1" smtClean="0">
                <a:solidFill>
                  <a:srgbClr val="C00000"/>
                </a:solidFill>
              </a:rPr>
              <a:t>addCookie</a:t>
            </a:r>
            <a:r>
              <a:rPr lang="en-US" altLang="ko-KR" sz="2000" b="1" dirty="0" smtClean="0">
                <a:solidFill>
                  <a:srgbClr val="C00000"/>
                </a:solidFill>
              </a:rPr>
              <a:t>(cookie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);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92560" y="980728"/>
            <a:ext cx="2279791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(cookie)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748935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992560" y="980728"/>
            <a:ext cx="2279791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(cookie) </a:t>
            </a:r>
            <a:r>
              <a:rPr lang="ko-KR" altLang="en-US" sz="2000" b="1" dirty="0"/>
              <a:t>생성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825" y="4497792"/>
            <a:ext cx="5858693" cy="11336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1772816"/>
            <a:ext cx="3198337" cy="234656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굽은 화살표 6"/>
          <p:cNvSpPr/>
          <p:nvPr/>
        </p:nvSpPr>
        <p:spPr>
          <a:xfrm rot="5400000">
            <a:off x="4854849" y="3455143"/>
            <a:ext cx="556342" cy="648072"/>
          </a:xfrm>
          <a:prstGeom prst="ben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996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002794"/>
            <a:ext cx="2520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 </a:t>
            </a:r>
            <a:r>
              <a:rPr lang="ko-KR" altLang="en-US" sz="2000" b="1" dirty="0" smtClean="0"/>
              <a:t>생성</a:t>
            </a:r>
            <a:endParaRPr lang="en-US" altLang="ko-KR" sz="2000" b="1" dirty="0" smtClean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947315" y="1844824"/>
            <a:ext cx="2218456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cookie/cookie01.jsp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2353127"/>
            <a:ext cx="7413453" cy="165317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4723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980728"/>
            <a:ext cx="338437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 </a:t>
            </a:r>
            <a:r>
              <a:rPr lang="ko-KR" altLang="en-US" sz="2000" b="1" dirty="0" smtClean="0"/>
              <a:t>생성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896" y="1657093"/>
            <a:ext cx="5760640" cy="40843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693221" y="1916832"/>
            <a:ext cx="2604233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cookie/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cookieProcess.jsp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672" y="5386871"/>
            <a:ext cx="7491536" cy="7090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6033120" y="4825336"/>
            <a:ext cx="3729482" cy="4140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브라우저 </a:t>
            </a:r>
            <a:r>
              <a:rPr lang="en-US" altLang="ko-KR" sz="1600" b="1" dirty="0"/>
              <a:t>&gt; </a:t>
            </a:r>
            <a:r>
              <a:rPr lang="ko-KR" altLang="en-US" sz="1600" b="1" dirty="0" err="1"/>
              <a:t>개발자도구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&gt; Network </a:t>
            </a:r>
            <a:r>
              <a:rPr lang="ko-KR" altLang="en-US" sz="1600" b="1" dirty="0"/>
              <a:t>탭</a:t>
            </a:r>
            <a:endParaRPr lang="en-US" altLang="ko-KR" sz="1600" b="1" dirty="0"/>
          </a:p>
        </p:txBody>
      </p:sp>
    </p:spTree>
    <p:extLst>
      <p:ext uri="{BB962C8B-B14F-4D97-AF65-F5344CB8AC3E}">
        <p14:creationId xmlns:p14="http://schemas.microsoft.com/office/powerpoint/2010/main" val="314301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80592" y="1486525"/>
            <a:ext cx="7416824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클라이언트에 저장된 모든 쿠키 객체를 가져오려면 </a:t>
            </a:r>
            <a:r>
              <a:rPr lang="en-US" altLang="ko-KR" dirty="0" smtClean="0"/>
              <a:t>request </a:t>
            </a:r>
            <a:r>
              <a:rPr lang="ko-KR" altLang="en-US" dirty="0" smtClean="0"/>
              <a:t>객체의 </a:t>
            </a:r>
            <a:r>
              <a:rPr lang="en-US" altLang="ko-KR" b="1" dirty="0" err="1" smtClean="0">
                <a:solidFill>
                  <a:srgbClr val="C00000"/>
                </a:solidFill>
              </a:rPr>
              <a:t>getCookies</a:t>
            </a:r>
            <a:r>
              <a:rPr lang="en-US" altLang="ko-KR" b="1" dirty="0" smtClean="0">
                <a:solidFill>
                  <a:srgbClr val="C00000"/>
                </a:solidFill>
              </a:rPr>
              <a:t>() 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사용한다</a:t>
            </a:r>
            <a:r>
              <a:rPr lang="en-US" altLang="ko-KR" dirty="0" smtClean="0"/>
              <a:t>.</a:t>
            </a:r>
            <a:endParaRPr lang="en-US" altLang="ko-KR" dirty="0"/>
          </a:p>
        </p:txBody>
      </p:sp>
      <p:sp>
        <p:nvSpPr>
          <p:cNvPr id="20" name="TextBox 19"/>
          <p:cNvSpPr txBox="1"/>
          <p:nvPr/>
        </p:nvSpPr>
        <p:spPr>
          <a:xfrm>
            <a:off x="1789888" y="2579112"/>
            <a:ext cx="5611383" cy="61293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solidFill>
                  <a:srgbClr val="0070C0"/>
                </a:solidFill>
              </a:rPr>
              <a:t> 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Cookie[] cookies = </a:t>
            </a:r>
            <a:r>
              <a:rPr lang="en-US" altLang="ko-KR" sz="2000" b="1" dirty="0" err="1" smtClean="0">
                <a:solidFill>
                  <a:srgbClr val="0070C0"/>
                </a:solidFill>
              </a:rPr>
              <a:t>request.getCookies</a:t>
            </a:r>
            <a:r>
              <a:rPr lang="en-US" altLang="ko-KR" sz="2000" b="1" dirty="0" smtClean="0">
                <a:solidFill>
                  <a:srgbClr val="0070C0"/>
                </a:solidFill>
              </a:rPr>
              <a:t>();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5792" y="3501008"/>
            <a:ext cx="4730425" cy="2604308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992560" y="978694"/>
            <a:ext cx="2279791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(cookie) </a:t>
            </a:r>
            <a:r>
              <a:rPr lang="ko-KR" altLang="en-US" sz="2000" b="1" dirty="0"/>
              <a:t>정보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251133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22374" y="1002794"/>
            <a:ext cx="364259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 </a:t>
            </a:r>
            <a:r>
              <a:rPr lang="ko-KR" altLang="en-US" sz="2000" b="1" dirty="0" smtClean="0"/>
              <a:t>정보</a:t>
            </a:r>
            <a:endParaRPr lang="en-US" altLang="ko-KR" sz="2000" b="1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5" y="2132856"/>
            <a:ext cx="8095247" cy="244827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6393160" y="1700808"/>
            <a:ext cx="2218456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 smtClean="0">
                <a:solidFill>
                  <a:sysClr val="windowText" lastClr="000000"/>
                </a:solidFill>
              </a:rPr>
              <a:t>cookie/cookie02.jsp</a:t>
            </a:r>
          </a:p>
        </p:txBody>
      </p:sp>
    </p:spTree>
    <p:extLst>
      <p:ext uri="{BB962C8B-B14F-4D97-AF65-F5344CB8AC3E}">
        <p14:creationId xmlns:p14="http://schemas.microsoft.com/office/powerpoint/2010/main" val="272431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352600" y="1481009"/>
            <a:ext cx="590465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smtClean="0"/>
              <a:t>쿠키는 브라우저를 닫으면 유효기간이 종료됨</a:t>
            </a:r>
            <a:endParaRPr lang="en-US" altLang="ko-KR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2072680" y="2128647"/>
            <a:ext cx="3096344" cy="612934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 err="1" smtClean="0">
                <a:solidFill>
                  <a:schemeClr val="tx1"/>
                </a:solidFill>
              </a:rPr>
              <a:t>cookie.setMaxAge</a:t>
            </a:r>
            <a:r>
              <a:rPr lang="en-US" altLang="ko-KR" sz="2000" b="1" dirty="0" smtClean="0">
                <a:solidFill>
                  <a:schemeClr val="tx1"/>
                </a:solidFill>
              </a:rPr>
              <a:t>(0);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2680" y="2942393"/>
            <a:ext cx="5471634" cy="34064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5457056" y="2601166"/>
            <a:ext cx="2218456" cy="31765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</a:t>
            </a:r>
            <a:r>
              <a:rPr lang="en-US" altLang="ko-KR" sz="1600" dirty="0" smtClean="0">
                <a:solidFill>
                  <a:sysClr val="windowText" lastClr="000000"/>
                </a:solidFill>
              </a:rPr>
              <a:t>ookie/</a:t>
            </a:r>
            <a:r>
              <a:rPr lang="en-US" altLang="ko-KR" sz="1600" dirty="0" err="1" smtClean="0">
                <a:solidFill>
                  <a:sysClr val="windowText" lastClr="000000"/>
                </a:solidFill>
              </a:rPr>
              <a:t>expiry.jsp</a:t>
            </a:r>
            <a:endParaRPr lang="en-US" altLang="ko-KR" sz="16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040589" y="980728"/>
            <a:ext cx="4344459" cy="49449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(cookie) </a:t>
            </a:r>
            <a:r>
              <a:rPr lang="ko-KR" altLang="en-US" sz="2000" b="1" dirty="0" err="1"/>
              <a:t>유효시간</a:t>
            </a:r>
            <a:r>
              <a:rPr lang="ko-KR" altLang="en-US" sz="2000" b="1" dirty="0"/>
              <a:t> 설정 및 삭제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2577623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</a:t>
            </a:r>
            <a:r>
              <a:rPr lang="ko-KR" altLang="en-US" dirty="0"/>
              <a:t> 쿠키</a:t>
            </a:r>
            <a:r>
              <a:rPr lang="en-US" altLang="ko-KR" dirty="0"/>
              <a:t>(cookie)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64568" y="980728"/>
            <a:ext cx="381642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/>
              <a:t>쿠키</a:t>
            </a:r>
            <a:r>
              <a:rPr lang="en-US" altLang="ko-KR" sz="2000" b="1" dirty="0"/>
              <a:t>(cookie</a:t>
            </a:r>
            <a:r>
              <a:rPr lang="en-US" altLang="ko-KR" sz="2000" b="1" dirty="0" smtClean="0"/>
              <a:t>) </a:t>
            </a:r>
            <a:r>
              <a:rPr lang="ko-KR" altLang="en-US" sz="2000" b="1" dirty="0" smtClean="0"/>
              <a:t>삭제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0632" y="2630691"/>
            <a:ext cx="5677392" cy="1516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3" name="직사각형 2"/>
          <p:cNvSpPr/>
          <p:nvPr/>
        </p:nvSpPr>
        <p:spPr>
          <a:xfrm>
            <a:off x="1364404" y="1475222"/>
            <a:ext cx="4164659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쿠키의 유효 기간을 만료한다</a:t>
            </a:r>
            <a:r>
              <a:rPr lang="en-US" altLang="ko-KR" dirty="0" smtClean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 smtClean="0"/>
              <a:t>2</a:t>
            </a:r>
            <a:r>
              <a:rPr lang="ko-KR" altLang="en-US" dirty="0" err="1" smtClean="0"/>
              <a:t>분후에</a:t>
            </a:r>
            <a:r>
              <a:rPr lang="ko-KR" altLang="en-US" dirty="0" smtClean="0"/>
              <a:t> 새로 고침</a:t>
            </a:r>
            <a:r>
              <a:rPr lang="en-US" altLang="ko-KR" dirty="0" smtClean="0"/>
              <a:t>(</a:t>
            </a:r>
            <a:r>
              <a:rPr lang="ko-KR" altLang="en-US" dirty="0" smtClean="0"/>
              <a:t>설정 </a:t>
            </a:r>
            <a:r>
              <a:rPr lang="en-US" altLang="ko-KR" dirty="0" smtClean="0"/>
              <a:t>2</a:t>
            </a:r>
            <a:r>
              <a:rPr lang="ko-KR" altLang="en-US" dirty="0" smtClean="0"/>
              <a:t>분인 경우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65255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01350" y="974034"/>
            <a:ext cx="337558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 smtClean="0"/>
              <a:t>서블릿에서</a:t>
            </a:r>
            <a:r>
              <a:rPr lang="ko-KR" altLang="en-US" sz="2000" b="1" dirty="0" smtClean="0"/>
              <a:t> 세</a:t>
            </a:r>
            <a:r>
              <a:rPr lang="ko-KR" altLang="en-US" sz="2000" b="1" dirty="0"/>
              <a:t>션</a:t>
            </a:r>
            <a:r>
              <a:rPr lang="ko-KR" altLang="en-US" sz="2000" b="1" dirty="0" smtClean="0"/>
              <a:t> 사용하기</a:t>
            </a:r>
            <a:endParaRPr lang="en-US" altLang="ko-KR" sz="2000" b="1" dirty="0" smtClean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92" y="2924944"/>
            <a:ext cx="4914419" cy="31460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088" y="4365104"/>
            <a:ext cx="6002432" cy="15947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직사각형 1"/>
          <p:cNvSpPr/>
          <p:nvPr/>
        </p:nvSpPr>
        <p:spPr>
          <a:xfrm>
            <a:off x="1280592" y="1528032"/>
            <a:ext cx="82346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/>
              <a:t>HttpSession</a:t>
            </a:r>
            <a:r>
              <a:rPr lang="en-US" altLang="ko-KR" sz="1600" dirty="0"/>
              <a:t> – Java EE API</a:t>
            </a:r>
            <a:r>
              <a:rPr lang="ko-KR" altLang="en-US" sz="1600" dirty="0"/>
              <a:t>로 검색</a:t>
            </a:r>
            <a:endParaRPr lang="en-US" altLang="ko-KR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서블릿에서</a:t>
            </a:r>
            <a:r>
              <a:rPr lang="ko-KR" altLang="en-US" sz="1600" dirty="0"/>
              <a:t> 세션을 이용하려면 </a:t>
            </a:r>
            <a:r>
              <a:rPr lang="en-US" altLang="ko-KR" sz="1600" dirty="0" err="1"/>
              <a:t>HttpSession</a:t>
            </a:r>
            <a:r>
              <a:rPr lang="en-US" altLang="ko-KR" sz="1600" dirty="0"/>
              <a:t> </a:t>
            </a:r>
            <a:r>
              <a:rPr lang="ko-KR" altLang="en-US" sz="1600" dirty="0"/>
              <a:t>인터페이스의 객체를 생성해야 한다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HttpSession</a:t>
            </a:r>
            <a:r>
              <a:rPr lang="ko-KR" altLang="en-US" sz="1600" dirty="0"/>
              <a:t>객체는 </a:t>
            </a:r>
            <a:r>
              <a:rPr lang="en-US" altLang="ko-KR" sz="1600" dirty="0" err="1"/>
              <a:t>HttpServletRequest</a:t>
            </a:r>
            <a:r>
              <a:rPr lang="ko-KR" altLang="en-US" sz="1600" dirty="0"/>
              <a:t>의 </a:t>
            </a:r>
            <a:r>
              <a:rPr lang="en-US" altLang="ko-KR" sz="1600" dirty="0" err="1"/>
              <a:t>getSession</a:t>
            </a:r>
            <a:r>
              <a:rPr lang="en-US" altLang="ko-KR" sz="1600" dirty="0"/>
              <a:t>() </a:t>
            </a:r>
            <a:r>
              <a:rPr lang="ko-KR" altLang="en-US" sz="1600" dirty="0"/>
              <a:t>메서드를 호출해서 생성한다</a:t>
            </a:r>
            <a:r>
              <a:rPr lang="en-US" altLang="ko-KR" sz="1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46467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 smtClean="0"/>
              <a:t>서블릿에서</a:t>
            </a:r>
            <a:r>
              <a:rPr lang="ko-KR" altLang="en-US" sz="2000" b="1" dirty="0" smtClean="0"/>
              <a:t> 세</a:t>
            </a:r>
            <a:r>
              <a:rPr lang="ko-KR" altLang="en-US" sz="2000" b="1" dirty="0"/>
              <a:t>션</a:t>
            </a:r>
            <a:r>
              <a:rPr lang="ko-KR" altLang="en-US" sz="2000" b="1" dirty="0" smtClean="0"/>
              <a:t> 사용 실</a:t>
            </a:r>
            <a:r>
              <a:rPr lang="ko-KR" altLang="en-US" sz="2000" b="1" dirty="0"/>
              <a:t>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4648" y="1692240"/>
            <a:ext cx="4244708" cy="18518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688" y="3861048"/>
            <a:ext cx="3672408" cy="956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5765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 smtClean="0"/>
              <a:t>서블릿에서</a:t>
            </a:r>
            <a:r>
              <a:rPr lang="ko-KR" altLang="en-US" sz="2000" b="1" dirty="0" smtClean="0"/>
              <a:t> 세</a:t>
            </a:r>
            <a:r>
              <a:rPr lang="ko-KR" altLang="en-US" sz="2000" b="1" dirty="0"/>
              <a:t>션</a:t>
            </a:r>
            <a:r>
              <a:rPr lang="ko-KR" altLang="en-US" sz="2000" b="1" dirty="0" smtClean="0"/>
              <a:t> 사용 실</a:t>
            </a:r>
            <a:r>
              <a:rPr lang="ko-KR" altLang="en-US" sz="2000" b="1" dirty="0"/>
              <a:t>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576" y="1916832"/>
            <a:ext cx="7430144" cy="361981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62652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 smtClean="0"/>
              <a:t>서블릿에서</a:t>
            </a:r>
            <a:r>
              <a:rPr lang="ko-KR" altLang="en-US" sz="2000" b="1" dirty="0" smtClean="0"/>
              <a:t> 세</a:t>
            </a:r>
            <a:r>
              <a:rPr lang="ko-KR" altLang="en-US" sz="2000" b="1" dirty="0"/>
              <a:t>션</a:t>
            </a:r>
            <a:r>
              <a:rPr lang="ko-KR" altLang="en-US" sz="2000" b="1" dirty="0" smtClean="0"/>
              <a:t> 사용 실</a:t>
            </a:r>
            <a:r>
              <a:rPr lang="ko-KR" altLang="en-US" sz="2000" b="1" dirty="0"/>
              <a:t>습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769" y="1534726"/>
            <a:ext cx="8451312" cy="406943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8081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세션</a:t>
            </a:r>
            <a:r>
              <a:rPr lang="en-US" altLang="ko-KR" dirty="0"/>
              <a:t>(session)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776536" y="980728"/>
            <a:ext cx="849694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err="1" smtClean="0"/>
              <a:t>서블릿에서</a:t>
            </a:r>
            <a:r>
              <a:rPr lang="ko-KR" altLang="en-US" sz="2000" b="1" dirty="0" smtClean="0"/>
              <a:t> 세</a:t>
            </a:r>
            <a:r>
              <a:rPr lang="ko-KR" altLang="en-US" sz="2000" b="1" dirty="0"/>
              <a:t>션</a:t>
            </a:r>
            <a:r>
              <a:rPr lang="ko-KR" altLang="en-US" sz="2000" b="1" dirty="0" smtClean="0"/>
              <a:t> 사용하기</a:t>
            </a:r>
            <a:endParaRPr lang="en-US" altLang="ko-KR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83" y="1687870"/>
            <a:ext cx="6866215" cy="33226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91768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13360</TotalTime>
  <Words>1302</Words>
  <Application>Microsoft Office PowerPoint</Application>
  <PresentationFormat>A4 용지(210x297mm)</PresentationFormat>
  <Paragraphs>207</Paragraphs>
  <Slides>39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6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3장. 세션과 쿠키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829</cp:revision>
  <dcterms:created xsi:type="dcterms:W3CDTF">2019-03-04T02:36:55Z</dcterms:created>
  <dcterms:modified xsi:type="dcterms:W3CDTF">2025-10-11T13:15:06Z</dcterms:modified>
</cp:coreProperties>
</file>