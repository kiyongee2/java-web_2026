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9"/>
  </p:notesMasterIdLst>
  <p:sldIdLst>
    <p:sldId id="256" r:id="rId2"/>
    <p:sldId id="479" r:id="rId3"/>
    <p:sldId id="487" r:id="rId4"/>
    <p:sldId id="488" r:id="rId5"/>
    <p:sldId id="352" r:id="rId6"/>
    <p:sldId id="353" r:id="rId7"/>
    <p:sldId id="480" r:id="rId8"/>
    <p:sldId id="481" r:id="rId9"/>
    <p:sldId id="482" r:id="rId10"/>
    <p:sldId id="355" r:id="rId11"/>
    <p:sldId id="356" r:id="rId12"/>
    <p:sldId id="384" r:id="rId13"/>
    <p:sldId id="426" r:id="rId14"/>
    <p:sldId id="392" r:id="rId15"/>
    <p:sldId id="403" r:id="rId16"/>
    <p:sldId id="430" r:id="rId17"/>
    <p:sldId id="431" r:id="rId18"/>
    <p:sldId id="407" r:id="rId19"/>
    <p:sldId id="408" r:id="rId20"/>
    <p:sldId id="404" r:id="rId21"/>
    <p:sldId id="422" r:id="rId22"/>
    <p:sldId id="419" r:id="rId23"/>
    <p:sldId id="411" r:id="rId24"/>
    <p:sldId id="423" r:id="rId25"/>
    <p:sldId id="424" r:id="rId26"/>
    <p:sldId id="432" r:id="rId27"/>
    <p:sldId id="433" r:id="rId28"/>
    <p:sldId id="434" r:id="rId29"/>
    <p:sldId id="483" r:id="rId30"/>
    <p:sldId id="437" r:id="rId31"/>
    <p:sldId id="438" r:id="rId32"/>
    <p:sldId id="439" r:id="rId33"/>
    <p:sldId id="440" r:id="rId34"/>
    <p:sldId id="444" r:id="rId35"/>
    <p:sldId id="445" r:id="rId36"/>
    <p:sldId id="485" r:id="rId37"/>
    <p:sldId id="484" r:id="rId38"/>
  </p:sldIdLst>
  <p:sldSz cx="9906000" cy="6858000" type="A4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46C0A"/>
    <a:srgbClr val="54823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8B1032C-EA38-4F05-BA0D-38AFFFC7BED3}" styleName="밝은 스타일 3 - 강조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44" autoAdjust="0"/>
    <p:restoredTop sz="94660"/>
  </p:normalViewPr>
  <p:slideViewPr>
    <p:cSldViewPr>
      <p:cViewPr varScale="1">
        <p:scale>
          <a:sx n="81" d="100"/>
          <a:sy n="81" d="100"/>
        </p:scale>
        <p:origin x="1042" y="62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65CDAC-D627-4E87-877A-1B781DD4CADC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52500" y="685800"/>
            <a:ext cx="4953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ADDD8A-FD4C-4C63-90D4-202AFE8080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9645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ADDD8A-FD4C-4C63-90D4-202AFE8080B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88635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ADDD8A-FD4C-4C63-90D4-202AFE8080B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69834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ADDD8A-FD4C-4C63-90D4-202AFE8080B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33388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ADDD8A-FD4C-4C63-90D4-202AFE8080B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20413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ADDD8A-FD4C-4C63-90D4-202AFE8080B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20413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2222697" y="1379513"/>
            <a:ext cx="6862345" cy="122656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2222696" y="2667615"/>
            <a:ext cx="7683303" cy="478904"/>
          </a:xfrm>
          <a:solidFill>
            <a:schemeClr val="accent5">
              <a:lumMod val="50000"/>
            </a:schemeClr>
          </a:solidFill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C81B4-D91A-4578-85B3-829E63FCFE17}" type="datetime1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/>
          <p:cNvSpPr/>
          <p:nvPr userDrawn="1"/>
        </p:nvSpPr>
        <p:spPr>
          <a:xfrm>
            <a:off x="0" y="0"/>
            <a:ext cx="2144688" cy="685800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 userDrawn="1"/>
        </p:nvSpPr>
        <p:spPr>
          <a:xfrm>
            <a:off x="0" y="2691044"/>
            <a:ext cx="2144688" cy="486181"/>
          </a:xfrm>
          <a:prstGeom prst="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" name="이등변 삼각형 8"/>
          <p:cNvSpPr/>
          <p:nvPr userDrawn="1"/>
        </p:nvSpPr>
        <p:spPr>
          <a:xfrm rot="5400000">
            <a:off x="1333915" y="2721729"/>
            <a:ext cx="432048" cy="370679"/>
          </a:xfrm>
          <a:prstGeom prst="triangle">
            <a:avLst/>
          </a:prstGeom>
          <a:solidFill>
            <a:schemeClr val="accent5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0" name="이등변 삼각형 9"/>
          <p:cNvSpPr/>
          <p:nvPr userDrawn="1"/>
        </p:nvSpPr>
        <p:spPr>
          <a:xfrm rot="5400000">
            <a:off x="1704594" y="2721730"/>
            <a:ext cx="432048" cy="370679"/>
          </a:xfrm>
          <a:prstGeom prst="triangle">
            <a:avLst/>
          </a:prstGeom>
          <a:solidFill>
            <a:schemeClr val="accent5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67180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ko-KR" altLang="en-US" dirty="0"/>
              <a:t> 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0FDEC8-1339-42E8-9704-2977280C2FD3}" type="datetime1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342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506" y="4406901"/>
            <a:ext cx="84201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8DC76-A282-4817-B790-197F054E1215}" type="datetime1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5474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0201"/>
            <a:ext cx="43751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35550" y="1600201"/>
            <a:ext cx="43751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0AA6C-13D8-43E4-90F0-E6C88A2B9F16}" type="datetime1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6685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111" y="1535113"/>
            <a:ext cx="437859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111" y="2174875"/>
            <a:ext cx="437859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B03B-20CC-436E-8601-C933C6C1F4A6}" type="datetime1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31454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5A15D-8B08-482F-AB47-E416EC355EB6}" type="datetime1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5068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7D7F8-7B64-44F8-A411-CBD22F28CBFF}" type="datetime1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5332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006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2971" y="273051"/>
            <a:ext cx="5537729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0" y="1435101"/>
            <a:ext cx="3259006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2DBD9B-2BB6-4D1F-BCB4-1E48829C93C3}" type="datetime1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10448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645" y="4800600"/>
            <a:ext cx="59436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645" y="612775"/>
            <a:ext cx="59436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645" y="5367338"/>
            <a:ext cx="59436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64C48-0CD7-40EB-BE64-BBF4DB8C56AF}" type="datetime1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02738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77542-37E5-48F2-BAE7-80CC6B0EB6A3}" type="datetime1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8060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CF174-B5AC-4A98-B673-0BE8126D3F27}" type="datetime1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18546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124744"/>
            <a:ext cx="8915400" cy="5040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6BCB4-B68B-4638-8167-F4BDC0A30DA1}" type="datetime1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-39555" y="6525344"/>
            <a:ext cx="9945555" cy="332656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0" y="-18256"/>
            <a:ext cx="6201139" cy="8549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  마스터 제목 스타일 편집</a:t>
            </a:r>
          </a:p>
        </p:txBody>
      </p:sp>
      <p:pic>
        <p:nvPicPr>
          <p:cNvPr id="9" name="Picture 2" descr="JSP] sendRedirect() 메소드로 파라미터 값을 받아오기"/>
          <p:cNvPicPr>
            <a:picLocks noChangeAspect="1" noChangeArrowheads="1"/>
          </p:cNvPicPr>
          <p:nvPr/>
        </p:nvPicPr>
        <p:blipFill>
          <a:blip r:embed="rId1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472" y="5953107"/>
            <a:ext cx="654360" cy="654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841432" y="6525344"/>
            <a:ext cx="5572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bg1"/>
                </a:solidFill>
              </a:defRPr>
            </a:lvl1pPr>
          </a:lstStyle>
          <a:p>
            <a:fld id="{1BDE3FE7-3AEA-4B05-AC5A-802D1816ACF0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125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3200" kern="1200">
          <a:solidFill>
            <a:schemeClr val="bg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eclipse.org/downloads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://tomcat.apache.org/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hyperlink" Target="https://docs.oracle.com/javaee/5/tutorial/doc/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2222697" y="1379513"/>
            <a:ext cx="6397099" cy="1226567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chemeClr val="tx1"/>
                </a:solidFill>
                <a:latin typeface="휴먼엑스포" panose="02030504000101010101" pitchFamily="18" charset="-127"/>
                <a:ea typeface="휴먼엑스포" panose="02030504000101010101" pitchFamily="18" charset="-127"/>
              </a:rPr>
              <a:t>1</a:t>
            </a:r>
            <a:r>
              <a:rPr lang="ko-KR" altLang="en-US" b="1" dirty="0">
                <a:solidFill>
                  <a:schemeClr val="tx1"/>
                </a:solidFill>
                <a:latin typeface="휴먼엑스포" panose="02030504000101010101" pitchFamily="18" charset="-127"/>
                <a:ea typeface="휴먼엑스포" panose="02030504000101010101" pitchFamily="18" charset="-127"/>
              </a:rPr>
              <a:t>장</a:t>
            </a:r>
            <a:r>
              <a:rPr lang="en-US" altLang="ko-KR" b="1" dirty="0">
                <a:solidFill>
                  <a:schemeClr val="tx1"/>
                </a:solidFill>
                <a:latin typeface="휴먼엑스포" panose="02030504000101010101" pitchFamily="18" charset="-127"/>
                <a:ea typeface="휴먼엑스포" panose="02030504000101010101" pitchFamily="18" charset="-127"/>
              </a:rPr>
              <a:t>. </a:t>
            </a:r>
            <a:r>
              <a:rPr lang="ko-KR" altLang="en-US" b="1" dirty="0">
                <a:solidFill>
                  <a:schemeClr val="tx1"/>
                </a:solidFill>
                <a:latin typeface="휴먼엑스포" panose="02030504000101010101" pitchFamily="18" charset="-127"/>
                <a:ea typeface="휴먼엑스포" panose="02030504000101010101" pitchFamily="18" charset="-127"/>
              </a:rPr>
              <a:t>웹 개발 환경 구축 및 </a:t>
            </a:r>
            <a:r>
              <a:rPr lang="en-US" altLang="ko-KR" b="1" dirty="0">
                <a:solidFill>
                  <a:schemeClr val="tx1"/>
                </a:solidFill>
                <a:latin typeface="휴먼엑스포" panose="02030504000101010101" pitchFamily="18" charset="-127"/>
                <a:ea typeface="휴먼엑스포" panose="02030504000101010101" pitchFamily="18" charset="-127"/>
              </a:rPr>
              <a:t>JSP</a:t>
            </a:r>
            <a:endParaRPr lang="ko-KR" altLang="en-US" b="1" dirty="0">
              <a:solidFill>
                <a:schemeClr val="tx1"/>
              </a:solidFill>
              <a:latin typeface="휴먼엑스포" panose="02030504000101010101" pitchFamily="18" charset="-127"/>
              <a:ea typeface="휴먼엑스포" panose="02030504000101010101" pitchFamily="18" charset="-127"/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2222697" y="2670822"/>
            <a:ext cx="7683303" cy="504055"/>
          </a:xfrm>
          <a:solidFill>
            <a:schemeClr val="accent5">
              <a:lumMod val="75000"/>
            </a:schemeClr>
          </a:solidFill>
        </p:spPr>
        <p:txBody>
          <a:bodyPr anchor="ctr" anchorCtr="0">
            <a:noAutofit/>
          </a:bodyPr>
          <a:lstStyle/>
          <a:p>
            <a:pPr algn="l"/>
            <a:r>
              <a:rPr lang="en-US" altLang="ko-KR" sz="2000" dirty="0">
                <a:solidFill>
                  <a:schemeClr val="bg1"/>
                </a:solidFill>
              </a:rPr>
              <a:t> </a:t>
            </a:r>
            <a:r>
              <a:rPr lang="en-US" altLang="ko-KR" sz="1800" i="1" dirty="0">
                <a:solidFill>
                  <a:schemeClr val="bg1"/>
                </a:solidFill>
              </a:rPr>
              <a:t>JAVA </a:t>
            </a:r>
            <a:r>
              <a:rPr lang="ko-KR" altLang="en-US" sz="1800" i="1" dirty="0">
                <a:solidFill>
                  <a:schemeClr val="bg1"/>
                </a:solidFill>
              </a:rPr>
              <a:t>웹 </a:t>
            </a:r>
            <a:r>
              <a:rPr lang="en-US" altLang="ko-KR" sz="1800" i="1" dirty="0">
                <a:solidFill>
                  <a:schemeClr val="bg1"/>
                </a:solidFill>
              </a:rPr>
              <a:t>&amp; JSP</a:t>
            </a:r>
            <a:endParaRPr lang="ko-KR" altLang="en-US" sz="1600" i="1" dirty="0">
              <a:solidFill>
                <a:schemeClr val="bg1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4" name="AutoShape 5" descr="C++ì ëí ì´ë¯¸ì§ ê²ìê²°ê³¼"/>
          <p:cNvSpPr>
            <a:spLocks noChangeAspect="1" noChangeArrowheads="1"/>
          </p:cNvSpPr>
          <p:nvPr/>
        </p:nvSpPr>
        <p:spPr bwMode="auto">
          <a:xfrm>
            <a:off x="182298" y="-144463"/>
            <a:ext cx="3302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26" name="Picture 2" descr="JSP] sendRedirect() 메소드로 파라미터 값을 받아오기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81191" y="4082682"/>
            <a:ext cx="1938605" cy="19386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7583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5"/>
          <p:cNvSpPr txBox="1">
            <a:spLocks/>
          </p:cNvSpPr>
          <p:nvPr/>
        </p:nvSpPr>
        <p:spPr>
          <a:xfrm>
            <a:off x="0" y="-27384"/>
            <a:ext cx="7995338" cy="854968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spcBef>
                <a:spcPct val="0"/>
              </a:spcBef>
              <a:buNone/>
              <a:defRPr sz="3200" kern="120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j-cs"/>
              </a:defRPr>
            </a:lvl1pPr>
          </a:lstStyle>
          <a:p>
            <a:r>
              <a:rPr lang="en-US" altLang="ko-KR" dirty="0"/>
              <a:t> JSP(Java Server Page)</a:t>
            </a:r>
            <a:endParaRPr lang="ko-KR" alt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992560" y="1000530"/>
            <a:ext cx="828092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b="1" dirty="0"/>
              <a:t>1. JSP</a:t>
            </a:r>
            <a:r>
              <a:rPr lang="ko-KR" altLang="en-US" sz="2000" b="1" dirty="0"/>
              <a:t>란</a:t>
            </a:r>
            <a:r>
              <a:rPr lang="en-US" altLang="ko-KR" sz="2000" b="1" dirty="0"/>
              <a:t>?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1208584" y="1556792"/>
            <a:ext cx="8352928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/>
              <a:t>JSP = HTML + </a:t>
            </a:r>
            <a:r>
              <a:rPr lang="ko-KR" altLang="en-US" sz="1600" dirty="0" err="1"/>
              <a:t>Java</a:t>
            </a:r>
            <a:r>
              <a:rPr lang="ko-KR" altLang="en-US" sz="1600" dirty="0"/>
              <a:t> 코드</a:t>
            </a:r>
          </a:p>
          <a:p>
            <a:pPr>
              <a:lnSpc>
                <a:spcPct val="150000"/>
              </a:lnSpc>
            </a:pPr>
            <a:r>
              <a:rPr lang="ko-KR" altLang="en-US" sz="1600" dirty="0" err="1"/>
              <a:t>확장자</a:t>
            </a:r>
            <a:r>
              <a:rPr lang="ko-KR" altLang="en-US" sz="1600" dirty="0"/>
              <a:t>: .</a:t>
            </a:r>
            <a:r>
              <a:rPr lang="ko-KR" altLang="en-US" sz="1600" dirty="0" err="1"/>
              <a:t>jsp</a:t>
            </a:r>
            <a:endParaRPr lang="ko-KR" altLang="en-US" sz="1600" dirty="0"/>
          </a:p>
          <a:p>
            <a:pPr>
              <a:lnSpc>
                <a:spcPct val="150000"/>
              </a:lnSpc>
            </a:pPr>
            <a:r>
              <a:rPr lang="ko-KR" altLang="en-US" sz="1600" dirty="0"/>
              <a:t>서버에서 실행되는 스크립트 기반 기술</a:t>
            </a:r>
          </a:p>
          <a:p>
            <a:pPr>
              <a:lnSpc>
                <a:spcPct val="150000"/>
              </a:lnSpc>
            </a:pPr>
            <a:r>
              <a:rPr lang="ko-KR" altLang="en-US" sz="1600" dirty="0"/>
              <a:t>클라이언트(브라우저)에게는 최종적으로 </a:t>
            </a:r>
            <a:r>
              <a:rPr lang="ko-KR" altLang="en-US" sz="1600" dirty="0" err="1"/>
              <a:t>HTML이</a:t>
            </a:r>
            <a:r>
              <a:rPr lang="ko-KR" altLang="en-US" sz="1600" dirty="0"/>
              <a:t> 전달됨</a:t>
            </a:r>
          </a:p>
          <a:p>
            <a:pPr>
              <a:lnSpc>
                <a:spcPct val="150000"/>
              </a:lnSpc>
            </a:pPr>
            <a:r>
              <a:rPr lang="ko-KR" altLang="en-US" sz="1600" dirty="0"/>
              <a:t>즉, JSP 파일은 HTML 안에서 </a:t>
            </a:r>
            <a:r>
              <a:rPr lang="ko-KR" altLang="en-US" sz="1600" dirty="0" err="1"/>
              <a:t>Java</a:t>
            </a:r>
            <a:r>
              <a:rPr lang="ko-KR" altLang="en-US" sz="1600" dirty="0"/>
              <a:t> 코드를 삽입해서 동적으로 페이지를 생성하는 기술이다.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560" y="3645024"/>
            <a:ext cx="828092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b="1" dirty="0"/>
              <a:t>2. JSP </a:t>
            </a:r>
            <a:r>
              <a:rPr lang="ko-KR" altLang="en-US" sz="2000" b="1" dirty="0"/>
              <a:t>동작 원리</a:t>
            </a:r>
            <a:endParaRPr lang="en-US" altLang="ko-KR" sz="2000" b="1" dirty="0"/>
          </a:p>
        </p:txBody>
      </p:sp>
      <p:sp>
        <p:nvSpPr>
          <p:cNvPr id="3" name="직사각형 2"/>
          <p:cNvSpPr/>
          <p:nvPr/>
        </p:nvSpPr>
        <p:spPr>
          <a:xfrm>
            <a:off x="1280592" y="4199022"/>
            <a:ext cx="679698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/>
              <a:t>사용자가 </a:t>
            </a:r>
            <a:r>
              <a:rPr lang="ko-KR" altLang="en-US" sz="1600" dirty="0" err="1"/>
              <a:t>hello.jsp</a:t>
            </a:r>
            <a:r>
              <a:rPr lang="ko-KR" altLang="en-US" sz="1600" dirty="0"/>
              <a:t> 요청</a:t>
            </a:r>
          </a:p>
          <a:p>
            <a:pPr>
              <a:lnSpc>
                <a:spcPct val="150000"/>
              </a:lnSpc>
            </a:pPr>
            <a:r>
              <a:rPr lang="ko-KR" altLang="en-US" sz="1600" dirty="0"/>
              <a:t>웹 컨테이너(</a:t>
            </a:r>
            <a:r>
              <a:rPr lang="ko-KR" altLang="en-US" sz="1600" dirty="0" err="1"/>
              <a:t>Tomcat</a:t>
            </a:r>
            <a:r>
              <a:rPr lang="ko-KR" altLang="en-US" sz="1600" dirty="0"/>
              <a:t>)가 JSP 파일을 </a:t>
            </a:r>
            <a:r>
              <a:rPr lang="ko-KR" altLang="en-US" sz="1600" dirty="0" err="1"/>
              <a:t>서블릿</a:t>
            </a:r>
            <a:r>
              <a:rPr lang="ko-KR" altLang="en-US" sz="1600" dirty="0"/>
              <a:t>(</a:t>
            </a:r>
            <a:r>
              <a:rPr lang="ko-KR" altLang="en-US" sz="1600" dirty="0" err="1"/>
              <a:t>Java</a:t>
            </a:r>
            <a:r>
              <a:rPr lang="ko-KR" altLang="en-US" sz="1600" dirty="0"/>
              <a:t> 클래스) </a:t>
            </a:r>
            <a:r>
              <a:rPr lang="ko-KR" altLang="en-US" sz="1600" dirty="0" err="1"/>
              <a:t>으로</a:t>
            </a:r>
            <a:r>
              <a:rPr lang="ko-KR" altLang="en-US" sz="1600" dirty="0"/>
              <a:t> 변환</a:t>
            </a:r>
          </a:p>
          <a:p>
            <a:pPr>
              <a:lnSpc>
                <a:spcPct val="150000"/>
              </a:lnSpc>
            </a:pPr>
            <a:r>
              <a:rPr lang="ko-KR" altLang="en-US" sz="1600" dirty="0"/>
              <a:t>예: hello_jsp.java</a:t>
            </a:r>
          </a:p>
          <a:p>
            <a:pPr>
              <a:lnSpc>
                <a:spcPct val="150000"/>
              </a:lnSpc>
            </a:pPr>
            <a:r>
              <a:rPr lang="ko-KR" altLang="en-US" sz="1600" dirty="0"/>
              <a:t>변환된 </a:t>
            </a:r>
            <a:r>
              <a:rPr lang="ko-KR" altLang="en-US" sz="1600" dirty="0" err="1"/>
              <a:t>서블릿이</a:t>
            </a:r>
            <a:r>
              <a:rPr lang="ko-KR" altLang="en-US" sz="1600" dirty="0"/>
              <a:t> 컴파일 → 실행</a:t>
            </a:r>
          </a:p>
          <a:p>
            <a:pPr>
              <a:lnSpc>
                <a:spcPct val="150000"/>
              </a:lnSpc>
            </a:pPr>
            <a:r>
              <a:rPr lang="ko-KR" altLang="en-US" sz="1600" dirty="0"/>
              <a:t>결과 </a:t>
            </a:r>
            <a:r>
              <a:rPr lang="ko-KR" altLang="en-US" sz="1600" dirty="0" err="1"/>
              <a:t>HTML을</a:t>
            </a:r>
            <a:r>
              <a:rPr lang="ko-KR" altLang="en-US" sz="1600" dirty="0"/>
              <a:t> 브라우저로 응답</a:t>
            </a:r>
          </a:p>
        </p:txBody>
      </p:sp>
    </p:spTree>
    <p:extLst>
      <p:ext uri="{BB962C8B-B14F-4D97-AF65-F5344CB8AC3E}">
        <p14:creationId xmlns:p14="http://schemas.microsoft.com/office/powerpoint/2010/main" val="32114275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5"/>
          <p:cNvSpPr txBox="1">
            <a:spLocks/>
          </p:cNvSpPr>
          <p:nvPr/>
        </p:nvSpPr>
        <p:spPr>
          <a:xfrm>
            <a:off x="0" y="-27384"/>
            <a:ext cx="7995338" cy="854968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spcBef>
                <a:spcPct val="0"/>
              </a:spcBef>
              <a:buNone/>
              <a:defRPr sz="3200" kern="120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j-cs"/>
              </a:defRPr>
            </a:lvl1pPr>
          </a:lstStyle>
          <a:p>
            <a:r>
              <a:rPr lang="en-US" altLang="ko-KR" dirty="0"/>
              <a:t> JSP(Java Server Page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9506" y="2204863"/>
            <a:ext cx="1548227" cy="145533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56623" y="3415816"/>
            <a:ext cx="16606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클라이언트</a:t>
            </a:r>
            <a:r>
              <a:rPr lang="en-US" altLang="ko-KR" sz="1400" dirty="0"/>
              <a:t>(Client)</a:t>
            </a:r>
            <a:endParaRPr lang="ko-KR" altLang="en-US" sz="1400" dirty="0"/>
          </a:p>
        </p:txBody>
      </p:sp>
      <p:sp>
        <p:nvSpPr>
          <p:cNvPr id="9" name="TextBox 8"/>
          <p:cNvSpPr txBox="1"/>
          <p:nvPr/>
        </p:nvSpPr>
        <p:spPr>
          <a:xfrm>
            <a:off x="2932407" y="2357182"/>
            <a:ext cx="13662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① </a:t>
            </a:r>
            <a:r>
              <a:rPr lang="en-US" altLang="ko-KR" sz="1600" dirty="0"/>
              <a:t>JSP</a:t>
            </a:r>
            <a:r>
              <a:rPr lang="ko-KR" altLang="en-US" sz="1600" dirty="0"/>
              <a:t>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9246" y="3055776"/>
            <a:ext cx="18733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④ </a:t>
            </a:r>
            <a:r>
              <a:rPr lang="en-US" altLang="ko-KR" sz="1400" dirty="0"/>
              <a:t>JSP </a:t>
            </a:r>
            <a:r>
              <a:rPr lang="ko-KR" altLang="en-US" sz="1400" dirty="0" err="1"/>
              <a:t>서블릿</a:t>
            </a:r>
            <a:r>
              <a:rPr lang="ko-KR" altLang="en-US" sz="1400" dirty="0"/>
              <a:t> 응답</a:t>
            </a:r>
          </a:p>
        </p:txBody>
      </p:sp>
      <p:cxnSp>
        <p:nvCxnSpPr>
          <p:cNvPr id="12" name="직선 화살표 연결선 11"/>
          <p:cNvCxnSpPr/>
          <p:nvPr/>
        </p:nvCxnSpPr>
        <p:spPr>
          <a:xfrm>
            <a:off x="2912207" y="2741703"/>
            <a:ext cx="124433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/>
          <p:cNvCxnSpPr/>
          <p:nvPr/>
        </p:nvCxnSpPr>
        <p:spPr>
          <a:xfrm>
            <a:off x="2912207" y="2973661"/>
            <a:ext cx="1244336" cy="0"/>
          </a:xfrm>
          <a:prstGeom prst="straightConnector1">
            <a:avLst/>
          </a:prstGeom>
          <a:ln w="28575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모서리가 둥근 직사각형 13"/>
          <p:cNvSpPr/>
          <p:nvPr/>
        </p:nvSpPr>
        <p:spPr>
          <a:xfrm>
            <a:off x="4457438" y="1556792"/>
            <a:ext cx="4680520" cy="3096344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모서리가 둥근 직사각형 15"/>
          <p:cNvSpPr/>
          <p:nvPr/>
        </p:nvSpPr>
        <p:spPr>
          <a:xfrm>
            <a:off x="4620473" y="1943197"/>
            <a:ext cx="1133109" cy="570467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JSP </a:t>
            </a:r>
            <a:r>
              <a:rPr lang="ko-KR" altLang="en-US" sz="1400" dirty="0"/>
              <a:t>페이지</a:t>
            </a:r>
          </a:p>
        </p:txBody>
      </p:sp>
      <p:sp>
        <p:nvSpPr>
          <p:cNvPr id="19" name="모서리가 둥근 직사각형 18"/>
          <p:cNvSpPr/>
          <p:nvPr/>
        </p:nvSpPr>
        <p:spPr>
          <a:xfrm>
            <a:off x="6240653" y="1943197"/>
            <a:ext cx="1133109" cy="570467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 err="1"/>
              <a:t>서블릿</a:t>
            </a:r>
            <a:r>
              <a:rPr lang="ko-KR" altLang="en-US" sz="1400" dirty="0"/>
              <a:t> </a:t>
            </a:r>
            <a:endParaRPr lang="en-US" altLang="ko-KR" sz="1400" dirty="0"/>
          </a:p>
          <a:p>
            <a:pPr algn="ctr"/>
            <a:r>
              <a:rPr lang="ko-KR" altLang="en-US" sz="1400" dirty="0"/>
              <a:t>프로그램</a:t>
            </a:r>
          </a:p>
        </p:txBody>
      </p:sp>
      <p:sp>
        <p:nvSpPr>
          <p:cNvPr id="20" name="모서리가 둥근 직사각형 19"/>
          <p:cNvSpPr/>
          <p:nvPr/>
        </p:nvSpPr>
        <p:spPr>
          <a:xfrm>
            <a:off x="7860833" y="1943197"/>
            <a:ext cx="1133109" cy="570467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 err="1"/>
              <a:t>서블릿</a:t>
            </a:r>
            <a:r>
              <a:rPr lang="ko-KR" altLang="en-US" sz="1400" dirty="0"/>
              <a:t> </a:t>
            </a:r>
            <a:endParaRPr lang="en-US" altLang="ko-KR" sz="1400" dirty="0"/>
          </a:p>
          <a:p>
            <a:pPr algn="ctr"/>
            <a:r>
              <a:rPr lang="ko-KR" altLang="en-US" sz="1400" dirty="0"/>
              <a:t>클래스</a:t>
            </a:r>
          </a:p>
        </p:txBody>
      </p:sp>
      <p:sp>
        <p:nvSpPr>
          <p:cNvPr id="21" name="모서리가 둥근 직사각형 20"/>
          <p:cNvSpPr/>
          <p:nvPr/>
        </p:nvSpPr>
        <p:spPr>
          <a:xfrm>
            <a:off x="4636501" y="3501007"/>
            <a:ext cx="4341411" cy="792088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JSP </a:t>
            </a:r>
            <a:r>
              <a:rPr lang="ko-KR" altLang="en-US" sz="1600" dirty="0"/>
              <a:t>컨테이너</a:t>
            </a:r>
          </a:p>
        </p:txBody>
      </p:sp>
      <p:cxnSp>
        <p:nvCxnSpPr>
          <p:cNvPr id="23" name="직선 화살표 연결선 22"/>
          <p:cNvCxnSpPr>
            <a:stCxn id="16" idx="3"/>
            <a:endCxn id="19" idx="1"/>
          </p:cNvCxnSpPr>
          <p:nvPr/>
        </p:nvCxnSpPr>
        <p:spPr>
          <a:xfrm>
            <a:off x="5753582" y="2228431"/>
            <a:ext cx="487071" cy="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/>
          <p:cNvCxnSpPr/>
          <p:nvPr/>
        </p:nvCxnSpPr>
        <p:spPr>
          <a:xfrm>
            <a:off x="7373762" y="2218046"/>
            <a:ext cx="487071" cy="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652531" y="2513664"/>
            <a:ext cx="10290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err="1">
                <a:solidFill>
                  <a:srgbClr val="0070C0"/>
                </a:solidFill>
              </a:rPr>
              <a:t>Hello.jsp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041615" y="2513664"/>
            <a:ext cx="15756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solidFill>
                  <a:srgbClr val="0070C0"/>
                </a:solidFill>
              </a:rPr>
              <a:t>Hello_jsp.java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625790" y="2513664"/>
            <a:ext cx="15756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err="1">
                <a:solidFill>
                  <a:srgbClr val="0070C0"/>
                </a:solidFill>
              </a:rPr>
              <a:t>Hello_jsp.class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cxnSp>
        <p:nvCxnSpPr>
          <p:cNvPr id="31" name="직선 화살표 연결선 30"/>
          <p:cNvCxnSpPr/>
          <p:nvPr/>
        </p:nvCxnSpPr>
        <p:spPr>
          <a:xfrm flipV="1">
            <a:off x="5997117" y="2287257"/>
            <a:ext cx="3" cy="808496"/>
          </a:xfrm>
          <a:prstGeom prst="straightConnector1">
            <a:avLst/>
          </a:prstGeom>
          <a:ln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/>
          <p:cNvCxnSpPr/>
          <p:nvPr/>
        </p:nvCxnSpPr>
        <p:spPr>
          <a:xfrm flipV="1">
            <a:off x="7587691" y="2287258"/>
            <a:ext cx="0" cy="832940"/>
          </a:xfrm>
          <a:prstGeom prst="straightConnector1">
            <a:avLst/>
          </a:prstGeom>
          <a:ln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393542" y="3005543"/>
            <a:ext cx="1029043" cy="3385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ko-KR" altLang="en-US" sz="1600" dirty="0"/>
              <a:t>② 변환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77718" y="2996951"/>
            <a:ext cx="1200693" cy="3385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ko-KR" altLang="en-US" sz="1600" dirty="0"/>
              <a:t>③ 컴파일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374438" y="5013176"/>
            <a:ext cx="57572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/>
              <a:t>정적인 파일 </a:t>
            </a:r>
            <a:r>
              <a:rPr lang="en-US" altLang="ko-KR" sz="1600" dirty="0"/>
              <a:t>– HTML</a:t>
            </a:r>
            <a:r>
              <a:rPr lang="ko-KR" altLang="en-US" sz="1600" dirty="0"/>
              <a:t>이나 오브젝트는 웹 서버에서 처리</a:t>
            </a:r>
            <a:r>
              <a:rPr lang="en-US" altLang="ko-KR" sz="16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600" dirty="0"/>
              <a:t>동적인 파일 </a:t>
            </a:r>
            <a:r>
              <a:rPr lang="en-US" altLang="ko-KR" sz="1600" dirty="0"/>
              <a:t>– </a:t>
            </a:r>
            <a:r>
              <a:rPr lang="ko-KR" altLang="en-US" sz="1600" dirty="0"/>
              <a:t>웹 컨테이너로 넘겨서 처리함</a:t>
            </a:r>
          </a:p>
        </p:txBody>
      </p:sp>
    </p:spTree>
    <p:extLst>
      <p:ext uri="{BB962C8B-B14F-4D97-AF65-F5344CB8AC3E}">
        <p14:creationId xmlns:p14="http://schemas.microsoft.com/office/powerpoint/2010/main" val="2903516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5"/>
          <p:cNvSpPr txBox="1">
            <a:spLocks/>
          </p:cNvSpPr>
          <p:nvPr/>
        </p:nvSpPr>
        <p:spPr>
          <a:xfrm>
            <a:off x="0" y="-27384"/>
            <a:ext cx="7995338" cy="854968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spcBef>
                <a:spcPct val="0"/>
              </a:spcBef>
              <a:buNone/>
              <a:defRPr sz="3200" kern="120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j-cs"/>
              </a:defRPr>
            </a:lvl1pPr>
          </a:lstStyle>
          <a:p>
            <a:r>
              <a:rPr lang="en-US" altLang="ko-KR" dirty="0"/>
              <a:t> JSP(Java Server Page</a:t>
            </a:r>
            <a:endParaRPr lang="ko-KR" alt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848544" y="1000530"/>
            <a:ext cx="8784976" cy="4755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b="1" dirty="0"/>
              <a:t>3. JSP</a:t>
            </a:r>
            <a:r>
              <a:rPr lang="ko-KR" altLang="en-US" sz="2000" b="1" dirty="0"/>
              <a:t>의 특징</a:t>
            </a:r>
            <a:endParaRPr lang="en-US" altLang="ko-KR" sz="2000" b="1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/>
              <a:t>JSP</a:t>
            </a:r>
            <a:r>
              <a:rPr lang="ko-KR" altLang="en-US" b="1" dirty="0"/>
              <a:t>는 </a:t>
            </a:r>
            <a:r>
              <a:rPr lang="ko-KR" altLang="en-US" b="1" dirty="0" err="1"/>
              <a:t>서블릿</a:t>
            </a:r>
            <a:r>
              <a:rPr lang="ko-KR" altLang="en-US" b="1" dirty="0"/>
              <a:t> 기술의 확장이다</a:t>
            </a:r>
            <a:r>
              <a:rPr lang="en-US" altLang="ko-KR" b="1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    </a:t>
            </a:r>
            <a:r>
              <a:rPr lang="ko-KR" altLang="en-US" sz="1600" dirty="0"/>
              <a:t>처음에는 서버 측 프로그래밍 방식으로 자바를 사용하는 </a:t>
            </a:r>
            <a:r>
              <a:rPr lang="ko-KR" altLang="en-US" sz="1600" dirty="0" err="1"/>
              <a:t>서블릿</a:t>
            </a:r>
            <a:r>
              <a:rPr lang="en-US" altLang="ko-KR" sz="1600" dirty="0"/>
              <a:t>(Servlet)</a:t>
            </a:r>
            <a:r>
              <a:rPr lang="ko-KR" altLang="en-US" sz="1600" dirty="0"/>
              <a:t>을 먼저 개발</a:t>
            </a:r>
            <a:endParaRPr lang="en-US" altLang="ko-KR" sz="1600" dirty="0"/>
          </a:p>
          <a:p>
            <a:pPr lvl="1">
              <a:lnSpc>
                <a:spcPct val="150000"/>
              </a:lnSpc>
            </a:pPr>
            <a:r>
              <a:rPr lang="en-US" altLang="ko-KR" sz="1600" dirty="0"/>
              <a:t>     </a:t>
            </a:r>
            <a:r>
              <a:rPr lang="ko-KR" altLang="en-US" sz="1600" dirty="0"/>
              <a:t>하였으나 </a:t>
            </a:r>
            <a:r>
              <a:rPr lang="ko-KR" altLang="en-US" sz="1600" dirty="0" err="1"/>
              <a:t>서블릿</a:t>
            </a:r>
            <a:r>
              <a:rPr lang="ko-KR" altLang="en-US" sz="1600" dirty="0"/>
              <a:t> 개발방식이 쉽지 않아서 개발된 기술이 </a:t>
            </a:r>
            <a:r>
              <a:rPr lang="en-US" altLang="ko-KR" sz="1600" dirty="0"/>
              <a:t>JSP(HTML</a:t>
            </a:r>
            <a:r>
              <a:rPr lang="ko-KR" altLang="en-US" sz="1600" dirty="0"/>
              <a:t>코드에 삽입</a:t>
            </a:r>
            <a:r>
              <a:rPr lang="en-US" altLang="ko-KR" sz="1600" dirty="0"/>
              <a:t>)</a:t>
            </a:r>
            <a:r>
              <a:rPr lang="ko-KR" altLang="en-US" sz="1600" dirty="0"/>
              <a:t>이다</a:t>
            </a:r>
            <a:endParaRPr lang="en-US" altLang="ko-KR" sz="1600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/>
              <a:t>JSP</a:t>
            </a:r>
            <a:r>
              <a:rPr lang="ko-KR" altLang="en-US" b="1" dirty="0"/>
              <a:t>는 유지 관리가 용이하다</a:t>
            </a:r>
            <a:r>
              <a:rPr lang="en-US" altLang="ko-KR" b="1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    </a:t>
            </a:r>
            <a:r>
              <a:rPr lang="ko-KR" altLang="en-US" sz="1600" dirty="0" err="1"/>
              <a:t>서블릿</a:t>
            </a:r>
            <a:r>
              <a:rPr lang="ko-KR" altLang="en-US" sz="1600" dirty="0"/>
              <a:t> 기술은 프레젠테이션</a:t>
            </a:r>
            <a:r>
              <a:rPr lang="en-US" altLang="ko-KR" sz="1600" dirty="0"/>
              <a:t>(View)</a:t>
            </a:r>
            <a:r>
              <a:rPr lang="ko-KR" altLang="en-US" sz="1600" dirty="0"/>
              <a:t>와 비즈니스 </a:t>
            </a:r>
            <a:r>
              <a:rPr lang="ko-KR" altLang="en-US" sz="1600" dirty="0" err="1"/>
              <a:t>로직</a:t>
            </a:r>
            <a:r>
              <a:rPr lang="en-US" altLang="ko-KR" sz="1600" dirty="0"/>
              <a:t>(Control)</a:t>
            </a:r>
            <a:r>
              <a:rPr lang="ko-KR" altLang="en-US" sz="1600" dirty="0"/>
              <a:t>이 섞여 있지만 </a:t>
            </a:r>
            <a:r>
              <a:rPr lang="en-US" altLang="ko-KR" sz="1600" dirty="0"/>
              <a:t>JSP</a:t>
            </a:r>
            <a:r>
              <a:rPr lang="ko-KR" altLang="en-US" sz="1600" dirty="0"/>
              <a:t>는 분</a:t>
            </a:r>
            <a:endParaRPr lang="en-US" altLang="ko-KR" sz="1600" dirty="0"/>
          </a:p>
          <a:p>
            <a:pPr lvl="1">
              <a:lnSpc>
                <a:spcPct val="150000"/>
              </a:lnSpc>
            </a:pPr>
            <a:r>
              <a:rPr lang="en-US" altLang="ko-KR" sz="1600" dirty="0"/>
              <a:t>    </a:t>
            </a:r>
            <a:r>
              <a:rPr lang="ko-KR" altLang="en-US" sz="1600" dirty="0" err="1"/>
              <a:t>리할</a:t>
            </a:r>
            <a:r>
              <a:rPr lang="ko-KR" altLang="en-US" sz="1600" dirty="0"/>
              <a:t> 수 있어서 관리가 쉽다</a:t>
            </a:r>
            <a:r>
              <a:rPr lang="en-US" altLang="ko-KR" dirty="0"/>
              <a:t>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/>
              <a:t>JSP</a:t>
            </a:r>
            <a:r>
              <a:rPr lang="ko-KR" altLang="en-US" b="1" dirty="0"/>
              <a:t>는 빠른 개발이 가능하다</a:t>
            </a:r>
            <a:r>
              <a:rPr lang="en-US" altLang="ko-KR" b="1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    </a:t>
            </a:r>
            <a:r>
              <a:rPr lang="ko-KR" altLang="en-US" sz="1600" dirty="0"/>
              <a:t>코드를 </a:t>
            </a:r>
            <a:r>
              <a:rPr lang="ko-KR" altLang="en-US" sz="1600" dirty="0" err="1"/>
              <a:t>수정했을때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서블릿에서는</a:t>
            </a:r>
            <a:r>
              <a:rPr lang="ko-KR" altLang="en-US" sz="1600" dirty="0"/>
              <a:t> 다시 </a:t>
            </a:r>
            <a:r>
              <a:rPr lang="ko-KR" altLang="en-US" sz="1600" dirty="0" err="1"/>
              <a:t>컴파일해야</a:t>
            </a:r>
            <a:r>
              <a:rPr lang="ko-KR" altLang="en-US" sz="1600" dirty="0"/>
              <a:t> 하지만</a:t>
            </a:r>
            <a:r>
              <a:rPr lang="en-US" altLang="ko-KR" sz="1600" dirty="0"/>
              <a:t>, JSP</a:t>
            </a:r>
            <a:r>
              <a:rPr lang="ko-KR" altLang="en-US" sz="1600" dirty="0"/>
              <a:t>는 </a:t>
            </a:r>
            <a:r>
              <a:rPr lang="ko-KR" altLang="en-US" sz="1600" dirty="0" err="1"/>
              <a:t>컴파일하지</a:t>
            </a:r>
            <a:r>
              <a:rPr lang="ko-KR" altLang="en-US" sz="1600" dirty="0"/>
              <a:t> 않는다</a:t>
            </a:r>
            <a:r>
              <a:rPr lang="en-US" altLang="ko-KR" sz="1600" dirty="0"/>
              <a:t>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/>
              <a:t>JSP</a:t>
            </a:r>
            <a:r>
              <a:rPr lang="ko-KR" altLang="en-US" b="1" dirty="0"/>
              <a:t>로 개발하면 코드 길이를 줄일 수 있다</a:t>
            </a:r>
            <a:r>
              <a:rPr lang="en-US" altLang="ko-KR" b="1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    </a:t>
            </a:r>
            <a:r>
              <a:rPr lang="ko-KR" altLang="en-US" sz="1600" dirty="0"/>
              <a:t>액션 태그</a:t>
            </a:r>
            <a:r>
              <a:rPr lang="en-US" altLang="ko-KR" sz="1600" dirty="0"/>
              <a:t>, </a:t>
            </a:r>
            <a:r>
              <a:rPr lang="ko-KR" altLang="en-US" sz="1600" dirty="0"/>
              <a:t>표현 언어</a:t>
            </a:r>
            <a:r>
              <a:rPr lang="en-US" altLang="ko-KR" sz="1600" dirty="0"/>
              <a:t>,</a:t>
            </a:r>
            <a:r>
              <a:rPr lang="ko-KR" altLang="en-US" sz="1600" dirty="0"/>
              <a:t> </a:t>
            </a:r>
            <a:r>
              <a:rPr lang="en-US" altLang="ko-KR" sz="1600" dirty="0"/>
              <a:t>JSTL</a:t>
            </a:r>
            <a:r>
              <a:rPr lang="ko-KR" altLang="en-US" sz="1600" dirty="0"/>
              <a:t>을</a:t>
            </a:r>
            <a:r>
              <a:rPr lang="en-US" altLang="ko-KR" sz="1600" dirty="0"/>
              <a:t> </a:t>
            </a:r>
            <a:r>
              <a:rPr lang="ko-KR" altLang="en-US" sz="1600" dirty="0"/>
              <a:t>사용하여 </a:t>
            </a:r>
            <a:r>
              <a:rPr lang="ko-KR" altLang="en-US" sz="1600" dirty="0" err="1"/>
              <a:t>서블릿</a:t>
            </a:r>
            <a:r>
              <a:rPr lang="ko-KR" altLang="en-US" sz="1600" dirty="0"/>
              <a:t> 보다 코드의 길이를 줄일 수 있다</a:t>
            </a:r>
            <a:r>
              <a:rPr lang="en-US" altLang="ko-KR" sz="1600" dirty="0"/>
              <a:t>.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163303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5"/>
          <p:cNvSpPr txBox="1">
            <a:spLocks/>
          </p:cNvSpPr>
          <p:nvPr/>
        </p:nvSpPr>
        <p:spPr>
          <a:xfrm>
            <a:off x="0" y="-27384"/>
            <a:ext cx="7995338" cy="854968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spcBef>
                <a:spcPct val="0"/>
              </a:spcBef>
              <a:buNone/>
              <a:defRPr sz="3200" kern="120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j-cs"/>
              </a:defRPr>
            </a:lvl1pPr>
          </a:lstStyle>
          <a:p>
            <a:r>
              <a:rPr lang="en-US" altLang="ko-KR" dirty="0"/>
              <a:t> Java </a:t>
            </a:r>
            <a:r>
              <a:rPr lang="ko-KR" altLang="en-US" dirty="0"/>
              <a:t>웹</a:t>
            </a:r>
            <a:r>
              <a:rPr lang="en-US" altLang="ko-KR" dirty="0"/>
              <a:t> </a:t>
            </a:r>
            <a:r>
              <a:rPr lang="ko-KR" altLang="en-US" dirty="0"/>
              <a:t>개발 환경 구축하기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520" y="1000530"/>
            <a:ext cx="828092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2200" b="1" dirty="0"/>
              <a:t>JSP</a:t>
            </a:r>
            <a:r>
              <a:rPr lang="ko-KR" altLang="en-US" sz="2200" b="1" dirty="0"/>
              <a:t>를 이용한 웹사이트 개발 환경 도구</a:t>
            </a:r>
            <a:r>
              <a:rPr lang="ko-KR" altLang="en-US" b="1" dirty="0"/>
              <a:t>  </a:t>
            </a:r>
            <a:endParaRPr lang="en-US" altLang="ko-KR" b="1" dirty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6679628"/>
              </p:ext>
            </p:extLst>
          </p:nvPr>
        </p:nvGraphicFramePr>
        <p:xfrm>
          <a:off x="1136576" y="1773640"/>
          <a:ext cx="8136904" cy="372173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6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565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6409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600" dirty="0"/>
                        <a:t>요소</a:t>
                      </a:r>
                    </a:p>
                  </a:txBody>
                  <a:tcPr anchor="ctr">
                    <a:lnL w="12700" cmpd="sng">
                      <a:noFill/>
                    </a:lnL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600" dirty="0"/>
                        <a:t>프로그램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600" dirty="0"/>
                        <a:t>설명</a:t>
                      </a:r>
                    </a:p>
                  </a:txBody>
                  <a:tcPr anchor="ctr">
                    <a:lnR w="12700" cmpd="sng">
                      <a:noFill/>
                    </a:ln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7888"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600" dirty="0"/>
                        <a:t>자바 개발 환경</a:t>
                      </a:r>
                      <a:endParaRPr lang="en-US" altLang="ko-KR" sz="1600" dirty="0"/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en-US" altLang="ko-KR" sz="1600" dirty="0"/>
                        <a:t> JDK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en-US" altLang="ko-KR" sz="1600" dirty="0"/>
                        <a:t> JSP</a:t>
                      </a:r>
                      <a:r>
                        <a:rPr lang="ko-KR" altLang="en-US" sz="1600" dirty="0"/>
                        <a:t>는 </a:t>
                      </a:r>
                      <a:r>
                        <a:rPr lang="en-US" altLang="ko-KR" sz="1600" dirty="0"/>
                        <a:t>HTML </a:t>
                      </a:r>
                      <a:r>
                        <a:rPr lang="ko-KR" altLang="en-US" sz="1600" dirty="0"/>
                        <a:t>코드 내에 자바 코드를 작성하므로 </a:t>
                      </a:r>
                      <a:r>
                        <a:rPr lang="en-US" altLang="ko-KR" sz="1600" dirty="0"/>
                        <a:t>JDK</a:t>
                      </a:r>
                      <a:r>
                        <a:rPr lang="ko-KR" altLang="en-US" sz="1600" dirty="0"/>
                        <a:t>가 반드시 설치 되어야 함</a:t>
                      </a:r>
                    </a:p>
                  </a:txBody>
                  <a:tcPr anchor="ctr">
                    <a:lnR w="12700" cmpd="sng"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76473"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600" dirty="0"/>
                        <a:t>통합개발환경</a:t>
                      </a:r>
                      <a:endParaRPr lang="en-US" altLang="ko-KR" sz="1600" dirty="0"/>
                    </a:p>
                  </a:txBody>
                  <a:tcPr anchor="ctr">
                    <a:lnL w="12700" cmpd="sng"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600" dirty="0"/>
                        <a:t> </a:t>
                      </a:r>
                      <a:r>
                        <a:rPr lang="ko-KR" altLang="en-US" sz="1600" dirty="0" err="1"/>
                        <a:t>이클립스</a:t>
                      </a:r>
                      <a:endParaRPr lang="en-US" altLang="ko-KR" sz="16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/>
                        <a:t>JSP </a:t>
                      </a:r>
                      <a:r>
                        <a:rPr lang="ko-KR" altLang="en-US" sz="1600" dirty="0"/>
                        <a:t>코드를 컴파일하고 실행할 수 있는 통합개발환경</a:t>
                      </a:r>
                      <a:r>
                        <a:rPr lang="en-US" altLang="ko-KR" sz="1600" dirty="0"/>
                        <a:t>(IDE)</a:t>
                      </a:r>
                      <a:r>
                        <a:rPr lang="ko-KR" altLang="en-US" sz="1600" dirty="0"/>
                        <a:t>로 </a:t>
                      </a:r>
                      <a:r>
                        <a:rPr lang="ko-KR" altLang="en-US" sz="1600" dirty="0" err="1"/>
                        <a:t>이클립스를</a:t>
                      </a:r>
                      <a:r>
                        <a:rPr lang="ko-KR" altLang="en-US" sz="1600" dirty="0"/>
                        <a:t> 사용</a:t>
                      </a:r>
                      <a:r>
                        <a:rPr lang="en-US" altLang="ko-KR" sz="1600" dirty="0"/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/>
                        <a:t>Eclipse IDE</a:t>
                      </a:r>
                      <a:r>
                        <a:rPr lang="en-US" altLang="ko-KR" sz="1600" baseline="0" dirty="0"/>
                        <a:t> for Enterprise Java Developers  </a:t>
                      </a:r>
                      <a:r>
                        <a:rPr lang="ko-KR" altLang="en-US" sz="1600" baseline="0" dirty="0"/>
                        <a:t>설치</a:t>
                      </a:r>
                      <a:endParaRPr lang="ko-KR" altLang="en-US" sz="1600" dirty="0"/>
                    </a:p>
                  </a:txBody>
                  <a:tcPr anchor="ctr">
                    <a:lnR w="12700" cmpd="sng">
                      <a:noFill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5738943"/>
                  </a:ext>
                </a:extLst>
              </a:tr>
              <a:tr h="1176473"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600" dirty="0"/>
                        <a:t>웹 서버</a:t>
                      </a:r>
                      <a:r>
                        <a:rPr lang="en-US" altLang="ko-KR" sz="1600" dirty="0"/>
                        <a:t>(WAS)</a:t>
                      </a:r>
                    </a:p>
                  </a:txBody>
                  <a:tcPr anchor="ctr">
                    <a:lnL w="12700" cmpd="sng">
                      <a:noFill/>
                    </a:lnL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600" dirty="0"/>
                        <a:t> </a:t>
                      </a:r>
                      <a:r>
                        <a:rPr lang="ko-KR" altLang="en-US" sz="1600" dirty="0" err="1"/>
                        <a:t>톰캣</a:t>
                      </a:r>
                      <a:endParaRPr lang="en-US" altLang="ko-KR" sz="16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/>
                        <a:t> </a:t>
                      </a:r>
                      <a:r>
                        <a:rPr lang="ko-KR" altLang="en-US" sz="1600" dirty="0"/>
                        <a:t>웹 페이지가 웹 브라우저에 나타나도록 하려면 웹 컨테이너를 </a:t>
                      </a:r>
                      <a:r>
                        <a:rPr lang="ko-KR" altLang="en-US" sz="1600" dirty="0" err="1"/>
                        <a:t>설치해야하는데</a:t>
                      </a:r>
                      <a:r>
                        <a:rPr lang="ko-KR" altLang="en-US" sz="1600" dirty="0"/>
                        <a:t> 대표적인 </a:t>
                      </a:r>
                      <a:r>
                        <a:rPr lang="ko-KR" altLang="en-US" sz="1600" dirty="0" err="1"/>
                        <a:t>웹서버가</a:t>
                      </a:r>
                      <a:r>
                        <a:rPr lang="ko-KR" altLang="en-US" sz="1600" dirty="0"/>
                        <a:t> 무료 </a:t>
                      </a:r>
                      <a:r>
                        <a:rPr lang="ko-KR" altLang="en-US" sz="1600" dirty="0" err="1"/>
                        <a:t>오픈소스</a:t>
                      </a:r>
                      <a:r>
                        <a:rPr lang="ko-KR" altLang="en-US" sz="1600" dirty="0"/>
                        <a:t> 프로젝트인 </a:t>
                      </a:r>
                      <a:r>
                        <a:rPr lang="ko-KR" altLang="en-US" sz="1600" dirty="0" err="1"/>
                        <a:t>톰캣이다</a:t>
                      </a:r>
                      <a:r>
                        <a:rPr lang="en-US" altLang="ko-KR" sz="1600" dirty="0"/>
                        <a:t>.</a:t>
                      </a:r>
                      <a:endParaRPr lang="ko-KR" altLang="en-US" sz="1600" dirty="0"/>
                    </a:p>
                  </a:txBody>
                  <a:tcPr anchor="ctr">
                    <a:lnR w="12700" cmpd="sng">
                      <a:noFill/>
                    </a:ln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14930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F5621B-67C3-4A25-A1B1-779ADAACC6F7}"/>
              </a:ext>
            </a:extLst>
          </p:cNvPr>
          <p:cNvSpPr txBox="1">
            <a:spLocks/>
          </p:cNvSpPr>
          <p:nvPr/>
        </p:nvSpPr>
        <p:spPr>
          <a:xfrm>
            <a:off x="704528" y="953842"/>
            <a:ext cx="4032448" cy="50405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b="1" dirty="0">
                <a:solidFill>
                  <a:srgbClr val="C00000"/>
                </a:solidFill>
              </a:rPr>
              <a:t> 자바 개발도구</a:t>
            </a:r>
            <a:r>
              <a:rPr lang="en-US" altLang="ko-KR" sz="2000" b="1" dirty="0">
                <a:solidFill>
                  <a:srgbClr val="C00000"/>
                </a:solidFill>
              </a:rPr>
              <a:t>(JDK) </a:t>
            </a:r>
            <a:r>
              <a:rPr lang="ko-KR" altLang="en-US" sz="2000" b="1" dirty="0">
                <a:solidFill>
                  <a:srgbClr val="C00000"/>
                </a:solidFill>
              </a:rPr>
              <a:t>설치 </a:t>
            </a:r>
            <a:endParaRPr lang="en-US" altLang="ko-KR" sz="2000" b="1" dirty="0">
              <a:solidFill>
                <a:schemeClr val="accent6">
                  <a:lumMod val="75000"/>
                </a:schemeClr>
              </a:solidFill>
            </a:endParaRPr>
          </a:p>
          <a:p>
            <a:pPr>
              <a:lnSpc>
                <a:spcPct val="100000"/>
              </a:lnSpc>
            </a:pPr>
            <a:endParaRPr lang="en-US" altLang="ko-KR" sz="2000" b="1" dirty="0">
              <a:solidFill>
                <a:schemeClr val="accent6">
                  <a:lumMod val="75000"/>
                </a:schemeClr>
              </a:solidFill>
            </a:endParaRPr>
          </a:p>
          <a:p>
            <a:pPr>
              <a:lnSpc>
                <a:spcPct val="100000"/>
              </a:lnSpc>
            </a:pPr>
            <a:endParaRPr lang="en-US" altLang="ko-KR" sz="2000" b="1" dirty="0">
              <a:solidFill>
                <a:schemeClr val="accent6">
                  <a:lumMod val="75000"/>
                </a:schemeClr>
              </a:solidFill>
            </a:endParaRPr>
          </a:p>
          <a:p>
            <a:pPr lvl="1">
              <a:lnSpc>
                <a:spcPct val="100000"/>
              </a:lnSpc>
              <a:buFont typeface="Arial" panose="020B0604020202020204" pitchFamily="34" charset="0"/>
              <a:buNone/>
            </a:pPr>
            <a:endParaRPr lang="en-US" altLang="ko-KR" sz="2000" b="1" dirty="0"/>
          </a:p>
          <a:p>
            <a:pPr lvl="1">
              <a:lnSpc>
                <a:spcPct val="100000"/>
              </a:lnSpc>
              <a:buFont typeface="Arial" panose="020B0604020202020204" pitchFamily="34" charset="0"/>
              <a:buNone/>
            </a:pPr>
            <a:endParaRPr lang="en-US" altLang="ko-KR" sz="2000" b="1" dirty="0"/>
          </a:p>
          <a:p>
            <a:pPr lvl="1">
              <a:lnSpc>
                <a:spcPct val="100000"/>
              </a:lnSpc>
              <a:buFont typeface="Arial" panose="020B0604020202020204" pitchFamily="34" charset="0"/>
              <a:buNone/>
            </a:pPr>
            <a:endParaRPr lang="en-US" altLang="ko-KR" sz="2000" b="1" dirty="0"/>
          </a:p>
          <a:p>
            <a:pPr lvl="2">
              <a:lnSpc>
                <a:spcPct val="100000"/>
              </a:lnSpc>
            </a:pPr>
            <a:endParaRPr lang="ko-KR" altLang="en-US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  </a:t>
            </a:r>
            <a:r>
              <a:rPr lang="en-US" altLang="ko-KR" b="1" dirty="0"/>
              <a:t>JDK(Java Development Kit)</a:t>
            </a:r>
            <a:endParaRPr lang="ko-KR" alt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1195852" y="1601914"/>
            <a:ext cx="76455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/>
              <a:t>오라클 </a:t>
            </a:r>
            <a:r>
              <a:rPr lang="en-US" altLang="ko-KR" sz="1600" dirty="0"/>
              <a:t>java </a:t>
            </a:r>
            <a:r>
              <a:rPr lang="ko-KR" altLang="en-US" sz="1600" dirty="0"/>
              <a:t>다운로드</a:t>
            </a:r>
            <a:r>
              <a:rPr lang="en-US" altLang="ko-KR" sz="1600" dirty="0"/>
              <a:t>(</a:t>
            </a:r>
            <a:r>
              <a:rPr lang="ko-KR" altLang="en-US" sz="1600" dirty="0"/>
              <a:t>검색</a:t>
            </a:r>
            <a:r>
              <a:rPr lang="en-US" altLang="ko-KR" sz="1600" dirty="0"/>
              <a:t>)-&gt; windows&gt; Java SE21 </a:t>
            </a:r>
            <a:r>
              <a:rPr lang="ko-KR" altLang="en-US" sz="1600" dirty="0"/>
              <a:t>다운로드 </a:t>
            </a:r>
            <a:r>
              <a:rPr lang="en-US" altLang="ko-KR" sz="1600" dirty="0"/>
              <a:t>-&gt; x64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인스톨러</a:t>
            </a:r>
            <a:r>
              <a:rPr lang="ko-KR" altLang="en-US" sz="1600" dirty="0"/>
              <a:t> </a:t>
            </a:r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5258" y="2148623"/>
            <a:ext cx="7486768" cy="3296601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92DA8B4-17B2-454B-97AC-17311A4832C5}"/>
              </a:ext>
            </a:extLst>
          </p:cNvPr>
          <p:cNvSpPr/>
          <p:nvPr/>
        </p:nvSpPr>
        <p:spPr>
          <a:xfrm>
            <a:off x="1162516" y="4644602"/>
            <a:ext cx="7750924" cy="424279"/>
          </a:xfrm>
          <a:prstGeom prst="roundRect">
            <a:avLst/>
          </a:prstGeom>
          <a:noFill/>
          <a:ln w="190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3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51644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0" y="-18256"/>
            <a:ext cx="5673080" cy="854968"/>
          </a:xfrm>
        </p:spPr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 err="1"/>
              <a:t>이클립스</a:t>
            </a:r>
            <a:r>
              <a:rPr lang="en-US" altLang="ko-KR" dirty="0"/>
              <a:t>(Eclipse)</a:t>
            </a:r>
            <a:r>
              <a:rPr lang="ko-KR" altLang="en-US" dirty="0"/>
              <a:t> </a:t>
            </a:r>
            <a:r>
              <a:rPr lang="en-US" altLang="ko-KR" dirty="0"/>
              <a:t>IDE </a:t>
            </a:r>
            <a:r>
              <a:rPr lang="ko-KR" altLang="en-US" dirty="0"/>
              <a:t>설치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BF5621B-67C3-4A25-A1B1-779ADAACC6F7}"/>
              </a:ext>
            </a:extLst>
          </p:cNvPr>
          <p:cNvSpPr txBox="1">
            <a:spLocks/>
          </p:cNvSpPr>
          <p:nvPr/>
        </p:nvSpPr>
        <p:spPr>
          <a:xfrm>
            <a:off x="704528" y="980728"/>
            <a:ext cx="7776864" cy="13681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b="1" dirty="0">
                <a:solidFill>
                  <a:srgbClr val="C00000"/>
                </a:solidFill>
              </a:rPr>
              <a:t> </a:t>
            </a:r>
            <a:r>
              <a:rPr lang="ko-KR" altLang="en-US" sz="2000" b="1" dirty="0" err="1">
                <a:solidFill>
                  <a:srgbClr val="C00000"/>
                </a:solidFill>
              </a:rPr>
              <a:t>이클립스</a:t>
            </a:r>
            <a:r>
              <a:rPr lang="ko-KR" altLang="en-US" sz="2000" b="1" dirty="0">
                <a:solidFill>
                  <a:srgbClr val="C00000"/>
                </a:solidFill>
              </a:rPr>
              <a:t> </a:t>
            </a:r>
            <a:r>
              <a:rPr lang="en-US" altLang="ko-KR" sz="2000" b="1" dirty="0">
                <a:solidFill>
                  <a:srgbClr val="C00000"/>
                </a:solidFill>
              </a:rPr>
              <a:t>IED(</a:t>
            </a:r>
            <a:r>
              <a:rPr lang="ko-KR" altLang="en-US" sz="2000" b="1" dirty="0">
                <a:solidFill>
                  <a:srgbClr val="C00000"/>
                </a:solidFill>
              </a:rPr>
              <a:t>통합개발환경</a:t>
            </a:r>
            <a:r>
              <a:rPr lang="en-US" altLang="ko-KR" sz="2000" b="1" dirty="0">
                <a:solidFill>
                  <a:srgbClr val="C00000"/>
                </a:solidFill>
              </a:rPr>
              <a:t>) </a:t>
            </a:r>
            <a:r>
              <a:rPr lang="ko-KR" altLang="en-US" sz="2000" b="1" dirty="0">
                <a:solidFill>
                  <a:srgbClr val="C00000"/>
                </a:solidFill>
              </a:rPr>
              <a:t>설치</a:t>
            </a:r>
            <a:endParaRPr lang="en-US" altLang="ko-KR" sz="2200" dirty="0"/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dirty="0">
                <a:hlinkClick r:id="rId2"/>
              </a:rPr>
              <a:t>https://www.eclipse.org/downloads/</a:t>
            </a:r>
            <a:endParaRPr lang="en-US" altLang="ko-KR" sz="1800" dirty="0"/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dirty="0"/>
              <a:t>Workspace(</a:t>
            </a:r>
            <a:r>
              <a:rPr lang="ko-KR" altLang="en-US" sz="1800" dirty="0"/>
              <a:t>작업공간</a:t>
            </a:r>
            <a:r>
              <a:rPr lang="en-US" altLang="ko-KR" sz="1800" dirty="0"/>
              <a:t>) </a:t>
            </a:r>
            <a:r>
              <a:rPr lang="ko-KR" altLang="en-US" sz="1800" dirty="0"/>
              <a:t>설정</a:t>
            </a:r>
            <a:r>
              <a:rPr lang="en-US" altLang="ko-KR" sz="1800" dirty="0"/>
              <a:t> : C:\JspWorkSpace</a:t>
            </a:r>
            <a:endParaRPr lang="en-US" altLang="ko-KR" sz="2000" b="1" dirty="0"/>
          </a:p>
          <a:p>
            <a:pPr lvl="2">
              <a:lnSpc>
                <a:spcPct val="150000"/>
              </a:lnSpc>
            </a:pPr>
            <a:endParaRPr lang="ko-KR" altLang="en-US" sz="18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77" t="18382" r="36482" b="30368"/>
          <a:stretch/>
        </p:blipFill>
        <p:spPr bwMode="auto">
          <a:xfrm>
            <a:off x="4664968" y="2780434"/>
            <a:ext cx="2972788" cy="2891323"/>
          </a:xfrm>
          <a:prstGeom prst="rect">
            <a:avLst/>
          </a:prstGeom>
          <a:noFill/>
          <a:ln w="9525">
            <a:solidFill>
              <a:schemeClr val="bg1">
                <a:lumMod val="85000"/>
              </a:schemeClr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792DA8B4-17B2-454B-97AC-17311A4832C5}"/>
              </a:ext>
            </a:extLst>
          </p:cNvPr>
          <p:cNvSpPr/>
          <p:nvPr/>
        </p:nvSpPr>
        <p:spPr>
          <a:xfrm>
            <a:off x="7833320" y="4509120"/>
            <a:ext cx="1944216" cy="864096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ysClr val="windowText" lastClr="000000"/>
                </a:solidFill>
              </a:rPr>
              <a:t>Java EE</a:t>
            </a:r>
          </a:p>
          <a:p>
            <a:pPr algn="ctr"/>
            <a:r>
              <a:rPr lang="en-US" altLang="ko-KR" sz="1600" dirty="0">
                <a:solidFill>
                  <a:sysClr val="windowText" lastClr="000000"/>
                </a:solidFill>
              </a:rPr>
              <a:t>Web Service 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포함</a:t>
            </a:r>
          </a:p>
        </p:txBody>
      </p:sp>
      <p:cxnSp>
        <p:nvCxnSpPr>
          <p:cNvPr id="8" name="직선 화살표 연결선 7"/>
          <p:cNvCxnSpPr>
            <a:stCxn id="7" idx="1"/>
          </p:cNvCxnSpPr>
          <p:nvPr/>
        </p:nvCxnSpPr>
        <p:spPr>
          <a:xfrm flipH="1" flipV="1">
            <a:off x="6825208" y="4509120"/>
            <a:ext cx="1008112" cy="432048"/>
          </a:xfrm>
          <a:prstGeom prst="straightConnector1">
            <a:avLst/>
          </a:prstGeom>
          <a:ln w="12700"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592" y="2780434"/>
            <a:ext cx="2980437" cy="2664790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303459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0" y="-18256"/>
            <a:ext cx="5673080" cy="854968"/>
          </a:xfrm>
        </p:spPr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 err="1"/>
              <a:t>이클립스</a:t>
            </a:r>
            <a:r>
              <a:rPr lang="en-US" altLang="ko-KR" dirty="0"/>
              <a:t>(Eclipse)</a:t>
            </a:r>
            <a:r>
              <a:rPr lang="ko-KR" altLang="en-US" dirty="0"/>
              <a:t> </a:t>
            </a:r>
            <a:r>
              <a:rPr lang="en-US" altLang="ko-KR" dirty="0"/>
              <a:t>IDE </a:t>
            </a:r>
            <a:r>
              <a:rPr lang="ko-KR" altLang="en-US" dirty="0"/>
              <a:t>설치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BF5621B-67C3-4A25-A1B1-779ADAACC6F7}"/>
              </a:ext>
            </a:extLst>
          </p:cNvPr>
          <p:cNvSpPr txBox="1">
            <a:spLocks/>
          </p:cNvSpPr>
          <p:nvPr/>
        </p:nvSpPr>
        <p:spPr>
          <a:xfrm>
            <a:off x="704528" y="980728"/>
            <a:ext cx="5184576" cy="57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b="1" dirty="0">
                <a:solidFill>
                  <a:srgbClr val="C00000"/>
                </a:solidFill>
              </a:rPr>
              <a:t> </a:t>
            </a:r>
            <a:r>
              <a:rPr lang="ko-KR" altLang="en-US" sz="2000" b="1" dirty="0" err="1">
                <a:solidFill>
                  <a:srgbClr val="C00000"/>
                </a:solidFill>
              </a:rPr>
              <a:t>이클립스</a:t>
            </a:r>
            <a:r>
              <a:rPr lang="ko-KR" altLang="en-US" sz="2000" b="1" dirty="0">
                <a:solidFill>
                  <a:srgbClr val="C00000"/>
                </a:solidFill>
              </a:rPr>
              <a:t> 자바 개발 환경으로 바꾸기</a:t>
            </a:r>
            <a:endParaRPr lang="en-US" altLang="ko-KR" sz="2000" b="1" dirty="0"/>
          </a:p>
          <a:p>
            <a:pPr lvl="1">
              <a:lnSpc>
                <a:spcPct val="150000"/>
              </a:lnSpc>
              <a:buFont typeface="Arial" panose="020B0604020202020204" pitchFamily="34" charset="0"/>
              <a:buNone/>
            </a:pPr>
            <a:endParaRPr lang="en-US" altLang="ko-KR" sz="2000" b="1" dirty="0"/>
          </a:p>
          <a:p>
            <a:pPr lvl="2">
              <a:lnSpc>
                <a:spcPct val="150000"/>
              </a:lnSpc>
            </a:pPr>
            <a:endParaRPr lang="ko-KR" altLang="en-US" sz="18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4012" y="1599282"/>
            <a:ext cx="4217100" cy="4638030"/>
          </a:xfrm>
          <a:prstGeom prst="rect">
            <a:avLst/>
          </a:prstGeom>
        </p:spPr>
      </p:pic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792DA8B4-17B2-454B-97AC-17311A4832C5}"/>
              </a:ext>
            </a:extLst>
          </p:cNvPr>
          <p:cNvSpPr/>
          <p:nvPr/>
        </p:nvSpPr>
        <p:spPr>
          <a:xfrm>
            <a:off x="6448688" y="2433648"/>
            <a:ext cx="2160240" cy="776236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ysClr val="windowText" lastClr="000000"/>
                </a:solidFill>
              </a:rPr>
              <a:t>Open Perspective</a:t>
            </a:r>
          </a:p>
          <a:p>
            <a:pPr algn="ctr"/>
            <a:r>
              <a:rPr lang="ko-KR" altLang="en-US" sz="1600" dirty="0" err="1">
                <a:solidFill>
                  <a:sysClr val="windowText" lastClr="000000"/>
                </a:solidFill>
              </a:rPr>
              <a:t>선택후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java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로 변경</a:t>
            </a:r>
            <a:endParaRPr lang="en-US" altLang="ko-KR" sz="1600" dirty="0">
              <a:solidFill>
                <a:sysClr val="windowText" lastClr="000000"/>
              </a:solidFill>
            </a:endParaRPr>
          </a:p>
        </p:txBody>
      </p:sp>
      <p:cxnSp>
        <p:nvCxnSpPr>
          <p:cNvPr id="13" name="직선 화살표 연결선 12"/>
          <p:cNvCxnSpPr/>
          <p:nvPr/>
        </p:nvCxnSpPr>
        <p:spPr>
          <a:xfrm flipH="1" flipV="1">
            <a:off x="5439054" y="2064897"/>
            <a:ext cx="1044116" cy="486176"/>
          </a:xfrm>
          <a:prstGeom prst="straightConnector1">
            <a:avLst/>
          </a:prstGeom>
          <a:ln w="12700"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92DA8B4-17B2-454B-97AC-17311A4832C5}"/>
              </a:ext>
            </a:extLst>
          </p:cNvPr>
          <p:cNvSpPr/>
          <p:nvPr/>
        </p:nvSpPr>
        <p:spPr>
          <a:xfrm>
            <a:off x="6401562" y="3496289"/>
            <a:ext cx="2160240" cy="867660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ysClr val="windowText" lastClr="000000"/>
                </a:solidFill>
              </a:rPr>
              <a:t>Web 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프로젝트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만들때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</a:t>
            </a:r>
            <a:r>
              <a:rPr lang="en-US" altLang="ko-KR" sz="1600" dirty="0" err="1">
                <a:solidFill>
                  <a:sysClr val="windowText" lastClr="000000"/>
                </a:solidFill>
              </a:rPr>
              <a:t>JavaEE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로 변경</a:t>
            </a:r>
            <a:endParaRPr lang="en-US" altLang="ko-KR" sz="1600" dirty="0">
              <a:solidFill>
                <a:sysClr val="windowText" lastClr="000000"/>
              </a:solidFill>
            </a:endParaRPr>
          </a:p>
        </p:txBody>
      </p:sp>
      <p:cxnSp>
        <p:nvCxnSpPr>
          <p:cNvPr id="18" name="직선 화살표 연결선 17"/>
          <p:cNvCxnSpPr/>
          <p:nvPr/>
        </p:nvCxnSpPr>
        <p:spPr>
          <a:xfrm flipH="1" flipV="1">
            <a:off x="5654689" y="2012042"/>
            <a:ext cx="775608" cy="1644794"/>
          </a:xfrm>
          <a:prstGeom prst="straightConnector1">
            <a:avLst/>
          </a:prstGeom>
          <a:ln w="12700">
            <a:solidFill>
              <a:srgbClr val="C0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792DA8B4-17B2-454B-97AC-17311A4832C5}"/>
              </a:ext>
            </a:extLst>
          </p:cNvPr>
          <p:cNvSpPr/>
          <p:nvPr/>
        </p:nvSpPr>
        <p:spPr>
          <a:xfrm>
            <a:off x="1928664" y="3388278"/>
            <a:ext cx="1080120" cy="216023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300" dirty="0">
              <a:solidFill>
                <a:sysClr val="windowText" lastClr="000000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792DA8B4-17B2-454B-97AC-17311A4832C5}"/>
              </a:ext>
            </a:extLst>
          </p:cNvPr>
          <p:cNvSpPr/>
          <p:nvPr/>
        </p:nvSpPr>
        <p:spPr>
          <a:xfrm>
            <a:off x="1928664" y="3676310"/>
            <a:ext cx="1080120" cy="216023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3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4262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0" y="-18256"/>
            <a:ext cx="6969224" cy="854968"/>
          </a:xfrm>
        </p:spPr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 </a:t>
            </a:r>
            <a:r>
              <a:rPr lang="ko-KR" altLang="en-US" dirty="0" err="1"/>
              <a:t>인코딩</a:t>
            </a:r>
            <a:r>
              <a:rPr lang="ko-KR" altLang="en-US" dirty="0"/>
              <a:t> 설정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BF5621B-67C3-4A25-A1B1-779ADAACC6F7}"/>
              </a:ext>
            </a:extLst>
          </p:cNvPr>
          <p:cNvSpPr txBox="1">
            <a:spLocks/>
          </p:cNvSpPr>
          <p:nvPr/>
        </p:nvSpPr>
        <p:spPr>
          <a:xfrm>
            <a:off x="632520" y="980728"/>
            <a:ext cx="9361040" cy="57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 텍스트 </a:t>
            </a:r>
            <a:r>
              <a:rPr lang="ko-KR" altLang="en-US" sz="2000" b="1" dirty="0" err="1"/>
              <a:t>인코딩</a:t>
            </a:r>
            <a:r>
              <a:rPr lang="ko-KR" altLang="en-US" sz="2000" b="1" dirty="0"/>
              <a:t> 설정 </a:t>
            </a:r>
            <a:r>
              <a:rPr lang="en-US" altLang="ko-KR" sz="2000" b="1" dirty="0"/>
              <a:t>– html, </a:t>
            </a:r>
            <a:r>
              <a:rPr lang="en-US" altLang="ko-KR" sz="2000" b="1" dirty="0" err="1"/>
              <a:t>css</a:t>
            </a:r>
            <a:r>
              <a:rPr lang="en-US" altLang="ko-KR" sz="2000" b="1" dirty="0"/>
              <a:t>, </a:t>
            </a:r>
            <a:r>
              <a:rPr lang="en-US" altLang="ko-KR" sz="2000" b="1" dirty="0" err="1"/>
              <a:t>jsp</a:t>
            </a:r>
            <a:r>
              <a:rPr lang="ko-KR" altLang="en-US" sz="2000" b="1" dirty="0"/>
              <a:t>의 </a:t>
            </a:r>
            <a:r>
              <a:rPr lang="en-US" altLang="ko-KR" sz="2000" b="1" dirty="0"/>
              <a:t>character </a:t>
            </a:r>
            <a:r>
              <a:rPr lang="ko-KR" altLang="en-US" sz="2000" b="1" dirty="0" err="1"/>
              <a:t>인코딩</a:t>
            </a:r>
            <a:r>
              <a:rPr lang="ko-KR" altLang="en-US" sz="2000" b="1" dirty="0"/>
              <a:t> 변경</a:t>
            </a:r>
            <a:endParaRPr lang="en-US" altLang="ko-KR" sz="2000" b="1" dirty="0"/>
          </a:p>
        </p:txBody>
      </p:sp>
      <p:sp>
        <p:nvSpPr>
          <p:cNvPr id="12" name="TextBox 11"/>
          <p:cNvSpPr txBox="1"/>
          <p:nvPr/>
        </p:nvSpPr>
        <p:spPr>
          <a:xfrm>
            <a:off x="1496616" y="5826750"/>
            <a:ext cx="77768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Web &gt; CSS Files(HTML, JSP Files) &gt; Encoding &gt; ISO 10646/Unicode(UTF-8) </a:t>
            </a:r>
            <a:r>
              <a:rPr lang="ko-KR" altLang="en-US" sz="1600" dirty="0"/>
              <a:t> 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4621" y="1536878"/>
            <a:ext cx="4320480" cy="4086478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792DA8B4-17B2-454B-97AC-17311A4832C5}"/>
              </a:ext>
            </a:extLst>
          </p:cNvPr>
          <p:cNvSpPr/>
          <p:nvPr/>
        </p:nvSpPr>
        <p:spPr>
          <a:xfrm>
            <a:off x="1505000" y="3645024"/>
            <a:ext cx="2223864" cy="576064"/>
          </a:xfrm>
          <a:prstGeom prst="roundRect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300" dirty="0">
              <a:solidFill>
                <a:sysClr val="windowText" lastClr="000000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792DA8B4-17B2-454B-97AC-17311A4832C5}"/>
              </a:ext>
            </a:extLst>
          </p:cNvPr>
          <p:cNvSpPr/>
          <p:nvPr/>
        </p:nvSpPr>
        <p:spPr>
          <a:xfrm>
            <a:off x="3584849" y="2492896"/>
            <a:ext cx="2880320" cy="576064"/>
          </a:xfrm>
          <a:prstGeom prst="roundRect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3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4594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5"/>
          <p:cNvSpPr txBox="1">
            <a:spLocks/>
          </p:cNvSpPr>
          <p:nvPr/>
        </p:nvSpPr>
        <p:spPr>
          <a:xfrm>
            <a:off x="0" y="-27384"/>
            <a:ext cx="7995338" cy="854968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spcBef>
                <a:spcPct val="0"/>
              </a:spcBef>
              <a:buNone/>
              <a:defRPr sz="3200" kern="120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j-cs"/>
              </a:defRPr>
            </a:lvl1pPr>
          </a:lstStyle>
          <a:p>
            <a:r>
              <a:rPr lang="en-US" altLang="ko-KR" dirty="0"/>
              <a:t>  </a:t>
            </a:r>
            <a:r>
              <a:rPr lang="ko-KR" altLang="en-US" dirty="0" err="1"/>
              <a:t>톰캣</a:t>
            </a:r>
            <a:r>
              <a:rPr lang="en-US" altLang="ko-KR" dirty="0"/>
              <a:t>(Tomcat) </a:t>
            </a:r>
            <a:r>
              <a:rPr lang="ko-KR" altLang="en-US" dirty="0"/>
              <a:t>설치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8544" y="1000530"/>
            <a:ext cx="8280920" cy="1431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b="1" dirty="0" err="1"/>
              <a:t>톰캣</a:t>
            </a:r>
            <a:r>
              <a:rPr lang="ko-KR" altLang="en-US" sz="2000" b="1" dirty="0"/>
              <a:t> 설치</a:t>
            </a:r>
            <a:endParaRPr lang="en-US" altLang="ko-KR" sz="2000" b="1" dirty="0"/>
          </a:p>
          <a:p>
            <a:pPr>
              <a:lnSpc>
                <a:spcPct val="150000"/>
              </a:lnSpc>
            </a:pPr>
            <a:r>
              <a:rPr lang="en-US" altLang="ko-KR" sz="2200" b="1" dirty="0"/>
              <a:t>    </a:t>
            </a:r>
            <a:r>
              <a:rPr lang="ko-KR" altLang="en-US" b="1" dirty="0"/>
              <a:t>아파치 사이트에 접속 </a:t>
            </a:r>
            <a:r>
              <a:rPr lang="en-US" altLang="ko-KR" b="1" dirty="0"/>
              <a:t>– </a:t>
            </a:r>
            <a:r>
              <a:rPr lang="en-US" altLang="ko-KR" b="1" dirty="0">
                <a:hlinkClick r:id="rId2"/>
              </a:rPr>
              <a:t>http://tomcat.apache.org</a:t>
            </a:r>
            <a:endParaRPr lang="en-US" altLang="ko-KR" b="1" dirty="0"/>
          </a:p>
          <a:p>
            <a:pPr>
              <a:lnSpc>
                <a:spcPct val="150000"/>
              </a:lnSpc>
            </a:pPr>
            <a:r>
              <a:rPr lang="ko-KR" altLang="en-US" sz="1400" b="1" dirty="0"/>
              <a:t>  </a:t>
            </a:r>
            <a:endParaRPr lang="en-US" altLang="ko-KR" b="1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4608" y="2134084"/>
            <a:ext cx="3430624" cy="3815196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3040" y="2780928"/>
            <a:ext cx="2057687" cy="2400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56001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5"/>
          <p:cNvSpPr txBox="1">
            <a:spLocks/>
          </p:cNvSpPr>
          <p:nvPr/>
        </p:nvSpPr>
        <p:spPr>
          <a:xfrm>
            <a:off x="0" y="-27384"/>
            <a:ext cx="7995338" cy="854968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spcBef>
                <a:spcPct val="0"/>
              </a:spcBef>
              <a:buNone/>
              <a:defRPr sz="3200" kern="120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j-cs"/>
              </a:defRPr>
            </a:lvl1pPr>
          </a:lstStyle>
          <a:p>
            <a:r>
              <a:rPr lang="en-US" altLang="ko-KR" dirty="0"/>
              <a:t>  </a:t>
            </a:r>
            <a:r>
              <a:rPr lang="ko-KR" altLang="en-US" dirty="0" err="1"/>
              <a:t>톰캣</a:t>
            </a:r>
            <a:r>
              <a:rPr lang="en-US" altLang="ko-KR" dirty="0"/>
              <a:t>(Tomcat) </a:t>
            </a:r>
            <a:r>
              <a:rPr lang="ko-KR" altLang="en-US" dirty="0"/>
              <a:t>설치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8544" y="1000530"/>
            <a:ext cx="828092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b="1" dirty="0" err="1"/>
              <a:t>톰캣</a:t>
            </a:r>
            <a:r>
              <a:rPr lang="ko-KR" altLang="en-US" sz="2000" b="1" dirty="0"/>
              <a:t> 설치  </a:t>
            </a:r>
            <a:endParaRPr lang="en-US" altLang="ko-KR" sz="2000" b="1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608" y="1829362"/>
            <a:ext cx="4752528" cy="2428008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1496616" y="4546609"/>
            <a:ext cx="30963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64-bit Windows.zip </a:t>
            </a:r>
            <a:r>
              <a:rPr lang="ko-KR" altLang="en-US" sz="1600" dirty="0"/>
              <a:t>다운로드 </a:t>
            </a:r>
            <a:r>
              <a:rPr lang="en-US" altLang="ko-KR" sz="1600" dirty="0"/>
              <a:t>&gt;</a:t>
            </a:r>
            <a:endParaRPr lang="ko-KR" altLang="en-US" sz="1600" dirty="0"/>
          </a:p>
        </p:txBody>
      </p:sp>
      <p:sp>
        <p:nvSpPr>
          <p:cNvPr id="13" name="TextBox 12"/>
          <p:cNvSpPr txBox="1"/>
          <p:nvPr/>
        </p:nvSpPr>
        <p:spPr>
          <a:xfrm>
            <a:off x="4575923" y="4546609"/>
            <a:ext cx="24653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C</a:t>
            </a:r>
            <a:r>
              <a:rPr lang="ko-KR" altLang="en-US" sz="1600" dirty="0"/>
              <a:t>드라이브에 압축 풀기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792DA8B4-17B2-454B-97AC-17311A4832C5}"/>
              </a:ext>
            </a:extLst>
          </p:cNvPr>
          <p:cNvSpPr/>
          <p:nvPr/>
        </p:nvSpPr>
        <p:spPr>
          <a:xfrm>
            <a:off x="2288704" y="3861048"/>
            <a:ext cx="2592288" cy="216023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3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89741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0" y="-18256"/>
            <a:ext cx="6969224" cy="854968"/>
          </a:xfrm>
        </p:spPr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 웹 애플리케이션 이해하기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BF5621B-67C3-4A25-A1B1-779ADAACC6F7}"/>
              </a:ext>
            </a:extLst>
          </p:cNvPr>
          <p:cNvSpPr txBox="1">
            <a:spLocks/>
          </p:cNvSpPr>
          <p:nvPr/>
        </p:nvSpPr>
        <p:spPr>
          <a:xfrm>
            <a:off x="706917" y="980728"/>
            <a:ext cx="6406323" cy="108012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b="1" dirty="0"/>
              <a:t> 웹 프로젝트</a:t>
            </a:r>
            <a:r>
              <a:rPr lang="en-US" altLang="ko-KR" sz="2000" b="1" dirty="0"/>
              <a:t>(</a:t>
            </a:r>
            <a:r>
              <a:rPr lang="ko-KR" altLang="en-US" sz="2000" b="1" dirty="0"/>
              <a:t>웹 애플리케이션</a:t>
            </a:r>
            <a:r>
              <a:rPr lang="en-US" altLang="ko-KR" sz="2000" b="1" dirty="0"/>
              <a:t>)</a:t>
            </a:r>
            <a:r>
              <a:rPr lang="ko-KR" altLang="en-US" sz="2000" b="1" dirty="0"/>
              <a:t> 만들고 실행하기</a:t>
            </a:r>
            <a:r>
              <a:rPr lang="en-US" altLang="ko-KR" sz="2000" b="1" dirty="0"/>
              <a:t>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b="1" dirty="0"/>
              <a:t>    </a:t>
            </a:r>
            <a:r>
              <a:rPr lang="ko-KR" altLang="en-US" sz="2000" b="1" dirty="0"/>
              <a:t>자바 </a:t>
            </a:r>
            <a:r>
              <a:rPr lang="en-US" altLang="ko-KR" sz="2000" b="1" dirty="0"/>
              <a:t>EE </a:t>
            </a:r>
            <a:r>
              <a:rPr lang="ko-KR" altLang="en-US" sz="2000" b="1" dirty="0"/>
              <a:t>버전 처음 </a:t>
            </a:r>
            <a:r>
              <a:rPr lang="ko-KR" altLang="en-US" sz="2000" b="1" dirty="0" err="1"/>
              <a:t>실행시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– </a:t>
            </a:r>
            <a:r>
              <a:rPr lang="ko-KR" altLang="en-US" sz="2000" b="1" dirty="0" err="1"/>
              <a:t>이클립스</a:t>
            </a:r>
            <a:r>
              <a:rPr lang="ko-KR" altLang="en-US" sz="2000" b="1" dirty="0"/>
              <a:t> 화면</a:t>
            </a:r>
            <a:endParaRPr lang="en-US" altLang="ko-KR" sz="2000" b="1" dirty="0"/>
          </a:p>
          <a:p>
            <a:pPr lvl="2">
              <a:lnSpc>
                <a:spcPct val="150000"/>
              </a:lnSpc>
            </a:pPr>
            <a:endParaRPr lang="ko-KR" altLang="en-US" sz="1800" b="1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6616" y="2218903"/>
            <a:ext cx="5082108" cy="3816424"/>
          </a:xfrm>
          <a:prstGeom prst="rect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</p:pic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792DA8B4-17B2-454B-97AC-17311A4832C5}"/>
              </a:ext>
            </a:extLst>
          </p:cNvPr>
          <p:cNvSpPr/>
          <p:nvPr/>
        </p:nvSpPr>
        <p:spPr>
          <a:xfrm>
            <a:off x="1568624" y="3983099"/>
            <a:ext cx="1656184" cy="288032"/>
          </a:xfrm>
          <a:prstGeom prst="roundRect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300" dirty="0">
              <a:solidFill>
                <a:sysClr val="windowText" lastClr="000000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792DA8B4-17B2-454B-97AC-17311A4832C5}"/>
              </a:ext>
            </a:extLst>
          </p:cNvPr>
          <p:cNvSpPr/>
          <p:nvPr/>
        </p:nvSpPr>
        <p:spPr>
          <a:xfrm>
            <a:off x="4137856" y="3897052"/>
            <a:ext cx="3623456" cy="388118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ysClr val="windowText" lastClr="000000"/>
                </a:solidFill>
              </a:rPr>
              <a:t>Create Dynamic Web project 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클릭</a:t>
            </a:r>
            <a:endParaRPr lang="en-US" altLang="ko-KR" sz="1600" dirty="0">
              <a:solidFill>
                <a:sysClr val="windowText" lastClr="000000"/>
              </a:solidFill>
            </a:endParaRPr>
          </a:p>
        </p:txBody>
      </p:sp>
      <p:cxnSp>
        <p:nvCxnSpPr>
          <p:cNvPr id="31" name="직선 화살표 연결선 30"/>
          <p:cNvCxnSpPr/>
          <p:nvPr/>
        </p:nvCxnSpPr>
        <p:spPr>
          <a:xfrm flipH="1">
            <a:off x="3440832" y="4091111"/>
            <a:ext cx="697024" cy="0"/>
          </a:xfrm>
          <a:prstGeom prst="straightConnector1">
            <a:avLst/>
          </a:prstGeom>
          <a:ln w="12700"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7469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4543" y="3473084"/>
            <a:ext cx="3129910" cy="2908244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410" y="1640858"/>
            <a:ext cx="4634863" cy="2138709"/>
          </a:xfrm>
          <a:prstGeom prst="rect">
            <a:avLst/>
          </a:prstGeom>
        </p:spPr>
      </p:pic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0" y="-18256"/>
            <a:ext cx="6969224" cy="854968"/>
          </a:xfrm>
        </p:spPr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 웹 애플리케이션 이해하기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BF5621B-67C3-4A25-A1B1-779ADAACC6F7}"/>
              </a:ext>
            </a:extLst>
          </p:cNvPr>
          <p:cNvSpPr txBox="1">
            <a:spLocks/>
          </p:cNvSpPr>
          <p:nvPr/>
        </p:nvSpPr>
        <p:spPr>
          <a:xfrm>
            <a:off x="632520" y="980728"/>
            <a:ext cx="6406323" cy="57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b="1" dirty="0"/>
              <a:t> 웹 프로젝트</a:t>
            </a:r>
            <a:r>
              <a:rPr lang="en-US" altLang="ko-KR" sz="2000" b="1" dirty="0"/>
              <a:t>(</a:t>
            </a:r>
            <a:r>
              <a:rPr lang="ko-KR" altLang="en-US" sz="2000" b="1" dirty="0"/>
              <a:t>웹 애플리케이션</a:t>
            </a:r>
            <a:r>
              <a:rPr lang="en-US" altLang="ko-KR" sz="2000" b="1" dirty="0"/>
              <a:t>)</a:t>
            </a:r>
            <a:r>
              <a:rPr lang="ko-KR" altLang="en-US" sz="2000" b="1" dirty="0"/>
              <a:t> 만들고 실행하기</a:t>
            </a:r>
            <a:endParaRPr lang="en-US" altLang="ko-KR" sz="2000" b="1" dirty="0"/>
          </a:p>
          <a:p>
            <a:pPr lvl="1">
              <a:lnSpc>
                <a:spcPct val="150000"/>
              </a:lnSpc>
              <a:buFont typeface="Arial" panose="020B0604020202020204" pitchFamily="34" charset="0"/>
              <a:buNone/>
            </a:pPr>
            <a:endParaRPr lang="en-US" altLang="ko-KR" sz="2000" b="1" dirty="0"/>
          </a:p>
          <a:p>
            <a:pPr lvl="2">
              <a:lnSpc>
                <a:spcPct val="150000"/>
              </a:lnSpc>
            </a:pPr>
            <a:endParaRPr lang="ko-KR" altLang="en-US" sz="1800" b="1" dirty="0"/>
          </a:p>
        </p:txBody>
      </p:sp>
      <p:sp>
        <p:nvSpPr>
          <p:cNvPr id="10" name="TextBox 9"/>
          <p:cNvSpPr txBox="1"/>
          <p:nvPr/>
        </p:nvSpPr>
        <p:spPr>
          <a:xfrm>
            <a:off x="1064517" y="3677053"/>
            <a:ext cx="24440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File &gt; New &gt; Dynamic Web Project</a:t>
            </a:r>
            <a:endParaRPr lang="ko-KR" altLang="en-US" sz="16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811" b="72653"/>
          <a:stretch/>
        </p:blipFill>
        <p:spPr bwMode="auto">
          <a:xfrm>
            <a:off x="740519" y="1628800"/>
            <a:ext cx="3092076" cy="1875453"/>
          </a:xfrm>
          <a:prstGeom prst="rect">
            <a:avLst/>
          </a:prstGeom>
          <a:noFill/>
          <a:ln w="9525">
            <a:solidFill>
              <a:schemeClr val="accent5">
                <a:lumMod val="40000"/>
                <a:lumOff val="60000"/>
              </a:schemeClr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15" name="타원 14">
            <a:extLst>
              <a:ext uri="{FF2B5EF4-FFF2-40B4-BE49-F238E27FC236}">
                <a16:creationId xmlns:a16="http://schemas.microsoft.com/office/drawing/2014/main" id="{792DA8B4-17B2-454B-97AC-17311A4832C5}"/>
              </a:ext>
            </a:extLst>
          </p:cNvPr>
          <p:cNvSpPr/>
          <p:nvPr/>
        </p:nvSpPr>
        <p:spPr>
          <a:xfrm>
            <a:off x="7986165" y="3016030"/>
            <a:ext cx="745108" cy="506382"/>
          </a:xfrm>
          <a:prstGeom prst="ellipse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300" dirty="0">
              <a:solidFill>
                <a:sysClr val="windowText" lastClr="000000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792DA8B4-17B2-454B-97AC-17311A4832C5}"/>
              </a:ext>
            </a:extLst>
          </p:cNvPr>
          <p:cNvSpPr/>
          <p:nvPr/>
        </p:nvSpPr>
        <p:spPr>
          <a:xfrm>
            <a:off x="7723161" y="3851341"/>
            <a:ext cx="1694335" cy="388118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600" dirty="0" err="1">
                <a:solidFill>
                  <a:sysClr val="windowText" lastClr="000000"/>
                </a:solidFill>
              </a:rPr>
              <a:t>톰캣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서버 설정</a:t>
            </a:r>
            <a:endParaRPr lang="en-US" altLang="ko-KR" sz="1600" dirty="0">
              <a:solidFill>
                <a:sysClr val="windowText" lastClr="000000"/>
              </a:solidFill>
            </a:endParaRPr>
          </a:p>
        </p:txBody>
      </p:sp>
      <p:cxnSp>
        <p:nvCxnSpPr>
          <p:cNvPr id="17" name="직선 화살표 연결선 16"/>
          <p:cNvCxnSpPr>
            <a:stCxn id="16" idx="0"/>
            <a:endCxn id="15" idx="4"/>
          </p:cNvCxnSpPr>
          <p:nvPr/>
        </p:nvCxnSpPr>
        <p:spPr>
          <a:xfrm flipH="1" flipV="1">
            <a:off x="8358719" y="3522412"/>
            <a:ext cx="211610" cy="328929"/>
          </a:xfrm>
          <a:prstGeom prst="straightConnector1">
            <a:avLst/>
          </a:prstGeom>
          <a:ln w="12700"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792DA8B4-17B2-454B-97AC-17311A4832C5}"/>
              </a:ext>
            </a:extLst>
          </p:cNvPr>
          <p:cNvSpPr/>
          <p:nvPr/>
        </p:nvSpPr>
        <p:spPr>
          <a:xfrm>
            <a:off x="4554809" y="2162650"/>
            <a:ext cx="1584176" cy="288032"/>
          </a:xfrm>
          <a:prstGeom prst="roundRect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300" dirty="0">
              <a:solidFill>
                <a:sysClr val="windowText" lastClr="000000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792DA8B4-17B2-454B-97AC-17311A4832C5}"/>
              </a:ext>
            </a:extLst>
          </p:cNvPr>
          <p:cNvSpPr/>
          <p:nvPr/>
        </p:nvSpPr>
        <p:spPr>
          <a:xfrm>
            <a:off x="7663667" y="1968591"/>
            <a:ext cx="1694335" cy="388118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프로젝트 이름</a:t>
            </a:r>
            <a:endParaRPr lang="en-US" altLang="ko-KR" sz="1600" dirty="0">
              <a:solidFill>
                <a:sysClr val="windowText" lastClr="000000"/>
              </a:solidFill>
            </a:endParaRPr>
          </a:p>
        </p:txBody>
      </p:sp>
      <p:cxnSp>
        <p:nvCxnSpPr>
          <p:cNvPr id="20" name="직선 화살표 연결선 19"/>
          <p:cNvCxnSpPr/>
          <p:nvPr/>
        </p:nvCxnSpPr>
        <p:spPr>
          <a:xfrm flipH="1">
            <a:off x="6197483" y="2234658"/>
            <a:ext cx="1155096" cy="72008"/>
          </a:xfrm>
          <a:prstGeom prst="straightConnector1">
            <a:avLst/>
          </a:prstGeom>
          <a:ln w="12700"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792DA8B4-17B2-454B-97AC-17311A4832C5}"/>
              </a:ext>
            </a:extLst>
          </p:cNvPr>
          <p:cNvSpPr/>
          <p:nvPr/>
        </p:nvSpPr>
        <p:spPr>
          <a:xfrm>
            <a:off x="7379799" y="4350755"/>
            <a:ext cx="1584176" cy="288032"/>
          </a:xfrm>
          <a:prstGeom prst="roundRect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300" dirty="0">
              <a:solidFill>
                <a:sysClr val="windowText" lastClr="000000"/>
              </a:solidFill>
            </a:endParaRPr>
          </a:p>
        </p:txBody>
      </p:sp>
      <p:pic>
        <p:nvPicPr>
          <p:cNvPr id="23" name="그림 2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9437" y="4602233"/>
            <a:ext cx="3306316" cy="1455052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24" name="타원 23">
            <a:extLst>
              <a:ext uri="{FF2B5EF4-FFF2-40B4-BE49-F238E27FC236}">
                <a16:creationId xmlns:a16="http://schemas.microsoft.com/office/drawing/2014/main" id="{792DA8B4-17B2-454B-97AC-17311A4832C5}"/>
              </a:ext>
            </a:extLst>
          </p:cNvPr>
          <p:cNvSpPr/>
          <p:nvPr/>
        </p:nvSpPr>
        <p:spPr>
          <a:xfrm>
            <a:off x="2135738" y="5647877"/>
            <a:ext cx="360040" cy="304370"/>
          </a:xfrm>
          <a:prstGeom prst="ellipse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300" dirty="0">
              <a:solidFill>
                <a:sysClr val="windowText" lastClr="0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92DA8B4-17B2-454B-97AC-17311A4832C5}"/>
              </a:ext>
            </a:extLst>
          </p:cNvPr>
          <p:cNvSpPr/>
          <p:nvPr/>
        </p:nvSpPr>
        <p:spPr>
          <a:xfrm>
            <a:off x="623443" y="5259759"/>
            <a:ext cx="1413545" cy="388118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ysClr val="windowText" lastClr="000000"/>
                </a:solidFill>
              </a:rPr>
              <a:t>web.xml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체크</a:t>
            </a:r>
            <a:endParaRPr lang="en-US" altLang="ko-KR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26" name="직선 화살표 연결선 25"/>
          <p:cNvCxnSpPr/>
          <p:nvPr/>
        </p:nvCxnSpPr>
        <p:spPr>
          <a:xfrm>
            <a:off x="1911624" y="5647877"/>
            <a:ext cx="291223" cy="85379"/>
          </a:xfrm>
          <a:prstGeom prst="straightConnector1">
            <a:avLst/>
          </a:prstGeom>
          <a:ln w="12700"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38385" y="3685725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solidFill>
                  <a:srgbClr val="C00000"/>
                </a:solidFill>
              </a:rPr>
              <a:t>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91113" y="1968591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solidFill>
                  <a:srgbClr val="C00000"/>
                </a:solidFill>
              </a:rPr>
              <a:t>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9140" y="2935144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solidFill>
                  <a:srgbClr val="C00000"/>
                </a:solidFill>
              </a:rPr>
              <a:t>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09595" y="4210940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solidFill>
                  <a:srgbClr val="C00000"/>
                </a:solidFill>
              </a:rPr>
              <a:t>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469" y="4890427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solidFill>
                  <a:srgbClr val="C00000"/>
                </a:solidFill>
              </a:rPr>
              <a:t>⑤</a:t>
            </a:r>
          </a:p>
        </p:txBody>
      </p:sp>
    </p:spTree>
    <p:extLst>
      <p:ext uri="{BB962C8B-B14F-4D97-AF65-F5344CB8AC3E}">
        <p14:creationId xmlns:p14="http://schemas.microsoft.com/office/powerpoint/2010/main" val="42355258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0" y="-18256"/>
            <a:ext cx="6969224" cy="854968"/>
          </a:xfrm>
        </p:spPr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 웹 애플리케이션 이해하기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BF5621B-67C3-4A25-A1B1-779ADAACC6F7}"/>
              </a:ext>
            </a:extLst>
          </p:cNvPr>
          <p:cNvSpPr txBox="1">
            <a:spLocks/>
          </p:cNvSpPr>
          <p:nvPr/>
        </p:nvSpPr>
        <p:spPr>
          <a:xfrm>
            <a:off x="704528" y="980728"/>
            <a:ext cx="3600400" cy="57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 </a:t>
            </a:r>
            <a:r>
              <a:rPr lang="en-US" altLang="ko-KR" sz="2000" b="1" dirty="0" err="1"/>
              <a:t>Jsp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파일 만들기</a:t>
            </a:r>
            <a:endParaRPr lang="en-US" altLang="ko-KR" sz="2000" b="1" dirty="0"/>
          </a:p>
          <a:p>
            <a:pPr lvl="2">
              <a:lnSpc>
                <a:spcPct val="150000"/>
              </a:lnSpc>
            </a:pPr>
            <a:endParaRPr lang="ko-KR" altLang="en-US" sz="18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426704" y="5178056"/>
            <a:ext cx="27342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 err="1"/>
              <a:t>webapp</a:t>
            </a:r>
            <a:r>
              <a:rPr lang="en-US" altLang="ko-KR" sz="1600" dirty="0"/>
              <a:t> &gt; New &gt; JSP File</a:t>
            </a:r>
            <a:endParaRPr lang="ko-KR" altLang="en-US" sz="16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457" y="1700808"/>
            <a:ext cx="4236905" cy="3203251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7591" y="1701822"/>
            <a:ext cx="3382934" cy="3400223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745088" y="5318907"/>
            <a:ext cx="27342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File name – </a:t>
            </a:r>
            <a:r>
              <a:rPr lang="en-US" altLang="ko-KR" sz="1600" dirty="0" err="1"/>
              <a:t>hello.jsp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8642301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576" y="1772816"/>
            <a:ext cx="7056784" cy="3392685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0" y="-18256"/>
            <a:ext cx="6969224" cy="854968"/>
          </a:xfrm>
        </p:spPr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 웹 애플리케이션 이해하기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BF5621B-67C3-4A25-A1B1-779ADAACC6F7}"/>
              </a:ext>
            </a:extLst>
          </p:cNvPr>
          <p:cNvSpPr txBox="1">
            <a:spLocks/>
          </p:cNvSpPr>
          <p:nvPr/>
        </p:nvSpPr>
        <p:spPr>
          <a:xfrm>
            <a:off x="704528" y="980728"/>
            <a:ext cx="3960440" cy="57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 </a:t>
            </a:r>
            <a:r>
              <a:rPr lang="en-US" altLang="ko-KR" sz="2000" b="1" dirty="0" err="1"/>
              <a:t>Jsp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파일 만들기</a:t>
            </a:r>
            <a:endParaRPr lang="en-US" altLang="ko-KR" sz="2000" b="1" dirty="0"/>
          </a:p>
          <a:p>
            <a:pPr lvl="2">
              <a:lnSpc>
                <a:spcPct val="150000"/>
              </a:lnSpc>
            </a:pPr>
            <a:endParaRPr lang="ko-KR" altLang="en-US" sz="18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792DA8B4-17B2-454B-97AC-17311A4832C5}"/>
              </a:ext>
            </a:extLst>
          </p:cNvPr>
          <p:cNvSpPr/>
          <p:nvPr/>
        </p:nvSpPr>
        <p:spPr>
          <a:xfrm>
            <a:off x="1064568" y="1611680"/>
            <a:ext cx="7200800" cy="576064"/>
          </a:xfrm>
          <a:prstGeom prst="roundRect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300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30350" y="2492896"/>
            <a:ext cx="4248472" cy="1328023"/>
          </a:xfrm>
          <a:prstGeom prst="roundRect">
            <a:avLst/>
          </a:prstGeom>
          <a:ln w="190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srgbClr val="C00000"/>
                </a:solidFill>
              </a:rPr>
              <a:t>&lt;%@.. %&gt;</a:t>
            </a:r>
            <a:r>
              <a:rPr lang="ko-KR" altLang="en-US" sz="1600" dirty="0">
                <a:solidFill>
                  <a:srgbClr val="002060"/>
                </a:solidFill>
              </a:rPr>
              <a:t>란 지시어</a:t>
            </a:r>
            <a:r>
              <a:rPr lang="en-US" altLang="ko-KR" sz="1600" dirty="0">
                <a:solidFill>
                  <a:srgbClr val="002060"/>
                </a:solidFill>
              </a:rPr>
              <a:t>(</a:t>
            </a:r>
            <a:r>
              <a:rPr lang="ko-KR" altLang="en-US" sz="1600" dirty="0" err="1">
                <a:solidFill>
                  <a:srgbClr val="002060"/>
                </a:solidFill>
              </a:rPr>
              <a:t>디렉티브태그</a:t>
            </a:r>
            <a:r>
              <a:rPr lang="en-US" altLang="ko-KR" sz="1600" dirty="0">
                <a:solidFill>
                  <a:srgbClr val="002060"/>
                </a:solidFill>
              </a:rPr>
              <a:t>)</a:t>
            </a:r>
            <a:r>
              <a:rPr lang="ko-KR" altLang="en-US" sz="1600" dirty="0">
                <a:solidFill>
                  <a:srgbClr val="002060"/>
                </a:solidFill>
              </a:rPr>
              <a:t>로 </a:t>
            </a:r>
            <a:r>
              <a:rPr lang="en-US" altLang="ko-KR" sz="1600" dirty="0" err="1">
                <a:solidFill>
                  <a:srgbClr val="002060"/>
                </a:solidFill>
              </a:rPr>
              <a:t>jsp</a:t>
            </a:r>
            <a:r>
              <a:rPr lang="en-US" altLang="ko-KR" sz="1600" dirty="0">
                <a:solidFill>
                  <a:srgbClr val="002060"/>
                </a:solidFill>
              </a:rPr>
              <a:t> </a:t>
            </a:r>
            <a:r>
              <a:rPr lang="ko-KR" altLang="en-US" sz="1600" dirty="0">
                <a:solidFill>
                  <a:srgbClr val="002060"/>
                </a:solidFill>
              </a:rPr>
              <a:t>파일의 정보</a:t>
            </a:r>
            <a:r>
              <a:rPr lang="en-US" altLang="ko-KR" sz="1600" dirty="0">
                <a:solidFill>
                  <a:srgbClr val="002060"/>
                </a:solidFill>
              </a:rPr>
              <a:t>- </a:t>
            </a:r>
            <a:r>
              <a:rPr lang="ko-KR" altLang="en-US" sz="1600" dirty="0">
                <a:solidFill>
                  <a:srgbClr val="002060"/>
                </a:solidFill>
              </a:rPr>
              <a:t>언어</a:t>
            </a:r>
            <a:r>
              <a:rPr lang="en-US" altLang="ko-KR" sz="1600" dirty="0">
                <a:solidFill>
                  <a:srgbClr val="002060"/>
                </a:solidFill>
              </a:rPr>
              <a:t>, </a:t>
            </a:r>
            <a:r>
              <a:rPr lang="ko-KR" altLang="en-US" sz="1600" dirty="0">
                <a:solidFill>
                  <a:srgbClr val="002060"/>
                </a:solidFill>
              </a:rPr>
              <a:t>문서유형</a:t>
            </a:r>
            <a:r>
              <a:rPr lang="en-US" altLang="ko-KR" sz="1600" dirty="0">
                <a:solidFill>
                  <a:srgbClr val="002060"/>
                </a:solidFill>
              </a:rPr>
              <a:t>, </a:t>
            </a:r>
            <a:r>
              <a:rPr lang="ko-KR" altLang="en-US" sz="1600" dirty="0" err="1">
                <a:solidFill>
                  <a:srgbClr val="002060"/>
                </a:solidFill>
              </a:rPr>
              <a:t>인코딩등의</a:t>
            </a:r>
            <a:r>
              <a:rPr lang="ko-KR" altLang="en-US" sz="1600" dirty="0">
                <a:solidFill>
                  <a:srgbClr val="002060"/>
                </a:solidFill>
              </a:rPr>
              <a:t> 정보를 서버에게 알려줌</a:t>
            </a:r>
          </a:p>
        </p:txBody>
      </p:sp>
    </p:spTree>
    <p:extLst>
      <p:ext uri="{BB962C8B-B14F-4D97-AF65-F5344CB8AC3E}">
        <p14:creationId xmlns:p14="http://schemas.microsoft.com/office/powerpoint/2010/main" val="42914197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0" y="-18256"/>
            <a:ext cx="6969224" cy="854968"/>
          </a:xfrm>
        </p:spPr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 웹 애플리케이션 이해하기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BF5621B-67C3-4A25-A1B1-779ADAACC6F7}"/>
              </a:ext>
            </a:extLst>
          </p:cNvPr>
          <p:cNvSpPr txBox="1">
            <a:spLocks/>
          </p:cNvSpPr>
          <p:nvPr/>
        </p:nvSpPr>
        <p:spPr>
          <a:xfrm>
            <a:off x="704528" y="980728"/>
            <a:ext cx="3960440" cy="57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 서버 실행</a:t>
            </a:r>
            <a:endParaRPr lang="en-US" altLang="ko-KR" sz="2000" b="1" dirty="0"/>
          </a:p>
          <a:p>
            <a:pPr lvl="2">
              <a:lnSpc>
                <a:spcPct val="150000"/>
              </a:lnSpc>
            </a:pPr>
            <a:endParaRPr lang="ko-KR" altLang="en-US" sz="18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3837" y="2107595"/>
            <a:ext cx="4761291" cy="365652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191061" y="1531531"/>
            <a:ext cx="53788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Hello.jsp</a:t>
            </a:r>
            <a:r>
              <a:rPr lang="en-US" altLang="ko-KR" dirty="0"/>
              <a:t> &gt; </a:t>
            </a:r>
            <a:r>
              <a:rPr lang="ko-KR" altLang="en-US" dirty="0" err="1"/>
              <a:t>우클릭</a:t>
            </a:r>
            <a:r>
              <a:rPr lang="ko-KR" altLang="en-US" dirty="0"/>
              <a:t> </a:t>
            </a:r>
            <a:r>
              <a:rPr lang="en-US" altLang="ko-KR" dirty="0"/>
              <a:t>&gt; Run As &gt; Run on Server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89564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0" y="-18256"/>
            <a:ext cx="6969224" cy="854968"/>
          </a:xfrm>
        </p:spPr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 웹 애플리케이션 이해하기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BF5621B-67C3-4A25-A1B1-779ADAACC6F7}"/>
              </a:ext>
            </a:extLst>
          </p:cNvPr>
          <p:cNvSpPr txBox="1">
            <a:spLocks/>
          </p:cNvSpPr>
          <p:nvPr/>
        </p:nvSpPr>
        <p:spPr>
          <a:xfrm>
            <a:off x="704528" y="980728"/>
            <a:ext cx="3960440" cy="57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 웹 브라우저 실행</a:t>
            </a:r>
            <a:endParaRPr lang="en-US" altLang="ko-KR" sz="2000" b="1" dirty="0"/>
          </a:p>
          <a:p>
            <a:pPr lvl="2">
              <a:lnSpc>
                <a:spcPct val="150000"/>
              </a:lnSpc>
            </a:pPr>
            <a:endParaRPr lang="ko-KR" altLang="en-US" sz="18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00" y="1729043"/>
            <a:ext cx="4786289" cy="2880320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5647938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40" y="1531436"/>
            <a:ext cx="4536161" cy="4126443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0" y="-18256"/>
            <a:ext cx="6969224" cy="854968"/>
          </a:xfrm>
        </p:spPr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 웹 애플리케이션 이해하기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BF5621B-67C3-4A25-A1B1-779ADAACC6F7}"/>
              </a:ext>
            </a:extLst>
          </p:cNvPr>
          <p:cNvSpPr txBox="1">
            <a:spLocks/>
          </p:cNvSpPr>
          <p:nvPr/>
        </p:nvSpPr>
        <p:spPr>
          <a:xfrm>
            <a:off x="632520" y="980728"/>
            <a:ext cx="9361040" cy="57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 웹 브라우저 설정 </a:t>
            </a:r>
            <a:r>
              <a:rPr lang="en-US" altLang="ko-KR" sz="2000" b="1" dirty="0"/>
              <a:t>- </a:t>
            </a:r>
            <a:r>
              <a:rPr lang="ko-KR" altLang="en-US" sz="2000" b="1" dirty="0"/>
              <a:t>크롬</a:t>
            </a:r>
            <a:endParaRPr lang="en-US" altLang="ko-KR" sz="2000" b="1" dirty="0"/>
          </a:p>
        </p:txBody>
      </p:sp>
      <p:sp>
        <p:nvSpPr>
          <p:cNvPr id="12" name="TextBox 11"/>
          <p:cNvSpPr txBox="1"/>
          <p:nvPr/>
        </p:nvSpPr>
        <p:spPr>
          <a:xfrm>
            <a:off x="2000672" y="5796093"/>
            <a:ext cx="37444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General &gt; Web Browser &gt; Chrome </a:t>
            </a:r>
            <a:r>
              <a:rPr lang="ko-KR" altLang="en-US" sz="1600" dirty="0"/>
              <a:t>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792DA8B4-17B2-454B-97AC-17311A4832C5}"/>
              </a:ext>
            </a:extLst>
          </p:cNvPr>
          <p:cNvSpPr/>
          <p:nvPr/>
        </p:nvSpPr>
        <p:spPr>
          <a:xfrm>
            <a:off x="1352600" y="4653136"/>
            <a:ext cx="2223864" cy="576064"/>
          </a:xfrm>
          <a:prstGeom prst="roundRect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300" dirty="0">
              <a:solidFill>
                <a:sysClr val="windowText" lastClr="000000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792DA8B4-17B2-454B-97AC-17311A4832C5}"/>
              </a:ext>
            </a:extLst>
          </p:cNvPr>
          <p:cNvSpPr/>
          <p:nvPr/>
        </p:nvSpPr>
        <p:spPr>
          <a:xfrm>
            <a:off x="3224808" y="2985733"/>
            <a:ext cx="2016224" cy="731300"/>
          </a:xfrm>
          <a:prstGeom prst="roundRect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3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63204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8584" y="1687448"/>
            <a:ext cx="6621925" cy="403107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0" y="-18256"/>
            <a:ext cx="6969224" cy="854968"/>
          </a:xfrm>
        </p:spPr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 웹 애플리케이션 이해하기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BF5621B-67C3-4A25-A1B1-779ADAACC6F7}"/>
              </a:ext>
            </a:extLst>
          </p:cNvPr>
          <p:cNvSpPr txBox="1">
            <a:spLocks/>
          </p:cNvSpPr>
          <p:nvPr/>
        </p:nvSpPr>
        <p:spPr>
          <a:xfrm>
            <a:off x="653151" y="980728"/>
            <a:ext cx="4947921" cy="57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 현재 날짜와 시간 출력</a:t>
            </a:r>
            <a:endParaRPr lang="en-US" altLang="ko-KR" sz="2000" b="1" dirty="0"/>
          </a:p>
        </p:txBody>
      </p:sp>
      <p:sp>
        <p:nvSpPr>
          <p:cNvPr id="11" name="TextBox 10"/>
          <p:cNvSpPr txBox="1"/>
          <p:nvPr/>
        </p:nvSpPr>
        <p:spPr>
          <a:xfrm>
            <a:off x="5961112" y="4509120"/>
            <a:ext cx="3495716" cy="919401"/>
          </a:xfrm>
          <a:prstGeom prst="wedgeRoundRectCallout">
            <a:avLst>
              <a:gd name="adj1" fmla="val -54215"/>
              <a:gd name="adj2" fmla="val -15170"/>
              <a:gd name="adj3" fmla="val 16667"/>
            </a:avLst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srgbClr val="C00000"/>
                </a:solidFill>
              </a:rPr>
              <a:t>&lt;%=.. %&gt;</a:t>
            </a:r>
            <a:r>
              <a:rPr lang="ko-KR" altLang="en-US" sz="1600" dirty="0">
                <a:solidFill>
                  <a:srgbClr val="002060"/>
                </a:solidFill>
              </a:rPr>
              <a:t>란 </a:t>
            </a:r>
            <a:r>
              <a:rPr lang="en-US" altLang="ko-KR" sz="1600" dirty="0">
                <a:solidFill>
                  <a:srgbClr val="002060"/>
                </a:solidFill>
              </a:rPr>
              <a:t>Expression</a:t>
            </a:r>
            <a:r>
              <a:rPr lang="ko-KR" altLang="en-US" sz="1600" dirty="0">
                <a:solidFill>
                  <a:srgbClr val="002060"/>
                </a:solidFill>
              </a:rPr>
              <a:t>이라고 하며</a:t>
            </a:r>
            <a:r>
              <a:rPr lang="en-US" altLang="ko-KR" sz="1600" dirty="0">
                <a:solidFill>
                  <a:srgbClr val="002060"/>
                </a:solidFill>
              </a:rPr>
              <a:t>,</a:t>
            </a:r>
            <a:r>
              <a:rPr lang="ko-KR" altLang="en-US" sz="1600" dirty="0">
                <a:solidFill>
                  <a:srgbClr val="002060"/>
                </a:solidFill>
              </a:rPr>
              <a:t>  </a:t>
            </a:r>
            <a:r>
              <a:rPr lang="en-US" altLang="ko-KR" sz="1600" dirty="0">
                <a:solidFill>
                  <a:srgbClr val="002060"/>
                </a:solidFill>
              </a:rPr>
              <a:t>JSP</a:t>
            </a:r>
            <a:r>
              <a:rPr lang="ko-KR" altLang="en-US" sz="1600" dirty="0">
                <a:solidFill>
                  <a:srgbClr val="002060"/>
                </a:solidFill>
              </a:rPr>
              <a:t>에서 출력을 위해 사용한다</a:t>
            </a:r>
            <a:r>
              <a:rPr lang="en-US" altLang="ko-KR" sz="1600" dirty="0">
                <a:solidFill>
                  <a:srgbClr val="002060"/>
                </a:solidFill>
              </a:rPr>
              <a:t>.</a:t>
            </a:r>
            <a:endParaRPr lang="ko-KR" altLang="en-US" sz="16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09423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0" y="-18256"/>
            <a:ext cx="6969224" cy="854968"/>
          </a:xfrm>
        </p:spPr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 웹 애플리케이션 이해하기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BF5621B-67C3-4A25-A1B1-779ADAACC6F7}"/>
              </a:ext>
            </a:extLst>
          </p:cNvPr>
          <p:cNvSpPr txBox="1">
            <a:spLocks/>
          </p:cNvSpPr>
          <p:nvPr/>
        </p:nvSpPr>
        <p:spPr>
          <a:xfrm>
            <a:off x="632520" y="980728"/>
            <a:ext cx="4752528" cy="57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 포트 번호 확인 및 변경</a:t>
            </a:r>
            <a:endParaRPr lang="en-US" altLang="ko-KR" sz="2000" b="1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1000" y="4089461"/>
            <a:ext cx="7658863" cy="2147851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792DA8B4-17B2-454B-97AC-17311A4832C5}"/>
              </a:ext>
            </a:extLst>
          </p:cNvPr>
          <p:cNvSpPr/>
          <p:nvPr/>
        </p:nvSpPr>
        <p:spPr>
          <a:xfrm>
            <a:off x="7148940" y="5469143"/>
            <a:ext cx="2016224" cy="288032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300" dirty="0">
              <a:solidFill>
                <a:sysClr val="windowText" lastClr="000000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792DA8B4-17B2-454B-97AC-17311A4832C5}"/>
              </a:ext>
            </a:extLst>
          </p:cNvPr>
          <p:cNvSpPr/>
          <p:nvPr/>
        </p:nvSpPr>
        <p:spPr>
          <a:xfrm>
            <a:off x="8157052" y="4541521"/>
            <a:ext cx="1404460" cy="388118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포트 번호</a:t>
            </a:r>
            <a:endParaRPr lang="en-US" altLang="ko-KR" sz="1600" dirty="0">
              <a:solidFill>
                <a:sysClr val="windowText" lastClr="000000"/>
              </a:solidFill>
            </a:endParaRPr>
          </a:p>
        </p:txBody>
      </p:sp>
      <p:cxnSp>
        <p:nvCxnSpPr>
          <p:cNvPr id="11" name="직선 화살표 연결선 10"/>
          <p:cNvCxnSpPr/>
          <p:nvPr/>
        </p:nvCxnSpPr>
        <p:spPr>
          <a:xfrm flipH="1">
            <a:off x="8391800" y="4941168"/>
            <a:ext cx="458063" cy="516446"/>
          </a:xfrm>
          <a:prstGeom prst="straightConnector1">
            <a:avLst/>
          </a:prstGeom>
          <a:ln w="12700"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아래쪽 화살표 17"/>
          <p:cNvSpPr/>
          <p:nvPr/>
        </p:nvSpPr>
        <p:spPr>
          <a:xfrm>
            <a:off x="2355839" y="3267251"/>
            <a:ext cx="216024" cy="768473"/>
          </a:xfrm>
          <a:prstGeom prst="downArrow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9919" y="1741460"/>
            <a:ext cx="3668513" cy="219166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92DA8B4-17B2-454B-97AC-17311A4832C5}"/>
              </a:ext>
            </a:extLst>
          </p:cNvPr>
          <p:cNvSpPr/>
          <p:nvPr/>
        </p:nvSpPr>
        <p:spPr>
          <a:xfrm>
            <a:off x="5733331" y="1709932"/>
            <a:ext cx="2748061" cy="514873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300" dirty="0">
              <a:solidFill>
                <a:sysClr val="windowText" lastClr="000000"/>
              </a:solidFill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4"/>
          <a:srcRect r="18490"/>
          <a:stretch/>
        </p:blipFill>
        <p:spPr>
          <a:xfrm>
            <a:off x="1136576" y="1741460"/>
            <a:ext cx="3384376" cy="1165886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2656520" y="3267251"/>
            <a:ext cx="1656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더블 클릭</a:t>
            </a:r>
          </a:p>
        </p:txBody>
      </p:sp>
    </p:spTree>
    <p:extLst>
      <p:ext uri="{BB962C8B-B14F-4D97-AF65-F5344CB8AC3E}">
        <p14:creationId xmlns:p14="http://schemas.microsoft.com/office/powerpoint/2010/main" val="31259151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0" y="-18256"/>
            <a:ext cx="6969224" cy="854968"/>
          </a:xfrm>
        </p:spPr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 웹 애플리케이션 이해하기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BF5621B-67C3-4A25-A1B1-779ADAACC6F7}"/>
              </a:ext>
            </a:extLst>
          </p:cNvPr>
          <p:cNvSpPr txBox="1">
            <a:spLocks/>
          </p:cNvSpPr>
          <p:nvPr/>
        </p:nvSpPr>
        <p:spPr>
          <a:xfrm>
            <a:off x="596516" y="980728"/>
            <a:ext cx="5580620" cy="57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 웹 컨텍스트 경로</a:t>
            </a:r>
            <a:r>
              <a:rPr lang="en-US" altLang="ko-KR" sz="2000" b="1" dirty="0"/>
              <a:t>(Path) </a:t>
            </a:r>
            <a:r>
              <a:rPr lang="ko-KR" altLang="en-US" sz="2000" b="1" dirty="0"/>
              <a:t>변경</a:t>
            </a:r>
            <a:r>
              <a:rPr lang="en-US" altLang="ko-KR" sz="2000" b="1" dirty="0"/>
              <a:t> </a:t>
            </a:r>
          </a:p>
          <a:p>
            <a:pPr lvl="2">
              <a:lnSpc>
                <a:spcPct val="150000"/>
              </a:lnSpc>
            </a:pPr>
            <a:endParaRPr lang="ko-KR" altLang="en-US" sz="18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64568" y="1700808"/>
            <a:ext cx="77768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Tomcat v9.0 Server &gt; Modules &gt; Edit &gt; chap01 </a:t>
            </a:r>
            <a:r>
              <a:rPr lang="ko-KR" altLang="en-US" dirty="0"/>
              <a:t>지우고 </a:t>
            </a:r>
            <a:r>
              <a:rPr lang="en-US" altLang="ko-KR" dirty="0"/>
              <a:t>‘/’(</a:t>
            </a:r>
            <a:r>
              <a:rPr lang="ko-KR" altLang="en-US" dirty="0"/>
              <a:t>루트</a:t>
            </a:r>
            <a:r>
              <a:rPr lang="en-US" altLang="ko-KR" dirty="0"/>
              <a:t>)</a:t>
            </a:r>
            <a:r>
              <a:rPr lang="ko-KR" altLang="en-US" dirty="0"/>
              <a:t>로</a:t>
            </a:r>
            <a:r>
              <a:rPr lang="en-US" altLang="ko-KR" dirty="0"/>
              <a:t> </a:t>
            </a:r>
            <a:r>
              <a:rPr lang="ko-KR" altLang="en-US" dirty="0"/>
              <a:t>변경</a:t>
            </a:r>
            <a:r>
              <a:rPr lang="en-US" altLang="ko-KR" dirty="0"/>
              <a:t> </a:t>
            </a:r>
            <a:endParaRPr lang="ko-KR" altLang="en-US" dirty="0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8584" y="2348880"/>
            <a:ext cx="7430144" cy="3589331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052525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0" y="-18256"/>
            <a:ext cx="6969224" cy="854968"/>
          </a:xfrm>
        </p:spPr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 웹 페이지 만들기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2BF5621B-67C3-4A25-A1B1-779ADAACC6F7}"/>
              </a:ext>
            </a:extLst>
          </p:cNvPr>
          <p:cNvSpPr txBox="1">
            <a:spLocks/>
          </p:cNvSpPr>
          <p:nvPr/>
        </p:nvSpPr>
        <p:spPr>
          <a:xfrm>
            <a:off x="884548" y="980728"/>
            <a:ext cx="6228692" cy="57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 웹 페이지</a:t>
            </a:r>
            <a:r>
              <a:rPr lang="en-US" altLang="ko-KR" sz="2000" b="1" dirty="0"/>
              <a:t>(HTML, CSS, </a:t>
            </a:r>
            <a:r>
              <a:rPr lang="en-US" altLang="ko-KR" sz="2000" b="1" dirty="0" err="1"/>
              <a:t>Javascript</a:t>
            </a:r>
            <a:r>
              <a:rPr lang="en-US" altLang="ko-KR" sz="2000" b="1" dirty="0"/>
              <a:t>) </a:t>
            </a:r>
          </a:p>
          <a:p>
            <a:pPr lvl="2">
              <a:lnSpc>
                <a:spcPct val="150000"/>
              </a:lnSpc>
            </a:pPr>
            <a:endParaRPr lang="ko-KR" altLang="en-US" sz="18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6616" y="1700808"/>
            <a:ext cx="5858851" cy="4464496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956508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0" y="-18256"/>
            <a:ext cx="6969224" cy="854968"/>
          </a:xfrm>
        </p:spPr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웹 페이지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2600" y="1628800"/>
            <a:ext cx="6984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 err="1"/>
              <a:t>webapp</a:t>
            </a:r>
            <a:r>
              <a:rPr lang="en-US" altLang="ko-KR" dirty="0"/>
              <a:t> </a:t>
            </a:r>
            <a:r>
              <a:rPr lang="ko-KR" altLang="en-US" dirty="0"/>
              <a:t>하위에 </a:t>
            </a:r>
            <a:r>
              <a:rPr lang="en-US" altLang="ko-KR" dirty="0"/>
              <a:t>resources </a:t>
            </a:r>
            <a:r>
              <a:rPr lang="ko-KR" altLang="en-US" dirty="0"/>
              <a:t>폴더 생성 </a:t>
            </a:r>
            <a:r>
              <a:rPr lang="en-US" altLang="ko-KR" dirty="0"/>
              <a:t> - static(</a:t>
            </a:r>
            <a:r>
              <a:rPr lang="ko-KR" altLang="en-US" dirty="0"/>
              <a:t>정적</a:t>
            </a:r>
            <a:r>
              <a:rPr lang="en-US" altLang="ko-KR" dirty="0"/>
              <a:t>) </a:t>
            </a:r>
            <a:r>
              <a:rPr lang="ko-KR" altLang="en-US" dirty="0"/>
              <a:t>파일 저장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2BF5621B-67C3-4A25-A1B1-779ADAACC6F7}"/>
              </a:ext>
            </a:extLst>
          </p:cNvPr>
          <p:cNvSpPr txBox="1">
            <a:spLocks/>
          </p:cNvSpPr>
          <p:nvPr/>
        </p:nvSpPr>
        <p:spPr>
          <a:xfrm>
            <a:off x="884548" y="980728"/>
            <a:ext cx="6228692" cy="57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 웹 페이지</a:t>
            </a:r>
            <a:r>
              <a:rPr lang="en-US" altLang="ko-KR" sz="2000" b="1" dirty="0"/>
              <a:t>(HTML, CSS, </a:t>
            </a:r>
            <a:r>
              <a:rPr lang="en-US" altLang="ko-KR" sz="2000" b="1" dirty="0" err="1"/>
              <a:t>Javascript</a:t>
            </a:r>
            <a:r>
              <a:rPr lang="en-US" altLang="ko-KR" sz="2000" b="1" dirty="0"/>
              <a:t>) </a:t>
            </a:r>
          </a:p>
          <a:p>
            <a:pPr lvl="2">
              <a:lnSpc>
                <a:spcPct val="150000"/>
              </a:lnSpc>
            </a:pPr>
            <a:endParaRPr lang="ko-KR" altLang="en-US" sz="18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3097" y="2204864"/>
            <a:ext cx="2855887" cy="347260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5031682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0" y="-18256"/>
            <a:ext cx="6969224" cy="854968"/>
          </a:xfrm>
        </p:spPr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웹 페이지 만들기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2BF5621B-67C3-4A25-A1B1-779ADAACC6F7}"/>
              </a:ext>
            </a:extLst>
          </p:cNvPr>
          <p:cNvSpPr txBox="1">
            <a:spLocks/>
          </p:cNvSpPr>
          <p:nvPr/>
        </p:nvSpPr>
        <p:spPr>
          <a:xfrm>
            <a:off x="884548" y="980728"/>
            <a:ext cx="6228692" cy="57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 </a:t>
            </a:r>
            <a:r>
              <a:rPr lang="en-US" altLang="ko-KR" sz="2000" b="1" dirty="0" err="1"/>
              <a:t>time.jsp</a:t>
            </a:r>
            <a:r>
              <a:rPr lang="en-US" altLang="ko-KR" sz="2000" b="1" dirty="0"/>
              <a:t> </a:t>
            </a:r>
          </a:p>
          <a:p>
            <a:pPr lvl="2">
              <a:lnSpc>
                <a:spcPct val="150000"/>
              </a:lnSpc>
            </a:pPr>
            <a:endParaRPr lang="ko-KR" altLang="en-US" sz="18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609" y="1700808"/>
            <a:ext cx="6768752" cy="4179363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848264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0" y="-18256"/>
            <a:ext cx="6969224" cy="854968"/>
          </a:xfrm>
        </p:spPr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웹 페이지 만들기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2BF5621B-67C3-4A25-A1B1-779ADAACC6F7}"/>
              </a:ext>
            </a:extLst>
          </p:cNvPr>
          <p:cNvSpPr txBox="1">
            <a:spLocks/>
          </p:cNvSpPr>
          <p:nvPr/>
        </p:nvSpPr>
        <p:spPr>
          <a:xfrm>
            <a:off x="884548" y="980728"/>
            <a:ext cx="6228692" cy="57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 </a:t>
            </a:r>
            <a:r>
              <a:rPr lang="en-US" altLang="ko-KR" sz="2000" b="1" dirty="0" err="1"/>
              <a:t>time.jsp</a:t>
            </a:r>
            <a:r>
              <a:rPr lang="en-US" altLang="ko-KR" sz="2000" b="1" dirty="0"/>
              <a:t> </a:t>
            </a:r>
          </a:p>
          <a:p>
            <a:pPr lvl="2">
              <a:lnSpc>
                <a:spcPct val="150000"/>
              </a:lnSpc>
            </a:pPr>
            <a:endParaRPr lang="ko-KR" altLang="en-US" sz="18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00" y="1700808"/>
            <a:ext cx="7056784" cy="2817313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613672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5"/>
          <p:cNvSpPr txBox="1">
            <a:spLocks/>
          </p:cNvSpPr>
          <p:nvPr/>
        </p:nvSpPr>
        <p:spPr>
          <a:xfrm>
            <a:off x="0" y="-27384"/>
            <a:ext cx="7995338" cy="854968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spcBef>
                <a:spcPct val="0"/>
              </a:spcBef>
              <a:buNone/>
              <a:defRPr sz="3200" kern="120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j-cs"/>
              </a:defRPr>
            </a:lvl1pPr>
          </a:lstStyle>
          <a:p>
            <a:r>
              <a:rPr lang="en-US" altLang="ko-KR" dirty="0"/>
              <a:t> </a:t>
            </a:r>
            <a:r>
              <a:rPr lang="ko-KR" altLang="en-US" dirty="0"/>
              <a:t> </a:t>
            </a:r>
            <a:r>
              <a:rPr lang="en-US" altLang="ko-KR" dirty="0"/>
              <a:t>JSP </a:t>
            </a:r>
            <a:r>
              <a:rPr lang="ko-KR" altLang="en-US" dirty="0"/>
              <a:t>태그 </a:t>
            </a:r>
            <a:r>
              <a:rPr lang="en-US" altLang="ko-KR" dirty="0"/>
              <a:t>- </a:t>
            </a:r>
            <a:r>
              <a:rPr lang="ko-KR" altLang="en-US" dirty="0"/>
              <a:t>스크립트 태그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560" y="2996952"/>
            <a:ext cx="8280920" cy="494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1" dirty="0">
                <a:solidFill>
                  <a:srgbClr val="0070C0"/>
                </a:solidFill>
              </a:rPr>
              <a:t>스크립트 태그</a:t>
            </a:r>
            <a:r>
              <a:rPr lang="en-US" altLang="ko-KR" sz="2000" b="1" dirty="0">
                <a:solidFill>
                  <a:srgbClr val="0070C0"/>
                </a:solidFill>
              </a:rPr>
              <a:t>(script tag)</a:t>
            </a:r>
          </a:p>
        </p:txBody>
      </p:sp>
      <p:graphicFrame>
        <p:nvGraphicFramePr>
          <p:cNvPr id="28" name="표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5862458"/>
              </p:ext>
            </p:extLst>
          </p:nvPr>
        </p:nvGraphicFramePr>
        <p:xfrm>
          <a:off x="992560" y="3645024"/>
          <a:ext cx="8136904" cy="20162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80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40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스크립트 태그</a:t>
                      </a:r>
                    </a:p>
                  </a:txBody>
                  <a:tcPr anchor="ctr">
                    <a:lnL w="12700" cmpd="sng">
                      <a:noFill/>
                    </a:lnL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형식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설 명</a:t>
                      </a:r>
                    </a:p>
                  </a:txBody>
                  <a:tcPr anchor="ctr">
                    <a:lnR w="12700" cmpd="sng">
                      <a:noFill/>
                    </a:ln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56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/>
                        <a:t> </a:t>
                      </a:r>
                      <a:r>
                        <a:rPr lang="ko-KR" altLang="en-US" sz="1600" dirty="0"/>
                        <a:t>선언문</a:t>
                      </a:r>
                      <a:r>
                        <a:rPr lang="en-US" altLang="ko-KR" sz="1600" dirty="0"/>
                        <a:t>(declaration)</a:t>
                      </a:r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>
                          <a:solidFill>
                            <a:srgbClr val="C00000"/>
                          </a:solidFill>
                        </a:rPr>
                        <a:t>&lt;</a:t>
                      </a:r>
                      <a:r>
                        <a:rPr lang="en-US" altLang="ko-KR" sz="1600" b="1" dirty="0">
                          <a:solidFill>
                            <a:srgbClr val="C00000"/>
                          </a:solidFill>
                        </a:rPr>
                        <a:t>%! </a:t>
                      </a:r>
                      <a:r>
                        <a:rPr lang="en-US" altLang="ko-KR" sz="1600" b="0" baseline="0" dirty="0">
                          <a:solidFill>
                            <a:srgbClr val="C00000"/>
                          </a:solidFill>
                        </a:rPr>
                        <a:t>    </a:t>
                      </a:r>
                      <a:r>
                        <a:rPr lang="en-US" altLang="ko-KR" sz="1600" dirty="0">
                          <a:solidFill>
                            <a:srgbClr val="C00000"/>
                          </a:solidFill>
                        </a:rPr>
                        <a:t>%&gt;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/>
                        <a:t> </a:t>
                      </a:r>
                      <a:r>
                        <a:rPr lang="ko-KR" altLang="en-US" sz="1600" dirty="0"/>
                        <a:t>자바 변수나 </a:t>
                      </a:r>
                      <a:r>
                        <a:rPr lang="ko-KR" altLang="en-US" sz="1600" dirty="0" err="1"/>
                        <a:t>메소드를</a:t>
                      </a:r>
                      <a:r>
                        <a:rPr lang="ko-KR" altLang="en-US" sz="1600" dirty="0"/>
                        <a:t> 정의하는 데 사용</a:t>
                      </a:r>
                    </a:p>
                  </a:txBody>
                  <a:tcPr anchor="ctr">
                    <a:lnR w="12700" cmpd="sng"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56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/>
                        <a:t> </a:t>
                      </a:r>
                      <a:r>
                        <a:rPr lang="ko-KR" altLang="en-US" sz="1600" dirty="0" err="1"/>
                        <a:t>스크립트릿</a:t>
                      </a:r>
                      <a:r>
                        <a:rPr lang="en-US" altLang="ko-KR" sz="1600" dirty="0"/>
                        <a:t>(</a:t>
                      </a:r>
                      <a:r>
                        <a:rPr lang="en-US" altLang="ko-KR" sz="1600" dirty="0" err="1"/>
                        <a:t>scriptlet</a:t>
                      </a:r>
                      <a:r>
                        <a:rPr lang="en-US" altLang="ko-KR" sz="1600" dirty="0"/>
                        <a:t>)</a:t>
                      </a:r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>
                          <a:solidFill>
                            <a:srgbClr val="C00000"/>
                          </a:solidFill>
                        </a:rPr>
                        <a:t>&lt;</a:t>
                      </a:r>
                      <a:r>
                        <a:rPr lang="en-US" altLang="ko-KR" sz="1600" b="1" dirty="0">
                          <a:solidFill>
                            <a:srgbClr val="C00000"/>
                          </a:solidFill>
                        </a:rPr>
                        <a:t>%</a:t>
                      </a:r>
                      <a:r>
                        <a:rPr lang="en-US" altLang="ko-KR" sz="1600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1600" baseline="0" dirty="0">
                          <a:solidFill>
                            <a:srgbClr val="C00000"/>
                          </a:solidFill>
                        </a:rPr>
                        <a:t>     </a:t>
                      </a:r>
                      <a:r>
                        <a:rPr lang="en-US" altLang="ko-KR" sz="1600" dirty="0">
                          <a:solidFill>
                            <a:srgbClr val="C00000"/>
                          </a:solidFill>
                        </a:rPr>
                        <a:t>%&gt;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/>
                        <a:t> </a:t>
                      </a:r>
                      <a:r>
                        <a:rPr lang="ko-KR" altLang="en-US" sz="1600" dirty="0"/>
                        <a:t>자바 </a:t>
                      </a:r>
                      <a:r>
                        <a:rPr lang="ko-KR" altLang="en-US" sz="1600" dirty="0" err="1"/>
                        <a:t>로직</a:t>
                      </a:r>
                      <a:r>
                        <a:rPr lang="ko-KR" altLang="en-US" sz="1600" dirty="0"/>
                        <a:t> 코드를 작성하는 데 사용</a:t>
                      </a:r>
                    </a:p>
                  </a:txBody>
                  <a:tcPr anchor="ctr">
                    <a:lnR w="12700" cmpd="sng"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4056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/>
                        <a:t> </a:t>
                      </a:r>
                      <a:r>
                        <a:rPr lang="ko-KR" altLang="en-US" sz="1600" dirty="0" err="1"/>
                        <a:t>표현문</a:t>
                      </a:r>
                      <a:r>
                        <a:rPr lang="en-US" altLang="ko-KR" sz="1600" dirty="0"/>
                        <a:t>(expression)</a:t>
                      </a:r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>
                          <a:solidFill>
                            <a:srgbClr val="C00000"/>
                          </a:solidFill>
                        </a:rPr>
                        <a:t>&lt;</a:t>
                      </a:r>
                      <a:r>
                        <a:rPr lang="en-US" altLang="ko-KR" sz="1600" b="1" dirty="0">
                          <a:solidFill>
                            <a:srgbClr val="C00000"/>
                          </a:solidFill>
                        </a:rPr>
                        <a:t>%=</a:t>
                      </a:r>
                      <a:r>
                        <a:rPr lang="en-US" altLang="ko-KR" sz="1600" b="0" baseline="0" dirty="0">
                          <a:solidFill>
                            <a:srgbClr val="C00000"/>
                          </a:solidFill>
                        </a:rPr>
                        <a:t>   </a:t>
                      </a:r>
                      <a:r>
                        <a:rPr lang="en-US" altLang="ko-KR" sz="1600" dirty="0">
                          <a:solidFill>
                            <a:srgbClr val="C00000"/>
                          </a:solidFill>
                        </a:rPr>
                        <a:t> %&gt;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/>
                        <a:t> </a:t>
                      </a:r>
                      <a:r>
                        <a:rPr lang="ko-KR" altLang="en-US" sz="1600" dirty="0"/>
                        <a:t>변수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 err="1"/>
                        <a:t>메소드</a:t>
                      </a:r>
                      <a:r>
                        <a:rPr lang="ko-KR" altLang="en-US" sz="1600" dirty="0"/>
                        <a:t> 호출 결과를 문자열로 출력해 줌</a:t>
                      </a:r>
                    </a:p>
                  </a:txBody>
                  <a:tcPr anchor="ctr">
                    <a:lnR w="12700" cmpd="sng"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92560" y="980728"/>
            <a:ext cx="8280920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200" b="1" dirty="0"/>
              <a:t>JSP </a:t>
            </a:r>
            <a:r>
              <a:rPr lang="ko-KR" altLang="en-US" sz="2200" b="1" dirty="0"/>
              <a:t>태그</a:t>
            </a:r>
            <a:endParaRPr lang="en-US" altLang="ko-KR" sz="2200" b="1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b="1" dirty="0"/>
              <a:t>스크립트 태그 </a:t>
            </a:r>
            <a:r>
              <a:rPr lang="en-US" altLang="ko-KR" dirty="0"/>
              <a:t>: HTML </a:t>
            </a:r>
            <a:r>
              <a:rPr lang="ko-KR" altLang="en-US" dirty="0"/>
              <a:t>코드에</a:t>
            </a:r>
            <a:r>
              <a:rPr lang="en-US" altLang="ko-KR" dirty="0"/>
              <a:t> </a:t>
            </a:r>
            <a:r>
              <a:rPr lang="ko-KR" altLang="en-US" dirty="0"/>
              <a:t>자바 코드를 넣어 프로그램을 수행하는 기능</a:t>
            </a:r>
            <a:endParaRPr lang="en-US" altLang="ko-KR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b="1" dirty="0" err="1"/>
              <a:t>디렉티브</a:t>
            </a:r>
            <a:r>
              <a:rPr lang="ko-KR" altLang="en-US" b="1" dirty="0"/>
              <a:t> 태그 </a:t>
            </a:r>
            <a:r>
              <a:rPr lang="en-US" altLang="ko-KR" dirty="0"/>
              <a:t>: </a:t>
            </a:r>
            <a:r>
              <a:rPr lang="ko-KR" altLang="en-US" dirty="0"/>
              <a:t>현재 </a:t>
            </a:r>
            <a:r>
              <a:rPr lang="en-US" altLang="ko-KR" dirty="0"/>
              <a:t>JSP </a:t>
            </a:r>
            <a:r>
              <a:rPr lang="ko-KR" altLang="en-US" dirty="0"/>
              <a:t>페이지에 대한 정보를 설정하는 태그</a:t>
            </a:r>
            <a:endParaRPr lang="en-US" altLang="ko-KR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b="1" dirty="0"/>
              <a:t>액션 태그 </a:t>
            </a:r>
            <a:r>
              <a:rPr lang="en-US" altLang="ko-KR" dirty="0"/>
              <a:t>: </a:t>
            </a:r>
            <a:r>
              <a:rPr lang="ko-KR" altLang="en-US" dirty="0"/>
              <a:t>클라이언트</a:t>
            </a:r>
            <a:r>
              <a:rPr lang="en-US" altLang="ko-KR" dirty="0"/>
              <a:t>/</a:t>
            </a:r>
            <a:r>
              <a:rPr lang="ko-KR" altLang="en-US" dirty="0"/>
              <a:t>서버에 어떤 작동을 행하도록 명령을 지시하는 태그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07926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5"/>
          <p:cNvSpPr txBox="1">
            <a:spLocks/>
          </p:cNvSpPr>
          <p:nvPr/>
        </p:nvSpPr>
        <p:spPr>
          <a:xfrm>
            <a:off x="0" y="-27384"/>
            <a:ext cx="7995338" cy="854968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spcBef>
                <a:spcPct val="0"/>
              </a:spcBef>
              <a:buNone/>
              <a:defRPr sz="3200" kern="120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j-cs"/>
              </a:defRPr>
            </a:lvl1pPr>
          </a:lstStyle>
          <a:p>
            <a:r>
              <a:rPr lang="en-US" altLang="ko-KR" dirty="0"/>
              <a:t> </a:t>
            </a:r>
            <a:r>
              <a:rPr lang="ko-KR" altLang="en-US" dirty="0"/>
              <a:t> </a:t>
            </a:r>
            <a:r>
              <a:rPr lang="en-US" altLang="ko-KR" dirty="0"/>
              <a:t>JSP </a:t>
            </a:r>
            <a:r>
              <a:rPr lang="ko-KR" altLang="en-US" dirty="0"/>
              <a:t>태그 </a:t>
            </a:r>
            <a:r>
              <a:rPr lang="en-US" altLang="ko-KR" dirty="0"/>
              <a:t>- </a:t>
            </a:r>
            <a:r>
              <a:rPr lang="ko-KR" altLang="en-US" dirty="0"/>
              <a:t>스크립트 태그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2560" y="980728"/>
            <a:ext cx="828092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200" b="1" dirty="0" err="1"/>
              <a:t>구글</a:t>
            </a:r>
            <a:r>
              <a:rPr lang="ko-KR" altLang="en-US" sz="2200" b="1" dirty="0"/>
              <a:t> </a:t>
            </a:r>
            <a:r>
              <a:rPr lang="en-US" altLang="ko-KR" sz="2200" b="1" dirty="0"/>
              <a:t>- JSP Document - </a:t>
            </a:r>
            <a:r>
              <a:rPr lang="ko-KR" altLang="en-US" sz="2200" b="1" dirty="0"/>
              <a:t>검색</a:t>
            </a:r>
            <a:endParaRPr lang="en-US" altLang="ko-KR" sz="2200" b="1" dirty="0"/>
          </a:p>
        </p:txBody>
      </p:sp>
      <p:sp>
        <p:nvSpPr>
          <p:cNvPr id="2" name="직사각형 1"/>
          <p:cNvSpPr/>
          <p:nvPr/>
        </p:nvSpPr>
        <p:spPr>
          <a:xfrm>
            <a:off x="1280591" y="1628800"/>
            <a:ext cx="498085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hlinkClick r:id="rId2"/>
              </a:rPr>
              <a:t>https://docs.oracle.com/javaee/5/tutorial/doc/</a:t>
            </a:r>
            <a:endParaRPr lang="en-US" altLang="ko-KR" dirty="0"/>
          </a:p>
          <a:p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568" y="2852936"/>
            <a:ext cx="8128904" cy="3168352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640" y="2172494"/>
            <a:ext cx="4306342" cy="515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7209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5"/>
          <p:cNvSpPr txBox="1">
            <a:spLocks/>
          </p:cNvSpPr>
          <p:nvPr/>
        </p:nvSpPr>
        <p:spPr>
          <a:xfrm>
            <a:off x="0" y="-27384"/>
            <a:ext cx="7995338" cy="854968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spcBef>
                <a:spcPct val="0"/>
              </a:spcBef>
              <a:buNone/>
              <a:defRPr sz="3200" kern="120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j-cs"/>
              </a:defRPr>
            </a:lvl1pPr>
          </a:lstStyle>
          <a:p>
            <a:r>
              <a:rPr lang="en-US" altLang="ko-KR" dirty="0"/>
              <a:t> </a:t>
            </a:r>
            <a:r>
              <a:rPr lang="ko-KR" altLang="en-US" dirty="0"/>
              <a:t> </a:t>
            </a:r>
            <a:r>
              <a:rPr lang="en-US" altLang="ko-KR" dirty="0"/>
              <a:t>JSP </a:t>
            </a:r>
            <a:r>
              <a:rPr lang="ko-KR" altLang="en-US" dirty="0"/>
              <a:t>태그 </a:t>
            </a:r>
            <a:r>
              <a:rPr lang="en-US" altLang="ko-KR" dirty="0"/>
              <a:t>- </a:t>
            </a:r>
            <a:r>
              <a:rPr lang="ko-KR" altLang="en-US" dirty="0"/>
              <a:t>스크립트 태그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8112" y="1007400"/>
            <a:ext cx="3944888" cy="494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1"/>
              <a:t>스크립트 태그 예제</a:t>
            </a:r>
            <a:endParaRPr lang="en-US" altLang="ko-KR" sz="2000" b="1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608" y="1772816"/>
            <a:ext cx="3742342" cy="2767774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845310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5"/>
          <p:cNvSpPr txBox="1">
            <a:spLocks/>
          </p:cNvSpPr>
          <p:nvPr/>
        </p:nvSpPr>
        <p:spPr>
          <a:xfrm>
            <a:off x="0" y="-27384"/>
            <a:ext cx="7995338" cy="854968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spcBef>
                <a:spcPct val="0"/>
              </a:spcBef>
              <a:buNone/>
              <a:defRPr sz="3200" kern="120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j-cs"/>
              </a:defRPr>
            </a:lvl1pPr>
          </a:lstStyle>
          <a:p>
            <a:r>
              <a:rPr lang="en-US" altLang="ko-KR" dirty="0"/>
              <a:t> </a:t>
            </a:r>
            <a:r>
              <a:rPr lang="ko-KR" altLang="en-US" dirty="0"/>
              <a:t> </a:t>
            </a:r>
            <a:r>
              <a:rPr lang="en-US" altLang="ko-KR" dirty="0"/>
              <a:t>JSP </a:t>
            </a:r>
            <a:r>
              <a:rPr lang="ko-KR" altLang="en-US" dirty="0"/>
              <a:t>태그 </a:t>
            </a:r>
            <a:r>
              <a:rPr lang="en-US" altLang="ko-KR" dirty="0"/>
              <a:t>- </a:t>
            </a:r>
            <a:r>
              <a:rPr lang="ko-KR" altLang="en-US" dirty="0"/>
              <a:t>스크립트 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8584" y="5970766"/>
            <a:ext cx="84093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solidFill>
                  <a:srgbClr val="C00000"/>
                </a:solidFill>
              </a:rPr>
              <a:t>소스보기 </a:t>
            </a:r>
            <a:r>
              <a:rPr lang="en-US" altLang="ko-KR" sz="1600" dirty="0">
                <a:solidFill>
                  <a:srgbClr val="C00000"/>
                </a:solidFill>
              </a:rPr>
              <a:t>– </a:t>
            </a:r>
            <a:r>
              <a:rPr lang="en-US" altLang="ko-KR" sz="1600" dirty="0" err="1">
                <a:solidFill>
                  <a:srgbClr val="C00000"/>
                </a:solidFill>
              </a:rPr>
              <a:t>jsp</a:t>
            </a:r>
            <a:r>
              <a:rPr lang="en-US" altLang="ko-KR" sz="1600" dirty="0">
                <a:solidFill>
                  <a:srgbClr val="C00000"/>
                </a:solidFill>
              </a:rPr>
              <a:t> </a:t>
            </a:r>
            <a:r>
              <a:rPr lang="ko-KR" altLang="en-US" sz="1600" dirty="0">
                <a:solidFill>
                  <a:srgbClr val="C00000"/>
                </a:solidFill>
              </a:rPr>
              <a:t>태그는 서버에서 처리되므로 클라이언트</a:t>
            </a:r>
            <a:r>
              <a:rPr lang="en-US" altLang="ko-KR" sz="1600" dirty="0">
                <a:solidFill>
                  <a:srgbClr val="C00000"/>
                </a:solidFill>
              </a:rPr>
              <a:t>(</a:t>
            </a:r>
            <a:r>
              <a:rPr lang="ko-KR" altLang="en-US" sz="1600" dirty="0">
                <a:solidFill>
                  <a:srgbClr val="C00000"/>
                </a:solidFill>
              </a:rPr>
              <a:t>웹 브라우저</a:t>
            </a:r>
            <a:r>
              <a:rPr lang="en-US" altLang="ko-KR" sz="1600" dirty="0">
                <a:solidFill>
                  <a:srgbClr val="C00000"/>
                </a:solidFill>
              </a:rPr>
              <a:t>)</a:t>
            </a:r>
            <a:r>
              <a:rPr lang="ko-KR" altLang="en-US" sz="1600" dirty="0">
                <a:solidFill>
                  <a:srgbClr val="C00000"/>
                </a:solidFill>
              </a:rPr>
              <a:t>에서는 보이지 않음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8112" y="1007400"/>
            <a:ext cx="3944888" cy="494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1"/>
              <a:t>스크립트 태그 예제</a:t>
            </a:r>
            <a:endParaRPr lang="en-US" altLang="ko-KR" sz="2000" b="1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395" y="1645389"/>
            <a:ext cx="5272547" cy="4122568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5208" y="2492895"/>
            <a:ext cx="2700762" cy="3275061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5876755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5"/>
          <p:cNvSpPr txBox="1">
            <a:spLocks/>
          </p:cNvSpPr>
          <p:nvPr/>
        </p:nvSpPr>
        <p:spPr>
          <a:xfrm>
            <a:off x="0" y="-27384"/>
            <a:ext cx="7995338" cy="854968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spcBef>
                <a:spcPct val="0"/>
              </a:spcBef>
              <a:buNone/>
              <a:defRPr sz="3200" kern="120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j-cs"/>
              </a:defRPr>
            </a:lvl1pPr>
          </a:lstStyle>
          <a:p>
            <a:r>
              <a:rPr lang="en-US" altLang="ko-KR" dirty="0"/>
              <a:t> JSP </a:t>
            </a:r>
            <a:r>
              <a:rPr lang="ko-KR" altLang="en-US" dirty="0"/>
              <a:t>태그 </a:t>
            </a:r>
            <a:r>
              <a:rPr lang="en-US" altLang="ko-KR" dirty="0"/>
              <a:t>- </a:t>
            </a:r>
            <a:r>
              <a:rPr lang="ko-KR" altLang="en-US" dirty="0" err="1"/>
              <a:t>디렉티브</a:t>
            </a:r>
            <a:r>
              <a:rPr lang="ko-KR" altLang="en-US" dirty="0"/>
              <a:t> 태그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560" y="1000530"/>
            <a:ext cx="8712968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200" b="1" dirty="0" err="1"/>
              <a:t>디렉티브</a:t>
            </a:r>
            <a:r>
              <a:rPr lang="ko-KR" altLang="en-US" sz="2200" b="1" dirty="0"/>
              <a:t> 태그</a:t>
            </a:r>
            <a:endParaRPr lang="en-US" altLang="ko-KR" sz="2200" b="1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JSP </a:t>
            </a:r>
            <a:r>
              <a:rPr lang="ko-KR" altLang="en-US" dirty="0"/>
              <a:t>페이지를 어떻게 처리할 것인지를 설정하는 태그</a:t>
            </a:r>
            <a:endParaRPr lang="en-US" altLang="ko-KR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JSP </a:t>
            </a:r>
            <a:r>
              <a:rPr lang="ko-KR" altLang="en-US" dirty="0"/>
              <a:t>페이지가 </a:t>
            </a:r>
            <a:r>
              <a:rPr lang="ko-KR" altLang="en-US" dirty="0" err="1"/>
              <a:t>서블릿</a:t>
            </a:r>
            <a:r>
              <a:rPr lang="ko-KR" altLang="en-US" dirty="0"/>
              <a:t> 프로그램에서 </a:t>
            </a:r>
            <a:r>
              <a:rPr lang="ko-KR" altLang="en-US" dirty="0" err="1"/>
              <a:t>서블릿</a:t>
            </a:r>
            <a:r>
              <a:rPr lang="ko-KR" altLang="en-US" dirty="0"/>
              <a:t> 클래스로 변환할 때 </a:t>
            </a:r>
            <a:r>
              <a:rPr lang="en-US" altLang="ko-KR" dirty="0"/>
              <a:t>JSP </a:t>
            </a:r>
            <a:r>
              <a:rPr lang="ko-KR" altLang="en-US" dirty="0"/>
              <a:t>페이지와 관련된 정보를 </a:t>
            </a:r>
            <a:r>
              <a:rPr lang="en-US" altLang="ko-KR" dirty="0"/>
              <a:t>JSP </a:t>
            </a:r>
            <a:r>
              <a:rPr lang="ko-KR" altLang="en-US" dirty="0"/>
              <a:t>컨테이너에 지시하는 메시지 이다</a:t>
            </a:r>
            <a:r>
              <a:rPr lang="en-US" altLang="ko-KR" dirty="0"/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560" y="3140968"/>
            <a:ext cx="828092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 err="1">
                <a:solidFill>
                  <a:srgbClr val="0070C0"/>
                </a:solidFill>
              </a:rPr>
              <a:t>디렉티브</a:t>
            </a:r>
            <a:r>
              <a:rPr lang="ko-KR" altLang="en-US" b="1" dirty="0">
                <a:solidFill>
                  <a:srgbClr val="0070C0"/>
                </a:solidFill>
              </a:rPr>
              <a:t> 태그의 종류</a:t>
            </a:r>
            <a:endParaRPr lang="en-US" altLang="ko-KR" b="1" dirty="0">
              <a:solidFill>
                <a:srgbClr val="0070C0"/>
              </a:solidFill>
            </a:endParaRPr>
          </a:p>
        </p:txBody>
      </p:sp>
      <p:graphicFrame>
        <p:nvGraphicFramePr>
          <p:cNvPr id="10" name="표 9"/>
          <p:cNvGraphicFramePr>
            <a:graphicFrameLocks noGrp="1"/>
          </p:cNvGraphicFramePr>
          <p:nvPr/>
        </p:nvGraphicFramePr>
        <p:xfrm>
          <a:off x="992560" y="3789040"/>
          <a:ext cx="8424936" cy="17281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1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6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err="1"/>
                        <a:t>디렉티브</a:t>
                      </a:r>
                      <a:r>
                        <a:rPr lang="ko-KR" altLang="en-US" sz="1800" dirty="0"/>
                        <a:t> 태그</a:t>
                      </a:r>
                    </a:p>
                  </a:txBody>
                  <a:tcPr anchor="ctr">
                    <a:lnL w="12700" cmpd="sng">
                      <a:noFill/>
                    </a:lnL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/>
                        <a:t>형식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/>
                        <a:t>설 명</a:t>
                      </a:r>
                    </a:p>
                  </a:txBody>
                  <a:tcPr anchor="ctr">
                    <a:lnR w="12700" cmpd="sng">
                      <a:noFill/>
                    </a:ln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800" dirty="0"/>
                        <a:t> page</a:t>
                      </a:r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800" dirty="0">
                          <a:solidFill>
                            <a:srgbClr val="C00000"/>
                          </a:solidFill>
                        </a:rPr>
                        <a:t>&lt;%@</a:t>
                      </a:r>
                      <a:r>
                        <a:rPr lang="en-US" altLang="ko-KR" sz="1800" baseline="0" dirty="0">
                          <a:solidFill>
                            <a:srgbClr val="C00000"/>
                          </a:solidFill>
                        </a:rPr>
                        <a:t> page …</a:t>
                      </a:r>
                      <a:r>
                        <a:rPr lang="en-US" altLang="ko-KR" sz="1800" dirty="0">
                          <a:solidFill>
                            <a:srgbClr val="C00000"/>
                          </a:solidFill>
                        </a:rPr>
                        <a:t> %&gt;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/>
                        <a:t> JSP </a:t>
                      </a:r>
                      <a:r>
                        <a:rPr lang="ko-KR" altLang="en-US" sz="1600" dirty="0"/>
                        <a:t>페이지에 대한 정보를 설정</a:t>
                      </a:r>
                    </a:p>
                  </a:txBody>
                  <a:tcPr anchor="ctr">
                    <a:lnR w="12700" cmpd="sng"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800" dirty="0"/>
                        <a:t> include</a:t>
                      </a:r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800" dirty="0">
                          <a:solidFill>
                            <a:srgbClr val="C00000"/>
                          </a:solidFill>
                        </a:rPr>
                        <a:t>&lt;%@</a:t>
                      </a:r>
                      <a:r>
                        <a:rPr lang="en-US" altLang="ko-KR" sz="1800" baseline="0" dirty="0">
                          <a:solidFill>
                            <a:srgbClr val="C00000"/>
                          </a:solidFill>
                        </a:rPr>
                        <a:t> include …</a:t>
                      </a:r>
                      <a:r>
                        <a:rPr lang="en-US" altLang="ko-KR" sz="1800" dirty="0">
                          <a:solidFill>
                            <a:srgbClr val="C00000"/>
                          </a:solidFill>
                        </a:rPr>
                        <a:t> %&gt;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/>
                        <a:t> JSP </a:t>
                      </a:r>
                      <a:r>
                        <a:rPr lang="ko-KR" altLang="en-US" sz="1600" dirty="0"/>
                        <a:t>페이지의 특정 영역에 다른 문서 포함</a:t>
                      </a:r>
                    </a:p>
                  </a:txBody>
                  <a:tcPr anchor="ctr">
                    <a:lnR w="12700" cmpd="sng"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800" dirty="0"/>
                        <a:t> </a:t>
                      </a:r>
                      <a:r>
                        <a:rPr lang="en-US" altLang="ko-KR" sz="1800" dirty="0" err="1"/>
                        <a:t>taglib</a:t>
                      </a:r>
                      <a:endParaRPr lang="en-US" altLang="ko-KR" sz="1800" dirty="0"/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800" dirty="0">
                          <a:solidFill>
                            <a:srgbClr val="C00000"/>
                          </a:solidFill>
                        </a:rPr>
                        <a:t>&lt;%@</a:t>
                      </a:r>
                      <a:r>
                        <a:rPr lang="en-US" altLang="ko-KR" sz="1800" baseline="0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1800" baseline="0" dirty="0" err="1">
                          <a:solidFill>
                            <a:srgbClr val="C00000"/>
                          </a:solidFill>
                        </a:rPr>
                        <a:t>taglib</a:t>
                      </a:r>
                      <a:r>
                        <a:rPr lang="en-US" altLang="ko-KR" sz="1800" baseline="0" dirty="0">
                          <a:solidFill>
                            <a:srgbClr val="C00000"/>
                          </a:solidFill>
                        </a:rPr>
                        <a:t> …</a:t>
                      </a:r>
                      <a:r>
                        <a:rPr lang="en-US" altLang="ko-KR" sz="1800" dirty="0">
                          <a:solidFill>
                            <a:srgbClr val="C00000"/>
                          </a:solidFill>
                        </a:rPr>
                        <a:t> %&gt;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/>
                        <a:t> JSP </a:t>
                      </a:r>
                      <a:r>
                        <a:rPr lang="ko-KR" altLang="en-US" sz="1600" dirty="0"/>
                        <a:t>페이지에 사용할 태그 라이브러리 설정</a:t>
                      </a:r>
                    </a:p>
                  </a:txBody>
                  <a:tcPr anchor="ctr">
                    <a:lnR w="12700" cmpd="sng"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31051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5"/>
          <p:cNvSpPr txBox="1">
            <a:spLocks/>
          </p:cNvSpPr>
          <p:nvPr/>
        </p:nvSpPr>
        <p:spPr>
          <a:xfrm>
            <a:off x="0" y="-27384"/>
            <a:ext cx="7995338" cy="854968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spcBef>
                <a:spcPct val="0"/>
              </a:spcBef>
              <a:buNone/>
              <a:defRPr sz="3200" kern="120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j-cs"/>
              </a:defRPr>
            </a:lvl1pPr>
          </a:lstStyle>
          <a:p>
            <a:r>
              <a:rPr lang="en-US" altLang="ko-KR" dirty="0"/>
              <a:t> JSP </a:t>
            </a:r>
            <a:r>
              <a:rPr lang="ko-KR" altLang="en-US" dirty="0"/>
              <a:t>태그 </a:t>
            </a:r>
            <a:r>
              <a:rPr lang="en-US" altLang="ko-KR" dirty="0"/>
              <a:t>- </a:t>
            </a:r>
            <a:r>
              <a:rPr lang="ko-KR" altLang="en-US" dirty="0" err="1"/>
              <a:t>디렉티브</a:t>
            </a:r>
            <a:r>
              <a:rPr lang="ko-KR" altLang="en-US" dirty="0"/>
              <a:t> 태그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560" y="1000530"/>
            <a:ext cx="8712968" cy="1431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200" b="1" dirty="0"/>
              <a:t>page </a:t>
            </a:r>
            <a:r>
              <a:rPr lang="ko-KR" altLang="en-US" sz="2200" b="1" dirty="0" err="1"/>
              <a:t>디렉티브</a:t>
            </a:r>
            <a:r>
              <a:rPr lang="ko-KR" altLang="en-US" sz="2200" b="1" dirty="0"/>
              <a:t> 태그 </a:t>
            </a:r>
            <a:r>
              <a:rPr lang="en-US" altLang="ko-KR" sz="2200" b="1" dirty="0"/>
              <a:t>– </a:t>
            </a:r>
            <a:r>
              <a:rPr lang="en-US" altLang="ko-KR" sz="2200" b="1" dirty="0" err="1"/>
              <a:t>contentType</a:t>
            </a:r>
            <a:r>
              <a:rPr lang="en-US" altLang="ko-KR" sz="2200" b="1" dirty="0"/>
              <a:t> </a:t>
            </a:r>
            <a:r>
              <a:rPr lang="ko-KR" altLang="en-US" sz="2200" b="1" dirty="0"/>
              <a:t>속성</a:t>
            </a:r>
            <a:endParaRPr lang="en-US" altLang="ko-KR" sz="2200" b="1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현재 </a:t>
            </a:r>
            <a:r>
              <a:rPr lang="en-US" altLang="ko-KR" dirty="0"/>
              <a:t>JSP </a:t>
            </a:r>
            <a:r>
              <a:rPr lang="ko-KR" altLang="en-US" dirty="0"/>
              <a:t>페이지에 대한 정보를 설정하는 태그</a:t>
            </a:r>
            <a:endParaRPr lang="en-US" altLang="ko-KR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 err="1"/>
              <a:t>콘텐츠</a:t>
            </a:r>
            <a:r>
              <a:rPr lang="ko-KR" altLang="en-US" dirty="0"/>
              <a:t> 문서의 유형</a:t>
            </a:r>
            <a:r>
              <a:rPr lang="en-US" altLang="ko-KR" dirty="0"/>
              <a:t>, </a:t>
            </a:r>
            <a:r>
              <a:rPr lang="ko-KR" altLang="en-US" dirty="0"/>
              <a:t>사용할 자바 클래스</a:t>
            </a:r>
            <a:r>
              <a:rPr lang="en-US" altLang="ko-KR" dirty="0"/>
              <a:t>, </a:t>
            </a:r>
            <a:r>
              <a:rPr lang="ko-KR" altLang="en-US" dirty="0"/>
              <a:t>오류 페이지 설정</a:t>
            </a:r>
            <a:r>
              <a:rPr lang="en-US" altLang="ko-KR" dirty="0"/>
              <a:t>, </a:t>
            </a:r>
            <a:r>
              <a:rPr lang="ko-KR" altLang="en-US" dirty="0"/>
              <a:t>세션 사용 여부 등</a:t>
            </a:r>
            <a:endParaRPr lang="en-US" altLang="ko-KR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0223" y="3452364"/>
            <a:ext cx="4877605" cy="220956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92DA8B4-17B2-454B-97AC-17311A4832C5}"/>
              </a:ext>
            </a:extLst>
          </p:cNvPr>
          <p:cNvSpPr/>
          <p:nvPr/>
        </p:nvSpPr>
        <p:spPr>
          <a:xfrm>
            <a:off x="2216209" y="3356992"/>
            <a:ext cx="5184576" cy="360040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300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216696" y="2575436"/>
            <a:ext cx="5328592" cy="408623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rgbClr val="C00000"/>
                </a:solidFill>
              </a:rPr>
              <a:t>&lt;%@</a:t>
            </a:r>
            <a:r>
              <a:rPr lang="en-US" altLang="ko-KR" b="1" dirty="0"/>
              <a:t> </a:t>
            </a:r>
            <a:r>
              <a:rPr lang="en-US" altLang="ko-KR" b="1" dirty="0">
                <a:solidFill>
                  <a:srgbClr val="C00000"/>
                </a:solidFill>
              </a:rPr>
              <a:t>page </a:t>
            </a:r>
            <a:r>
              <a:rPr lang="en-US" altLang="ko-KR" b="1" dirty="0" err="1">
                <a:solidFill>
                  <a:srgbClr val="C00000"/>
                </a:solidFill>
              </a:rPr>
              <a:t>contentType</a:t>
            </a:r>
            <a:r>
              <a:rPr lang="en-US" altLang="ko-KR" b="1" dirty="0">
                <a:solidFill>
                  <a:srgbClr val="C00000"/>
                </a:solidFill>
              </a:rPr>
              <a:t> </a:t>
            </a:r>
            <a:r>
              <a:rPr lang="en-US" altLang="ko-KR" b="1" dirty="0"/>
              <a:t>= “</a:t>
            </a:r>
            <a:r>
              <a:rPr lang="ko-KR" altLang="en-US" b="1" dirty="0"/>
              <a:t>문서의 유형</a:t>
            </a:r>
            <a:r>
              <a:rPr lang="en-US" altLang="ko-KR" b="1" dirty="0"/>
              <a:t>” </a:t>
            </a:r>
            <a:r>
              <a:rPr lang="en-US" altLang="ko-KR" b="1" dirty="0">
                <a:solidFill>
                  <a:srgbClr val="C00000"/>
                </a:solidFill>
              </a:rPr>
              <a:t>%&gt;</a:t>
            </a:r>
            <a:endParaRPr lang="ko-KR" altLang="en-US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87763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5"/>
          <p:cNvSpPr txBox="1">
            <a:spLocks/>
          </p:cNvSpPr>
          <p:nvPr/>
        </p:nvSpPr>
        <p:spPr>
          <a:xfrm>
            <a:off x="0" y="-27384"/>
            <a:ext cx="7995338" cy="854968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spcBef>
                <a:spcPct val="0"/>
              </a:spcBef>
              <a:buNone/>
              <a:defRPr sz="3200" kern="120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j-cs"/>
              </a:defRPr>
            </a:lvl1pPr>
          </a:lstStyle>
          <a:p>
            <a:r>
              <a:rPr lang="en-US" altLang="ko-KR" dirty="0"/>
              <a:t> JSP </a:t>
            </a:r>
            <a:r>
              <a:rPr lang="ko-KR" altLang="en-US" dirty="0"/>
              <a:t>태그 </a:t>
            </a:r>
            <a:r>
              <a:rPr lang="en-US" altLang="ko-KR" dirty="0"/>
              <a:t>- </a:t>
            </a:r>
            <a:r>
              <a:rPr lang="ko-KR" altLang="en-US" dirty="0" err="1"/>
              <a:t>디렉티브</a:t>
            </a:r>
            <a:r>
              <a:rPr lang="ko-KR" altLang="en-US" dirty="0"/>
              <a:t> 태그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560" y="1000530"/>
            <a:ext cx="871296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b="1" dirty="0"/>
              <a:t>page </a:t>
            </a:r>
            <a:r>
              <a:rPr lang="ko-KR" altLang="en-US" sz="2000" b="1" dirty="0" err="1"/>
              <a:t>디렉티브</a:t>
            </a:r>
            <a:r>
              <a:rPr lang="ko-KR" altLang="en-US" sz="2000" b="1" dirty="0"/>
              <a:t> 태그 </a:t>
            </a:r>
            <a:r>
              <a:rPr lang="en-US" altLang="ko-KR" sz="2000" b="1" dirty="0"/>
              <a:t>– import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0566" y="1736454"/>
            <a:ext cx="4834205" cy="408623"/>
          </a:xfrm>
          <a:prstGeom prst="round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rgbClr val="C00000"/>
                </a:solidFill>
              </a:rPr>
              <a:t>&lt;%@</a:t>
            </a:r>
            <a:r>
              <a:rPr lang="en-US" altLang="ko-KR" b="1" dirty="0"/>
              <a:t> </a:t>
            </a:r>
            <a:r>
              <a:rPr lang="en-US" altLang="ko-KR" b="1" dirty="0">
                <a:solidFill>
                  <a:srgbClr val="C00000"/>
                </a:solidFill>
              </a:rPr>
              <a:t>page import </a:t>
            </a:r>
            <a:r>
              <a:rPr lang="en-US" altLang="ko-KR" b="1" dirty="0"/>
              <a:t>= “</a:t>
            </a:r>
            <a:r>
              <a:rPr lang="ko-KR" altLang="en-US" b="1" dirty="0"/>
              <a:t>자바클래스</a:t>
            </a:r>
            <a:r>
              <a:rPr lang="en-US" altLang="ko-KR" b="1" dirty="0"/>
              <a:t>” </a:t>
            </a:r>
            <a:r>
              <a:rPr lang="en-US" altLang="ko-KR" b="1" dirty="0">
                <a:solidFill>
                  <a:srgbClr val="C00000"/>
                </a:solidFill>
              </a:rPr>
              <a:t>%&gt;</a:t>
            </a:r>
            <a:endParaRPr lang="ko-KR" altLang="en-US" b="1" dirty="0">
              <a:solidFill>
                <a:srgbClr val="C00000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632" y="2302203"/>
            <a:ext cx="6760268" cy="4044156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3669194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5"/>
          <p:cNvSpPr txBox="1">
            <a:spLocks/>
          </p:cNvSpPr>
          <p:nvPr/>
        </p:nvSpPr>
        <p:spPr>
          <a:xfrm>
            <a:off x="0" y="-27384"/>
            <a:ext cx="7995338" cy="854968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spcBef>
                <a:spcPct val="0"/>
              </a:spcBef>
              <a:buNone/>
              <a:defRPr sz="3200" kern="120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j-cs"/>
              </a:defRPr>
            </a:lvl1pPr>
          </a:lstStyle>
          <a:p>
            <a:r>
              <a:rPr lang="en-US" altLang="ko-KR" dirty="0"/>
              <a:t> JSP </a:t>
            </a:r>
            <a:r>
              <a:rPr lang="ko-KR" altLang="en-US" dirty="0"/>
              <a:t>태그 </a:t>
            </a:r>
            <a:r>
              <a:rPr lang="en-US" altLang="ko-KR" dirty="0"/>
              <a:t>- </a:t>
            </a:r>
            <a:r>
              <a:rPr lang="ko-KR" altLang="en-US" dirty="0" err="1"/>
              <a:t>디렉티브</a:t>
            </a:r>
            <a:r>
              <a:rPr lang="ko-KR" altLang="en-US" dirty="0"/>
              <a:t> 태그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560" y="1000530"/>
            <a:ext cx="871296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b="1" dirty="0"/>
              <a:t>page </a:t>
            </a:r>
            <a:r>
              <a:rPr lang="ko-KR" altLang="en-US" sz="2000" b="1" dirty="0" err="1"/>
              <a:t>디렉티브</a:t>
            </a:r>
            <a:r>
              <a:rPr lang="ko-KR" altLang="en-US" sz="2000" b="1" dirty="0"/>
              <a:t> 태그</a:t>
            </a:r>
            <a:endParaRPr lang="en-US" altLang="ko-KR" sz="2000" b="1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608" y="1749340"/>
            <a:ext cx="6383767" cy="3328221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5008" y="4552293"/>
            <a:ext cx="3829700" cy="1440160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237888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5"/>
          <p:cNvSpPr txBox="1">
            <a:spLocks/>
          </p:cNvSpPr>
          <p:nvPr/>
        </p:nvSpPr>
        <p:spPr>
          <a:xfrm>
            <a:off x="0" y="-27384"/>
            <a:ext cx="7995338" cy="854968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spcBef>
                <a:spcPct val="0"/>
              </a:spcBef>
              <a:buNone/>
              <a:defRPr sz="3200" kern="120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j-cs"/>
              </a:defRPr>
            </a:lvl1pPr>
          </a:lstStyle>
          <a:p>
            <a:r>
              <a:rPr lang="en-US" altLang="ko-KR" dirty="0"/>
              <a:t> JSP </a:t>
            </a:r>
            <a:r>
              <a:rPr lang="ko-KR" altLang="en-US" dirty="0"/>
              <a:t>태그 </a:t>
            </a:r>
            <a:r>
              <a:rPr lang="en-US" altLang="ko-KR" dirty="0"/>
              <a:t>- </a:t>
            </a:r>
            <a:r>
              <a:rPr lang="ko-KR" altLang="en-US" dirty="0" err="1"/>
              <a:t>디렉티브</a:t>
            </a:r>
            <a:r>
              <a:rPr lang="ko-KR" altLang="en-US" dirty="0"/>
              <a:t> 태그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560" y="1000530"/>
            <a:ext cx="8712968" cy="494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b="1" dirty="0"/>
              <a:t>include </a:t>
            </a:r>
            <a:r>
              <a:rPr lang="ko-KR" altLang="en-US" sz="2000" b="1" dirty="0" err="1"/>
              <a:t>디렉티브</a:t>
            </a:r>
            <a:r>
              <a:rPr lang="ko-KR" altLang="en-US" sz="2000" b="1" dirty="0"/>
              <a:t> 태그</a:t>
            </a:r>
            <a:endParaRPr lang="en-US" altLang="ko-KR" sz="2000" b="1" dirty="0"/>
          </a:p>
        </p:txBody>
      </p:sp>
      <p:sp>
        <p:nvSpPr>
          <p:cNvPr id="7" name="TextBox 6"/>
          <p:cNvSpPr txBox="1"/>
          <p:nvPr/>
        </p:nvSpPr>
        <p:spPr>
          <a:xfrm>
            <a:off x="2207027" y="1652225"/>
            <a:ext cx="3826093" cy="40862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rgbClr val="C00000"/>
                </a:solidFill>
              </a:rPr>
              <a:t>&lt;%@</a:t>
            </a:r>
            <a:r>
              <a:rPr lang="en-US" altLang="ko-KR" b="1" dirty="0"/>
              <a:t> </a:t>
            </a:r>
            <a:r>
              <a:rPr lang="en-US" altLang="ko-KR" b="1" dirty="0">
                <a:solidFill>
                  <a:srgbClr val="C00000"/>
                </a:solidFill>
              </a:rPr>
              <a:t>include file</a:t>
            </a:r>
            <a:r>
              <a:rPr lang="en-US" altLang="ko-KR" b="1" dirty="0"/>
              <a:t>=“</a:t>
            </a:r>
            <a:r>
              <a:rPr lang="ko-KR" altLang="en-US" b="1" dirty="0"/>
              <a:t>파일명</a:t>
            </a:r>
            <a:r>
              <a:rPr lang="en-US" altLang="ko-KR" b="1" dirty="0"/>
              <a:t>” </a:t>
            </a:r>
            <a:r>
              <a:rPr lang="en-US" altLang="ko-KR" b="1" dirty="0">
                <a:solidFill>
                  <a:srgbClr val="C00000"/>
                </a:solidFill>
              </a:rPr>
              <a:t>%&gt;</a:t>
            </a:r>
            <a:endParaRPr lang="ko-KR" altLang="en-US" b="1" dirty="0">
              <a:solidFill>
                <a:srgbClr val="C0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280591" y="2234203"/>
            <a:ext cx="76328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 </a:t>
            </a:r>
            <a:r>
              <a:rPr lang="ko-KR" altLang="en-US" sz="1600" dirty="0"/>
              <a:t>현재 </a:t>
            </a:r>
            <a:r>
              <a:rPr lang="en-US" altLang="ko-KR" sz="1600" dirty="0"/>
              <a:t>JSP</a:t>
            </a:r>
            <a:r>
              <a:rPr lang="ko-KR" altLang="en-US" sz="1600" dirty="0"/>
              <a:t>의 특정 영역에 외부 파일의 내용을 포함</a:t>
            </a:r>
            <a:endParaRPr lang="en-US" altLang="ko-KR" sz="1600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600" dirty="0"/>
              <a:t>include </a:t>
            </a:r>
            <a:r>
              <a:rPr lang="ko-KR" altLang="en-US" sz="1600" dirty="0" err="1"/>
              <a:t>디렉티브</a:t>
            </a:r>
            <a:r>
              <a:rPr lang="ko-KR" altLang="en-US" sz="1600" dirty="0"/>
              <a:t> 태그는 머리글과 바닥글과 같은 공통된 부분을 별도의 </a:t>
            </a:r>
            <a:r>
              <a:rPr lang="en-US" altLang="ko-KR" sz="1600" dirty="0"/>
              <a:t>JSP </a:t>
            </a:r>
            <a:r>
              <a:rPr lang="ko-KR" altLang="en-US" sz="1600" dirty="0"/>
              <a:t>파일을 만들어 모듈화 할 수 있다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027" y="3645024"/>
            <a:ext cx="4329052" cy="1800200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87623194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5"/>
          <p:cNvSpPr txBox="1">
            <a:spLocks/>
          </p:cNvSpPr>
          <p:nvPr/>
        </p:nvSpPr>
        <p:spPr>
          <a:xfrm>
            <a:off x="0" y="-27384"/>
            <a:ext cx="7995338" cy="854968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spcBef>
                <a:spcPct val="0"/>
              </a:spcBef>
              <a:buNone/>
              <a:defRPr sz="3200" kern="120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j-cs"/>
              </a:defRPr>
            </a:lvl1pPr>
          </a:lstStyle>
          <a:p>
            <a:r>
              <a:rPr lang="en-US" altLang="ko-KR" dirty="0"/>
              <a:t> JSP </a:t>
            </a:r>
            <a:r>
              <a:rPr lang="ko-KR" altLang="en-US" dirty="0"/>
              <a:t>태그 </a:t>
            </a:r>
            <a:r>
              <a:rPr lang="en-US" altLang="ko-KR" dirty="0"/>
              <a:t>- </a:t>
            </a:r>
            <a:r>
              <a:rPr lang="ko-KR" altLang="en-US" dirty="0" err="1"/>
              <a:t>디렉티브</a:t>
            </a:r>
            <a:r>
              <a:rPr lang="ko-KR" altLang="en-US" dirty="0"/>
              <a:t> 태그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560" y="1000530"/>
            <a:ext cx="8712968" cy="494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b="1" dirty="0"/>
              <a:t>include </a:t>
            </a:r>
            <a:r>
              <a:rPr lang="ko-KR" altLang="en-US" sz="2000" b="1" dirty="0" err="1"/>
              <a:t>디렉티브</a:t>
            </a:r>
            <a:r>
              <a:rPr lang="ko-KR" altLang="en-US" sz="2000" b="1" dirty="0"/>
              <a:t> 태그</a:t>
            </a:r>
            <a:endParaRPr lang="en-US" altLang="ko-KR" sz="2000" b="1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592" y="1695299"/>
            <a:ext cx="7143352" cy="3647500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92DA8B4-17B2-454B-97AC-17311A4832C5}"/>
              </a:ext>
            </a:extLst>
          </p:cNvPr>
          <p:cNvSpPr/>
          <p:nvPr/>
        </p:nvSpPr>
        <p:spPr>
          <a:xfrm>
            <a:off x="7113240" y="2276872"/>
            <a:ext cx="1944216" cy="299896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600" dirty="0">
                <a:solidFill>
                  <a:sysClr val="windowText" lastClr="000000"/>
                </a:solidFill>
              </a:rPr>
              <a:t>include/</a:t>
            </a:r>
            <a:r>
              <a:rPr lang="en-US" altLang="ko-KR" sz="1600" dirty="0" err="1">
                <a:solidFill>
                  <a:sysClr val="windowText" lastClr="000000"/>
                </a:solidFill>
              </a:rPr>
              <a:t>header.jsp</a:t>
            </a:r>
            <a:endParaRPr lang="en-US" altLang="ko-KR" sz="16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41411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5"/>
          <p:cNvSpPr txBox="1">
            <a:spLocks/>
          </p:cNvSpPr>
          <p:nvPr/>
        </p:nvSpPr>
        <p:spPr>
          <a:xfrm>
            <a:off x="0" y="-27384"/>
            <a:ext cx="7995338" cy="854968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spcBef>
                <a:spcPct val="0"/>
              </a:spcBef>
              <a:buNone/>
              <a:defRPr sz="3200" kern="120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j-cs"/>
              </a:defRPr>
            </a:lvl1pPr>
          </a:lstStyle>
          <a:p>
            <a:r>
              <a:rPr lang="en-US" altLang="ko-KR" dirty="0"/>
              <a:t> JSP </a:t>
            </a:r>
            <a:r>
              <a:rPr lang="ko-KR" altLang="en-US" dirty="0"/>
              <a:t>태그 </a:t>
            </a:r>
            <a:r>
              <a:rPr lang="en-US" altLang="ko-KR" dirty="0"/>
              <a:t>- </a:t>
            </a:r>
            <a:r>
              <a:rPr lang="ko-KR" altLang="en-US" dirty="0" err="1"/>
              <a:t>디렉티브</a:t>
            </a:r>
            <a:r>
              <a:rPr lang="ko-KR" altLang="en-US" dirty="0"/>
              <a:t> 태그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560" y="1000530"/>
            <a:ext cx="8712968" cy="494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b="1" dirty="0"/>
              <a:t>include </a:t>
            </a:r>
            <a:r>
              <a:rPr lang="ko-KR" altLang="en-US" sz="2000" b="1" dirty="0" err="1"/>
              <a:t>디렉티브</a:t>
            </a:r>
            <a:r>
              <a:rPr lang="ko-KR" altLang="en-US" sz="2000" b="1" dirty="0"/>
              <a:t> 태그</a:t>
            </a:r>
            <a:endParaRPr lang="en-US" altLang="ko-KR" sz="2000" b="1" dirty="0"/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792DA8B4-17B2-454B-97AC-17311A4832C5}"/>
              </a:ext>
            </a:extLst>
          </p:cNvPr>
          <p:cNvSpPr/>
          <p:nvPr/>
        </p:nvSpPr>
        <p:spPr>
          <a:xfrm>
            <a:off x="6321152" y="1772004"/>
            <a:ext cx="1983854" cy="299896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600" dirty="0">
                <a:solidFill>
                  <a:sysClr val="windowText" lastClr="000000"/>
                </a:solidFill>
              </a:rPr>
              <a:t>include/</a:t>
            </a:r>
            <a:r>
              <a:rPr lang="en-US" altLang="ko-KR" sz="1600" dirty="0" err="1">
                <a:solidFill>
                  <a:sysClr val="windowText" lastClr="000000"/>
                </a:solidFill>
              </a:rPr>
              <a:t>footer.jsp</a:t>
            </a:r>
            <a:endParaRPr lang="en-US" altLang="ko-KR" sz="1600" dirty="0">
              <a:solidFill>
                <a:sysClr val="windowText" lastClr="000000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576" y="2348880"/>
            <a:ext cx="7277281" cy="1001828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5218392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5"/>
          <p:cNvSpPr txBox="1">
            <a:spLocks/>
          </p:cNvSpPr>
          <p:nvPr/>
        </p:nvSpPr>
        <p:spPr>
          <a:xfrm>
            <a:off x="0" y="-27384"/>
            <a:ext cx="7995338" cy="854968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spcBef>
                <a:spcPct val="0"/>
              </a:spcBef>
              <a:buNone/>
              <a:defRPr sz="3200" kern="120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j-cs"/>
              </a:defRPr>
            </a:lvl1pPr>
          </a:lstStyle>
          <a:p>
            <a:r>
              <a:rPr lang="en-US" altLang="ko-KR" dirty="0"/>
              <a:t> JSP </a:t>
            </a:r>
            <a:r>
              <a:rPr lang="ko-KR" altLang="en-US" dirty="0"/>
              <a:t>태그 </a:t>
            </a:r>
            <a:r>
              <a:rPr lang="en-US" altLang="ko-KR" dirty="0"/>
              <a:t>- </a:t>
            </a:r>
            <a:r>
              <a:rPr lang="ko-KR" altLang="en-US" dirty="0" err="1"/>
              <a:t>디렉티브</a:t>
            </a:r>
            <a:r>
              <a:rPr lang="ko-KR" altLang="en-US" dirty="0"/>
              <a:t> 태그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560" y="1000530"/>
            <a:ext cx="8712968" cy="494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b="1" dirty="0"/>
              <a:t>include </a:t>
            </a:r>
            <a:r>
              <a:rPr lang="ko-KR" altLang="en-US" sz="2000" b="1" dirty="0" err="1"/>
              <a:t>디렉티브</a:t>
            </a:r>
            <a:r>
              <a:rPr lang="ko-KR" altLang="en-US" sz="2000" b="1" dirty="0"/>
              <a:t> 태그</a:t>
            </a:r>
            <a:endParaRPr lang="en-US" altLang="ko-KR" sz="2000" b="1" dirty="0"/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792DA8B4-17B2-454B-97AC-17311A4832C5}"/>
              </a:ext>
            </a:extLst>
          </p:cNvPr>
          <p:cNvSpPr/>
          <p:nvPr/>
        </p:nvSpPr>
        <p:spPr>
          <a:xfrm>
            <a:off x="4448944" y="1681440"/>
            <a:ext cx="1872208" cy="299896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600" dirty="0">
                <a:solidFill>
                  <a:sysClr val="windowText" lastClr="000000"/>
                </a:solidFill>
              </a:rPr>
              <a:t>include/</a:t>
            </a:r>
            <a:r>
              <a:rPr lang="en-US" altLang="ko-KR" sz="1600" dirty="0" err="1">
                <a:solidFill>
                  <a:sysClr val="windowText" lastClr="000000"/>
                </a:solidFill>
              </a:rPr>
              <a:t>main.jsp</a:t>
            </a:r>
            <a:endParaRPr lang="en-US" altLang="ko-KR" sz="1600" dirty="0">
              <a:solidFill>
                <a:sysClr val="windowText" lastClr="000000"/>
              </a:solidFill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624" y="2167752"/>
            <a:ext cx="4752528" cy="2530123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684430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/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12176</TotalTime>
  <Words>1210</Words>
  <Application>Microsoft Office PowerPoint</Application>
  <PresentationFormat>A4 용지(210x297mm)</PresentationFormat>
  <Paragraphs>209</Paragraphs>
  <Slides>37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4" baseType="lpstr">
      <vt:lpstr>HY헤드라인M</vt:lpstr>
      <vt:lpstr>맑은 고딕</vt:lpstr>
      <vt:lpstr>휴먼모음T</vt:lpstr>
      <vt:lpstr>휴먼엑스포</vt:lpstr>
      <vt:lpstr>Arial</vt:lpstr>
      <vt:lpstr>Wingdings</vt:lpstr>
      <vt:lpstr>Office 테마</vt:lpstr>
      <vt:lpstr>1장. 웹 개발 환경 구축 및 JSP</vt:lpstr>
      <vt:lpstr>PowerPoint 프레젠테이션</vt:lpstr>
      <vt:lpstr>PowerPoint 프레젠테이션</vt:lpstr>
      <vt:lpstr>PowerPoint 프레젠테이션</vt:lpstr>
      <vt:lpstr>PowerPoint 프레젠테이션</vt:lpstr>
      <vt:lpstr>  JDK(Java Development Kit)</vt:lpstr>
      <vt:lpstr> 이클립스(Eclipse) IDE 설치</vt:lpstr>
      <vt:lpstr> 이클립스(Eclipse) IDE 설치</vt:lpstr>
      <vt:lpstr>  인코딩 설정</vt:lpstr>
      <vt:lpstr>PowerPoint 프레젠테이션</vt:lpstr>
      <vt:lpstr>PowerPoint 프레젠테이션</vt:lpstr>
      <vt:lpstr>  웹 애플리케이션 이해하기</vt:lpstr>
      <vt:lpstr>  웹 애플리케이션 이해하기</vt:lpstr>
      <vt:lpstr>  웹 애플리케이션 이해하기</vt:lpstr>
      <vt:lpstr>  웹 애플리케이션 이해하기</vt:lpstr>
      <vt:lpstr>  웹 애플리케이션 이해하기</vt:lpstr>
      <vt:lpstr>  웹 애플리케이션 이해하기</vt:lpstr>
      <vt:lpstr>  웹 애플리케이션 이해하기</vt:lpstr>
      <vt:lpstr>  웹 애플리케이션 이해하기</vt:lpstr>
      <vt:lpstr>  웹 애플리케이션 이해하기</vt:lpstr>
      <vt:lpstr>  웹 애플리케이션 이해하기</vt:lpstr>
      <vt:lpstr>  웹 페이지 만들기</vt:lpstr>
      <vt:lpstr>  웹 페이지 만들기</vt:lpstr>
      <vt:lpstr>  웹 페이지 만들기</vt:lpstr>
      <vt:lpstr>  웹 페이지 만들기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giyong kim</cp:lastModifiedBy>
  <cp:revision>767</cp:revision>
  <dcterms:created xsi:type="dcterms:W3CDTF">2019-03-04T02:36:55Z</dcterms:created>
  <dcterms:modified xsi:type="dcterms:W3CDTF">2026-08-12T00:20:07Z</dcterms:modified>
</cp:coreProperties>
</file>