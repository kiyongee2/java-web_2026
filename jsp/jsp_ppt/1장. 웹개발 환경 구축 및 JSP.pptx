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479" r:id="rId3"/>
    <p:sldId id="487" r:id="rId4"/>
    <p:sldId id="488" r:id="rId5"/>
    <p:sldId id="352" r:id="rId6"/>
    <p:sldId id="353" r:id="rId7"/>
    <p:sldId id="480" r:id="rId8"/>
    <p:sldId id="481" r:id="rId9"/>
    <p:sldId id="482" r:id="rId10"/>
    <p:sldId id="355" r:id="rId11"/>
    <p:sldId id="356" r:id="rId12"/>
    <p:sldId id="384" r:id="rId13"/>
    <p:sldId id="426" r:id="rId14"/>
    <p:sldId id="392" r:id="rId15"/>
    <p:sldId id="403" r:id="rId16"/>
    <p:sldId id="430" r:id="rId17"/>
    <p:sldId id="431" r:id="rId18"/>
    <p:sldId id="407" r:id="rId19"/>
    <p:sldId id="408" r:id="rId20"/>
    <p:sldId id="404" r:id="rId21"/>
    <p:sldId id="422" r:id="rId22"/>
    <p:sldId id="419" r:id="rId23"/>
    <p:sldId id="411" r:id="rId24"/>
    <p:sldId id="423" r:id="rId25"/>
    <p:sldId id="424" r:id="rId26"/>
    <p:sldId id="432" r:id="rId27"/>
    <p:sldId id="433" r:id="rId28"/>
    <p:sldId id="434" r:id="rId29"/>
    <p:sldId id="483" r:id="rId30"/>
    <p:sldId id="437" r:id="rId31"/>
    <p:sldId id="438" r:id="rId32"/>
    <p:sldId id="439" r:id="rId33"/>
    <p:sldId id="440" r:id="rId34"/>
    <p:sldId id="444" r:id="rId35"/>
    <p:sldId id="445" r:id="rId36"/>
    <p:sldId id="485" r:id="rId37"/>
    <p:sldId id="484" r:id="rId38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60"/>
  </p:normalViewPr>
  <p:slideViewPr>
    <p:cSldViewPr>
      <p:cViewPr varScale="1">
        <p:scale>
          <a:sx n="88" d="100"/>
          <a:sy n="88" d="100"/>
        </p:scale>
        <p:origin x="1070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983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338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041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0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pic>
        <p:nvPicPr>
          <p:cNvPr id="9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5953107"/>
            <a:ext cx="654360" cy="6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tomcat.apache.org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docs.oracle.com/javaee/5/tutorial/doc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397099" cy="1226567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1</a:t>
            </a:r>
            <a:r>
              <a:rPr lang="ko-KR" altLang="en-US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웹 개발 환경 구축 및 </a:t>
            </a:r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JSP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 smtClean="0">
                <a:solidFill>
                  <a:schemeClr val="bg1"/>
                </a:solidFill>
              </a:rPr>
              <a:t> </a:t>
            </a:r>
            <a:r>
              <a:rPr lang="en-US" altLang="ko-KR" sz="1800" i="1" dirty="0" smtClean="0">
                <a:solidFill>
                  <a:schemeClr val="bg1"/>
                </a:solidFill>
              </a:rPr>
              <a:t>JAVA </a:t>
            </a:r>
            <a:r>
              <a:rPr lang="ko-KR" altLang="en-US" sz="1800" i="1" dirty="0" smtClean="0">
                <a:solidFill>
                  <a:schemeClr val="bg1"/>
                </a:solidFill>
              </a:rPr>
              <a:t>웹 </a:t>
            </a:r>
            <a:r>
              <a:rPr lang="en-US" altLang="ko-KR" sz="1800" i="1" dirty="0" smtClean="0">
                <a:solidFill>
                  <a:schemeClr val="bg1"/>
                </a:solidFill>
              </a:rPr>
              <a:t>&amp; JSP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91" y="4082682"/>
            <a:ext cx="1938605" cy="19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 smtClean="0"/>
              <a:t>JSP(Java Server Page)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1. JSP</a:t>
            </a:r>
            <a:r>
              <a:rPr lang="ko-KR" altLang="en-US" sz="2000" b="1" dirty="0" smtClean="0"/>
              <a:t>란</a:t>
            </a:r>
            <a:r>
              <a:rPr lang="en-US" altLang="ko-KR" sz="2000" b="1" dirty="0" smtClean="0"/>
              <a:t>?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208584" y="1556792"/>
            <a:ext cx="83529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JSP = HTML + 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 코드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 smtClean="0"/>
              <a:t>확장자</a:t>
            </a:r>
            <a:r>
              <a:rPr lang="ko-KR" altLang="en-US" sz="1600" dirty="0"/>
              <a:t>: .</a:t>
            </a:r>
            <a:r>
              <a:rPr lang="ko-KR" altLang="en-US" sz="1600" dirty="0" err="1"/>
              <a:t>jsp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서버에서 </a:t>
            </a:r>
            <a:r>
              <a:rPr lang="ko-KR" altLang="en-US" sz="1600" dirty="0"/>
              <a:t>실행되는 스크립트 기반 기술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클라이언트</a:t>
            </a:r>
            <a:r>
              <a:rPr lang="ko-KR" altLang="en-US" sz="1600" dirty="0"/>
              <a:t>(브라우저)에게는 최종적으로 </a:t>
            </a:r>
            <a:r>
              <a:rPr lang="ko-KR" altLang="en-US" sz="1600" dirty="0" err="1"/>
              <a:t>HTML이</a:t>
            </a:r>
            <a:r>
              <a:rPr lang="ko-KR" altLang="en-US" sz="1600" dirty="0"/>
              <a:t> 전달됨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즉</a:t>
            </a:r>
            <a:r>
              <a:rPr lang="ko-KR" altLang="en-US" sz="1600" dirty="0"/>
              <a:t>, JSP 파일은 HTML 안에서 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 코드를 삽입해서 동적으로 페이지를 생성하는 </a:t>
            </a:r>
            <a:r>
              <a:rPr lang="ko-KR" altLang="en-US" sz="1600" dirty="0" smtClean="0"/>
              <a:t>기술이다</a:t>
            </a:r>
            <a:r>
              <a:rPr lang="ko-KR" altLang="en-US" sz="1600"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560" y="3645024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2</a:t>
            </a:r>
            <a:r>
              <a:rPr lang="en-US" altLang="ko-KR" sz="2000" b="1" dirty="0" smtClean="0"/>
              <a:t>. JSP </a:t>
            </a:r>
            <a:r>
              <a:rPr lang="ko-KR" altLang="en-US" sz="2000" b="1" dirty="0" smtClean="0"/>
              <a:t>동작 원리</a:t>
            </a:r>
            <a:endParaRPr lang="en-US" altLang="ko-KR" sz="2000" b="1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1280592" y="4199022"/>
            <a:ext cx="67969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사용자가 </a:t>
            </a:r>
            <a:r>
              <a:rPr lang="ko-KR" altLang="en-US" sz="1600" dirty="0" err="1"/>
              <a:t>hello.jsp</a:t>
            </a:r>
            <a:r>
              <a:rPr lang="ko-KR" altLang="en-US" sz="1600" dirty="0"/>
              <a:t> 요청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웹 </a:t>
            </a:r>
            <a:r>
              <a:rPr lang="ko-KR" altLang="en-US" sz="1600" dirty="0"/>
              <a:t>컨테이너(</a:t>
            </a:r>
            <a:r>
              <a:rPr lang="ko-KR" altLang="en-US" sz="1600" dirty="0" err="1"/>
              <a:t>Tomcat</a:t>
            </a:r>
            <a:r>
              <a:rPr lang="ko-KR" altLang="en-US" sz="1600" dirty="0"/>
              <a:t>)가 JSP 파일을 </a:t>
            </a:r>
            <a:r>
              <a:rPr lang="ko-KR" altLang="en-US" sz="1600" dirty="0" err="1"/>
              <a:t>서블릿</a:t>
            </a:r>
            <a:r>
              <a:rPr lang="ko-KR" altLang="en-US" sz="1600" dirty="0"/>
              <a:t>(</a:t>
            </a:r>
            <a:r>
              <a:rPr lang="ko-KR" altLang="en-US" sz="1600" dirty="0" err="1"/>
              <a:t>Java</a:t>
            </a:r>
            <a:r>
              <a:rPr lang="ko-KR" altLang="en-US" sz="1600" dirty="0"/>
              <a:t> 클래스) </a:t>
            </a:r>
            <a:r>
              <a:rPr lang="ko-KR" altLang="en-US" sz="1600" dirty="0" err="1"/>
              <a:t>으로</a:t>
            </a:r>
            <a:r>
              <a:rPr lang="ko-KR" altLang="en-US" sz="1600" dirty="0"/>
              <a:t> 변환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예</a:t>
            </a:r>
            <a:r>
              <a:rPr lang="ko-KR" altLang="en-US" sz="1600" dirty="0"/>
              <a:t>: hello_jsp.java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변환된 </a:t>
            </a:r>
            <a:r>
              <a:rPr lang="ko-KR" altLang="en-US" sz="1600" dirty="0" err="1"/>
              <a:t>서블릿이</a:t>
            </a:r>
            <a:r>
              <a:rPr lang="ko-KR" altLang="en-US" sz="1600" dirty="0"/>
              <a:t> 컴파일 → 실행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결과 </a:t>
            </a:r>
            <a:r>
              <a:rPr lang="ko-KR" altLang="en-US" sz="1600" dirty="0" err="1"/>
              <a:t>HTML을</a:t>
            </a:r>
            <a:r>
              <a:rPr lang="ko-KR" altLang="en-US" sz="1600" dirty="0"/>
              <a:t> 브라우저로 응답</a:t>
            </a:r>
          </a:p>
        </p:txBody>
      </p:sp>
    </p:spTree>
    <p:extLst>
      <p:ext uri="{BB962C8B-B14F-4D97-AF65-F5344CB8AC3E}">
        <p14:creationId xmlns:p14="http://schemas.microsoft.com/office/powerpoint/2010/main" val="321142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JSP(Java Server Page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506" y="2204863"/>
            <a:ext cx="1548227" cy="1455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56623" y="3415816"/>
            <a:ext cx="1660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클라이언트</a:t>
            </a:r>
            <a:r>
              <a:rPr lang="en-US" altLang="ko-KR" sz="1400" dirty="0" smtClean="0"/>
              <a:t>(Client)</a:t>
            </a:r>
            <a:endParaRPr lang="ko-KR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2932407" y="2357182"/>
            <a:ext cx="1366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① </a:t>
            </a:r>
            <a:r>
              <a:rPr lang="en-US" altLang="ko-KR" sz="1600" dirty="0" smtClean="0"/>
              <a:t>JSP</a:t>
            </a:r>
            <a:r>
              <a:rPr lang="ko-KR" altLang="en-US" sz="1600" dirty="0" smtClean="0"/>
              <a:t> 요청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2729246" y="3055776"/>
            <a:ext cx="1873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④ </a:t>
            </a:r>
            <a:r>
              <a:rPr lang="en-US" altLang="ko-KR" sz="1400" dirty="0" smtClean="0"/>
              <a:t>JSP </a:t>
            </a:r>
            <a:r>
              <a:rPr lang="ko-KR" altLang="en-US" sz="1400" dirty="0" err="1" smtClean="0"/>
              <a:t>서블릿</a:t>
            </a:r>
            <a:r>
              <a:rPr lang="ko-KR" altLang="en-US" sz="1400" dirty="0" smtClean="0"/>
              <a:t> 응답</a:t>
            </a:r>
            <a:endParaRPr lang="ko-KR" altLang="en-US" sz="1400" dirty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2912207" y="2741703"/>
            <a:ext cx="12443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>
            <a:off x="2912207" y="2973661"/>
            <a:ext cx="1244336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4457438" y="1556792"/>
            <a:ext cx="4680520" cy="3096344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4620473" y="1943197"/>
            <a:ext cx="1133109" cy="570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JSP </a:t>
            </a:r>
            <a:r>
              <a:rPr lang="ko-KR" altLang="en-US" sz="1400" dirty="0" smtClean="0"/>
              <a:t>페이지</a:t>
            </a:r>
            <a:endParaRPr lang="ko-KR" altLang="en-US" sz="14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6240653" y="1943197"/>
            <a:ext cx="1133109" cy="570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서블릿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프로그램</a:t>
            </a:r>
            <a:endParaRPr lang="ko-KR" altLang="en-US" sz="1400" dirty="0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60833" y="1943197"/>
            <a:ext cx="1133109" cy="57046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서블릿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클래스</a:t>
            </a:r>
            <a:endParaRPr lang="ko-KR" altLang="en-US" sz="1400" dirty="0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4636501" y="3501007"/>
            <a:ext cx="4341411" cy="7920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JSP </a:t>
            </a:r>
            <a:r>
              <a:rPr lang="ko-KR" altLang="en-US" sz="1600" dirty="0" smtClean="0"/>
              <a:t>컨테이너</a:t>
            </a:r>
            <a:endParaRPr lang="ko-KR" altLang="en-US" sz="1600" dirty="0"/>
          </a:p>
        </p:txBody>
      </p:sp>
      <p:cxnSp>
        <p:nvCxnSpPr>
          <p:cNvPr id="23" name="직선 화살표 연결선 22"/>
          <p:cNvCxnSpPr>
            <a:stCxn id="16" idx="3"/>
            <a:endCxn id="19" idx="1"/>
          </p:cNvCxnSpPr>
          <p:nvPr/>
        </p:nvCxnSpPr>
        <p:spPr>
          <a:xfrm>
            <a:off x="5753582" y="2228431"/>
            <a:ext cx="48707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7373762" y="2218046"/>
            <a:ext cx="48707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52531" y="2513664"/>
            <a:ext cx="10290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 smtClean="0">
                <a:solidFill>
                  <a:srgbClr val="0070C0"/>
                </a:solidFill>
              </a:rPr>
              <a:t>Hello.jsp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41615" y="2513664"/>
            <a:ext cx="1575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solidFill>
                  <a:srgbClr val="0070C0"/>
                </a:solidFill>
              </a:rPr>
              <a:t>Hello_jsp.java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25790" y="2513664"/>
            <a:ext cx="1575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 smtClean="0">
                <a:solidFill>
                  <a:srgbClr val="0070C0"/>
                </a:solidFill>
              </a:rPr>
              <a:t>Hello_jsp.class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 flipV="1">
            <a:off x="5997117" y="2287257"/>
            <a:ext cx="3" cy="808496"/>
          </a:xfrm>
          <a:prstGeom prst="straightConnector1">
            <a:avLst/>
          </a:prstGeom>
          <a:ln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7587691" y="2287258"/>
            <a:ext cx="0" cy="832940"/>
          </a:xfrm>
          <a:prstGeom prst="straightConnector1">
            <a:avLst/>
          </a:prstGeom>
          <a:ln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93542" y="3005543"/>
            <a:ext cx="1029043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② 변</a:t>
            </a:r>
            <a:r>
              <a:rPr lang="ko-KR" altLang="en-US" sz="1600" dirty="0"/>
              <a:t>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7718" y="2996951"/>
            <a:ext cx="1200693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/>
              <a:t>③ 컴파일</a:t>
            </a:r>
            <a:endParaRPr lang="ko-KR" alt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1374438" y="5013176"/>
            <a:ext cx="5757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정적인 파일 </a:t>
            </a:r>
            <a:r>
              <a:rPr lang="en-US" altLang="ko-KR" sz="1600" dirty="0" smtClean="0"/>
              <a:t>– HTML</a:t>
            </a:r>
            <a:r>
              <a:rPr lang="ko-KR" altLang="en-US" sz="1600" dirty="0" smtClean="0"/>
              <a:t>이나 오브젝트는 웹 서버에서 처리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동적인 파일 </a:t>
            </a:r>
            <a:r>
              <a:rPr lang="en-US" altLang="ko-KR" sz="1600" dirty="0" smtClean="0"/>
              <a:t>– </a:t>
            </a:r>
            <a:r>
              <a:rPr lang="ko-KR" altLang="en-US" sz="1600" dirty="0" smtClean="0"/>
              <a:t>웹 컨테이너로 넘겨서 처리함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0351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JSP(Java Server Page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48544" y="1000530"/>
            <a:ext cx="8784976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3. JSP</a:t>
            </a:r>
            <a:r>
              <a:rPr lang="ko-KR" altLang="en-US" sz="2000" b="1" dirty="0" smtClean="0"/>
              <a:t>의 특징</a:t>
            </a:r>
            <a:endParaRPr lang="en-US" altLang="ko-KR" sz="2000" b="1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JSP</a:t>
            </a:r>
            <a:r>
              <a:rPr lang="ko-KR" altLang="en-US" b="1" dirty="0" smtClean="0"/>
              <a:t>는 </a:t>
            </a:r>
            <a:r>
              <a:rPr lang="ko-KR" altLang="en-US" b="1" dirty="0" err="1" smtClean="0"/>
              <a:t>서블릿</a:t>
            </a:r>
            <a:r>
              <a:rPr lang="ko-KR" altLang="en-US" b="1" dirty="0" smtClean="0"/>
              <a:t> 기술의 확장이다</a:t>
            </a:r>
            <a:r>
              <a:rPr lang="en-US" altLang="ko-KR" b="1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sz="1600" dirty="0" smtClean="0"/>
              <a:t>처음에는 서버 측 프로그래밍 방식으로 자바를 사용하는 </a:t>
            </a:r>
            <a:r>
              <a:rPr lang="ko-KR" altLang="en-US" sz="1600" dirty="0" err="1" smtClean="0"/>
              <a:t>서블릿</a:t>
            </a:r>
            <a:r>
              <a:rPr lang="en-US" altLang="ko-KR" sz="1600" dirty="0" smtClean="0"/>
              <a:t>(Servlet)</a:t>
            </a:r>
            <a:r>
              <a:rPr lang="ko-KR" altLang="en-US" sz="1600" dirty="0" smtClean="0"/>
              <a:t>을 먼저 개발</a:t>
            </a:r>
            <a:endParaRPr lang="en-US" altLang="ko-KR" sz="1600" dirty="0" smtClean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하였으나 </a:t>
            </a:r>
            <a:r>
              <a:rPr lang="ko-KR" altLang="en-US" sz="1600" dirty="0" err="1" smtClean="0"/>
              <a:t>서블릿</a:t>
            </a:r>
            <a:r>
              <a:rPr lang="ko-KR" altLang="en-US" sz="1600" dirty="0" smtClean="0"/>
              <a:t> 개발방식이 쉽지 않아서 개발된 기술이 </a:t>
            </a:r>
            <a:r>
              <a:rPr lang="en-US" altLang="ko-KR" sz="1600" dirty="0" smtClean="0"/>
              <a:t>JSP(HTML</a:t>
            </a:r>
            <a:r>
              <a:rPr lang="ko-KR" altLang="en-US" sz="1600" dirty="0" smtClean="0"/>
              <a:t>코드에 삽입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이다</a:t>
            </a:r>
            <a:endParaRPr lang="en-US" altLang="ko-KR" sz="1600" dirty="0" smtClean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JSP</a:t>
            </a:r>
            <a:r>
              <a:rPr lang="ko-KR" altLang="en-US" b="1" dirty="0" smtClean="0"/>
              <a:t>는 유지 관리가 용이하다</a:t>
            </a:r>
            <a:r>
              <a:rPr lang="en-US" altLang="ko-KR" b="1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ko-KR" altLang="en-US" sz="1600" dirty="0" err="1" smtClean="0"/>
              <a:t>서블릿</a:t>
            </a:r>
            <a:r>
              <a:rPr lang="ko-KR" altLang="en-US" sz="1600" dirty="0" smtClean="0"/>
              <a:t> 기술은 프레젠테이션</a:t>
            </a:r>
            <a:r>
              <a:rPr lang="en-US" altLang="ko-KR" sz="1600" dirty="0" smtClean="0"/>
              <a:t>(View)</a:t>
            </a:r>
            <a:r>
              <a:rPr lang="ko-KR" altLang="en-US" sz="1600" dirty="0" smtClean="0"/>
              <a:t>와 비즈니스 </a:t>
            </a:r>
            <a:r>
              <a:rPr lang="ko-KR" altLang="en-US" sz="1600" dirty="0" err="1" smtClean="0"/>
              <a:t>로직</a:t>
            </a:r>
            <a:r>
              <a:rPr lang="en-US" altLang="ko-KR" sz="1600" dirty="0" smtClean="0"/>
              <a:t>(Control)</a:t>
            </a:r>
            <a:r>
              <a:rPr lang="ko-KR" altLang="en-US" sz="1600" dirty="0" smtClean="0"/>
              <a:t>이 섞여 있지만 </a:t>
            </a:r>
            <a:r>
              <a:rPr lang="en-US" altLang="ko-KR" sz="1600" dirty="0" smtClean="0"/>
              <a:t>JSP</a:t>
            </a:r>
            <a:r>
              <a:rPr lang="ko-KR" altLang="en-US" sz="1600" dirty="0" smtClean="0"/>
              <a:t>는 분</a:t>
            </a:r>
            <a:endParaRPr lang="en-US" altLang="ko-KR" sz="1600" dirty="0" smtClean="0"/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err="1" smtClean="0"/>
              <a:t>리할</a:t>
            </a:r>
            <a:r>
              <a:rPr lang="ko-KR" altLang="en-US" sz="1600" dirty="0" smtClean="0"/>
              <a:t> 수 있어서 관리가 쉽다</a:t>
            </a:r>
            <a:r>
              <a:rPr lang="en-US" altLang="ko-KR" dirty="0" smtClean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JSP</a:t>
            </a:r>
            <a:r>
              <a:rPr lang="ko-KR" altLang="en-US" b="1" dirty="0" smtClean="0"/>
              <a:t>는 빠른 개발이 가능하다</a:t>
            </a:r>
            <a:r>
              <a:rPr lang="en-US" altLang="ko-KR" b="1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 smtClean="0"/>
              <a:t>    </a:t>
            </a:r>
            <a:r>
              <a:rPr lang="ko-KR" altLang="en-US" sz="1600" dirty="0" smtClean="0"/>
              <a:t>코드를 </a:t>
            </a:r>
            <a:r>
              <a:rPr lang="ko-KR" altLang="en-US" sz="1600" dirty="0" err="1" smtClean="0"/>
              <a:t>수정했을때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서블릿에서는</a:t>
            </a:r>
            <a:r>
              <a:rPr lang="ko-KR" altLang="en-US" sz="1600" dirty="0" smtClean="0"/>
              <a:t> 다시 </a:t>
            </a:r>
            <a:r>
              <a:rPr lang="ko-KR" altLang="en-US" sz="1600" dirty="0" err="1" smtClean="0"/>
              <a:t>컴파일해야</a:t>
            </a:r>
            <a:r>
              <a:rPr lang="ko-KR" altLang="en-US" sz="1600" dirty="0" smtClean="0"/>
              <a:t> 하지만</a:t>
            </a:r>
            <a:r>
              <a:rPr lang="en-US" altLang="ko-KR" sz="1600" dirty="0" smtClean="0"/>
              <a:t>, JSP</a:t>
            </a:r>
            <a:r>
              <a:rPr lang="ko-KR" altLang="en-US" sz="1600" dirty="0" smtClean="0"/>
              <a:t>는 </a:t>
            </a:r>
            <a:r>
              <a:rPr lang="ko-KR" altLang="en-US" sz="1600" dirty="0" err="1" smtClean="0"/>
              <a:t>컴파일하지</a:t>
            </a:r>
            <a:r>
              <a:rPr lang="ko-KR" altLang="en-US" sz="1600" dirty="0" smtClean="0"/>
              <a:t> 않는다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JSP</a:t>
            </a:r>
            <a:r>
              <a:rPr lang="ko-KR" altLang="en-US" b="1" dirty="0" smtClean="0"/>
              <a:t>로 개발하면 코드 길이를 줄일 수 있다</a:t>
            </a:r>
            <a:r>
              <a:rPr lang="en-US" altLang="ko-KR" b="1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 smtClean="0"/>
              <a:t>    </a:t>
            </a:r>
            <a:r>
              <a:rPr lang="ko-KR" altLang="en-US" sz="1600" dirty="0" smtClean="0"/>
              <a:t>액션 태그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표현 언어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JSTL</a:t>
            </a:r>
            <a:r>
              <a:rPr lang="ko-KR" altLang="en-US" sz="1600" dirty="0" smtClean="0"/>
              <a:t>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사용하여 </a:t>
            </a:r>
            <a:r>
              <a:rPr lang="ko-KR" altLang="en-US" sz="1600" dirty="0" err="1" smtClean="0"/>
              <a:t>서블릿</a:t>
            </a:r>
            <a:r>
              <a:rPr lang="ko-KR" altLang="en-US" sz="1600" dirty="0" smtClean="0"/>
              <a:t> 보다 코드의 길이를 줄일 수 있다</a:t>
            </a:r>
            <a:r>
              <a:rPr lang="en-US" altLang="ko-KR" sz="1600" dirty="0" smtClean="0"/>
              <a:t>.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16330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Java </a:t>
            </a:r>
            <a:r>
              <a:rPr lang="ko-KR" altLang="en-US" dirty="0" smtClean="0"/>
              <a:t>웹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개발 환경 구축하기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2520" y="1000530"/>
            <a:ext cx="82809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200" b="1" dirty="0" smtClean="0"/>
              <a:t>JSP</a:t>
            </a:r>
            <a:r>
              <a:rPr lang="ko-KR" altLang="en-US" sz="2200" b="1" dirty="0" smtClean="0"/>
              <a:t>를 이용한 웹사이트 개발 환경 도구</a:t>
            </a:r>
            <a:r>
              <a:rPr lang="ko-KR" altLang="en-US" b="1" dirty="0" smtClean="0"/>
              <a:t>  </a:t>
            </a:r>
            <a:endParaRPr lang="en-US" altLang="ko-KR" b="1" dirty="0" smtClean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679628"/>
              </p:ext>
            </p:extLst>
          </p:nvPr>
        </p:nvGraphicFramePr>
        <p:xfrm>
          <a:off x="1136576" y="1773640"/>
          <a:ext cx="8136904" cy="3721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4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요소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프로그램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888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자바 개발 환경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 JDK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 smtClean="0"/>
                        <a:t> JSP</a:t>
                      </a:r>
                      <a:r>
                        <a:rPr lang="ko-KR" altLang="en-US" sz="1600" dirty="0" smtClean="0"/>
                        <a:t>는 </a:t>
                      </a:r>
                      <a:r>
                        <a:rPr lang="en-US" altLang="ko-KR" sz="1600" dirty="0" smtClean="0"/>
                        <a:t>HTML </a:t>
                      </a:r>
                      <a:r>
                        <a:rPr lang="ko-KR" altLang="en-US" sz="1600" dirty="0" smtClean="0"/>
                        <a:t>코드 내에 자바 코드를 작성하므로 </a:t>
                      </a:r>
                      <a:r>
                        <a:rPr lang="en-US" altLang="ko-KR" sz="1600" dirty="0" smtClean="0"/>
                        <a:t>JDK</a:t>
                      </a:r>
                      <a:r>
                        <a:rPr lang="ko-KR" altLang="en-US" sz="1600" dirty="0" smtClean="0"/>
                        <a:t>가 반드시 설치 되어야 함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647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통합개발환경</a:t>
                      </a:r>
                      <a:endParaRPr lang="en-US" altLang="ko-KR" sz="1600" dirty="0" smtClean="0"/>
                    </a:p>
                  </a:txBody>
                  <a:tcPr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이클립스</a:t>
                      </a:r>
                      <a:endParaRPr lang="en-US" altLang="ko-KR" sz="160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JSP </a:t>
                      </a:r>
                      <a:r>
                        <a:rPr lang="ko-KR" altLang="en-US" sz="1600" dirty="0" smtClean="0"/>
                        <a:t>코드를 컴파일하고 실행할 수 있는 통합개발환경</a:t>
                      </a:r>
                      <a:r>
                        <a:rPr lang="en-US" altLang="ko-KR" sz="1600" dirty="0" smtClean="0"/>
                        <a:t>(IDE)</a:t>
                      </a:r>
                      <a:r>
                        <a:rPr lang="ko-KR" altLang="en-US" sz="1600" dirty="0" smtClean="0"/>
                        <a:t>로 </a:t>
                      </a:r>
                      <a:r>
                        <a:rPr lang="ko-KR" altLang="en-US" sz="1600" dirty="0" err="1" smtClean="0"/>
                        <a:t>이클립스를</a:t>
                      </a:r>
                      <a:r>
                        <a:rPr lang="ko-KR" altLang="en-US" sz="1600" dirty="0" smtClean="0"/>
                        <a:t> 사용</a:t>
                      </a:r>
                      <a:r>
                        <a:rPr lang="en-US" altLang="ko-KR" sz="1600" dirty="0" smtClean="0"/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Eclipse IDE</a:t>
                      </a:r>
                      <a:r>
                        <a:rPr lang="en-US" altLang="ko-KR" sz="1600" baseline="0" dirty="0" smtClean="0"/>
                        <a:t> for Enterprise Java Developers  </a:t>
                      </a:r>
                      <a:r>
                        <a:rPr lang="ko-KR" altLang="en-US" sz="1600" baseline="0" dirty="0" smtClean="0"/>
                        <a:t>설치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738943"/>
                  </a:ext>
                </a:extLst>
              </a:tr>
              <a:tr h="117647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웹 서버</a:t>
                      </a:r>
                      <a:r>
                        <a:rPr lang="en-US" altLang="ko-KR" sz="1600" dirty="0" smtClean="0"/>
                        <a:t>(WAS)</a:t>
                      </a: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톰캣</a:t>
                      </a:r>
                      <a:endParaRPr lang="en-US" altLang="ko-KR" sz="16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웹 페이지가 웹 브라우저에 나타나도록 하려면 웹 컨테이너를 </a:t>
                      </a:r>
                      <a:r>
                        <a:rPr lang="ko-KR" altLang="en-US" sz="1600" dirty="0" err="1" smtClean="0"/>
                        <a:t>설치해야하는데</a:t>
                      </a:r>
                      <a:r>
                        <a:rPr lang="ko-KR" altLang="en-US" sz="1600" dirty="0" smtClean="0"/>
                        <a:t> 대표적인 </a:t>
                      </a:r>
                      <a:r>
                        <a:rPr lang="ko-KR" altLang="en-US" sz="1600" dirty="0" err="1" smtClean="0"/>
                        <a:t>웹서버가</a:t>
                      </a:r>
                      <a:r>
                        <a:rPr lang="ko-KR" altLang="en-US" sz="1600" dirty="0" smtClean="0"/>
                        <a:t> 무료 </a:t>
                      </a:r>
                      <a:r>
                        <a:rPr lang="ko-KR" altLang="en-US" sz="1600" dirty="0" err="1" smtClean="0"/>
                        <a:t>오픈소스</a:t>
                      </a:r>
                      <a:r>
                        <a:rPr lang="ko-KR" altLang="en-US" sz="1600" dirty="0" smtClean="0"/>
                        <a:t> 프로젝트인 </a:t>
                      </a:r>
                      <a:r>
                        <a:rPr lang="ko-KR" altLang="en-US" sz="1600" dirty="0" err="1" smtClean="0"/>
                        <a:t>톰캣이다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493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53842"/>
            <a:ext cx="4032448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>
                <a:solidFill>
                  <a:srgbClr val="C00000"/>
                </a:solidFill>
              </a:rPr>
              <a:t> 자바 </a:t>
            </a:r>
            <a:r>
              <a:rPr lang="ko-KR" altLang="en-US" sz="2000" b="1" dirty="0">
                <a:solidFill>
                  <a:srgbClr val="C00000"/>
                </a:solidFill>
              </a:rPr>
              <a:t>개발도구</a:t>
            </a:r>
            <a:r>
              <a:rPr lang="en-US" altLang="ko-KR" sz="2000" b="1" dirty="0">
                <a:solidFill>
                  <a:srgbClr val="C00000"/>
                </a:solidFill>
              </a:rPr>
              <a:t>(JDK) </a:t>
            </a:r>
            <a:r>
              <a:rPr lang="ko-KR" altLang="en-US" sz="2000" b="1" dirty="0">
                <a:solidFill>
                  <a:srgbClr val="C00000"/>
                </a:solidFill>
              </a:rPr>
              <a:t>설치 </a:t>
            </a: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00000"/>
              </a:lnSpc>
            </a:pP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  </a:t>
            </a:r>
            <a:r>
              <a:rPr lang="en-US" altLang="ko-KR" b="1" dirty="0" smtClean="0"/>
              <a:t>JDK(Java Development Kit)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195852" y="1601914"/>
            <a:ext cx="7645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 smtClean="0"/>
              <a:t>오라클 </a:t>
            </a:r>
            <a:r>
              <a:rPr lang="en-US" altLang="ko-KR" sz="1600" dirty="0" smtClean="0"/>
              <a:t>java </a:t>
            </a:r>
            <a:r>
              <a:rPr lang="ko-KR" altLang="en-US" sz="1600" dirty="0" smtClean="0"/>
              <a:t>다운로드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검색</a:t>
            </a:r>
            <a:r>
              <a:rPr lang="en-US" altLang="ko-KR" sz="1600" dirty="0" smtClean="0"/>
              <a:t>)-&gt; windows&gt; Java SE21 </a:t>
            </a:r>
            <a:r>
              <a:rPr lang="ko-KR" altLang="en-US" sz="1600" dirty="0" smtClean="0"/>
              <a:t>다운로드 </a:t>
            </a:r>
            <a:r>
              <a:rPr lang="en-US" altLang="ko-KR" sz="1600" dirty="0" smtClean="0"/>
              <a:t>-&gt; x64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인스톨러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58" y="2148623"/>
            <a:ext cx="7486768" cy="32966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162516" y="4644602"/>
            <a:ext cx="7750924" cy="424279"/>
          </a:xfrm>
          <a:prstGeom prst="round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16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 err="1" smtClean="0"/>
              <a:t>이클립스</a:t>
            </a:r>
            <a:r>
              <a:rPr lang="en-US" altLang="ko-KR" dirty="0" smtClean="0"/>
              <a:t>(Eclipse)</a:t>
            </a:r>
            <a:r>
              <a:rPr lang="ko-KR" altLang="en-US" dirty="0" smtClean="0"/>
              <a:t> </a:t>
            </a:r>
            <a:r>
              <a:rPr lang="en-US" altLang="ko-KR" dirty="0" smtClean="0"/>
              <a:t>IDE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7776864" cy="1368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C00000"/>
                </a:solidFill>
              </a:rPr>
              <a:t>이클립스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 </a:t>
            </a:r>
            <a:r>
              <a:rPr lang="en-US" altLang="ko-KR" sz="2000" b="1" dirty="0" smtClean="0">
                <a:solidFill>
                  <a:srgbClr val="C00000"/>
                </a:solidFill>
              </a:rPr>
              <a:t>IED(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통합개발환경</a:t>
            </a:r>
            <a:r>
              <a:rPr lang="en-US" altLang="ko-KR" sz="2000" b="1" dirty="0" smtClean="0">
                <a:solidFill>
                  <a:srgbClr val="C00000"/>
                </a:solidFill>
              </a:rPr>
              <a:t>) 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설치</a:t>
            </a:r>
            <a:endParaRPr lang="en-US" altLang="ko-KR" sz="2200" dirty="0" smtClean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>
                <a:hlinkClick r:id="rId2"/>
              </a:rPr>
              <a:t>https</a:t>
            </a:r>
            <a:r>
              <a:rPr lang="en-US" altLang="ko-KR" sz="1800" dirty="0">
                <a:hlinkClick r:id="rId2"/>
              </a:rPr>
              <a:t>://www.eclipse.org/downloads</a:t>
            </a:r>
            <a:r>
              <a:rPr lang="en-US" altLang="ko-KR" sz="1800" dirty="0" smtClean="0">
                <a:hlinkClick r:id="rId2"/>
              </a:rPr>
              <a:t>/</a:t>
            </a:r>
            <a:endParaRPr lang="en-US" altLang="ko-KR" sz="1800" dirty="0" smtClean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smtClean="0"/>
              <a:t>Workspace(</a:t>
            </a:r>
            <a:r>
              <a:rPr lang="ko-KR" altLang="en-US" sz="1800" dirty="0" smtClean="0"/>
              <a:t>작업공간</a:t>
            </a:r>
            <a:r>
              <a:rPr lang="en-US" altLang="ko-KR" sz="1800" dirty="0" smtClean="0"/>
              <a:t>) </a:t>
            </a:r>
            <a:r>
              <a:rPr lang="ko-KR" altLang="en-US" sz="1800" dirty="0" smtClean="0"/>
              <a:t>설정</a:t>
            </a:r>
            <a:r>
              <a:rPr lang="en-US" altLang="ko-KR" sz="1800" dirty="0"/>
              <a:t> </a:t>
            </a:r>
            <a:r>
              <a:rPr lang="en-US" altLang="ko-KR" sz="1800" dirty="0" smtClean="0"/>
              <a:t>: C:\JspWorkSpace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7" t="18382" r="36482" b="30368"/>
          <a:stretch/>
        </p:blipFill>
        <p:spPr bwMode="auto">
          <a:xfrm>
            <a:off x="4664968" y="2780434"/>
            <a:ext cx="2972788" cy="2891323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833320" y="4509120"/>
            <a:ext cx="1944216" cy="86409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Java EE</a:t>
            </a:r>
          </a:p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Web Service 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포함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직선 화살표 연결선 7"/>
          <p:cNvCxnSpPr>
            <a:stCxn id="7" idx="1"/>
          </p:cNvCxnSpPr>
          <p:nvPr/>
        </p:nvCxnSpPr>
        <p:spPr>
          <a:xfrm flipH="1" flipV="1">
            <a:off x="6825208" y="4509120"/>
            <a:ext cx="1008112" cy="432048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2780434"/>
            <a:ext cx="2980437" cy="26647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3034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 err="1" smtClean="0"/>
              <a:t>이클립스</a:t>
            </a:r>
            <a:r>
              <a:rPr lang="en-US" altLang="ko-KR" dirty="0" smtClean="0"/>
              <a:t>(Eclipse)</a:t>
            </a:r>
            <a:r>
              <a:rPr lang="ko-KR" altLang="en-US" dirty="0" smtClean="0"/>
              <a:t> </a:t>
            </a:r>
            <a:r>
              <a:rPr lang="en-US" altLang="ko-KR" dirty="0" smtClean="0"/>
              <a:t>IDE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5184576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 smtClean="0">
                <a:solidFill>
                  <a:srgbClr val="C00000"/>
                </a:solidFill>
              </a:rPr>
              <a:t>이클립스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 자바 개발 환경으로 바꾸기</a:t>
            </a:r>
            <a:endParaRPr lang="en-US" altLang="ko-KR" sz="20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012" y="1599282"/>
            <a:ext cx="4217100" cy="4638030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448688" y="2433648"/>
            <a:ext cx="2160240" cy="77623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Open Perspective</a:t>
            </a:r>
          </a:p>
          <a:p>
            <a:pPr algn="ctr"/>
            <a:r>
              <a:rPr lang="ko-KR" altLang="en-US" sz="1600" dirty="0" err="1" smtClean="0">
                <a:solidFill>
                  <a:sysClr val="windowText" lastClr="000000"/>
                </a:solidFill>
              </a:rPr>
              <a:t>선택후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java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로 변경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5439054" y="2064897"/>
            <a:ext cx="1044116" cy="486176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401562" y="3496289"/>
            <a:ext cx="2160240" cy="86766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Web 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프로젝트 </a:t>
            </a:r>
            <a:r>
              <a:rPr lang="ko-KR" altLang="en-US" sz="1600" dirty="0" err="1" smtClean="0">
                <a:solidFill>
                  <a:sysClr val="windowText" lastClr="000000"/>
                </a:solidFill>
              </a:rPr>
              <a:t>만들때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 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JavaEE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로 변경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 flipV="1">
            <a:off x="5654689" y="2012042"/>
            <a:ext cx="775608" cy="1644794"/>
          </a:xfrm>
          <a:prstGeom prst="straightConnector1">
            <a:avLst/>
          </a:prstGeom>
          <a:ln w="12700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928664" y="3388278"/>
            <a:ext cx="1080120" cy="216023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928664" y="3676310"/>
            <a:ext cx="1080120" cy="216023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2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err="1" smtClean="0"/>
              <a:t>인코딩</a:t>
            </a:r>
            <a:r>
              <a:rPr lang="ko-KR" altLang="en-US" dirty="0" smtClean="0"/>
              <a:t> 설정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980728"/>
            <a:ext cx="936104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텍스트 </a:t>
            </a:r>
            <a:r>
              <a:rPr lang="ko-KR" altLang="en-US" sz="2000" b="1" dirty="0" err="1" smtClean="0"/>
              <a:t>인코딩</a:t>
            </a:r>
            <a:r>
              <a:rPr lang="ko-KR" altLang="en-US" sz="2000" b="1" dirty="0" smtClean="0"/>
              <a:t> 설정 </a:t>
            </a:r>
            <a:r>
              <a:rPr lang="en-US" altLang="ko-KR" sz="2000" b="1" dirty="0" smtClean="0"/>
              <a:t>– html, </a:t>
            </a:r>
            <a:r>
              <a:rPr lang="en-US" altLang="ko-KR" sz="2000" b="1" dirty="0" err="1" smtClean="0"/>
              <a:t>css</a:t>
            </a:r>
            <a:r>
              <a:rPr lang="en-US" altLang="ko-KR" sz="2000" b="1" dirty="0" smtClean="0"/>
              <a:t>, </a:t>
            </a:r>
            <a:r>
              <a:rPr lang="en-US" altLang="ko-KR" sz="2000" b="1" dirty="0" err="1" smtClean="0"/>
              <a:t>jsp</a:t>
            </a:r>
            <a:r>
              <a:rPr lang="ko-KR" altLang="en-US" sz="2000" b="1" dirty="0" smtClean="0"/>
              <a:t>의 </a:t>
            </a:r>
            <a:r>
              <a:rPr lang="en-US" altLang="ko-KR" sz="2000" b="1" dirty="0" smtClean="0"/>
              <a:t>character </a:t>
            </a:r>
            <a:r>
              <a:rPr lang="ko-KR" altLang="en-US" sz="2000" b="1" dirty="0" err="1" smtClean="0"/>
              <a:t>인코딩</a:t>
            </a:r>
            <a:r>
              <a:rPr lang="ko-KR" altLang="en-US" sz="2000" b="1" dirty="0" smtClean="0"/>
              <a:t> 변경</a:t>
            </a:r>
            <a:endParaRPr lang="en-US" altLang="ko-KR" sz="2000" b="1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1496616" y="5826750"/>
            <a:ext cx="7776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Web &gt; CSS Files(HTML, JSP Files) &gt; Encoding &gt; ISO 10646/Unicode(UTF-8) 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621" y="1536878"/>
            <a:ext cx="4320480" cy="408647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505000" y="3645024"/>
            <a:ext cx="2223864" cy="576064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3584849" y="2492896"/>
            <a:ext cx="2880320" cy="576064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59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 </a:t>
            </a:r>
            <a:r>
              <a:rPr lang="ko-KR" altLang="en-US" dirty="0" err="1" smtClean="0"/>
              <a:t>톰캣</a:t>
            </a:r>
            <a:r>
              <a:rPr lang="en-US" altLang="ko-KR" dirty="0" smtClean="0"/>
              <a:t>(Tomcat)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48544" y="1000530"/>
            <a:ext cx="828092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err="1" smtClean="0"/>
              <a:t>톰캣</a:t>
            </a:r>
            <a:r>
              <a:rPr lang="ko-KR" altLang="en-US" sz="2000" b="1" dirty="0" smtClean="0"/>
              <a:t> 설치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200" b="1" dirty="0" smtClean="0"/>
              <a:t>    </a:t>
            </a:r>
            <a:r>
              <a:rPr lang="ko-KR" altLang="en-US" b="1" dirty="0" smtClean="0"/>
              <a:t>아파치 사이트에 접속 </a:t>
            </a:r>
            <a:r>
              <a:rPr lang="en-US" altLang="ko-KR" b="1" dirty="0" smtClean="0"/>
              <a:t>– </a:t>
            </a:r>
            <a:r>
              <a:rPr lang="en-US" altLang="ko-KR" b="1" dirty="0" smtClean="0">
                <a:hlinkClick r:id="rId2"/>
              </a:rPr>
              <a:t>http://tomcat.apache.org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ko-KR" altLang="en-US" sz="1400" b="1" dirty="0" smtClean="0"/>
              <a:t>  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2134084"/>
            <a:ext cx="3430624" cy="38151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040" y="2780928"/>
            <a:ext cx="2057687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0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 </a:t>
            </a:r>
            <a:r>
              <a:rPr lang="ko-KR" altLang="en-US" dirty="0" err="1" smtClean="0"/>
              <a:t>톰캣</a:t>
            </a:r>
            <a:r>
              <a:rPr lang="en-US" altLang="ko-KR" dirty="0" smtClean="0"/>
              <a:t>(Tomcat)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48544" y="1000530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err="1" smtClean="0"/>
              <a:t>톰캣</a:t>
            </a:r>
            <a:r>
              <a:rPr lang="ko-KR" altLang="en-US" sz="2000" b="1" dirty="0" smtClean="0"/>
              <a:t> 설치  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829362"/>
            <a:ext cx="4752528" cy="24280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496616" y="4546609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64-bit Windows.zip </a:t>
            </a:r>
            <a:r>
              <a:rPr lang="ko-KR" altLang="en-US" sz="1600" dirty="0" smtClean="0"/>
              <a:t>다운로드 </a:t>
            </a:r>
            <a:r>
              <a:rPr lang="en-US" altLang="ko-KR" sz="1600" dirty="0" smtClean="0"/>
              <a:t>&gt;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575923" y="4546609"/>
            <a:ext cx="2465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C</a:t>
            </a:r>
            <a:r>
              <a:rPr lang="ko-KR" altLang="en-US" sz="1600" dirty="0" smtClean="0"/>
              <a:t>드라이브에 압축 풀기</a:t>
            </a:r>
            <a:endParaRPr lang="ko-KR" altLang="en-US" sz="1600" dirty="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2288704" y="3861048"/>
            <a:ext cx="2592288" cy="216023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97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6917" y="980728"/>
            <a:ext cx="6406323" cy="1080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/>
              <a:t> 웹 프로젝트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웹 애플리케이션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 만들고 실행하기</a:t>
            </a:r>
            <a:r>
              <a:rPr lang="en-US" altLang="ko-KR" sz="2000" b="1" dirty="0"/>
              <a:t> </a:t>
            </a:r>
            <a:endParaRPr lang="en-US" altLang="ko-KR" sz="20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 smtClean="0"/>
              <a:t>    </a:t>
            </a:r>
            <a:r>
              <a:rPr lang="ko-KR" altLang="en-US" sz="2000" b="1" dirty="0" smtClean="0"/>
              <a:t>자바 </a:t>
            </a:r>
            <a:r>
              <a:rPr lang="en-US" altLang="ko-KR" sz="2000" b="1" dirty="0" smtClean="0"/>
              <a:t>EE </a:t>
            </a:r>
            <a:r>
              <a:rPr lang="ko-KR" altLang="en-US" sz="2000" b="1" dirty="0" smtClean="0"/>
              <a:t>버전 처음 </a:t>
            </a:r>
            <a:r>
              <a:rPr lang="ko-KR" altLang="en-US" sz="2000" b="1" dirty="0" err="1" smtClean="0"/>
              <a:t>실행시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– </a:t>
            </a:r>
            <a:r>
              <a:rPr lang="ko-KR" altLang="en-US" sz="2000" b="1" dirty="0" err="1" smtClean="0"/>
              <a:t>이클립스</a:t>
            </a:r>
            <a:r>
              <a:rPr lang="ko-KR" altLang="en-US" sz="2000" b="1" dirty="0" smtClean="0"/>
              <a:t> 화면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2218903"/>
            <a:ext cx="5082108" cy="3816424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568624" y="3983099"/>
            <a:ext cx="1656184" cy="288032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4137856" y="3897052"/>
            <a:ext cx="3623456" cy="38811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Create Dynamic Web project 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클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릭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 flipH="1">
            <a:off x="3440832" y="4091111"/>
            <a:ext cx="697024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74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543" y="3473084"/>
            <a:ext cx="3129910" cy="29082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410" y="1640858"/>
            <a:ext cx="4634863" cy="2138709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980728"/>
            <a:ext cx="6406323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/>
              <a:t> 웹 프로젝트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웹 애플리케이션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 만들고 실행하기</a:t>
            </a:r>
            <a:endParaRPr lang="en-US" altLang="ko-KR" sz="20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64517" y="3677053"/>
            <a:ext cx="2444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File &gt; New &gt; Dynamic Web Project</a:t>
            </a:r>
            <a:endParaRPr lang="ko-KR" alt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11" b="72653"/>
          <a:stretch/>
        </p:blipFill>
        <p:spPr bwMode="auto">
          <a:xfrm>
            <a:off x="740519" y="1628800"/>
            <a:ext cx="3092076" cy="1875453"/>
          </a:xfrm>
          <a:prstGeom prst="rect">
            <a:avLst/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986165" y="3016030"/>
            <a:ext cx="745108" cy="506382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723161" y="3851341"/>
            <a:ext cx="1694335" cy="38811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ysClr val="windowText" lastClr="000000"/>
                </a:solidFill>
              </a:rPr>
              <a:t>톰캣</a:t>
            </a:r>
            <a:r>
              <a:rPr lang="ko-KR" altLang="en-US" sz="1600" dirty="0" smtClean="0">
                <a:solidFill>
                  <a:sysClr val="windowText" lastClr="000000"/>
                </a:solidFill>
              </a:rPr>
              <a:t> 서버 설정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17" name="직선 화살표 연결선 16"/>
          <p:cNvCxnSpPr>
            <a:stCxn id="16" idx="0"/>
            <a:endCxn id="15" idx="4"/>
          </p:cNvCxnSpPr>
          <p:nvPr/>
        </p:nvCxnSpPr>
        <p:spPr>
          <a:xfrm flipH="1" flipV="1">
            <a:off x="8358719" y="3522412"/>
            <a:ext cx="211610" cy="328929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4554809" y="2162650"/>
            <a:ext cx="1584176" cy="288032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663667" y="1968591"/>
            <a:ext cx="1694335" cy="38811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ysClr val="windowText" lastClr="000000"/>
                </a:solidFill>
              </a:rPr>
              <a:t>프로젝트 이름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6197483" y="2234658"/>
            <a:ext cx="1155096" cy="72008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379799" y="4350755"/>
            <a:ext cx="1584176" cy="288032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437" y="4602233"/>
            <a:ext cx="3306316" cy="14550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4" name="타원 23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2135738" y="5647877"/>
            <a:ext cx="360040" cy="304370"/>
          </a:xfrm>
          <a:prstGeom prst="ellipse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23443" y="5259759"/>
            <a:ext cx="1413545" cy="38811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ysClr val="windowText" lastClr="000000"/>
                </a:solidFill>
              </a:rPr>
              <a:t>web.xml 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체크</a:t>
            </a:r>
            <a:endParaRPr lang="en-US" altLang="ko-KR" sz="14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1911624" y="5647877"/>
            <a:ext cx="291223" cy="85379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8385" y="3685725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①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91113" y="1968591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9140" y="293514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③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09595" y="42109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69" y="4890427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⑤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52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360040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</a:t>
            </a:r>
            <a:r>
              <a:rPr lang="en-US" altLang="ko-KR" sz="2000" b="1" dirty="0" err="1" smtClean="0"/>
              <a:t>Jsp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파일 만들기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26704" y="5178056"/>
            <a:ext cx="2734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/>
              <a:t>webapp</a:t>
            </a:r>
            <a:r>
              <a:rPr lang="en-US" altLang="ko-KR" sz="1600" dirty="0" smtClean="0"/>
              <a:t> &gt; New &gt; JSP File</a:t>
            </a:r>
            <a:endParaRPr lang="ko-KR" altLang="en-US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57" y="1700808"/>
            <a:ext cx="4236905" cy="32032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591" y="1701822"/>
            <a:ext cx="3382934" cy="34002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745088" y="5318907"/>
            <a:ext cx="2734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File name – </a:t>
            </a:r>
            <a:r>
              <a:rPr lang="en-US" altLang="ko-KR" sz="1600" dirty="0" err="1" smtClean="0"/>
              <a:t>hello.jsp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6423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772816"/>
            <a:ext cx="7056784" cy="33926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396044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</a:t>
            </a:r>
            <a:r>
              <a:rPr lang="en-US" altLang="ko-KR" sz="2000" b="1" dirty="0" err="1" smtClean="0"/>
              <a:t>Jsp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파일 만들기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064568" y="1611680"/>
            <a:ext cx="7200800" cy="576064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30350" y="2492896"/>
            <a:ext cx="4248472" cy="1328023"/>
          </a:xfrm>
          <a:prstGeom prst="round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rgbClr val="C00000"/>
                </a:solidFill>
              </a:rPr>
              <a:t>&lt;%@.. %&gt;</a:t>
            </a:r>
            <a:r>
              <a:rPr lang="ko-KR" altLang="en-US" sz="1600" dirty="0" smtClean="0">
                <a:solidFill>
                  <a:srgbClr val="002060"/>
                </a:solidFill>
              </a:rPr>
              <a:t>란 지시어</a:t>
            </a:r>
            <a:r>
              <a:rPr lang="en-US" altLang="ko-KR" sz="1600" dirty="0" smtClean="0">
                <a:solidFill>
                  <a:srgbClr val="002060"/>
                </a:solidFill>
              </a:rPr>
              <a:t>(</a:t>
            </a:r>
            <a:r>
              <a:rPr lang="ko-KR" altLang="en-US" sz="1600" dirty="0" err="1" smtClean="0">
                <a:solidFill>
                  <a:srgbClr val="002060"/>
                </a:solidFill>
              </a:rPr>
              <a:t>디렉티브태그</a:t>
            </a:r>
            <a:r>
              <a:rPr lang="en-US" altLang="ko-KR" sz="1600" dirty="0" smtClean="0">
                <a:solidFill>
                  <a:srgbClr val="002060"/>
                </a:solidFill>
              </a:rPr>
              <a:t>)</a:t>
            </a:r>
            <a:r>
              <a:rPr lang="ko-KR" altLang="en-US" sz="1600" dirty="0" smtClean="0">
                <a:solidFill>
                  <a:srgbClr val="002060"/>
                </a:solidFill>
              </a:rPr>
              <a:t>로 </a:t>
            </a:r>
            <a:r>
              <a:rPr lang="en-US" altLang="ko-KR" sz="1600" dirty="0" err="1" smtClean="0">
                <a:solidFill>
                  <a:srgbClr val="002060"/>
                </a:solidFill>
              </a:rPr>
              <a:t>jsp</a:t>
            </a:r>
            <a:r>
              <a:rPr lang="en-US" altLang="ko-KR" sz="1600" dirty="0" smtClean="0">
                <a:solidFill>
                  <a:srgbClr val="002060"/>
                </a:solidFill>
              </a:rPr>
              <a:t> </a:t>
            </a:r>
            <a:r>
              <a:rPr lang="ko-KR" altLang="en-US" sz="1600" dirty="0" smtClean="0">
                <a:solidFill>
                  <a:srgbClr val="002060"/>
                </a:solidFill>
              </a:rPr>
              <a:t>파일의 정보</a:t>
            </a:r>
            <a:r>
              <a:rPr lang="en-US" altLang="ko-KR" sz="1600" dirty="0" smtClean="0">
                <a:solidFill>
                  <a:srgbClr val="002060"/>
                </a:solidFill>
              </a:rPr>
              <a:t>- </a:t>
            </a:r>
            <a:r>
              <a:rPr lang="ko-KR" altLang="en-US" sz="1600" dirty="0" smtClean="0">
                <a:solidFill>
                  <a:srgbClr val="002060"/>
                </a:solidFill>
              </a:rPr>
              <a:t>언어</a:t>
            </a:r>
            <a:r>
              <a:rPr lang="en-US" altLang="ko-KR" sz="1600" dirty="0" smtClean="0">
                <a:solidFill>
                  <a:srgbClr val="002060"/>
                </a:solidFill>
              </a:rPr>
              <a:t>, </a:t>
            </a:r>
            <a:r>
              <a:rPr lang="ko-KR" altLang="en-US" sz="1600" dirty="0" smtClean="0">
                <a:solidFill>
                  <a:srgbClr val="002060"/>
                </a:solidFill>
              </a:rPr>
              <a:t>문서유형</a:t>
            </a:r>
            <a:r>
              <a:rPr lang="en-US" altLang="ko-KR" sz="1600" dirty="0" smtClean="0">
                <a:solidFill>
                  <a:srgbClr val="002060"/>
                </a:solidFill>
              </a:rPr>
              <a:t>, </a:t>
            </a:r>
            <a:r>
              <a:rPr lang="ko-KR" altLang="en-US" sz="1600" dirty="0" err="1" smtClean="0">
                <a:solidFill>
                  <a:srgbClr val="002060"/>
                </a:solidFill>
              </a:rPr>
              <a:t>인코딩등의</a:t>
            </a:r>
            <a:r>
              <a:rPr lang="ko-KR" altLang="en-US" sz="1600" dirty="0" smtClean="0">
                <a:solidFill>
                  <a:srgbClr val="002060"/>
                </a:solidFill>
              </a:rPr>
              <a:t> 정보를 서버에게 알려줌</a:t>
            </a:r>
            <a:endParaRPr lang="ko-KR" alt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41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396044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서버 실행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37" y="2107595"/>
            <a:ext cx="4761291" cy="36565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91061" y="1531531"/>
            <a:ext cx="5378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Hello.jsp</a:t>
            </a:r>
            <a:r>
              <a:rPr lang="en-US" altLang="ko-KR" dirty="0" smtClean="0"/>
              <a:t> &gt;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Run As &gt; Run on Server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895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396044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웹 브라우저 실행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29043"/>
            <a:ext cx="4786289" cy="28803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479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531436"/>
            <a:ext cx="4536161" cy="41264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980728"/>
            <a:ext cx="936104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웹 브라우저 설정 </a:t>
            </a: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크롬</a:t>
            </a:r>
            <a:endParaRPr lang="en-US" altLang="ko-KR" sz="2000" b="1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2000672" y="5796093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General &gt; Web Browser &gt; Chrome 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352600" y="4653136"/>
            <a:ext cx="2223864" cy="576064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3224808" y="2985733"/>
            <a:ext cx="2016224" cy="73130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32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584" y="1687448"/>
            <a:ext cx="6621925" cy="40310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53151" y="980728"/>
            <a:ext cx="494792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현재 날짜와 시간 출력</a:t>
            </a:r>
            <a:endParaRPr lang="en-US" altLang="ko-KR" sz="2000" b="1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5961112" y="4509120"/>
            <a:ext cx="3495716" cy="919401"/>
          </a:xfrm>
          <a:prstGeom prst="wedgeRoundRectCallout">
            <a:avLst>
              <a:gd name="adj1" fmla="val -54215"/>
              <a:gd name="adj2" fmla="val -1517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rgbClr val="C00000"/>
                </a:solidFill>
              </a:rPr>
              <a:t>&lt;%=.. %&gt;</a:t>
            </a:r>
            <a:r>
              <a:rPr lang="ko-KR" altLang="en-US" sz="1600" dirty="0" smtClean="0">
                <a:solidFill>
                  <a:srgbClr val="002060"/>
                </a:solidFill>
              </a:rPr>
              <a:t>란 </a:t>
            </a:r>
            <a:r>
              <a:rPr lang="en-US" altLang="ko-KR" sz="1600" dirty="0" smtClean="0">
                <a:solidFill>
                  <a:srgbClr val="002060"/>
                </a:solidFill>
              </a:rPr>
              <a:t>Expression</a:t>
            </a:r>
            <a:r>
              <a:rPr lang="ko-KR" altLang="en-US" sz="1600" dirty="0" smtClean="0">
                <a:solidFill>
                  <a:srgbClr val="002060"/>
                </a:solidFill>
              </a:rPr>
              <a:t>이라고 하며</a:t>
            </a:r>
            <a:r>
              <a:rPr lang="en-US" altLang="ko-KR" sz="1600" dirty="0" smtClean="0">
                <a:solidFill>
                  <a:srgbClr val="002060"/>
                </a:solidFill>
              </a:rPr>
              <a:t>,</a:t>
            </a:r>
            <a:r>
              <a:rPr lang="ko-KR" altLang="en-US" sz="1600" dirty="0" smtClean="0">
                <a:solidFill>
                  <a:srgbClr val="002060"/>
                </a:solidFill>
              </a:rPr>
              <a:t>  </a:t>
            </a:r>
            <a:r>
              <a:rPr lang="en-US" altLang="ko-KR" sz="1600" dirty="0" smtClean="0">
                <a:solidFill>
                  <a:srgbClr val="002060"/>
                </a:solidFill>
              </a:rPr>
              <a:t>JSP</a:t>
            </a:r>
            <a:r>
              <a:rPr lang="ko-KR" altLang="en-US" sz="1600" dirty="0" smtClean="0">
                <a:solidFill>
                  <a:srgbClr val="002060"/>
                </a:solidFill>
              </a:rPr>
              <a:t>에서 출력을 위해 사용한다</a:t>
            </a:r>
            <a:r>
              <a:rPr lang="en-US" altLang="ko-KR" sz="1600" dirty="0" smtClean="0">
                <a:solidFill>
                  <a:srgbClr val="002060"/>
                </a:solidFill>
              </a:rPr>
              <a:t>.</a:t>
            </a:r>
            <a:endParaRPr lang="ko-KR" alt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94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980728"/>
            <a:ext cx="4752528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포트 번호 확인 및 변경</a:t>
            </a:r>
            <a:endParaRPr lang="en-US" altLang="ko-KR" sz="2000" b="1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000" y="4089461"/>
            <a:ext cx="7658863" cy="2147851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148940" y="5469143"/>
            <a:ext cx="2016224" cy="288032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8157052" y="4541521"/>
            <a:ext cx="1404460" cy="38811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ysClr val="windowText" lastClr="000000"/>
                </a:solidFill>
              </a:rPr>
              <a:t>포트 번호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8391800" y="4941168"/>
            <a:ext cx="458063" cy="516446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아래쪽 화살표 17"/>
          <p:cNvSpPr/>
          <p:nvPr/>
        </p:nvSpPr>
        <p:spPr>
          <a:xfrm>
            <a:off x="2355839" y="3267251"/>
            <a:ext cx="216024" cy="768473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919" y="1741460"/>
            <a:ext cx="3668513" cy="21916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733331" y="1709932"/>
            <a:ext cx="2748061" cy="514873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r="18490"/>
          <a:stretch/>
        </p:blipFill>
        <p:spPr>
          <a:xfrm>
            <a:off x="1136576" y="1741460"/>
            <a:ext cx="3384376" cy="11658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2656520" y="3267251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더블 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591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애플리케이션 이해하기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596516" y="980728"/>
            <a:ext cx="5580620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웹 컨텍스트 경로</a:t>
            </a:r>
            <a:r>
              <a:rPr lang="en-US" altLang="ko-KR" sz="2000" b="1" dirty="0" smtClean="0"/>
              <a:t>(Path) </a:t>
            </a:r>
            <a:r>
              <a:rPr lang="ko-KR" altLang="en-US" sz="2000" b="1" dirty="0" smtClean="0"/>
              <a:t>변경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4568" y="1700808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Tomcat v9.0 Server &gt; Modules &gt; Edit &gt; chap01 </a:t>
            </a:r>
            <a:r>
              <a:rPr lang="ko-KR" altLang="en-US" dirty="0" smtClean="0"/>
              <a:t>지우고 </a:t>
            </a:r>
            <a:r>
              <a:rPr lang="en-US" altLang="ko-KR" dirty="0" smtClean="0"/>
              <a:t>‘/’(</a:t>
            </a:r>
            <a:r>
              <a:rPr lang="ko-KR" altLang="en-US" dirty="0" smtClean="0"/>
              <a:t>루트</a:t>
            </a:r>
            <a:r>
              <a:rPr lang="en-US" altLang="ko-KR" dirty="0" smtClean="0"/>
              <a:t>)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2348880"/>
            <a:ext cx="7430144" cy="3589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525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웹 페이지 만들기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884548" y="980728"/>
            <a:ext cx="622869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웹 페이지</a:t>
            </a:r>
            <a:r>
              <a:rPr lang="en-US" altLang="ko-KR" sz="2000" b="1" dirty="0" smtClean="0"/>
              <a:t>(HTML, CSS, </a:t>
            </a:r>
            <a:r>
              <a:rPr lang="en-US" altLang="ko-KR" sz="2000" b="1" dirty="0" err="1" smtClean="0"/>
              <a:t>Javascript</a:t>
            </a:r>
            <a:r>
              <a:rPr lang="en-US" altLang="ko-KR" sz="2000" b="1" dirty="0" smtClean="0"/>
              <a:t>) 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68341"/>
            <a:ext cx="5858851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9565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웹 </a:t>
            </a:r>
            <a:r>
              <a:rPr lang="ko-KR" altLang="en-US" dirty="0"/>
              <a:t>페이지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2600" y="1628800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 smtClean="0"/>
              <a:t>webapp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하위에 </a:t>
            </a:r>
            <a:r>
              <a:rPr lang="en-US" altLang="ko-KR" dirty="0"/>
              <a:t>r</a:t>
            </a:r>
            <a:r>
              <a:rPr lang="en-US" altLang="ko-KR" dirty="0" smtClean="0"/>
              <a:t>esources </a:t>
            </a:r>
            <a:r>
              <a:rPr lang="ko-KR" altLang="en-US" dirty="0" smtClean="0"/>
              <a:t>폴더 생성 </a:t>
            </a:r>
            <a:r>
              <a:rPr lang="en-US" altLang="ko-KR" dirty="0"/>
              <a:t> </a:t>
            </a:r>
            <a:r>
              <a:rPr lang="en-US" altLang="ko-KR" dirty="0" smtClean="0"/>
              <a:t>- static(</a:t>
            </a:r>
            <a:r>
              <a:rPr lang="ko-KR" altLang="en-US" dirty="0" smtClean="0"/>
              <a:t>정적</a:t>
            </a:r>
            <a:r>
              <a:rPr lang="en-US" altLang="ko-KR" dirty="0" smtClean="0"/>
              <a:t>) </a:t>
            </a:r>
            <a:r>
              <a:rPr lang="ko-KR" altLang="en-US" dirty="0" smtClean="0"/>
              <a:t>파일 저장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884548" y="980728"/>
            <a:ext cx="622869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웹 페이지</a:t>
            </a:r>
            <a:r>
              <a:rPr lang="en-US" altLang="ko-KR" sz="2000" b="1" dirty="0" smtClean="0"/>
              <a:t>(HTML, CSS, </a:t>
            </a:r>
            <a:r>
              <a:rPr lang="en-US" altLang="ko-KR" sz="2000" b="1" dirty="0" err="1" smtClean="0"/>
              <a:t>Javascript</a:t>
            </a:r>
            <a:r>
              <a:rPr lang="en-US" altLang="ko-KR" sz="2000" b="1" dirty="0" smtClean="0"/>
              <a:t>) 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097" y="2204864"/>
            <a:ext cx="2855887" cy="34726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316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웹 </a:t>
            </a:r>
            <a:r>
              <a:rPr lang="ko-KR" altLang="en-US" dirty="0"/>
              <a:t>페이지 만들기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884548" y="980728"/>
            <a:ext cx="622869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</a:t>
            </a:r>
            <a:r>
              <a:rPr lang="en-US" altLang="ko-KR" sz="2000" b="1" dirty="0" err="1" smtClean="0"/>
              <a:t>time.jsp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9" y="1700808"/>
            <a:ext cx="6768752" cy="41793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482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969224" cy="854968"/>
          </a:xfrm>
        </p:spPr>
        <p:txBody>
          <a:bodyPr/>
          <a:lstStyle/>
          <a:p>
            <a:r>
              <a:rPr lang="en-US" altLang="ko-KR" dirty="0" smtClean="0"/>
              <a:t>  </a:t>
            </a:r>
            <a:r>
              <a:rPr lang="ko-KR" altLang="en-US" dirty="0" smtClean="0"/>
              <a:t>웹 </a:t>
            </a:r>
            <a:r>
              <a:rPr lang="ko-KR" altLang="en-US" dirty="0"/>
              <a:t>페이지 만들기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884548" y="980728"/>
            <a:ext cx="6228692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 </a:t>
            </a:r>
            <a:r>
              <a:rPr lang="en-US" altLang="ko-KR" sz="2000" b="1" dirty="0" err="1" smtClean="0"/>
              <a:t>time.jsp</a:t>
            </a:r>
            <a:r>
              <a:rPr lang="en-US" altLang="ko-KR" sz="2000" b="1" dirty="0" smtClean="0"/>
              <a:t> 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7056784" cy="28173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6136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태그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스크립트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2996952"/>
            <a:ext cx="828092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solidFill>
                  <a:srgbClr val="0070C0"/>
                </a:solidFill>
              </a:rPr>
              <a:t>스크립트 태그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(script tag)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862458"/>
              </p:ext>
            </p:extLst>
          </p:nvPr>
        </p:nvGraphicFramePr>
        <p:xfrm>
          <a:off x="992560" y="3645024"/>
          <a:ext cx="8136904" cy="20162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스크립트 태그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형식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 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선언문</a:t>
                      </a:r>
                      <a:r>
                        <a:rPr lang="en-US" altLang="ko-KR" sz="1600" dirty="0" smtClean="0"/>
                        <a:t>(declaration)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&lt;</a:t>
                      </a:r>
                      <a:r>
                        <a:rPr lang="en-US" altLang="ko-KR" sz="1600" b="1" dirty="0" smtClean="0">
                          <a:solidFill>
                            <a:srgbClr val="C00000"/>
                          </a:solidFill>
                        </a:rPr>
                        <a:t>%! </a:t>
                      </a:r>
                      <a:r>
                        <a:rPr lang="en-US" altLang="ko-KR" sz="1600" b="0" baseline="0" dirty="0" smtClean="0">
                          <a:solidFill>
                            <a:srgbClr val="C00000"/>
                          </a:solidFill>
                        </a:rPr>
                        <a:t>    </a:t>
                      </a:r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%&gt;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자바 변수나 </a:t>
                      </a:r>
                      <a:r>
                        <a:rPr lang="ko-KR" altLang="en-US" sz="1600" dirty="0" err="1" smtClean="0"/>
                        <a:t>메소드를</a:t>
                      </a:r>
                      <a:r>
                        <a:rPr lang="ko-KR" altLang="en-US" sz="1600" dirty="0" smtClean="0"/>
                        <a:t> 정의하는 데 사용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스크립트릿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en-US" altLang="ko-KR" sz="1600" dirty="0" err="1" smtClean="0"/>
                        <a:t>scriptlet</a:t>
                      </a:r>
                      <a:r>
                        <a:rPr lang="en-US" altLang="ko-KR" sz="1600" dirty="0" smtClean="0"/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&lt;</a:t>
                      </a:r>
                      <a:r>
                        <a:rPr lang="en-US" altLang="ko-KR" sz="1600" b="1" dirty="0" smtClean="0">
                          <a:solidFill>
                            <a:srgbClr val="C00000"/>
                          </a:solidFill>
                        </a:rPr>
                        <a:t>%</a:t>
                      </a:r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1600" baseline="0" dirty="0" smtClean="0">
                          <a:solidFill>
                            <a:srgbClr val="C00000"/>
                          </a:solidFill>
                        </a:rPr>
                        <a:t>     </a:t>
                      </a:r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%&gt;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자바 </a:t>
                      </a:r>
                      <a:r>
                        <a:rPr lang="ko-KR" altLang="en-US" sz="1600" dirty="0" err="1" smtClean="0"/>
                        <a:t>로직</a:t>
                      </a:r>
                      <a:r>
                        <a:rPr lang="ko-KR" altLang="en-US" sz="1600" dirty="0" smtClean="0"/>
                        <a:t> 코드를 작성하는 데 사용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표현문</a:t>
                      </a:r>
                      <a:r>
                        <a:rPr lang="en-US" altLang="ko-KR" sz="1600" dirty="0" smtClean="0"/>
                        <a:t>(expression)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&lt;</a:t>
                      </a:r>
                      <a:r>
                        <a:rPr lang="en-US" altLang="ko-KR" sz="1600" b="1" dirty="0" smtClean="0">
                          <a:solidFill>
                            <a:srgbClr val="C00000"/>
                          </a:solidFill>
                        </a:rPr>
                        <a:t>%=</a:t>
                      </a:r>
                      <a:r>
                        <a:rPr lang="en-US" altLang="ko-KR" sz="1600" b="0" baseline="0" dirty="0" smtClean="0">
                          <a:solidFill>
                            <a:srgbClr val="C00000"/>
                          </a:solidFill>
                        </a:rPr>
                        <a:t>   </a:t>
                      </a:r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 %&gt;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변수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메소드</a:t>
                      </a:r>
                      <a:r>
                        <a:rPr lang="ko-KR" altLang="en-US" sz="1600" dirty="0" smtClean="0"/>
                        <a:t> 호출 결과를 문자열로 출력해 줌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2560" y="980728"/>
            <a:ext cx="82809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 smtClean="0"/>
              <a:t>JSP </a:t>
            </a:r>
            <a:r>
              <a:rPr lang="ko-KR" altLang="en-US" sz="2200" b="1" dirty="0" smtClean="0"/>
              <a:t>태그</a:t>
            </a:r>
            <a:endParaRPr lang="en-US" altLang="ko-KR" sz="22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스크립트 태그 </a:t>
            </a:r>
            <a:r>
              <a:rPr lang="en-US" altLang="ko-KR" dirty="0"/>
              <a:t>: HTML </a:t>
            </a:r>
            <a:r>
              <a:rPr lang="ko-KR" altLang="en-US" dirty="0"/>
              <a:t>코드에</a:t>
            </a:r>
            <a:r>
              <a:rPr lang="en-US" altLang="ko-KR" dirty="0"/>
              <a:t> </a:t>
            </a:r>
            <a:r>
              <a:rPr lang="ko-KR" altLang="en-US" dirty="0"/>
              <a:t>자바 코드를 넣어 프로그램을 수행하는 기능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err="1" smtClean="0"/>
              <a:t>디렉티브</a:t>
            </a:r>
            <a:r>
              <a:rPr lang="ko-KR" altLang="en-US" b="1" dirty="0" smtClean="0"/>
              <a:t> 태그 </a:t>
            </a:r>
            <a:r>
              <a:rPr lang="en-US" altLang="ko-KR" dirty="0" smtClean="0"/>
              <a:t>: </a:t>
            </a:r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페이지에 대한 정보를 설정하는 </a:t>
            </a:r>
            <a:r>
              <a:rPr lang="ko-KR" altLang="en-US" dirty="0" smtClean="0"/>
              <a:t>태그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액션 태그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클라이언트</a:t>
            </a:r>
            <a:r>
              <a:rPr lang="en-US" altLang="ko-KR" dirty="0" smtClean="0"/>
              <a:t>/</a:t>
            </a:r>
            <a:r>
              <a:rPr lang="ko-KR" altLang="en-US" dirty="0" smtClean="0"/>
              <a:t>서버에 어떤 작동을 행하도록 명령을 지시하는 태그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079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태그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스크립트 태그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82809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b="1" dirty="0" err="1" smtClean="0"/>
              <a:t>구글</a:t>
            </a:r>
            <a:r>
              <a:rPr lang="ko-KR" altLang="en-US" sz="2200" b="1" dirty="0" smtClean="0"/>
              <a:t> </a:t>
            </a:r>
            <a:r>
              <a:rPr lang="en-US" altLang="ko-KR" sz="2200" b="1" dirty="0" smtClean="0"/>
              <a:t>- JSP Document - </a:t>
            </a:r>
            <a:r>
              <a:rPr lang="ko-KR" altLang="en-US" sz="2200" b="1" dirty="0" smtClean="0"/>
              <a:t>검</a:t>
            </a:r>
            <a:r>
              <a:rPr lang="ko-KR" altLang="en-US" sz="2200" b="1" dirty="0"/>
              <a:t>색</a:t>
            </a:r>
            <a:endParaRPr lang="en-US" altLang="ko-KR" sz="22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280591" y="1628800"/>
            <a:ext cx="49808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2"/>
              </a:rPr>
              <a:t>https://docs.oracle.com/javaee/5/tutorial/doc</a:t>
            </a:r>
            <a:r>
              <a:rPr lang="en-US" altLang="ko-KR" dirty="0" smtClean="0">
                <a:hlinkClick r:id="rId2"/>
              </a:rPr>
              <a:t>/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68" y="2852936"/>
            <a:ext cx="8128904" cy="31683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172494"/>
            <a:ext cx="4306342" cy="51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2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태그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스크립트 태그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008112" y="1007400"/>
            <a:ext cx="394488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smtClean="0"/>
              <a:t>스크립트 태그 예제</a:t>
            </a:r>
            <a:endParaRPr lang="en-US" altLang="ko-KR" sz="2000" b="1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72816"/>
            <a:ext cx="3742342" cy="27677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453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태그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스크립트 태그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208584" y="5970766"/>
            <a:ext cx="8409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C00000"/>
                </a:solidFill>
              </a:rPr>
              <a:t>소스보기 </a:t>
            </a:r>
            <a:r>
              <a:rPr lang="en-US" altLang="ko-KR" sz="1600" dirty="0" smtClean="0">
                <a:solidFill>
                  <a:srgbClr val="C00000"/>
                </a:solidFill>
              </a:rPr>
              <a:t>– </a:t>
            </a:r>
            <a:r>
              <a:rPr lang="en-US" altLang="ko-KR" sz="1600" dirty="0" err="1" smtClean="0">
                <a:solidFill>
                  <a:srgbClr val="C00000"/>
                </a:solidFill>
              </a:rPr>
              <a:t>jsp</a:t>
            </a:r>
            <a:r>
              <a:rPr lang="en-US" altLang="ko-KR" sz="1600" dirty="0" smtClean="0">
                <a:solidFill>
                  <a:srgbClr val="C00000"/>
                </a:solidFill>
              </a:rPr>
              <a:t> </a:t>
            </a:r>
            <a:r>
              <a:rPr lang="ko-KR" altLang="en-US" sz="1600" dirty="0" smtClean="0">
                <a:solidFill>
                  <a:srgbClr val="C00000"/>
                </a:solidFill>
              </a:rPr>
              <a:t>태그는 서버에서 처리되므로 클라이언트</a:t>
            </a:r>
            <a:r>
              <a:rPr lang="en-US" altLang="ko-KR" sz="1600" dirty="0" smtClean="0">
                <a:solidFill>
                  <a:srgbClr val="C00000"/>
                </a:solidFill>
              </a:rPr>
              <a:t>(</a:t>
            </a:r>
            <a:r>
              <a:rPr lang="ko-KR" altLang="en-US" sz="1600" dirty="0" smtClean="0">
                <a:solidFill>
                  <a:srgbClr val="C00000"/>
                </a:solidFill>
              </a:rPr>
              <a:t>웹 브라우저</a:t>
            </a:r>
            <a:r>
              <a:rPr lang="en-US" altLang="ko-KR" sz="1600" dirty="0" smtClean="0">
                <a:solidFill>
                  <a:srgbClr val="C00000"/>
                </a:solidFill>
              </a:rPr>
              <a:t>)</a:t>
            </a:r>
            <a:r>
              <a:rPr lang="ko-KR" altLang="en-US" sz="1600" dirty="0" smtClean="0">
                <a:solidFill>
                  <a:srgbClr val="C00000"/>
                </a:solidFill>
              </a:rPr>
              <a:t>에서는 보이지 않음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8112" y="1007400"/>
            <a:ext cx="394488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smtClean="0"/>
              <a:t>스크립트 태그 예제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395" y="1645389"/>
            <a:ext cx="5272547" cy="41225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2492895"/>
            <a:ext cx="2700762" cy="32750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767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b="1" dirty="0" err="1" smtClean="0"/>
              <a:t>디렉티브</a:t>
            </a:r>
            <a:r>
              <a:rPr lang="ko-KR" altLang="en-US" sz="2200" b="1" dirty="0" smtClean="0"/>
              <a:t> 태그</a:t>
            </a:r>
            <a:endParaRPr lang="en-US" altLang="ko-KR" sz="22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JSP </a:t>
            </a:r>
            <a:r>
              <a:rPr lang="ko-KR" altLang="en-US" dirty="0" smtClean="0"/>
              <a:t>페이지를 어떻게 처리할 것인지를 설정하는 태그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JSP </a:t>
            </a:r>
            <a:r>
              <a:rPr lang="ko-KR" altLang="en-US" dirty="0" smtClean="0"/>
              <a:t>페이지가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프로그램에서 </a:t>
            </a:r>
            <a:r>
              <a:rPr lang="ko-KR" altLang="en-US" dirty="0" err="1" smtClean="0"/>
              <a:t>서블릿</a:t>
            </a:r>
            <a:r>
              <a:rPr lang="ko-KR" altLang="en-US" dirty="0" smtClean="0"/>
              <a:t> 클래스로 변환할 때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페이지와 관련된 정보를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컨테이너에 지시하는 메시지 이다</a:t>
            </a:r>
            <a:r>
              <a:rPr lang="en-US" altLang="ko-KR" dirty="0" smtClean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560" y="3140968"/>
            <a:ext cx="828092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rgbClr val="0070C0"/>
                </a:solidFill>
              </a:rPr>
              <a:t>디렉티</a:t>
            </a:r>
            <a:r>
              <a:rPr lang="ko-KR" altLang="en-US" b="1" dirty="0" err="1">
                <a:solidFill>
                  <a:srgbClr val="0070C0"/>
                </a:solidFill>
              </a:rPr>
              <a:t>브</a:t>
            </a:r>
            <a:r>
              <a:rPr lang="ko-KR" altLang="en-US" b="1" dirty="0" smtClean="0">
                <a:solidFill>
                  <a:srgbClr val="0070C0"/>
                </a:solidFill>
              </a:rPr>
              <a:t> 태그의 종류</a:t>
            </a:r>
            <a:endParaRPr lang="en-US" altLang="ko-KR" b="1" dirty="0" smtClean="0">
              <a:solidFill>
                <a:srgbClr val="0070C0"/>
              </a:solidFill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992560" y="3789040"/>
          <a:ext cx="8424936" cy="1728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/>
                        <a:t>디렉티브</a:t>
                      </a:r>
                      <a:r>
                        <a:rPr lang="ko-KR" altLang="en-US" sz="1800" dirty="0" smtClean="0"/>
                        <a:t> 태그</a:t>
                      </a:r>
                      <a:endParaRPr lang="ko-KR" altLang="en-US" sz="18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형식</a:t>
                      </a:r>
                      <a:endParaRPr lang="ko-KR" altLang="en-US" sz="1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/>
                        <a:t>설 명</a:t>
                      </a:r>
                      <a:endParaRPr lang="ko-KR" altLang="en-US" sz="18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page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>
                          <a:solidFill>
                            <a:srgbClr val="C00000"/>
                          </a:solidFill>
                        </a:rPr>
                        <a:t>&lt;%@</a:t>
                      </a:r>
                      <a:r>
                        <a:rPr lang="en-US" altLang="ko-KR" sz="1800" baseline="0" dirty="0" smtClean="0">
                          <a:solidFill>
                            <a:srgbClr val="C00000"/>
                          </a:solidFill>
                        </a:rPr>
                        <a:t> page …</a:t>
                      </a:r>
                      <a:r>
                        <a:rPr lang="en-US" altLang="ko-KR" sz="1800" dirty="0" smtClean="0">
                          <a:solidFill>
                            <a:srgbClr val="C00000"/>
                          </a:solidFill>
                        </a:rPr>
                        <a:t> %&gt;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smtClean="0"/>
                        <a:t> JSP </a:t>
                      </a:r>
                      <a:r>
                        <a:rPr lang="ko-KR" altLang="en-US" sz="1600" dirty="0" smtClean="0"/>
                        <a:t>페이지에 대한 정보를 설정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include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>
                          <a:solidFill>
                            <a:srgbClr val="C00000"/>
                          </a:solidFill>
                        </a:rPr>
                        <a:t>&lt;%@</a:t>
                      </a:r>
                      <a:r>
                        <a:rPr lang="en-US" altLang="ko-KR" sz="1800" baseline="0" dirty="0" smtClean="0">
                          <a:solidFill>
                            <a:srgbClr val="C00000"/>
                          </a:solidFill>
                        </a:rPr>
                        <a:t> include …</a:t>
                      </a:r>
                      <a:r>
                        <a:rPr lang="en-US" altLang="ko-KR" sz="1800" dirty="0" smtClean="0">
                          <a:solidFill>
                            <a:srgbClr val="C00000"/>
                          </a:solidFill>
                        </a:rPr>
                        <a:t> %&gt;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JSP </a:t>
                      </a:r>
                      <a:r>
                        <a:rPr lang="ko-KR" altLang="en-US" sz="1600" dirty="0" smtClean="0"/>
                        <a:t>페이지의 특정 영역에 다른 문서 포함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/>
                        <a:t> </a:t>
                      </a:r>
                      <a:r>
                        <a:rPr lang="en-US" altLang="ko-KR" sz="1800" dirty="0" err="1" smtClean="0"/>
                        <a:t>taglib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smtClean="0">
                          <a:solidFill>
                            <a:srgbClr val="C00000"/>
                          </a:solidFill>
                        </a:rPr>
                        <a:t>&lt;%@</a:t>
                      </a:r>
                      <a:r>
                        <a:rPr lang="en-US" altLang="ko-KR" sz="1800" baseline="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ko-KR" sz="1800" baseline="0" dirty="0" err="1" smtClean="0">
                          <a:solidFill>
                            <a:srgbClr val="C00000"/>
                          </a:solidFill>
                        </a:rPr>
                        <a:t>taglib</a:t>
                      </a:r>
                      <a:r>
                        <a:rPr lang="en-US" altLang="ko-KR" sz="1800" baseline="0" dirty="0" smtClean="0">
                          <a:solidFill>
                            <a:srgbClr val="C00000"/>
                          </a:solidFill>
                        </a:rPr>
                        <a:t> …</a:t>
                      </a:r>
                      <a:r>
                        <a:rPr lang="en-US" altLang="ko-KR" sz="1800" dirty="0" smtClean="0">
                          <a:solidFill>
                            <a:srgbClr val="C00000"/>
                          </a:solidFill>
                        </a:rPr>
                        <a:t> %&gt;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 JSP </a:t>
                      </a:r>
                      <a:r>
                        <a:rPr lang="ko-KR" altLang="en-US" sz="1600" dirty="0" smtClean="0"/>
                        <a:t>페이지에 사용할 태그 라이브러리 설정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10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b="1" dirty="0" smtClean="0"/>
              <a:t>page </a:t>
            </a:r>
            <a:r>
              <a:rPr lang="ko-KR" altLang="en-US" sz="2200" b="1" dirty="0" err="1" smtClean="0"/>
              <a:t>디렉티브</a:t>
            </a:r>
            <a:r>
              <a:rPr lang="ko-KR" altLang="en-US" sz="2200" b="1" dirty="0" smtClean="0"/>
              <a:t> 태그 </a:t>
            </a:r>
            <a:r>
              <a:rPr lang="en-US" altLang="ko-KR" sz="2200" b="1" dirty="0" smtClean="0"/>
              <a:t>– </a:t>
            </a:r>
            <a:r>
              <a:rPr lang="en-US" altLang="ko-KR" sz="2200" b="1" dirty="0" err="1" smtClean="0"/>
              <a:t>contentType</a:t>
            </a:r>
            <a:r>
              <a:rPr lang="en-US" altLang="ko-KR" sz="2200" b="1" dirty="0" smtClean="0"/>
              <a:t> </a:t>
            </a:r>
            <a:r>
              <a:rPr lang="ko-KR" altLang="en-US" sz="2200" b="1" dirty="0" smtClean="0"/>
              <a:t>속성</a:t>
            </a:r>
            <a:endParaRPr lang="en-US" altLang="ko-KR" sz="22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현재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페이지에 대한 정보를 설정하는 태그</a:t>
            </a:r>
            <a:endParaRPr lang="en-US" altLang="ko-KR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콘텐츠</a:t>
            </a:r>
            <a:r>
              <a:rPr lang="ko-KR" altLang="en-US" dirty="0" smtClean="0"/>
              <a:t> 문서의 유형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사용할 자바 클래스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오류 페이지 설정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세션 사용 여부 등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223" y="3452364"/>
            <a:ext cx="4877605" cy="22095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2216209" y="3356992"/>
            <a:ext cx="5184576" cy="36004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16696" y="2575436"/>
            <a:ext cx="5328592" cy="408623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C00000"/>
                </a:solidFill>
              </a:rPr>
              <a:t>&lt;%@</a:t>
            </a:r>
            <a:r>
              <a:rPr lang="en-US" altLang="ko-KR" b="1" dirty="0" smtClean="0"/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page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contentType</a:t>
            </a:r>
            <a:r>
              <a:rPr lang="en-US" altLang="ko-KR" b="1" dirty="0" smtClean="0">
                <a:solidFill>
                  <a:srgbClr val="C00000"/>
                </a:solidFill>
              </a:rPr>
              <a:t> </a:t>
            </a:r>
            <a:r>
              <a:rPr lang="en-US" altLang="ko-KR" b="1" dirty="0" smtClean="0"/>
              <a:t>= “</a:t>
            </a:r>
            <a:r>
              <a:rPr lang="ko-KR" altLang="en-US" b="1" dirty="0" smtClean="0"/>
              <a:t>문서의 유형</a:t>
            </a:r>
            <a:r>
              <a:rPr lang="en-US" altLang="ko-KR" b="1" dirty="0" smtClean="0"/>
              <a:t>” </a:t>
            </a:r>
            <a:r>
              <a:rPr lang="en-US" altLang="ko-KR" b="1" dirty="0" smtClean="0">
                <a:solidFill>
                  <a:srgbClr val="C00000"/>
                </a:solidFill>
              </a:rPr>
              <a:t>%&gt;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77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page </a:t>
            </a:r>
            <a:r>
              <a:rPr lang="ko-KR" altLang="en-US" sz="2000" b="1" dirty="0" err="1" smtClean="0"/>
              <a:t>디렉티브</a:t>
            </a:r>
            <a:r>
              <a:rPr lang="ko-KR" altLang="en-US" sz="2000" b="1" dirty="0" smtClean="0"/>
              <a:t> 태그 </a:t>
            </a:r>
            <a:r>
              <a:rPr lang="en-US" altLang="ko-KR" sz="2000" b="1" dirty="0" smtClean="0"/>
              <a:t>–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566" y="1736454"/>
            <a:ext cx="4834205" cy="408623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C00000"/>
                </a:solidFill>
              </a:rPr>
              <a:t>&lt;%@</a:t>
            </a:r>
            <a:r>
              <a:rPr lang="en-US" altLang="ko-KR" b="1" dirty="0" smtClean="0"/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page import </a:t>
            </a:r>
            <a:r>
              <a:rPr lang="en-US" altLang="ko-KR" b="1" dirty="0" smtClean="0"/>
              <a:t>= “</a:t>
            </a:r>
            <a:r>
              <a:rPr lang="ko-KR" altLang="en-US" b="1" dirty="0" smtClean="0"/>
              <a:t>자바클래스</a:t>
            </a:r>
            <a:r>
              <a:rPr lang="en-US" altLang="ko-KR" b="1" dirty="0" smtClean="0"/>
              <a:t>” </a:t>
            </a:r>
            <a:r>
              <a:rPr lang="en-US" altLang="ko-KR" b="1" dirty="0" smtClean="0">
                <a:solidFill>
                  <a:srgbClr val="C00000"/>
                </a:solidFill>
              </a:rPr>
              <a:t>%&gt;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2302203"/>
            <a:ext cx="6760268" cy="40441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6691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page </a:t>
            </a:r>
            <a:r>
              <a:rPr lang="ko-KR" altLang="en-US" sz="2000" b="1" dirty="0" err="1" smtClean="0"/>
              <a:t>디렉티브</a:t>
            </a:r>
            <a:r>
              <a:rPr lang="ko-KR" altLang="en-US" sz="2000" b="1" dirty="0" smtClean="0"/>
              <a:t> 태그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49340"/>
            <a:ext cx="6383767" cy="33282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008" y="4552293"/>
            <a:ext cx="3829700" cy="1440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378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include </a:t>
            </a:r>
            <a:r>
              <a:rPr lang="ko-KR" altLang="en-US" sz="2000" b="1" dirty="0" err="1" smtClean="0"/>
              <a:t>디렉티브</a:t>
            </a:r>
            <a:r>
              <a:rPr lang="ko-KR" altLang="en-US" sz="2000" b="1" dirty="0" smtClean="0"/>
              <a:t> 태그</a:t>
            </a:r>
            <a:endParaRPr lang="en-US" altLang="ko-KR" sz="20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07027" y="1652225"/>
            <a:ext cx="3826093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C00000"/>
                </a:solidFill>
              </a:rPr>
              <a:t>&lt;%@</a:t>
            </a:r>
            <a:r>
              <a:rPr lang="en-US" altLang="ko-KR" b="1" dirty="0" smtClean="0"/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include file</a:t>
            </a:r>
            <a:r>
              <a:rPr lang="en-US" altLang="ko-KR" b="1" dirty="0" smtClean="0"/>
              <a:t>=“</a:t>
            </a:r>
            <a:r>
              <a:rPr lang="ko-KR" altLang="en-US" b="1" dirty="0" smtClean="0"/>
              <a:t>파일명</a:t>
            </a:r>
            <a:r>
              <a:rPr lang="en-US" altLang="ko-KR" b="1" dirty="0" smtClean="0"/>
              <a:t>” </a:t>
            </a:r>
            <a:r>
              <a:rPr lang="en-US" altLang="ko-KR" b="1" dirty="0" smtClean="0">
                <a:solidFill>
                  <a:srgbClr val="C00000"/>
                </a:solidFill>
              </a:rPr>
              <a:t>%&gt;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591" y="2234203"/>
            <a:ext cx="7632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-  </a:t>
            </a:r>
            <a:r>
              <a:rPr lang="ko-KR" altLang="en-US" sz="1600" dirty="0" smtClean="0"/>
              <a:t>현재 </a:t>
            </a:r>
            <a:r>
              <a:rPr lang="en-US" altLang="ko-KR" sz="1600" dirty="0" smtClean="0"/>
              <a:t>JSP</a:t>
            </a:r>
            <a:r>
              <a:rPr lang="ko-KR" altLang="en-US" sz="1600" dirty="0" smtClean="0"/>
              <a:t>의 특정 영역에 외부 파일의 내용을 포함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 dirty="0"/>
              <a:t>i</a:t>
            </a:r>
            <a:r>
              <a:rPr lang="en-US" altLang="ko-KR" sz="1600" dirty="0" smtClean="0"/>
              <a:t>nclude </a:t>
            </a:r>
            <a:r>
              <a:rPr lang="ko-KR" altLang="en-US" sz="1600" dirty="0" err="1" smtClean="0"/>
              <a:t>디렉티브</a:t>
            </a:r>
            <a:r>
              <a:rPr lang="ko-KR" altLang="en-US" sz="1600" dirty="0" smtClean="0"/>
              <a:t> 태그는 머리글과 바닥글과 같은 공통된 부분을 별도의 </a:t>
            </a:r>
            <a:r>
              <a:rPr lang="en-US" altLang="ko-KR" sz="1600" dirty="0" smtClean="0"/>
              <a:t>JSP </a:t>
            </a:r>
            <a:r>
              <a:rPr lang="ko-KR" altLang="en-US" sz="1600" dirty="0" smtClean="0"/>
              <a:t>파일을 만들어 모듈화 할 수 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027" y="3645024"/>
            <a:ext cx="4329052" cy="18002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7623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include </a:t>
            </a:r>
            <a:r>
              <a:rPr lang="ko-KR" altLang="en-US" sz="2000" b="1" dirty="0" err="1" smtClean="0"/>
              <a:t>디렉티브</a:t>
            </a:r>
            <a:r>
              <a:rPr lang="ko-KR" altLang="en-US" sz="2000" b="1" dirty="0" smtClean="0"/>
              <a:t> 태그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95299"/>
            <a:ext cx="7143352" cy="36475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113240" y="2276872"/>
            <a:ext cx="1944216" cy="299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ysClr val="windowText" lastClr="000000"/>
                </a:solidFill>
              </a:rPr>
              <a:t>include/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header.jsp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14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include </a:t>
            </a:r>
            <a:r>
              <a:rPr lang="ko-KR" altLang="en-US" sz="2000" b="1" dirty="0" err="1" smtClean="0"/>
              <a:t>디렉티브</a:t>
            </a:r>
            <a:r>
              <a:rPr lang="ko-KR" altLang="en-US" sz="2000" b="1" dirty="0" smtClean="0"/>
              <a:t> 태그</a:t>
            </a:r>
            <a:endParaRPr lang="en-US" altLang="ko-KR" sz="2000" b="1" dirty="0" smtClean="0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321152" y="1772004"/>
            <a:ext cx="1983854" cy="299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ysClr val="windowText" lastClr="000000"/>
                </a:solidFill>
              </a:rPr>
              <a:t>include/</a:t>
            </a:r>
            <a:r>
              <a:rPr lang="en-US" altLang="ko-KR" sz="1600" dirty="0" err="1">
                <a:solidFill>
                  <a:sysClr val="windowText" lastClr="000000"/>
                </a:solidFill>
              </a:rPr>
              <a:t>footer.jsp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2348880"/>
            <a:ext cx="7277281" cy="10018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2183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en-US" altLang="ko-KR" dirty="0"/>
              <a:t>JSP </a:t>
            </a:r>
            <a:r>
              <a:rPr lang="ko-KR" altLang="en-US" dirty="0"/>
              <a:t>태그 </a:t>
            </a:r>
            <a:r>
              <a:rPr lang="en-US" altLang="ko-KR" dirty="0"/>
              <a:t>- </a:t>
            </a:r>
            <a:r>
              <a:rPr lang="ko-KR" altLang="en-US" dirty="0" err="1" smtClean="0"/>
              <a:t>디렉티브</a:t>
            </a:r>
            <a:r>
              <a:rPr lang="ko-KR" altLang="en-US" dirty="0" smtClean="0"/>
              <a:t> 태그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2560" y="1000530"/>
            <a:ext cx="871296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include </a:t>
            </a:r>
            <a:r>
              <a:rPr lang="ko-KR" altLang="en-US" sz="2000" b="1" dirty="0" err="1" smtClean="0"/>
              <a:t>디렉티브</a:t>
            </a:r>
            <a:r>
              <a:rPr lang="ko-KR" altLang="en-US" sz="2000" b="1" dirty="0" smtClean="0"/>
              <a:t> 태그</a:t>
            </a:r>
            <a:endParaRPr lang="en-US" altLang="ko-KR" sz="2000" b="1" dirty="0" smtClean="0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4448944" y="1681440"/>
            <a:ext cx="1872208" cy="29989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ysClr val="windowText" lastClr="000000"/>
                </a:solidFill>
              </a:rPr>
              <a:t>i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nclude/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main.jsp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2167752"/>
            <a:ext cx="4752528" cy="25301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844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12043</TotalTime>
  <Words>1132</Words>
  <Application>Microsoft Office PowerPoint</Application>
  <PresentationFormat>A4 용지(210x297mm)</PresentationFormat>
  <Paragraphs>209</Paragraphs>
  <Slides>37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1장. 웹 개발 환경 구축 및 JSP</vt:lpstr>
      <vt:lpstr>PowerPoint 프레젠테이션</vt:lpstr>
      <vt:lpstr>PowerPoint 프레젠테이션</vt:lpstr>
      <vt:lpstr>PowerPoint 프레젠테이션</vt:lpstr>
      <vt:lpstr>PowerPoint 프레젠테이션</vt:lpstr>
      <vt:lpstr>  JDK(Java Development Kit)</vt:lpstr>
      <vt:lpstr> 이클립스(Eclipse) IDE 설치</vt:lpstr>
      <vt:lpstr> 이클립스(Eclipse) IDE 설치</vt:lpstr>
      <vt:lpstr>  인코딩 설정</vt:lpstr>
      <vt:lpstr>PowerPoint 프레젠테이션</vt:lpstr>
      <vt:lpstr>PowerPoint 프레젠테이션</vt:lpstr>
      <vt:lpstr>  웹 애플리케이션 이해하기</vt:lpstr>
      <vt:lpstr>  웹 애플리케이션 이해하기</vt:lpstr>
      <vt:lpstr>  웹 애플리케이션 이해하기</vt:lpstr>
      <vt:lpstr>  웹 애플리케이션 이해하기</vt:lpstr>
      <vt:lpstr>  웹 애플리케이션 이해하기</vt:lpstr>
      <vt:lpstr>  웹 애플리케이션 이해하기</vt:lpstr>
      <vt:lpstr>  웹 애플리케이션 이해하기</vt:lpstr>
      <vt:lpstr>  웹 애플리케이션 이해하기</vt:lpstr>
      <vt:lpstr>  웹 애플리케이션 이해하기</vt:lpstr>
      <vt:lpstr>  웹 애플리케이션 이해하기</vt:lpstr>
      <vt:lpstr>  웹 페이지 만들기</vt:lpstr>
      <vt:lpstr>  웹 페이지 만들기</vt:lpstr>
      <vt:lpstr>  웹 페이지 만들기</vt:lpstr>
      <vt:lpstr>  웹 페이지 만들기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766</cp:revision>
  <dcterms:created xsi:type="dcterms:W3CDTF">2019-03-04T02:36:55Z</dcterms:created>
  <dcterms:modified xsi:type="dcterms:W3CDTF">2025-10-01T21:58:33Z</dcterms:modified>
</cp:coreProperties>
</file>