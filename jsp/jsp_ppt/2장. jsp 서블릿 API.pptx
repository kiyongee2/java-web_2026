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9"/>
  </p:notesMasterIdLst>
  <p:sldIdLst>
    <p:sldId id="256" r:id="rId2"/>
    <p:sldId id="351" r:id="rId3"/>
    <p:sldId id="470" r:id="rId4"/>
    <p:sldId id="406" r:id="rId5"/>
    <p:sldId id="460" r:id="rId6"/>
    <p:sldId id="461" r:id="rId7"/>
    <p:sldId id="462" r:id="rId8"/>
    <p:sldId id="352" r:id="rId9"/>
    <p:sldId id="378" r:id="rId10"/>
    <p:sldId id="463" r:id="rId11"/>
    <p:sldId id="379" r:id="rId12"/>
    <p:sldId id="405" r:id="rId13"/>
    <p:sldId id="449" r:id="rId14"/>
    <p:sldId id="464" r:id="rId15"/>
    <p:sldId id="380" r:id="rId16"/>
    <p:sldId id="404" r:id="rId17"/>
    <p:sldId id="468" r:id="rId18"/>
    <p:sldId id="466" r:id="rId19"/>
    <p:sldId id="467" r:id="rId20"/>
    <p:sldId id="465" r:id="rId21"/>
    <p:sldId id="453" r:id="rId22"/>
    <p:sldId id="383" r:id="rId23"/>
    <p:sldId id="469" r:id="rId24"/>
    <p:sldId id="442" r:id="rId25"/>
    <p:sldId id="452" r:id="rId26"/>
    <p:sldId id="444" r:id="rId27"/>
    <p:sldId id="445" r:id="rId28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5482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4660"/>
  </p:normalViewPr>
  <p:slideViewPr>
    <p:cSldViewPr>
      <p:cViewPr varScale="1">
        <p:scale>
          <a:sx n="88" d="100"/>
          <a:sy n="88" d="100"/>
        </p:scale>
        <p:origin x="1061" y="67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6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862345" cy="1226567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6" y="2667615"/>
            <a:ext cx="7683303" cy="478904"/>
          </a:xfrm>
          <a:solidFill>
            <a:schemeClr val="accent5">
              <a:lumMod val="5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81B4-D91A-4578-85B3-829E63FCFE17}" type="datetime1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2144688" cy="68580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91044"/>
            <a:ext cx="2144688" cy="486181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333915" y="2721729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704594" y="2721730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 smtClean="0"/>
              <a:t> 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DEC8-1339-42E8-9704-2977280C2FD3}" type="datetime1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DC76-A282-4817-B790-197F054E1215}" type="datetime1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AA6C-13D8-43E4-90F0-E6C88A2B9F16}" type="datetime1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B03B-20CC-436E-8601-C933C6C1F4A6}" type="datetime1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A15D-8B08-482F-AB47-E416EC355EB6}" type="datetime1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7D7F8-7B64-44F8-A411-CBD22F28CBFF}" type="datetime1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BD9B-2BB6-4D1F-BCB4-1E48829C93C3}" type="datetime1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4C48-0CD7-40EB-BE64-BBF4DB8C56AF}" type="datetime1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7542-37E5-48F2-BAE7-80CC6B0EB6A3}" type="datetime1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CF174-B5AC-4A98-B673-0BE8126D3F27}" type="datetime1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124744"/>
            <a:ext cx="89154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BCB4-B68B-4638-8167-F4BDC0A30DA1}" type="datetime1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-39555" y="6525344"/>
            <a:ext cx="9945555" cy="332656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906000" cy="836712"/>
          </a:xfrm>
          <a:prstGeom prst="rect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0" y="-18256"/>
            <a:ext cx="6201139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  마스터 제목 스타일 편집</a:t>
            </a:r>
            <a:endParaRPr lang="ko-KR" altLang="en-US" dirty="0"/>
          </a:p>
        </p:txBody>
      </p:sp>
      <p:pic>
        <p:nvPicPr>
          <p:cNvPr id="9" name="Picture 2" descr="JSP] sendRedirect() 메소드로 파라미터 값을 받아오기"/>
          <p:cNvPicPr>
            <a:picLocks noChangeAspect="1" noChangeArrowheads="1"/>
          </p:cNvPicPr>
          <p:nvPr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72" y="5953107"/>
            <a:ext cx="654360" cy="65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41432" y="6525344"/>
            <a:ext cx="557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186687" cy="1226567"/>
          </a:xfrm>
        </p:spPr>
        <p:txBody>
          <a:bodyPr>
            <a:normAutofit/>
          </a:bodyPr>
          <a:lstStyle/>
          <a:p>
            <a:r>
              <a:rPr lang="en-US" altLang="ko-KR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2</a:t>
            </a:r>
            <a:r>
              <a:rPr lang="ko-KR" altLang="en-US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장</a:t>
            </a:r>
            <a:r>
              <a:rPr lang="en-US" altLang="ko-KR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 </a:t>
            </a:r>
            <a:r>
              <a:rPr lang="ko-KR" altLang="en-US" b="1" dirty="0" err="1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서블릿</a:t>
            </a:r>
            <a:r>
              <a:rPr lang="en-US" altLang="ko-KR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(</a:t>
            </a:r>
            <a:r>
              <a:rPr lang="en-US" altLang="ko-KR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Servlet) </a:t>
            </a:r>
            <a:endParaRPr lang="ko-KR" altLang="en-US" b="1" dirty="0">
              <a:solidFill>
                <a:schemeClr val="tx1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7" y="2670822"/>
            <a:ext cx="7683303" cy="504055"/>
          </a:xfrm>
          <a:solidFill>
            <a:schemeClr val="accent5">
              <a:lumMod val="75000"/>
            </a:schemeClr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2000" dirty="0" smtClean="0">
                <a:solidFill>
                  <a:schemeClr val="bg1"/>
                </a:solidFill>
              </a:rPr>
              <a:t> </a:t>
            </a:r>
            <a:r>
              <a:rPr lang="en-US" altLang="ko-KR" sz="1800" i="1" dirty="0" err="1" smtClean="0">
                <a:solidFill>
                  <a:schemeClr val="bg1"/>
                </a:solidFill>
              </a:rPr>
              <a:t>HttpServlet</a:t>
            </a:r>
            <a:endParaRPr lang="ko-KR" altLang="en-US" sz="1600" i="1" dirty="0">
              <a:solidFill>
                <a:schemeClr val="bg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82298" y="-144463"/>
            <a:ext cx="3302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026" name="Picture 2" descr="JSP] sendRedirect() 메소드로 파라미터 값을 받아오기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191" y="4082682"/>
            <a:ext cx="1938605" cy="1938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b="1" dirty="0" err="1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서블릿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(</a:t>
            </a:r>
            <a:r>
              <a:rPr lang="en-US" altLang="ko-KR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Servlet)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064568" y="908720"/>
            <a:ext cx="2520280" cy="609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 smtClean="0"/>
              <a:t>서블릿</a:t>
            </a:r>
            <a:r>
              <a:rPr lang="en-US" altLang="ko-KR" sz="2000" b="1" dirty="0" smtClean="0"/>
              <a:t>(Servlet)</a:t>
            </a:r>
            <a:r>
              <a:rPr lang="ko-KR" altLang="en-US" sz="2000" b="1" dirty="0" smtClean="0"/>
              <a:t> </a:t>
            </a:r>
            <a:endParaRPr lang="en-US" altLang="ko-KR" sz="2000" b="1" dirty="0" smtClean="0"/>
          </a:p>
        </p:txBody>
      </p:sp>
      <p:sp>
        <p:nvSpPr>
          <p:cNvPr id="2" name="직사각형 1"/>
          <p:cNvSpPr/>
          <p:nvPr/>
        </p:nvSpPr>
        <p:spPr>
          <a:xfrm>
            <a:off x="1424607" y="1628800"/>
            <a:ext cx="813690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자바(</a:t>
            </a:r>
            <a:r>
              <a:rPr lang="ko-KR" altLang="en-US" dirty="0" err="1"/>
              <a:t>Java</a:t>
            </a:r>
            <a:r>
              <a:rPr lang="ko-KR" altLang="en-US" dirty="0"/>
              <a:t>) 기반의 웹 프로그래밍 기술로, 웹 서버에서 </a:t>
            </a:r>
            <a:r>
              <a:rPr lang="ko-KR" altLang="en-US" dirty="0" smtClean="0"/>
              <a:t>실행된다</a:t>
            </a:r>
            <a:r>
              <a:rPr lang="en-US" altLang="ko-KR" dirty="0" smtClean="0"/>
              <a:t>.</a:t>
            </a:r>
            <a:r>
              <a:rPr lang="ko-KR" altLang="en-US" dirty="0" smtClean="0"/>
              <a:t> </a:t>
            </a:r>
            <a:endParaRPr lang="ko-KR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클라이언트(보통 웹 브라우저)의 요청(</a:t>
            </a:r>
            <a:r>
              <a:rPr lang="ko-KR" altLang="en-US" dirty="0" err="1"/>
              <a:t>Request</a:t>
            </a:r>
            <a:r>
              <a:rPr lang="ko-KR" altLang="en-US" dirty="0"/>
              <a:t>)을 처리하고 응답(</a:t>
            </a:r>
            <a:r>
              <a:rPr lang="ko-KR" altLang="en-US" dirty="0" err="1"/>
              <a:t>Response</a:t>
            </a:r>
            <a:r>
              <a:rPr lang="ko-KR" altLang="en-US" dirty="0"/>
              <a:t>)을 만들어 반환하는 서버 사이드 </a:t>
            </a:r>
            <a:r>
              <a:rPr lang="ko-KR" altLang="en-US" dirty="0" smtClean="0"/>
              <a:t>프로그램이다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1434640" y="2996952"/>
            <a:ext cx="7622815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dirty="0" err="1"/>
              <a:t>Servlet</a:t>
            </a:r>
            <a:r>
              <a:rPr lang="ko-KR" altLang="en-US" b="1" dirty="0"/>
              <a:t> = Server + </a:t>
            </a:r>
            <a:r>
              <a:rPr lang="ko-KR" altLang="en-US" b="1" dirty="0" err="1" smtClean="0"/>
              <a:t>Applet</a:t>
            </a:r>
            <a:endParaRPr lang="ko-KR" altLang="en-US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웹 서버에서 실행되는 자바 클래스로, 클라이언트의 요청을 받아 동적 웹 페이지(DB 조회, 계산, 사용자 입력 처리 등)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ko-KR" altLang="en-US" dirty="0" smtClean="0"/>
              <a:t>생성한다.</a:t>
            </a:r>
            <a:endParaRPr lang="ko-KR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일반적으로 HTTP 프로토콜 기반으로 동작하며, 가장 대표적인 구현체는 </a:t>
            </a:r>
            <a:r>
              <a:rPr lang="ko-KR" altLang="en-US" b="1" dirty="0" err="1" smtClean="0">
                <a:solidFill>
                  <a:srgbClr val="0070C0"/>
                </a:solidFill>
              </a:rPr>
              <a:t>HttpServlet</a:t>
            </a:r>
            <a:r>
              <a:rPr lang="ko-KR" altLang="en-US" dirty="0" err="1" smtClean="0"/>
              <a:t>이다</a:t>
            </a:r>
            <a:r>
              <a:rPr lang="ko-KR" altLang="en-US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1920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b="1" dirty="0" err="1">
                <a:latin typeface="휴먼엑스포" panose="02030504000101010101" pitchFamily="18" charset="-127"/>
                <a:ea typeface="휴먼엑스포" panose="02030504000101010101" pitchFamily="18" charset="-127"/>
              </a:rPr>
              <a:t>서블릿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(Servlet</a:t>
            </a:r>
            <a:r>
              <a:rPr lang="en-US" altLang="ko-KR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36576" y="980728"/>
            <a:ext cx="712879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 smtClean="0"/>
              <a:t>서블릿의</a:t>
            </a:r>
            <a:r>
              <a:rPr lang="ko-KR" altLang="en-US" sz="2000" b="1" dirty="0" smtClean="0"/>
              <a:t> 장점</a:t>
            </a:r>
            <a:endParaRPr lang="en-US" altLang="ko-KR" sz="2000" b="1" dirty="0" smtClean="0"/>
          </a:p>
        </p:txBody>
      </p:sp>
      <p:sp>
        <p:nvSpPr>
          <p:cNvPr id="4" name="직사각형 3"/>
          <p:cNvSpPr/>
          <p:nvPr/>
        </p:nvSpPr>
        <p:spPr>
          <a:xfrm>
            <a:off x="1521168" y="1556792"/>
            <a:ext cx="739227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자바 </a:t>
            </a:r>
            <a:r>
              <a:rPr lang="ko-KR" altLang="en-US" dirty="0"/>
              <a:t>언어 기반 → </a:t>
            </a:r>
            <a:r>
              <a:rPr lang="ko-KR" altLang="en-US" dirty="0" err="1"/>
              <a:t>객체지향적이고</a:t>
            </a:r>
            <a:r>
              <a:rPr lang="ko-KR" altLang="en-US" dirty="0"/>
              <a:t> 안정적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플랫폼 </a:t>
            </a:r>
            <a:r>
              <a:rPr lang="ko-KR" altLang="en-US" dirty="0"/>
              <a:t>독립적 → </a:t>
            </a:r>
            <a:r>
              <a:rPr lang="en-US" altLang="ko-KR" dirty="0"/>
              <a:t>JVM</a:t>
            </a:r>
            <a:r>
              <a:rPr lang="ko-KR" altLang="en-US" dirty="0"/>
              <a:t>만 있으면 어디서든 실행 가능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강력한 </a:t>
            </a:r>
            <a:r>
              <a:rPr lang="ko-KR" altLang="en-US" dirty="0"/>
              <a:t>라이브러리 </a:t>
            </a:r>
            <a:r>
              <a:rPr lang="en-US" altLang="ko-KR" dirty="0"/>
              <a:t>&amp; API </a:t>
            </a:r>
            <a:r>
              <a:rPr lang="ko-KR" altLang="en-US" dirty="0"/>
              <a:t>지원 </a:t>
            </a:r>
            <a:r>
              <a:rPr lang="en-US" altLang="ko-KR" dirty="0"/>
              <a:t>(DB, </a:t>
            </a:r>
            <a:r>
              <a:rPr lang="ko-KR" altLang="en-US" dirty="0"/>
              <a:t>네트워크 등</a:t>
            </a:r>
            <a:r>
              <a:rPr lang="en-US" altLang="ko-KR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smtClean="0"/>
              <a:t>JSP</a:t>
            </a:r>
            <a:r>
              <a:rPr lang="en-US" altLang="ko-KR" dirty="0"/>
              <a:t>, Spring Framework </a:t>
            </a:r>
            <a:r>
              <a:rPr lang="ko-KR" altLang="en-US" dirty="0"/>
              <a:t>같은 웹 기술의 기반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76" y="3501008"/>
            <a:ext cx="712879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 smtClean="0"/>
              <a:t>서블릿의</a:t>
            </a:r>
            <a:r>
              <a:rPr lang="ko-KR" altLang="en-US" sz="2000" b="1" dirty="0" smtClean="0"/>
              <a:t> 한계</a:t>
            </a:r>
            <a:endParaRPr lang="en-US" altLang="ko-KR" sz="2000" b="1" dirty="0" smtClean="0"/>
          </a:p>
        </p:txBody>
      </p:sp>
      <p:sp>
        <p:nvSpPr>
          <p:cNvPr id="2" name="직사각형 1"/>
          <p:cNvSpPr/>
          <p:nvPr/>
        </p:nvSpPr>
        <p:spPr>
          <a:xfrm>
            <a:off x="1521168" y="4026905"/>
            <a:ext cx="7949108" cy="21162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순수 </a:t>
            </a:r>
            <a:r>
              <a:rPr lang="ko-KR" altLang="en-US" dirty="0" err="1"/>
              <a:t>서블릿으로</a:t>
            </a:r>
            <a:r>
              <a:rPr lang="ko-KR" altLang="en-US" dirty="0"/>
              <a:t> </a:t>
            </a:r>
            <a:r>
              <a:rPr lang="ko-KR" altLang="en-US" dirty="0" err="1"/>
              <a:t>HTML을</a:t>
            </a:r>
            <a:r>
              <a:rPr lang="ko-KR" altLang="en-US" dirty="0"/>
              <a:t> 출력하려면 </a:t>
            </a:r>
            <a:r>
              <a:rPr lang="ko-KR" altLang="en-US" dirty="0" err="1"/>
              <a:t>out.println</a:t>
            </a:r>
            <a:r>
              <a:rPr lang="ko-KR" altLang="en-US" dirty="0"/>
              <a:t>("&lt;h1&gt;...&lt;/h1&gt;") 같은 코드가 </a:t>
            </a:r>
            <a:r>
              <a:rPr lang="ko-KR" altLang="en-US" dirty="0" err="1" smtClean="0"/>
              <a:t>복잡해짐</a:t>
            </a:r>
            <a:endParaRPr lang="ko-KR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뷰(</a:t>
            </a:r>
            <a:r>
              <a:rPr lang="ko-KR" altLang="en-US" dirty="0" err="1"/>
              <a:t>View</a:t>
            </a:r>
            <a:r>
              <a:rPr lang="ko-KR" altLang="en-US" dirty="0"/>
              <a:t>) 처리에 불편 → </a:t>
            </a:r>
            <a:r>
              <a:rPr lang="ko-KR" altLang="en-US" dirty="0" err="1"/>
              <a:t>JSP와</a:t>
            </a:r>
            <a:r>
              <a:rPr lang="ko-KR" altLang="en-US" dirty="0"/>
              <a:t> 함께 사용하면서 MVC 패턴이 </a:t>
            </a:r>
            <a:r>
              <a:rPr lang="ko-KR" altLang="en-US" dirty="0" smtClean="0"/>
              <a:t>도입됨</a:t>
            </a:r>
            <a:endParaRPr lang="ko-KR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이후 </a:t>
            </a:r>
            <a:r>
              <a:rPr lang="ko-KR" altLang="en-US" dirty="0" err="1"/>
              <a:t>Spring</a:t>
            </a:r>
            <a:r>
              <a:rPr lang="ko-KR" altLang="en-US" dirty="0"/>
              <a:t>, </a:t>
            </a:r>
            <a:r>
              <a:rPr lang="ko-KR" altLang="en-US" dirty="0" err="1"/>
              <a:t>Spring</a:t>
            </a:r>
            <a:r>
              <a:rPr lang="ko-KR" altLang="en-US" dirty="0"/>
              <a:t> </a:t>
            </a:r>
            <a:r>
              <a:rPr lang="ko-KR" altLang="en-US" dirty="0" err="1"/>
              <a:t>Boot</a:t>
            </a:r>
            <a:r>
              <a:rPr lang="ko-KR" altLang="en-US" dirty="0"/>
              <a:t> 같은 프레임워크들이 발전하면서 더 효율적인 개발 방식이 확산됨</a:t>
            </a:r>
          </a:p>
        </p:txBody>
      </p:sp>
    </p:spTree>
    <p:extLst>
      <p:ext uri="{BB962C8B-B14F-4D97-AF65-F5344CB8AC3E}">
        <p14:creationId xmlns:p14="http://schemas.microsoft.com/office/powerpoint/2010/main" val="3026626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dirty="0" smtClean="0"/>
              <a:t>Java EE API 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36576" y="980728"/>
            <a:ext cx="7128792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400" b="1" dirty="0" smtClean="0"/>
              <a:t>Java EE API</a:t>
            </a:r>
            <a:r>
              <a:rPr lang="en-US" altLang="ko-KR" sz="2000" b="1" dirty="0" smtClean="0"/>
              <a:t>-&gt; </a:t>
            </a:r>
            <a:r>
              <a:rPr lang="ko-KR" altLang="en-US" sz="2000" b="1" dirty="0" err="1" smtClean="0"/>
              <a:t>서블릿</a:t>
            </a:r>
            <a:r>
              <a:rPr lang="en-US" altLang="ko-KR" sz="2000" b="1" dirty="0" smtClean="0"/>
              <a:t>(Servlet)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616" y="1844824"/>
            <a:ext cx="3787468" cy="230906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056" y="3429000"/>
            <a:ext cx="3744416" cy="232028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cxnSp>
        <p:nvCxnSpPr>
          <p:cNvPr id="7" name="꺾인 연결선 6"/>
          <p:cNvCxnSpPr>
            <a:stCxn id="9" idx="2"/>
            <a:endCxn id="2" idx="1"/>
          </p:cNvCxnSpPr>
          <p:nvPr/>
        </p:nvCxnSpPr>
        <p:spPr>
          <a:xfrm rot="16200000" flipH="1">
            <a:off x="4869745" y="4001833"/>
            <a:ext cx="368056" cy="80656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모서리가 둥근 직사각형 8"/>
          <p:cNvSpPr/>
          <p:nvPr/>
        </p:nvSpPr>
        <p:spPr>
          <a:xfrm>
            <a:off x="4016896" y="3640220"/>
            <a:ext cx="1267188" cy="580868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715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b="1" dirty="0" err="1">
                <a:latin typeface="휴먼엑스포" panose="02030504000101010101" pitchFamily="18" charset="-127"/>
                <a:ea typeface="휴먼엑스포" panose="02030504000101010101" pitchFamily="18" charset="-127"/>
              </a:rPr>
              <a:t>서블릿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(Servlet</a:t>
            </a:r>
            <a:r>
              <a:rPr lang="en-US" altLang="ko-KR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36576" y="980728"/>
            <a:ext cx="712879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HttpServlet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이란</a:t>
            </a:r>
            <a:r>
              <a:rPr lang="en-US" altLang="ko-KR" sz="2000" b="1" dirty="0" smtClean="0"/>
              <a:t>?</a:t>
            </a:r>
            <a:endParaRPr lang="en-US" altLang="ko-KR" sz="2000" b="1" dirty="0" smtClean="0"/>
          </a:p>
        </p:txBody>
      </p:sp>
      <p:sp>
        <p:nvSpPr>
          <p:cNvPr id="4" name="직사각형 3"/>
          <p:cNvSpPr/>
          <p:nvPr/>
        </p:nvSpPr>
        <p:spPr>
          <a:xfrm>
            <a:off x="1521168" y="1556792"/>
            <a:ext cx="739227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HttpServlet은</a:t>
            </a:r>
            <a:r>
              <a:rPr lang="ko-KR" altLang="en-US" dirty="0"/>
              <a:t> </a:t>
            </a:r>
            <a:r>
              <a:rPr lang="ko-KR" altLang="en-US" dirty="0" err="1"/>
              <a:t>Servlet의</a:t>
            </a:r>
            <a:r>
              <a:rPr lang="ko-KR" altLang="en-US" dirty="0"/>
              <a:t> 대표적인 구현 </a:t>
            </a:r>
            <a:r>
              <a:rPr lang="ko-KR" altLang="en-US" dirty="0" smtClean="0"/>
              <a:t>클래스이다</a:t>
            </a:r>
            <a:r>
              <a:rPr lang="en-US" altLang="ko-KR" dirty="0" smtClean="0"/>
              <a:t>.</a:t>
            </a:r>
            <a:endParaRPr lang="ko-KR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클라이언트와 서버 간에 HTTP 프로토콜 기반의 요청과 응답을 처리하는 데 최적화된 </a:t>
            </a:r>
            <a:r>
              <a:rPr lang="ko-KR" altLang="en-US" dirty="0" err="1"/>
              <a:t>서블릿입니다</a:t>
            </a:r>
            <a:r>
              <a:rPr lang="ko-KR" altLang="en-US" dirty="0" smtClean="0"/>
              <a:t>.</a:t>
            </a:r>
            <a:endParaRPr lang="ko-KR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javax.servlet.http.HttpServlet</a:t>
            </a:r>
            <a:r>
              <a:rPr lang="ko-KR" altLang="en-US" dirty="0"/>
              <a:t> (</a:t>
            </a:r>
            <a:r>
              <a:rPr lang="ko-KR" altLang="en-US" dirty="0" err="1"/>
              <a:t>Servlet</a:t>
            </a:r>
            <a:r>
              <a:rPr lang="ko-KR" altLang="en-US" dirty="0"/>
              <a:t> 3.x까지) 또는 </a:t>
            </a:r>
            <a:r>
              <a:rPr lang="ko-KR" altLang="en-US" b="1" dirty="0" err="1">
                <a:solidFill>
                  <a:srgbClr val="C00000"/>
                </a:solidFill>
              </a:rPr>
              <a:t>jakarta.servlet.http.HttpServlet</a:t>
            </a:r>
            <a:r>
              <a:rPr lang="ko-KR" altLang="en-US" b="1" dirty="0">
                <a:solidFill>
                  <a:srgbClr val="C00000"/>
                </a:solidFill>
              </a:rPr>
              <a:t> (</a:t>
            </a:r>
            <a:r>
              <a:rPr lang="ko-KR" altLang="en-US" b="1" dirty="0" err="1">
                <a:solidFill>
                  <a:srgbClr val="C00000"/>
                </a:solidFill>
              </a:rPr>
              <a:t>Servlet</a:t>
            </a:r>
            <a:r>
              <a:rPr lang="ko-KR" altLang="en-US" b="1" dirty="0">
                <a:solidFill>
                  <a:srgbClr val="C00000"/>
                </a:solidFill>
              </a:rPr>
              <a:t> 4.x 이상, </a:t>
            </a:r>
            <a:r>
              <a:rPr lang="ko-KR" altLang="en-US" b="1" dirty="0" err="1">
                <a:solidFill>
                  <a:srgbClr val="C00000"/>
                </a:solidFill>
              </a:rPr>
              <a:t>Jakarta</a:t>
            </a:r>
            <a:r>
              <a:rPr lang="ko-KR" altLang="en-US" b="1" dirty="0">
                <a:solidFill>
                  <a:srgbClr val="C00000"/>
                </a:solidFill>
              </a:rPr>
              <a:t> EE)</a:t>
            </a:r>
            <a:r>
              <a:rPr lang="ko-KR" altLang="en-US" dirty="0"/>
              <a:t> 패키지에 속해 있습니다</a:t>
            </a:r>
            <a:r>
              <a:rPr lang="ko-KR" altLang="en-US" dirty="0" smtClean="0"/>
              <a:t>.</a:t>
            </a:r>
            <a:endParaRPr lang="ko-KR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보통 직접 </a:t>
            </a:r>
            <a:r>
              <a:rPr lang="ko-KR" altLang="en-US" dirty="0" err="1"/>
              <a:t>Servlet</a:t>
            </a:r>
            <a:r>
              <a:rPr lang="ko-KR" altLang="en-US" dirty="0"/>
              <a:t> 인터페이스를 구현하지 않고, </a:t>
            </a:r>
            <a:r>
              <a:rPr lang="ko-KR" altLang="en-US" dirty="0" err="1"/>
              <a:t>HttpServlet을</a:t>
            </a:r>
            <a:r>
              <a:rPr lang="ko-KR" altLang="en-US" dirty="0"/>
              <a:t> </a:t>
            </a:r>
            <a:r>
              <a:rPr lang="ko-KR" altLang="en-US" b="1" dirty="0"/>
              <a:t>상속</a:t>
            </a:r>
            <a:r>
              <a:rPr lang="ko-KR" altLang="en-US" dirty="0"/>
              <a:t>받아 필요한 메서드만 오버라이딩해서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2565114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b="1" dirty="0" err="1">
                <a:latin typeface="휴먼엑스포" panose="02030504000101010101" pitchFamily="18" charset="-127"/>
                <a:ea typeface="휴먼엑스포" panose="02030504000101010101" pitchFamily="18" charset="-127"/>
              </a:rPr>
              <a:t>서블릿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(Servlet</a:t>
            </a:r>
            <a:r>
              <a:rPr lang="en-US" altLang="ko-KR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)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36576" y="980728"/>
            <a:ext cx="712879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HttpServlet</a:t>
            </a:r>
            <a:r>
              <a:rPr lang="ko-KR" altLang="en-US" sz="2000" b="1" dirty="0" smtClean="0"/>
              <a:t>의 주요 메서드</a:t>
            </a:r>
            <a:endParaRPr lang="en-US" altLang="ko-KR" sz="2000" b="1" dirty="0" smtClean="0"/>
          </a:p>
        </p:txBody>
      </p:sp>
      <p:sp>
        <p:nvSpPr>
          <p:cNvPr id="2" name="직사각형 1"/>
          <p:cNvSpPr/>
          <p:nvPr/>
        </p:nvSpPr>
        <p:spPr>
          <a:xfrm>
            <a:off x="1480525" y="2852936"/>
            <a:ext cx="7920880" cy="14773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dirty="0" err="1"/>
              <a:t>protected</a:t>
            </a:r>
            <a:r>
              <a:rPr lang="ko-KR" altLang="en-US" dirty="0"/>
              <a:t> </a:t>
            </a:r>
            <a:r>
              <a:rPr lang="ko-KR" altLang="en-US" dirty="0" err="1"/>
              <a:t>void</a:t>
            </a:r>
            <a:r>
              <a:rPr lang="ko-KR" altLang="en-US" dirty="0"/>
              <a:t> </a:t>
            </a:r>
            <a:r>
              <a:rPr lang="ko-KR" altLang="en-US" b="1" dirty="0" err="1"/>
              <a:t>doGet</a:t>
            </a:r>
            <a:r>
              <a:rPr lang="ko-KR" altLang="en-US" dirty="0"/>
              <a:t>(</a:t>
            </a:r>
            <a:r>
              <a:rPr lang="ko-KR" altLang="en-US" dirty="0" err="1"/>
              <a:t>HttpServletRequest</a:t>
            </a:r>
            <a:r>
              <a:rPr lang="ko-KR" altLang="en-US" dirty="0"/>
              <a:t> </a:t>
            </a:r>
            <a:r>
              <a:rPr lang="ko-KR" altLang="en-US" dirty="0" err="1"/>
              <a:t>req</a:t>
            </a:r>
            <a:r>
              <a:rPr lang="ko-KR" altLang="en-US" dirty="0"/>
              <a:t>, </a:t>
            </a:r>
            <a:r>
              <a:rPr lang="ko-KR" altLang="en-US" dirty="0" err="1"/>
              <a:t>HttpServletResponse</a:t>
            </a:r>
            <a:r>
              <a:rPr lang="ko-KR" altLang="en-US" dirty="0"/>
              <a:t> </a:t>
            </a:r>
            <a:r>
              <a:rPr lang="ko-KR" altLang="en-US" dirty="0" err="1"/>
              <a:t>resp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        </a:t>
            </a:r>
            <a:r>
              <a:rPr lang="ko-KR" altLang="en-US" dirty="0" err="1"/>
              <a:t>throws</a:t>
            </a:r>
            <a:r>
              <a:rPr lang="ko-KR" altLang="en-US" dirty="0"/>
              <a:t> </a:t>
            </a:r>
            <a:r>
              <a:rPr lang="ko-KR" altLang="en-US" dirty="0" err="1"/>
              <a:t>ServletException</a:t>
            </a:r>
            <a:r>
              <a:rPr lang="ko-KR" altLang="en-US" dirty="0"/>
              <a:t>, </a:t>
            </a:r>
            <a:r>
              <a:rPr lang="ko-KR" altLang="en-US" dirty="0" err="1"/>
              <a:t>IOException</a:t>
            </a:r>
            <a:r>
              <a:rPr lang="ko-KR" altLang="en-US" dirty="0"/>
              <a:t>;</a:t>
            </a:r>
          </a:p>
          <a:p>
            <a:endParaRPr lang="ko-KR" altLang="en-US" dirty="0"/>
          </a:p>
          <a:p>
            <a:r>
              <a:rPr lang="ko-KR" altLang="en-US" dirty="0" err="1"/>
              <a:t>protected</a:t>
            </a:r>
            <a:r>
              <a:rPr lang="ko-KR" altLang="en-US" dirty="0"/>
              <a:t> </a:t>
            </a:r>
            <a:r>
              <a:rPr lang="ko-KR" altLang="en-US" dirty="0" err="1"/>
              <a:t>void</a:t>
            </a:r>
            <a:r>
              <a:rPr lang="ko-KR" altLang="en-US" dirty="0"/>
              <a:t> </a:t>
            </a:r>
            <a:r>
              <a:rPr lang="ko-KR" altLang="en-US" b="1" dirty="0" err="1"/>
              <a:t>doPost</a:t>
            </a:r>
            <a:r>
              <a:rPr lang="ko-KR" altLang="en-US" dirty="0"/>
              <a:t>(</a:t>
            </a:r>
            <a:r>
              <a:rPr lang="ko-KR" altLang="en-US" dirty="0" err="1"/>
              <a:t>HttpServletRequest</a:t>
            </a:r>
            <a:r>
              <a:rPr lang="ko-KR" altLang="en-US" dirty="0"/>
              <a:t> </a:t>
            </a:r>
            <a:r>
              <a:rPr lang="ko-KR" altLang="en-US" dirty="0" err="1"/>
              <a:t>req</a:t>
            </a:r>
            <a:r>
              <a:rPr lang="ko-KR" altLang="en-US" dirty="0"/>
              <a:t>, </a:t>
            </a:r>
            <a:r>
              <a:rPr lang="ko-KR" altLang="en-US" dirty="0" err="1"/>
              <a:t>HttpServletResponse</a:t>
            </a:r>
            <a:r>
              <a:rPr lang="ko-KR" altLang="en-US" dirty="0"/>
              <a:t> </a:t>
            </a:r>
            <a:r>
              <a:rPr lang="ko-KR" altLang="en-US" dirty="0" err="1"/>
              <a:t>resp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        </a:t>
            </a:r>
            <a:r>
              <a:rPr lang="ko-KR" altLang="en-US" dirty="0" err="1"/>
              <a:t>throws</a:t>
            </a:r>
            <a:r>
              <a:rPr lang="ko-KR" altLang="en-US" dirty="0"/>
              <a:t> </a:t>
            </a:r>
            <a:r>
              <a:rPr lang="ko-KR" altLang="en-US" dirty="0" err="1"/>
              <a:t>ServletException</a:t>
            </a:r>
            <a:r>
              <a:rPr lang="ko-KR" altLang="en-US" dirty="0"/>
              <a:t>, </a:t>
            </a:r>
            <a:r>
              <a:rPr lang="ko-KR" altLang="en-US" dirty="0" err="1"/>
              <a:t>IOException</a:t>
            </a:r>
            <a:r>
              <a:rPr lang="ko-KR" altLang="en-US" dirty="0"/>
              <a:t>;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1496616" y="1633342"/>
            <a:ext cx="73143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doGet</a:t>
            </a:r>
            <a:r>
              <a:rPr lang="ko-KR" altLang="en-US" dirty="0"/>
              <a:t>() → GET 요청 처리 (브라우저 </a:t>
            </a:r>
            <a:r>
              <a:rPr lang="ko-KR" altLang="en-US" dirty="0" err="1"/>
              <a:t>주소창</a:t>
            </a:r>
            <a:r>
              <a:rPr lang="ko-KR" altLang="en-US" dirty="0"/>
              <a:t> 요청, 링크 클릭 등</a:t>
            </a:r>
            <a:r>
              <a:rPr lang="ko-KR" altLang="en-US" dirty="0" smtClean="0"/>
              <a:t>)</a:t>
            </a:r>
            <a:endParaRPr lang="ko-KR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doPost</a:t>
            </a:r>
            <a:r>
              <a:rPr lang="ko-KR" altLang="en-US" dirty="0"/>
              <a:t>() → POST 요청 처리 (폼 제출, JSON 데이터 전송 등)</a:t>
            </a:r>
          </a:p>
        </p:txBody>
      </p:sp>
    </p:spTree>
    <p:extLst>
      <p:ext uri="{BB962C8B-B14F-4D97-AF65-F5344CB8AC3E}">
        <p14:creationId xmlns:p14="http://schemas.microsoft.com/office/powerpoint/2010/main" val="2986461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b="1" dirty="0" err="1">
                <a:latin typeface="휴먼엑스포" panose="02030504000101010101" pitchFamily="18" charset="-127"/>
                <a:ea typeface="휴먼엑스포" panose="02030504000101010101" pitchFamily="18" charset="-127"/>
              </a:rPr>
              <a:t>서블릿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(Servlet</a:t>
            </a:r>
            <a:r>
              <a:rPr lang="en-US" altLang="ko-KR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36576" y="980728"/>
            <a:ext cx="71287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Servlet</a:t>
            </a:r>
            <a:r>
              <a:rPr lang="ko-KR" altLang="en-US" sz="2000" b="1" dirty="0" smtClean="0"/>
              <a:t>의 실행 흐름</a:t>
            </a:r>
            <a:endParaRPr lang="en-US" altLang="ko-KR" sz="2000" b="1" dirty="0" smtClean="0"/>
          </a:p>
        </p:txBody>
      </p:sp>
      <p:sp>
        <p:nvSpPr>
          <p:cNvPr id="4" name="직사각형 3"/>
          <p:cNvSpPr/>
          <p:nvPr/>
        </p:nvSpPr>
        <p:spPr>
          <a:xfrm>
            <a:off x="1856656" y="1687870"/>
            <a:ext cx="6552728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/>
              <a:t>[클라이언트(브라우저)]</a:t>
            </a:r>
          </a:p>
          <a:p>
            <a:r>
              <a:rPr lang="ko-KR" altLang="en-US" sz="1600" dirty="0"/>
              <a:t>          │  </a:t>
            </a:r>
            <a:r>
              <a:rPr lang="ko-KR" altLang="en-US" sz="1600" dirty="0">
                <a:solidFill>
                  <a:srgbClr val="FF0000"/>
                </a:solidFill>
              </a:rPr>
              <a:t>HTTP</a:t>
            </a:r>
            <a:r>
              <a:rPr lang="ko-KR" altLang="en-US" sz="1600" dirty="0"/>
              <a:t> 요청</a:t>
            </a:r>
          </a:p>
          <a:p>
            <a:r>
              <a:rPr lang="ko-KR" altLang="en-US" sz="1600" dirty="0"/>
              <a:t>          ▼</a:t>
            </a:r>
          </a:p>
          <a:p>
            <a:r>
              <a:rPr lang="ko-KR" altLang="en-US" sz="1600" dirty="0"/>
              <a:t>   [웹 서버 + </a:t>
            </a:r>
            <a:r>
              <a:rPr lang="ko-KR" altLang="en-US" sz="1600" dirty="0" err="1"/>
              <a:t>서블릿</a:t>
            </a:r>
            <a:r>
              <a:rPr lang="ko-KR" altLang="en-US" sz="1600" dirty="0"/>
              <a:t> 컨테이너(</a:t>
            </a:r>
            <a:r>
              <a:rPr lang="ko-KR" altLang="en-US" sz="1600" dirty="0" err="1">
                <a:solidFill>
                  <a:srgbClr val="FF0000"/>
                </a:solidFill>
              </a:rPr>
              <a:t>Tomcat</a:t>
            </a:r>
            <a:r>
              <a:rPr lang="ko-KR" altLang="en-US" sz="1600" dirty="0"/>
              <a:t> 등)]</a:t>
            </a:r>
          </a:p>
          <a:p>
            <a:r>
              <a:rPr lang="ko-KR" altLang="en-US" sz="1600" dirty="0"/>
              <a:t>          │</a:t>
            </a:r>
          </a:p>
          <a:p>
            <a:r>
              <a:rPr lang="ko-KR" altLang="en-US" sz="1600" dirty="0"/>
              <a:t>          ├─&gt; 요청 분석</a:t>
            </a:r>
          </a:p>
          <a:p>
            <a:r>
              <a:rPr lang="ko-KR" altLang="en-US" sz="1600" dirty="0"/>
              <a:t>          │</a:t>
            </a:r>
          </a:p>
          <a:p>
            <a:r>
              <a:rPr lang="ko-KR" altLang="en-US" sz="1600" dirty="0"/>
              <a:t>          ├─&gt; 해당 </a:t>
            </a:r>
            <a:r>
              <a:rPr lang="ko-KR" altLang="en-US" sz="1600" dirty="0" err="1"/>
              <a:t>서블릿</a:t>
            </a:r>
            <a:r>
              <a:rPr lang="ko-KR" altLang="en-US" sz="1600" dirty="0"/>
              <a:t> 로딩 (없으면 메모리에 로드 &amp; </a:t>
            </a:r>
            <a:r>
              <a:rPr lang="ko-KR" altLang="en-US" sz="1600" dirty="0" err="1"/>
              <a:t>init</a:t>
            </a:r>
            <a:r>
              <a:rPr lang="ko-KR" altLang="en-US" sz="1600" dirty="0"/>
              <a:t>() 실행)</a:t>
            </a:r>
          </a:p>
          <a:p>
            <a:r>
              <a:rPr lang="ko-KR" altLang="en-US" sz="1600" dirty="0"/>
              <a:t>          │</a:t>
            </a:r>
          </a:p>
          <a:p>
            <a:r>
              <a:rPr lang="ko-KR" altLang="en-US" sz="1600" dirty="0"/>
              <a:t>          ├─&gt; </a:t>
            </a:r>
            <a:r>
              <a:rPr lang="ko-KR" altLang="en-US" sz="1600" dirty="0" err="1">
                <a:solidFill>
                  <a:srgbClr val="FF0000"/>
                </a:solidFill>
              </a:rPr>
              <a:t>service</a:t>
            </a:r>
            <a:r>
              <a:rPr lang="ko-KR" altLang="en-US" sz="1600" dirty="0">
                <a:solidFill>
                  <a:srgbClr val="FF0000"/>
                </a:solidFill>
              </a:rPr>
              <a:t>()</a:t>
            </a:r>
            <a:r>
              <a:rPr lang="ko-KR" altLang="en-US" sz="1600" dirty="0"/>
              <a:t> 실행</a:t>
            </a:r>
          </a:p>
          <a:p>
            <a:r>
              <a:rPr lang="ko-KR" altLang="en-US" sz="1600" dirty="0"/>
              <a:t>          │        ├─ GET → </a:t>
            </a:r>
            <a:r>
              <a:rPr lang="ko-KR" altLang="en-US" sz="1600" dirty="0" err="1"/>
              <a:t>doGet</a:t>
            </a:r>
            <a:r>
              <a:rPr lang="ko-KR" altLang="en-US" sz="1600" dirty="0"/>
              <a:t>()</a:t>
            </a:r>
          </a:p>
          <a:p>
            <a:r>
              <a:rPr lang="ko-KR" altLang="en-US" sz="1600" dirty="0"/>
              <a:t>          │        └─ POST → </a:t>
            </a:r>
            <a:r>
              <a:rPr lang="ko-KR" altLang="en-US" sz="1600" dirty="0" err="1"/>
              <a:t>doPost</a:t>
            </a:r>
            <a:r>
              <a:rPr lang="ko-KR" altLang="en-US" sz="1600" dirty="0"/>
              <a:t>()</a:t>
            </a:r>
          </a:p>
          <a:p>
            <a:r>
              <a:rPr lang="ko-KR" altLang="en-US" sz="1600" dirty="0"/>
              <a:t>          │</a:t>
            </a:r>
          </a:p>
          <a:p>
            <a:r>
              <a:rPr lang="ko-KR" altLang="en-US" sz="1600" dirty="0"/>
              <a:t>          └─&gt; 결과 </a:t>
            </a:r>
            <a:r>
              <a:rPr lang="ko-KR" altLang="en-US" sz="1600" dirty="0">
                <a:solidFill>
                  <a:srgbClr val="FF0000"/>
                </a:solidFill>
              </a:rPr>
              <a:t>HTML/JSON</a:t>
            </a:r>
            <a:r>
              <a:rPr lang="ko-KR" altLang="en-US" sz="1600" dirty="0"/>
              <a:t> 등 생성 → HTTP 응답</a:t>
            </a:r>
          </a:p>
          <a:p>
            <a:r>
              <a:rPr lang="ko-KR" altLang="en-US" sz="1600" dirty="0"/>
              <a:t>          ▼</a:t>
            </a:r>
          </a:p>
          <a:p>
            <a:r>
              <a:rPr lang="ko-KR" altLang="en-US" sz="1600" dirty="0"/>
              <a:t>[클라이언트(브라우저)]</a:t>
            </a:r>
          </a:p>
        </p:txBody>
      </p:sp>
    </p:spTree>
    <p:extLst>
      <p:ext uri="{BB962C8B-B14F-4D97-AF65-F5344CB8AC3E}">
        <p14:creationId xmlns:p14="http://schemas.microsoft.com/office/powerpoint/2010/main" val="1594948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b="1" dirty="0" err="1">
                <a:latin typeface="휴먼엑스포" panose="02030504000101010101" pitchFamily="18" charset="-127"/>
                <a:ea typeface="휴먼엑스포" panose="02030504000101010101" pitchFamily="18" charset="-127"/>
              </a:rPr>
              <a:t>서블릿</a:t>
            </a:r>
            <a:r>
              <a:rPr lang="en-US" altLang="ko-KR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(Servlet)</a:t>
            </a:r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1640632" y="1718972"/>
            <a:ext cx="5040560" cy="47215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사용자 정의 </a:t>
            </a:r>
            <a:r>
              <a:rPr lang="ko-KR" altLang="en-US" dirty="0" err="1" smtClean="0"/>
              <a:t>서블릿</a:t>
            </a:r>
            <a:r>
              <a:rPr lang="ko-KR" altLang="en-US" dirty="0" smtClean="0"/>
              <a:t> 클래스 만들기</a:t>
            </a:r>
            <a:endParaRPr lang="ko-KR" altLang="en-US" dirty="0"/>
          </a:p>
        </p:txBody>
      </p:sp>
      <p:grpSp>
        <p:nvGrpSpPr>
          <p:cNvPr id="12" name="그룹 11"/>
          <p:cNvGrpSpPr/>
          <p:nvPr/>
        </p:nvGrpSpPr>
        <p:grpSpPr>
          <a:xfrm flipV="1">
            <a:off x="4058761" y="2120545"/>
            <a:ext cx="102151" cy="426973"/>
            <a:chOff x="4381608" y="5491832"/>
            <a:chExt cx="102151" cy="426973"/>
          </a:xfrm>
        </p:grpSpPr>
        <p:sp>
          <p:nvSpPr>
            <p:cNvPr id="13" name="이등변 삼각형 12">
              <a:extLst>
                <a:ext uri="{FF2B5EF4-FFF2-40B4-BE49-F238E27FC236}">
                  <a16:creationId xmlns:a16="http://schemas.microsoft.com/office/drawing/2014/main" id="{A928C65B-0F62-4DFC-9220-DF40E5958238}"/>
                </a:ext>
              </a:extLst>
            </p:cNvPr>
            <p:cNvSpPr/>
            <p:nvPr/>
          </p:nvSpPr>
          <p:spPr>
            <a:xfrm>
              <a:off x="4381608" y="5491832"/>
              <a:ext cx="102151" cy="177713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D15E6F92-B9C8-4563-8C4E-646F583209B9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>
              <a:off x="4432684" y="5669545"/>
              <a:ext cx="0" cy="2492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모서리가 둥근 직사각형 18"/>
          <p:cNvSpPr/>
          <p:nvPr/>
        </p:nvSpPr>
        <p:spPr>
          <a:xfrm>
            <a:off x="1640632" y="2552593"/>
            <a:ext cx="5040560" cy="47215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서블릿</a:t>
            </a:r>
            <a:r>
              <a:rPr lang="ko-KR" altLang="en-US" dirty="0" smtClean="0"/>
              <a:t> 생명주기 </a:t>
            </a:r>
            <a:r>
              <a:rPr lang="ko-KR" altLang="en-US" dirty="0" err="1" smtClean="0"/>
              <a:t>메서드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init</a:t>
            </a:r>
            <a:r>
              <a:rPr lang="en-US" altLang="ko-KR" dirty="0" smtClean="0"/>
              <a:t>(), </a:t>
            </a:r>
            <a:r>
              <a:rPr lang="en-US" altLang="ko-KR" dirty="0" err="1" smtClean="0"/>
              <a:t>destory</a:t>
            </a:r>
            <a:r>
              <a:rPr lang="en-US" altLang="ko-KR" dirty="0" smtClean="0"/>
              <a:t>())</a:t>
            </a:r>
            <a:endParaRPr lang="ko-KR" altLang="en-US" dirty="0"/>
          </a:p>
        </p:txBody>
      </p:sp>
      <p:grpSp>
        <p:nvGrpSpPr>
          <p:cNvPr id="25" name="그룹 24"/>
          <p:cNvGrpSpPr/>
          <p:nvPr/>
        </p:nvGrpSpPr>
        <p:grpSpPr>
          <a:xfrm flipV="1">
            <a:off x="4058761" y="2999178"/>
            <a:ext cx="102151" cy="426973"/>
            <a:chOff x="4381608" y="5491832"/>
            <a:chExt cx="102151" cy="426973"/>
          </a:xfrm>
        </p:grpSpPr>
        <p:sp>
          <p:nvSpPr>
            <p:cNvPr id="26" name="이등변 삼각형 25">
              <a:extLst>
                <a:ext uri="{FF2B5EF4-FFF2-40B4-BE49-F238E27FC236}">
                  <a16:creationId xmlns:a16="http://schemas.microsoft.com/office/drawing/2014/main" id="{A928C65B-0F62-4DFC-9220-DF40E5958238}"/>
                </a:ext>
              </a:extLst>
            </p:cNvPr>
            <p:cNvSpPr/>
            <p:nvPr/>
          </p:nvSpPr>
          <p:spPr>
            <a:xfrm>
              <a:off x="4381608" y="5491832"/>
              <a:ext cx="102151" cy="177713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15E6F92-B9C8-4563-8C4E-646F583209B9}"/>
                </a:ext>
              </a:extLst>
            </p:cNvPr>
            <p:cNvCxnSpPr>
              <a:cxnSpLocks/>
              <a:stCxn id="26" idx="3"/>
            </p:cNvCxnSpPr>
            <p:nvPr/>
          </p:nvCxnSpPr>
          <p:spPr>
            <a:xfrm>
              <a:off x="4432684" y="5669545"/>
              <a:ext cx="0" cy="2492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모서리가 둥근 직사각형 27"/>
          <p:cNvSpPr/>
          <p:nvPr/>
        </p:nvSpPr>
        <p:spPr>
          <a:xfrm>
            <a:off x="1640632" y="3431226"/>
            <a:ext cx="5040560" cy="47215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service(), </a:t>
            </a:r>
            <a:r>
              <a:rPr lang="en-US" altLang="ko-KR" dirty="0" err="1" smtClean="0"/>
              <a:t>doGet</a:t>
            </a:r>
            <a:r>
              <a:rPr lang="en-US" altLang="ko-KR" dirty="0" smtClean="0"/>
              <a:t>(), </a:t>
            </a:r>
            <a:r>
              <a:rPr lang="en-US" altLang="ko-KR" dirty="0" err="1" smtClean="0"/>
              <a:t>doPost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grpSp>
        <p:nvGrpSpPr>
          <p:cNvPr id="29" name="그룹 28"/>
          <p:cNvGrpSpPr/>
          <p:nvPr/>
        </p:nvGrpSpPr>
        <p:grpSpPr>
          <a:xfrm flipV="1">
            <a:off x="4058761" y="3848737"/>
            <a:ext cx="102151" cy="426973"/>
            <a:chOff x="4381608" y="5491832"/>
            <a:chExt cx="102151" cy="426973"/>
          </a:xfrm>
        </p:grpSpPr>
        <p:sp>
          <p:nvSpPr>
            <p:cNvPr id="30" name="이등변 삼각형 29">
              <a:extLst>
                <a:ext uri="{FF2B5EF4-FFF2-40B4-BE49-F238E27FC236}">
                  <a16:creationId xmlns:a16="http://schemas.microsoft.com/office/drawing/2014/main" id="{A928C65B-0F62-4DFC-9220-DF40E5958238}"/>
                </a:ext>
              </a:extLst>
            </p:cNvPr>
            <p:cNvSpPr/>
            <p:nvPr/>
          </p:nvSpPr>
          <p:spPr>
            <a:xfrm>
              <a:off x="4381608" y="5491832"/>
              <a:ext cx="102151" cy="177713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D15E6F92-B9C8-4563-8C4E-646F583209B9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>
              <a:off x="4432684" y="5669545"/>
              <a:ext cx="0" cy="2492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모서리가 둥근 직사각형 31"/>
          <p:cNvSpPr/>
          <p:nvPr/>
        </p:nvSpPr>
        <p:spPr>
          <a:xfrm>
            <a:off x="1640632" y="4280785"/>
            <a:ext cx="5040560" cy="47215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웹 브라우저에서 </a:t>
            </a:r>
            <a:r>
              <a:rPr lang="ko-KR" altLang="en-US" dirty="0" err="1" smtClean="0"/>
              <a:t>서블릿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매핑이름으로</a:t>
            </a:r>
            <a:r>
              <a:rPr lang="ko-KR" altLang="en-US" dirty="0" smtClean="0"/>
              <a:t> 요청</a:t>
            </a:r>
            <a:endParaRPr lang="ko-KR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136576" y="980728"/>
            <a:ext cx="712879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Servlet</a:t>
            </a:r>
            <a:r>
              <a:rPr lang="ko-KR" altLang="en-US" sz="2000" b="1" dirty="0"/>
              <a:t> </a:t>
            </a:r>
            <a:r>
              <a:rPr lang="ko-KR" altLang="en-US" sz="2000" b="1" dirty="0" smtClean="0"/>
              <a:t>클래스 만들기</a:t>
            </a:r>
            <a:endParaRPr lang="en-US" altLang="ko-KR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3448945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8337376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sz="2800" dirty="0" smtClean="0"/>
              <a:t> </a:t>
            </a:r>
            <a:r>
              <a:rPr lang="ko-KR" altLang="en-US" sz="2800" dirty="0"/>
              <a:t> </a:t>
            </a:r>
            <a:r>
              <a:rPr lang="ko-KR" altLang="en-US" b="1" dirty="0" err="1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서블릿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만들기</a:t>
            </a:r>
            <a:endParaRPr lang="ko-KR" altLang="en-US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1136576" y="980728"/>
            <a:ext cx="712879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/>
              <a:t>애너테이션</a:t>
            </a:r>
            <a:r>
              <a:rPr lang="en-US" altLang="ko-KR" sz="2000" b="1" dirty="0"/>
              <a:t>(@)</a:t>
            </a:r>
            <a:r>
              <a:rPr lang="ko-KR" altLang="en-US" sz="2000" b="1" dirty="0"/>
              <a:t>을 이용한 </a:t>
            </a:r>
            <a:r>
              <a:rPr lang="en-US" altLang="ko-KR" sz="2000" b="1" dirty="0" err="1" smtClean="0"/>
              <a:t>url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매핑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664" y="2162564"/>
            <a:ext cx="4843674" cy="367240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1568624" y="1634227"/>
            <a:ext cx="4768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Java package </a:t>
            </a:r>
            <a:r>
              <a:rPr lang="ko-KR" altLang="en-US" dirty="0" err="1" smtClean="0"/>
              <a:t>우클릭</a:t>
            </a:r>
            <a:r>
              <a:rPr lang="en-US" altLang="ko-KR" dirty="0" smtClean="0"/>
              <a:t>(</a:t>
            </a:r>
            <a:r>
              <a:rPr lang="ko-KR" altLang="en-US" dirty="0" smtClean="0"/>
              <a:t>메뉴</a:t>
            </a:r>
            <a:r>
              <a:rPr lang="en-US" altLang="ko-KR" dirty="0" smtClean="0"/>
              <a:t>) &gt; New &gt; Servlet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8872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8337376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sz="2800" dirty="0" smtClean="0"/>
              <a:t> </a:t>
            </a:r>
            <a:r>
              <a:rPr lang="ko-KR" altLang="en-US" sz="2800" dirty="0"/>
              <a:t> </a:t>
            </a:r>
            <a:r>
              <a:rPr lang="ko-KR" altLang="en-US" b="1" dirty="0" err="1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서블릿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만들기</a:t>
            </a:r>
            <a:endParaRPr lang="ko-KR" altLang="en-US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1136576" y="980728"/>
            <a:ext cx="712879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HelloServlet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생성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586" y="1680586"/>
            <a:ext cx="4315239" cy="318920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3895" y="1734006"/>
            <a:ext cx="3227577" cy="3111715"/>
          </a:xfrm>
          <a:prstGeom prst="rect">
            <a:avLst/>
          </a:prstGeom>
        </p:spPr>
      </p:pic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6825209" y="4978363"/>
            <a:ext cx="2376263" cy="299896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600" dirty="0" smtClean="0">
                <a:solidFill>
                  <a:sysClr val="windowText" lastClr="000000"/>
                </a:solidFill>
              </a:rPr>
              <a:t>edit &gt; “/hello”</a:t>
            </a:r>
            <a:r>
              <a:rPr lang="ko-KR" altLang="en-US" sz="1600" dirty="0" smtClean="0">
                <a:solidFill>
                  <a:sysClr val="windowText" lastClr="000000"/>
                </a:solidFill>
              </a:rPr>
              <a:t>로 변경 </a:t>
            </a:r>
            <a:endParaRPr lang="en-US" altLang="ko-KR" sz="1600" dirty="0" smtClean="0">
              <a:solidFill>
                <a:sysClr val="windowText" lastClr="000000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8558869" y="3919545"/>
            <a:ext cx="576064" cy="319883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cxnSp>
        <p:nvCxnSpPr>
          <p:cNvPr id="17" name="직선 화살표 연결선 16"/>
          <p:cNvCxnSpPr/>
          <p:nvPr/>
        </p:nvCxnSpPr>
        <p:spPr>
          <a:xfrm flipV="1">
            <a:off x="8244537" y="4239428"/>
            <a:ext cx="602364" cy="752234"/>
          </a:xfrm>
          <a:prstGeom prst="straightConnector1">
            <a:avLst/>
          </a:prstGeom>
          <a:ln w="9525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937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488" y="2457871"/>
            <a:ext cx="5758520" cy="23777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20" y="1812226"/>
            <a:ext cx="3102220" cy="299123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8337376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b="1" dirty="0" err="1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서블릿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만들기</a:t>
            </a:r>
            <a:endParaRPr lang="ko-KR" altLang="en-US" dirty="0"/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4903814" y="1851135"/>
            <a:ext cx="3521775" cy="299896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600" dirty="0" smtClean="0">
                <a:solidFill>
                  <a:sysClr val="windowText" lastClr="000000"/>
                </a:solidFill>
              </a:rPr>
              <a:t>웹 브라우저에 요청하는 </a:t>
            </a:r>
            <a:r>
              <a:rPr lang="ko-KR" altLang="en-US" sz="1600" dirty="0" err="1" smtClean="0">
                <a:solidFill>
                  <a:sysClr val="windowText" lastClr="000000"/>
                </a:solidFill>
              </a:rPr>
              <a:t>매핑</a:t>
            </a:r>
            <a:r>
              <a:rPr lang="ko-KR" altLang="en-US" sz="1600" dirty="0" smtClean="0">
                <a:solidFill>
                  <a:sysClr val="windowText" lastClr="000000"/>
                </a:solidFill>
              </a:rPr>
              <a:t> 이름</a:t>
            </a:r>
            <a:endParaRPr lang="en-US" altLang="ko-KR" sz="1600" dirty="0" smtClean="0">
              <a:solidFill>
                <a:sysClr val="windowText" lastClr="000000"/>
              </a:solidFill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3971488" y="2457452"/>
            <a:ext cx="2066355" cy="301435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cxnSp>
        <p:nvCxnSpPr>
          <p:cNvPr id="22" name="직선 화살표 연결선 21"/>
          <p:cNvCxnSpPr>
            <a:endCxn id="19" idx="0"/>
          </p:cNvCxnSpPr>
          <p:nvPr/>
        </p:nvCxnSpPr>
        <p:spPr>
          <a:xfrm flipH="1">
            <a:off x="5004666" y="2097412"/>
            <a:ext cx="457114" cy="360040"/>
          </a:xfrm>
          <a:prstGeom prst="straightConnector1">
            <a:avLst/>
          </a:prstGeom>
          <a:ln w="9525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1712640" y="5145328"/>
            <a:ext cx="1854867" cy="299896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600" dirty="0" smtClean="0">
                <a:solidFill>
                  <a:sysClr val="windowText" lastClr="000000"/>
                </a:solidFill>
              </a:rPr>
              <a:t>필요 항목 체크함</a:t>
            </a:r>
            <a:endParaRPr lang="en-US" altLang="ko-KR" sz="1600" dirty="0" smtClean="0">
              <a:solidFill>
                <a:sysClr val="windowText" lastClr="000000"/>
              </a:solidFill>
            </a:endParaRPr>
          </a:p>
        </p:txBody>
      </p:sp>
      <p:cxnSp>
        <p:nvCxnSpPr>
          <p:cNvPr id="24" name="직선 화살표 연결선 23"/>
          <p:cNvCxnSpPr/>
          <p:nvPr/>
        </p:nvCxnSpPr>
        <p:spPr>
          <a:xfrm flipV="1">
            <a:off x="2152821" y="4209224"/>
            <a:ext cx="135883" cy="936106"/>
          </a:xfrm>
          <a:prstGeom prst="straightConnector1">
            <a:avLst/>
          </a:prstGeom>
          <a:ln w="9525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36576" y="980728"/>
            <a:ext cx="712879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HelloServlet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생성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2227781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8337376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b="1" dirty="0" err="1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서블릿의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 응답 처리</a:t>
            </a:r>
            <a:endParaRPr lang="ko-KR" altLang="en-US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1589556" y="1656658"/>
            <a:ext cx="5040560" cy="47215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setContentType</a:t>
            </a:r>
            <a:r>
              <a:rPr lang="en-US" altLang="ko-KR" dirty="0" smtClean="0"/>
              <a:t>()</a:t>
            </a:r>
            <a:r>
              <a:rPr lang="ko-KR" altLang="en-US" dirty="0" smtClean="0"/>
              <a:t>을 이용해 </a:t>
            </a:r>
            <a:r>
              <a:rPr lang="en-US" altLang="ko-KR" dirty="0" smtClean="0"/>
              <a:t>MIME-TYPE </a:t>
            </a:r>
            <a:r>
              <a:rPr lang="ko-KR" altLang="en-US" dirty="0" smtClean="0"/>
              <a:t>지정</a:t>
            </a:r>
            <a:endParaRPr lang="ko-KR" altLang="en-US" dirty="0"/>
          </a:p>
        </p:txBody>
      </p:sp>
      <p:grpSp>
        <p:nvGrpSpPr>
          <p:cNvPr id="9" name="그룹 8"/>
          <p:cNvGrpSpPr/>
          <p:nvPr/>
        </p:nvGrpSpPr>
        <p:grpSpPr>
          <a:xfrm flipV="1">
            <a:off x="4058761" y="2164762"/>
            <a:ext cx="102151" cy="426973"/>
            <a:chOff x="4381608" y="5491832"/>
            <a:chExt cx="102151" cy="426973"/>
          </a:xfrm>
        </p:grpSpPr>
        <p:sp>
          <p:nvSpPr>
            <p:cNvPr id="10" name="이등변 삼각형 9">
              <a:extLst>
                <a:ext uri="{FF2B5EF4-FFF2-40B4-BE49-F238E27FC236}">
                  <a16:creationId xmlns:a16="http://schemas.microsoft.com/office/drawing/2014/main" id="{A928C65B-0F62-4DFC-9220-DF40E5958238}"/>
                </a:ext>
              </a:extLst>
            </p:cNvPr>
            <p:cNvSpPr/>
            <p:nvPr/>
          </p:nvSpPr>
          <p:spPr>
            <a:xfrm>
              <a:off x="4381608" y="5491832"/>
              <a:ext cx="102151" cy="177713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15E6F92-B9C8-4563-8C4E-646F583209B9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>
              <a:off x="4432684" y="5669545"/>
              <a:ext cx="0" cy="2492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모서리가 둥근 직사각형 11"/>
          <p:cNvSpPr/>
          <p:nvPr/>
        </p:nvSpPr>
        <p:spPr>
          <a:xfrm>
            <a:off x="1589556" y="2618616"/>
            <a:ext cx="5040560" cy="47215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데이터를 출력할 </a:t>
            </a:r>
            <a:r>
              <a:rPr lang="en-US" altLang="ko-KR" dirty="0" err="1" smtClean="0"/>
              <a:t>PrintWriter</a:t>
            </a:r>
            <a:r>
              <a:rPr lang="en-US" altLang="ko-KR" dirty="0" smtClean="0"/>
              <a:t> </a:t>
            </a:r>
            <a:r>
              <a:rPr lang="ko-KR" altLang="en-US" dirty="0" smtClean="0"/>
              <a:t>객체를 생성</a:t>
            </a:r>
            <a:endParaRPr lang="ko-KR" altLang="en-US" dirty="0"/>
          </a:p>
        </p:txBody>
      </p:sp>
      <p:grpSp>
        <p:nvGrpSpPr>
          <p:cNvPr id="13" name="그룹 12"/>
          <p:cNvGrpSpPr/>
          <p:nvPr/>
        </p:nvGrpSpPr>
        <p:grpSpPr>
          <a:xfrm flipV="1">
            <a:off x="4058761" y="3043395"/>
            <a:ext cx="102151" cy="426973"/>
            <a:chOff x="4381608" y="5491832"/>
            <a:chExt cx="102151" cy="426973"/>
          </a:xfrm>
        </p:grpSpPr>
        <p:sp>
          <p:nvSpPr>
            <p:cNvPr id="14" name="이등변 삼각형 13">
              <a:extLst>
                <a:ext uri="{FF2B5EF4-FFF2-40B4-BE49-F238E27FC236}">
                  <a16:creationId xmlns:a16="http://schemas.microsoft.com/office/drawing/2014/main" id="{A928C65B-0F62-4DFC-9220-DF40E5958238}"/>
                </a:ext>
              </a:extLst>
            </p:cNvPr>
            <p:cNvSpPr/>
            <p:nvPr/>
          </p:nvSpPr>
          <p:spPr>
            <a:xfrm>
              <a:off x="4381608" y="5491832"/>
              <a:ext cx="102151" cy="177713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D15E6F92-B9C8-4563-8C4E-646F583209B9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>
              <a:off x="4432684" y="5669545"/>
              <a:ext cx="0" cy="2492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모서리가 둥근 직사각형 16"/>
          <p:cNvSpPr/>
          <p:nvPr/>
        </p:nvSpPr>
        <p:spPr>
          <a:xfrm>
            <a:off x="1589556" y="3475443"/>
            <a:ext cx="5040560" cy="47215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출력 데이터를 </a:t>
            </a:r>
            <a:r>
              <a:rPr lang="en-US" altLang="ko-KR" dirty="0" smtClean="0"/>
              <a:t>HTML </a:t>
            </a:r>
            <a:r>
              <a:rPr lang="ko-KR" altLang="en-US" dirty="0" smtClean="0"/>
              <a:t>형식으로 만들기</a:t>
            </a:r>
            <a:endParaRPr lang="ko-KR" altLang="en-US" dirty="0"/>
          </a:p>
        </p:txBody>
      </p:sp>
      <p:grpSp>
        <p:nvGrpSpPr>
          <p:cNvPr id="18" name="그룹 17"/>
          <p:cNvGrpSpPr/>
          <p:nvPr/>
        </p:nvGrpSpPr>
        <p:grpSpPr>
          <a:xfrm flipV="1">
            <a:off x="4058761" y="3892954"/>
            <a:ext cx="102151" cy="426973"/>
            <a:chOff x="4381608" y="5491832"/>
            <a:chExt cx="102151" cy="426973"/>
          </a:xfrm>
        </p:grpSpPr>
        <p:sp>
          <p:nvSpPr>
            <p:cNvPr id="19" name="이등변 삼각형 18">
              <a:extLst>
                <a:ext uri="{FF2B5EF4-FFF2-40B4-BE49-F238E27FC236}">
                  <a16:creationId xmlns:a16="http://schemas.microsoft.com/office/drawing/2014/main" id="{A928C65B-0F62-4DFC-9220-DF40E5958238}"/>
                </a:ext>
              </a:extLst>
            </p:cNvPr>
            <p:cNvSpPr/>
            <p:nvPr/>
          </p:nvSpPr>
          <p:spPr>
            <a:xfrm>
              <a:off x="4381608" y="5491832"/>
              <a:ext cx="102151" cy="177713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D15E6F92-B9C8-4563-8C4E-646F583209B9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4432684" y="5669545"/>
              <a:ext cx="0" cy="2492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모서리가 둥근 직사각형 20"/>
          <p:cNvSpPr/>
          <p:nvPr/>
        </p:nvSpPr>
        <p:spPr>
          <a:xfrm>
            <a:off x="1589556" y="4325002"/>
            <a:ext cx="5040560" cy="47215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r>
              <a:rPr lang="en-US" altLang="ko-KR" dirty="0" smtClean="0"/>
              <a:t>rint()</a:t>
            </a:r>
            <a:r>
              <a:rPr lang="ko-KR" altLang="en-US" dirty="0" smtClean="0"/>
              <a:t>로 데이터 출력</a:t>
            </a:r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674710" y="4941168"/>
            <a:ext cx="7454754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 smtClean="0"/>
              <a:t>MIME-TYPE</a:t>
            </a:r>
            <a:endParaRPr lang="en-US" altLang="ko-KR" sz="2000" b="1" dirty="0" smtClean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 err="1" smtClean="0"/>
              <a:t>톰캣</a:t>
            </a:r>
            <a:r>
              <a:rPr lang="ko-KR" altLang="en-US" sz="1600" dirty="0" smtClean="0"/>
              <a:t> 컨테이너에 미리 설정해 놓은 데이터 종류이다</a:t>
            </a:r>
            <a:r>
              <a:rPr lang="en-US" altLang="ko-KR" sz="1600" dirty="0" smtClean="0"/>
              <a:t>.</a:t>
            </a:r>
            <a:endParaRPr lang="en-US" altLang="ko-KR" sz="16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600" b="1" dirty="0" smtClean="0">
                <a:solidFill>
                  <a:srgbClr val="C00000"/>
                </a:solidFill>
              </a:rPr>
              <a:t>서버에서 웹 브라우저로 데이터를 </a:t>
            </a:r>
            <a:r>
              <a:rPr lang="ko-KR" altLang="en-US" sz="1600" b="1" dirty="0" err="1" smtClean="0">
                <a:solidFill>
                  <a:srgbClr val="C00000"/>
                </a:solidFill>
              </a:rPr>
              <a:t>전송할때</a:t>
            </a:r>
            <a:r>
              <a:rPr lang="ko-KR" altLang="en-US" sz="1600" b="1" dirty="0" smtClean="0">
                <a:solidFill>
                  <a:srgbClr val="C00000"/>
                </a:solidFill>
              </a:rPr>
              <a:t> 데이터 종류를 지정해서 전송한다</a:t>
            </a:r>
            <a:r>
              <a:rPr lang="en-US" altLang="ko-KR" sz="1600" b="1" dirty="0" smtClean="0">
                <a:solidFill>
                  <a:srgbClr val="C00000"/>
                </a:solidFill>
              </a:rPr>
              <a:t>.</a:t>
            </a:r>
            <a:endParaRPr lang="en-US" altLang="ko-KR" sz="1600" dirty="0" smtClean="0"/>
          </a:p>
        </p:txBody>
      </p:sp>
      <p:sp>
        <p:nvSpPr>
          <p:cNvPr id="23" name="TextBox 22"/>
          <p:cNvSpPr txBox="1"/>
          <p:nvPr/>
        </p:nvSpPr>
        <p:spPr>
          <a:xfrm>
            <a:off x="1136576" y="980728"/>
            <a:ext cx="712879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 smtClean="0"/>
              <a:t>서블릿</a:t>
            </a:r>
            <a:r>
              <a:rPr lang="ko-KR" altLang="en-US" sz="2000" b="1" dirty="0" smtClean="0"/>
              <a:t> </a:t>
            </a:r>
            <a:r>
              <a:rPr lang="ko-KR" altLang="en-US" sz="2000" b="1" dirty="0"/>
              <a:t>응답 </a:t>
            </a:r>
            <a:r>
              <a:rPr lang="ko-KR" altLang="en-US" sz="2000" b="1" dirty="0" smtClean="0"/>
              <a:t>실습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641597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8337376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b="1" dirty="0" err="1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서블릿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 실습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36576" y="980728"/>
            <a:ext cx="712879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 smtClean="0"/>
              <a:t>서블릿</a:t>
            </a:r>
            <a:r>
              <a:rPr lang="ko-KR" altLang="en-US" sz="2000" b="1" dirty="0" smtClean="0"/>
              <a:t> </a:t>
            </a:r>
            <a:r>
              <a:rPr lang="ko-KR" altLang="en-US" sz="2000" b="1" dirty="0"/>
              <a:t>응답 </a:t>
            </a:r>
            <a:r>
              <a:rPr lang="ko-KR" altLang="en-US" sz="2000" b="1" dirty="0" smtClean="0"/>
              <a:t>실습</a:t>
            </a:r>
            <a:endParaRPr lang="en-US" altLang="ko-KR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641" y="1844824"/>
            <a:ext cx="4392488" cy="194828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33148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8337376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b="1" dirty="0" err="1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서블릿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실습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36576" y="980728"/>
            <a:ext cx="712879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 smtClean="0"/>
              <a:t>서블릿</a:t>
            </a:r>
            <a:r>
              <a:rPr lang="ko-KR" altLang="en-US" sz="2000" b="1" dirty="0" smtClean="0"/>
              <a:t> </a:t>
            </a:r>
            <a:r>
              <a:rPr lang="ko-KR" altLang="en-US" sz="2000" b="1" dirty="0"/>
              <a:t>응답 </a:t>
            </a:r>
            <a:r>
              <a:rPr lang="ko-KR" altLang="en-US" sz="2000" b="1" dirty="0" smtClean="0"/>
              <a:t>실습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552" y="1628366"/>
            <a:ext cx="8612088" cy="403087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61422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8337376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sz="2800" b="1" dirty="0" err="1"/>
              <a:t>HttpServletRequest</a:t>
            </a:r>
            <a:r>
              <a:rPr lang="ko-KR" altLang="en-US" sz="2800" b="1" dirty="0"/>
              <a:t>로</a:t>
            </a:r>
            <a:r>
              <a:rPr lang="en-US" altLang="ko-KR" sz="2800" b="1" dirty="0"/>
              <a:t> </a:t>
            </a:r>
            <a:r>
              <a:rPr lang="ko-KR" altLang="en-US" sz="2800" b="1" dirty="0"/>
              <a:t>요청 </a:t>
            </a:r>
            <a:r>
              <a:rPr lang="ko-KR" altLang="en-US" sz="2800" b="1" dirty="0" smtClean="0"/>
              <a:t>실습</a:t>
            </a:r>
            <a:endParaRPr lang="en-US" altLang="ko-KR" sz="2800" b="1" dirty="0"/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897281"/>
              </p:ext>
            </p:extLst>
          </p:nvPr>
        </p:nvGraphicFramePr>
        <p:xfrm>
          <a:off x="776536" y="3717032"/>
          <a:ext cx="8856984" cy="23762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78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2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56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 smtClean="0"/>
                        <a:t>메소드</a:t>
                      </a:r>
                      <a:endParaRPr lang="ko-KR" altLang="en-US" sz="1600" dirty="0"/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반환유형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설 명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64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err="1" smtClean="0"/>
                        <a:t>getParameter</a:t>
                      </a:r>
                      <a:r>
                        <a:rPr lang="en-US" altLang="ko-KR" sz="1600" dirty="0" smtClean="0"/>
                        <a:t>(String</a:t>
                      </a:r>
                      <a:r>
                        <a:rPr lang="en-US" altLang="ko-KR" sz="1600" baseline="0" dirty="0" smtClean="0"/>
                        <a:t> name)</a:t>
                      </a:r>
                      <a:endParaRPr lang="en-US" altLang="ko-KR" sz="160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>
                          <a:solidFill>
                            <a:srgbClr val="C00000"/>
                          </a:solidFill>
                        </a:rPr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 smtClean="0"/>
                        <a:t>요청 </a:t>
                      </a:r>
                      <a:r>
                        <a:rPr lang="ko-KR" altLang="en-US" sz="1600" dirty="0" err="1" smtClean="0"/>
                        <a:t>파라미터</a:t>
                      </a:r>
                      <a:r>
                        <a:rPr lang="ko-KR" altLang="en-US" sz="1600" dirty="0" smtClean="0"/>
                        <a:t> 이름이 </a:t>
                      </a:r>
                      <a:r>
                        <a:rPr lang="en-US" altLang="ko-KR" sz="1600" dirty="0" smtClean="0"/>
                        <a:t>name</a:t>
                      </a:r>
                      <a:r>
                        <a:rPr lang="ko-KR" altLang="en-US" sz="1600" dirty="0" smtClean="0"/>
                        <a:t>인 값을 전달받음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248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 smtClean="0"/>
                        <a:t>getParameterValues</a:t>
                      </a:r>
                      <a:r>
                        <a:rPr lang="en-US" altLang="ko-KR" sz="1600" dirty="0" smtClean="0"/>
                        <a:t>(String</a:t>
                      </a:r>
                      <a:r>
                        <a:rPr lang="en-US" altLang="ko-KR" sz="1600" baseline="0" dirty="0" smtClean="0"/>
                        <a:t> name)</a:t>
                      </a:r>
                      <a:endParaRPr lang="en-US" altLang="ko-KR" sz="160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>
                          <a:solidFill>
                            <a:srgbClr val="C00000"/>
                          </a:solidFill>
                        </a:rPr>
                        <a:t>String[ 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/>
                        <a:t>모든 요청 </a:t>
                      </a:r>
                      <a:r>
                        <a:rPr lang="ko-KR" altLang="en-US" sz="1600" dirty="0" err="1" smtClean="0"/>
                        <a:t>파라미터</a:t>
                      </a:r>
                      <a:r>
                        <a:rPr lang="ko-KR" altLang="en-US" sz="1600" dirty="0" smtClean="0"/>
                        <a:t> 이름이 </a:t>
                      </a:r>
                      <a:r>
                        <a:rPr lang="en-US" altLang="ko-KR" sz="1600" dirty="0" smtClean="0"/>
                        <a:t>name</a:t>
                      </a:r>
                      <a:r>
                        <a:rPr lang="ko-KR" altLang="en-US" sz="1600" dirty="0" smtClean="0"/>
                        <a:t>인 값을 배열 형태로 전달 받음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2484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err="1" smtClean="0"/>
                        <a:t>getParameterNames</a:t>
                      </a:r>
                      <a:r>
                        <a:rPr lang="en-US" altLang="ko-KR" sz="1600" dirty="0" smtClean="0"/>
                        <a:t>()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err="1" smtClean="0">
                          <a:solidFill>
                            <a:srgbClr val="C00000"/>
                          </a:solidFill>
                        </a:rPr>
                        <a:t>Java.util.Enumeration</a:t>
                      </a:r>
                      <a:endParaRPr lang="en-US" altLang="ko-KR" sz="1600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/>
                        <a:t>모든 요청 </a:t>
                      </a:r>
                      <a:r>
                        <a:rPr lang="ko-KR" altLang="en-US" sz="1600" dirty="0" err="1" smtClean="0"/>
                        <a:t>파라미터의</a:t>
                      </a:r>
                      <a:r>
                        <a:rPr lang="ko-KR" altLang="en-US" sz="1600" dirty="0" smtClean="0"/>
                        <a:t> 이름과 값을 </a:t>
                      </a:r>
                      <a:r>
                        <a:rPr lang="en-US" altLang="ko-KR" sz="1600" dirty="0" smtClean="0"/>
                        <a:t>Enumeration </a:t>
                      </a:r>
                      <a:r>
                        <a:rPr lang="ko-KR" altLang="en-US" sz="1600" dirty="0" smtClean="0"/>
                        <a:t>객체 타입으로 전달 받음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36576" y="980728"/>
            <a:ext cx="712879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HttpServletRequest</a:t>
            </a:r>
            <a:r>
              <a:rPr lang="ko-KR" altLang="en-US" sz="2000" b="1" dirty="0" smtClean="0"/>
              <a:t>란</a:t>
            </a:r>
            <a:r>
              <a:rPr lang="en-US" altLang="ko-KR" sz="2000" b="1" dirty="0" smtClean="0"/>
              <a:t>?</a:t>
            </a:r>
            <a:endParaRPr lang="ko-KR" altLang="en-US" sz="2000" b="1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1136576" y="3078522"/>
            <a:ext cx="446449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b="1" dirty="0" err="1" smtClean="0"/>
              <a:t>HttpServletRequest</a:t>
            </a:r>
            <a:r>
              <a:rPr lang="ko-KR" altLang="en-US" b="1" dirty="0" smtClean="0"/>
              <a:t> </a:t>
            </a:r>
            <a:r>
              <a:rPr lang="ko-KR" altLang="en-US" b="1" dirty="0"/>
              <a:t>주요 </a:t>
            </a:r>
            <a:r>
              <a:rPr lang="ko-KR" altLang="en-US" b="1" dirty="0" smtClean="0"/>
              <a:t>메서드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1496616" y="1556792"/>
            <a:ext cx="799288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웹 서버에 들어오는 HTTP 요청에 대한 모든 정보를 담고 있는 </a:t>
            </a:r>
            <a:r>
              <a:rPr lang="ko-KR" altLang="en-US" dirty="0" smtClean="0"/>
              <a:t>객체이다. </a:t>
            </a:r>
            <a:endParaRPr lang="ko-KR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클라이언트의 요청을 받아 서버가 처리할 수 있도록 HTTP 요청 메시지를 </a:t>
            </a:r>
            <a:r>
              <a:rPr lang="ko-KR" altLang="en-US" dirty="0" err="1"/>
              <a:t>파싱하여</a:t>
            </a:r>
            <a:r>
              <a:rPr lang="ko-KR" altLang="en-US" dirty="0"/>
              <a:t>  필요한 데이터를 </a:t>
            </a:r>
            <a:r>
              <a:rPr lang="ko-KR" altLang="en-US" dirty="0" smtClean="0"/>
              <a:t>제공한다</a:t>
            </a:r>
            <a:r>
              <a:rPr lang="en-US" altLang="ko-KR" dirty="0" smtClean="0"/>
              <a:t>.</a:t>
            </a:r>
            <a:r>
              <a:rPr lang="ko-KR" altLang="en-US" dirty="0" smtClean="0"/>
              <a:t> </a:t>
            </a:r>
            <a:endParaRPr lang="ko-KR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클라이언트의 요청 메시지, 요청 헤더, 요청 </a:t>
            </a:r>
            <a:r>
              <a:rPr lang="ko-KR" altLang="en-US" dirty="0" err="1"/>
              <a:t>파라미터</a:t>
            </a:r>
            <a:r>
              <a:rPr lang="ko-KR" altLang="en-US" dirty="0"/>
              <a:t> 등을 조회하는 데 </a:t>
            </a:r>
            <a:r>
              <a:rPr lang="ko-KR" altLang="en-US" dirty="0" smtClean="0"/>
              <a:t>사용된다.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3955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8337376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가입 실습 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136576" y="980728"/>
            <a:ext cx="712879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프로젝트 구조</a:t>
            </a:r>
            <a:r>
              <a:rPr lang="en-US" altLang="ko-KR" sz="2000" b="1" dirty="0" smtClean="0"/>
              <a:t>(java, </a:t>
            </a:r>
            <a:r>
              <a:rPr lang="en-US" altLang="ko-KR" sz="2000" b="1" dirty="0" err="1" smtClean="0"/>
              <a:t>webapp</a:t>
            </a:r>
            <a:r>
              <a:rPr lang="en-US" altLang="ko-KR" sz="2000" b="1" dirty="0" smtClean="0"/>
              <a:t>)</a:t>
            </a:r>
            <a:endParaRPr lang="en-US" altLang="ko-KR" sz="2000" b="1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656" y="1772816"/>
            <a:ext cx="2376264" cy="232675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2750316" y="4293096"/>
            <a:ext cx="588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java</a:t>
            </a:r>
            <a:endParaRPr lang="ko-KR" altLang="en-US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207" y="1772816"/>
            <a:ext cx="2572109" cy="313416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5969356" y="5019906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jsp</a:t>
            </a:r>
            <a:endParaRPr lang="ko-KR" altLang="en-US" dirty="0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5115161" y="4099574"/>
            <a:ext cx="1710047" cy="337538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063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8337376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가입 실습 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136576" y="980728"/>
            <a:ext cx="712879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회원 가입</a:t>
            </a:r>
            <a:endParaRPr lang="en-US" altLang="ko-KR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173" y="1772816"/>
            <a:ext cx="3599458" cy="230425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685" y="1772817"/>
            <a:ext cx="2832755" cy="230425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오른쪽 화살표 7"/>
          <p:cNvSpPr/>
          <p:nvPr/>
        </p:nvSpPr>
        <p:spPr>
          <a:xfrm>
            <a:off x="5288597" y="2780928"/>
            <a:ext cx="576064" cy="144016"/>
          </a:xfrm>
          <a:prstGeom prst="right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6113" y="4293096"/>
            <a:ext cx="2071578" cy="202842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03530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8337376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가입 실습 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136576" y="974051"/>
            <a:ext cx="7128792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회원 가입 폼 </a:t>
            </a:r>
            <a:r>
              <a:rPr lang="en-US" altLang="ko-KR" sz="2000" b="1" dirty="0" smtClean="0"/>
              <a:t>– </a:t>
            </a:r>
            <a:r>
              <a:rPr lang="en-US" altLang="ko-KR" sz="2000" b="1" dirty="0" err="1" smtClean="0"/>
              <a:t>register.jsp</a:t>
            </a:r>
            <a:endParaRPr lang="en-US" altLang="ko-KR" sz="2000" b="1" dirty="0" smtClean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1" dirty="0" smtClean="0">
                <a:solidFill>
                  <a:srgbClr val="FF0000"/>
                </a:solidFill>
              </a:rPr>
              <a:t>이 파일에서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톰캣</a:t>
            </a:r>
            <a:r>
              <a:rPr lang="ko-KR" altLang="en-US" b="1" dirty="0" smtClean="0">
                <a:solidFill>
                  <a:srgbClr val="FF0000"/>
                </a:solidFill>
              </a:rPr>
              <a:t> 서버 실행함</a:t>
            </a:r>
            <a:endParaRPr lang="en-US" altLang="ko-KR" b="1" dirty="0">
              <a:solidFill>
                <a:srgbClr val="FF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632" y="2338356"/>
            <a:ext cx="6250959" cy="382694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3765551" y="1952613"/>
            <a:ext cx="1656184" cy="299896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600" dirty="0" smtClean="0">
                <a:solidFill>
                  <a:sysClr val="windowText" lastClr="000000"/>
                </a:solidFill>
              </a:rPr>
              <a:t>요청 </a:t>
            </a:r>
            <a:r>
              <a:rPr lang="en-US" altLang="ko-KR" sz="1600" dirty="0" err="1" smtClean="0">
                <a:solidFill>
                  <a:sysClr val="windowText" lastClr="000000"/>
                </a:solidFill>
              </a:rPr>
              <a:t>url</a:t>
            </a:r>
            <a:r>
              <a:rPr lang="en-US" altLang="ko-KR" sz="1600" dirty="0" smtClean="0">
                <a:solidFill>
                  <a:sysClr val="windowText" lastClr="000000"/>
                </a:solidFill>
              </a:rPr>
              <a:t>(</a:t>
            </a:r>
            <a:r>
              <a:rPr lang="ko-KR" altLang="en-US" sz="1600" dirty="0" smtClean="0">
                <a:solidFill>
                  <a:sysClr val="windowText" lastClr="000000"/>
                </a:solidFill>
              </a:rPr>
              <a:t>매핑</a:t>
            </a:r>
            <a:r>
              <a:rPr lang="en-US" altLang="ko-KR" sz="1600" dirty="0" smtClean="0">
                <a:solidFill>
                  <a:sysClr val="windowText" lastClr="000000"/>
                </a:solidFill>
              </a:rPr>
              <a:t>)</a:t>
            </a:r>
            <a:endParaRPr lang="en-US" altLang="ko-KR" sz="1600" dirty="0" smtClean="0">
              <a:solidFill>
                <a:sysClr val="windowText" lastClr="000000"/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3224808" y="2484823"/>
            <a:ext cx="1368152" cy="440121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cxnSp>
        <p:nvCxnSpPr>
          <p:cNvPr id="11" name="직선 화살표 연결선 10"/>
          <p:cNvCxnSpPr/>
          <p:nvPr/>
        </p:nvCxnSpPr>
        <p:spPr>
          <a:xfrm flipH="1">
            <a:off x="4096680" y="2255496"/>
            <a:ext cx="144016" cy="242837"/>
          </a:xfrm>
          <a:prstGeom prst="straightConnector1">
            <a:avLst/>
          </a:prstGeom>
          <a:ln w="9525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6609184" y="2564904"/>
            <a:ext cx="2232248" cy="36004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ysClr val="windowText" lastClr="000000"/>
                </a:solidFill>
              </a:rPr>
              <a:t>servlet/</a:t>
            </a:r>
            <a:r>
              <a:rPr lang="en-US" altLang="ko-KR" sz="1600" dirty="0" err="1" smtClean="0">
                <a:solidFill>
                  <a:sysClr val="windowText" lastClr="000000"/>
                </a:solidFill>
              </a:rPr>
              <a:t>register.jsp</a:t>
            </a:r>
            <a:endParaRPr lang="en-US" altLang="ko-KR" sz="1600" dirty="0" smtClea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938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8337376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가입 실습 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136576" y="980728"/>
            <a:ext cx="712879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RegisterServlet</a:t>
            </a:r>
            <a:endParaRPr lang="en-US" altLang="ko-KR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489164"/>
            <a:ext cx="7266592" cy="500020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361384" y="2060848"/>
            <a:ext cx="5200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C00000"/>
                </a:solidFill>
              </a:rPr>
              <a:t>&lt;method </a:t>
            </a:r>
            <a:r>
              <a:rPr lang="ko-KR" altLang="en-US" dirty="0" smtClean="0">
                <a:solidFill>
                  <a:srgbClr val="C00000"/>
                </a:solidFill>
              </a:rPr>
              <a:t>방식이 </a:t>
            </a:r>
            <a:r>
              <a:rPr lang="en-US" altLang="ko-KR" dirty="0" smtClean="0">
                <a:solidFill>
                  <a:srgbClr val="C00000"/>
                </a:solidFill>
              </a:rPr>
              <a:t>post</a:t>
            </a:r>
            <a:r>
              <a:rPr lang="ko-KR" altLang="en-US" dirty="0" smtClean="0">
                <a:solidFill>
                  <a:srgbClr val="C00000"/>
                </a:solidFill>
              </a:rPr>
              <a:t>이므로 </a:t>
            </a:r>
            <a:r>
              <a:rPr lang="en-US" altLang="ko-KR" dirty="0" err="1" smtClean="0">
                <a:solidFill>
                  <a:srgbClr val="C00000"/>
                </a:solidFill>
              </a:rPr>
              <a:t>doPost</a:t>
            </a:r>
            <a:r>
              <a:rPr lang="en-US" altLang="ko-KR" dirty="0" smtClean="0">
                <a:solidFill>
                  <a:srgbClr val="C00000"/>
                </a:solidFill>
              </a:rPr>
              <a:t>() </a:t>
            </a:r>
            <a:r>
              <a:rPr lang="ko-KR" altLang="en-US" dirty="0" smtClean="0">
                <a:solidFill>
                  <a:srgbClr val="C00000"/>
                </a:solidFill>
              </a:rPr>
              <a:t>사용함</a:t>
            </a:r>
            <a:r>
              <a:rPr lang="en-US" altLang="ko-KR" dirty="0" smtClean="0">
                <a:solidFill>
                  <a:srgbClr val="C00000"/>
                </a:solidFill>
              </a:rPr>
              <a:t>&gt;</a:t>
            </a:r>
            <a:endParaRPr lang="ko-KR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592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8337376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로그인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실습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136576" y="980728"/>
            <a:ext cx="712879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 smtClean="0"/>
              <a:t>서블릿</a:t>
            </a:r>
            <a:r>
              <a:rPr lang="ko-KR" altLang="en-US" sz="2000" b="1" dirty="0" smtClean="0"/>
              <a:t> </a:t>
            </a:r>
            <a:r>
              <a:rPr lang="ko-KR" altLang="en-US" sz="2000" b="1" dirty="0"/>
              <a:t>응답 </a:t>
            </a:r>
            <a:r>
              <a:rPr lang="ko-KR" altLang="en-US" sz="2000" b="1" dirty="0" smtClean="0"/>
              <a:t>실습</a:t>
            </a:r>
            <a:endParaRPr lang="en-US" altLang="ko-KR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230" y="3773038"/>
            <a:ext cx="3528392" cy="196021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662" y="3773038"/>
            <a:ext cx="1999722" cy="17979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오른쪽 화살표 6"/>
          <p:cNvSpPr/>
          <p:nvPr/>
        </p:nvSpPr>
        <p:spPr>
          <a:xfrm>
            <a:off x="5574662" y="4460921"/>
            <a:ext cx="432048" cy="144016"/>
          </a:xfrm>
          <a:prstGeom prst="right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513348" y="1678734"/>
            <a:ext cx="3943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아래와 같이 실행되도록 구현하세요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784648" y="2070921"/>
            <a:ext cx="3096344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 err="1" smtClean="0"/>
              <a:t>Login.jsp</a:t>
            </a:r>
            <a:endParaRPr lang="en-US" altLang="ko-KR" dirty="0" smtClean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 smtClean="0"/>
              <a:t>LoginServlet.java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 err="1" smtClean="0"/>
              <a:t>서블릿</a:t>
            </a:r>
            <a:r>
              <a:rPr lang="ko-KR" altLang="en-US" dirty="0" smtClean="0"/>
              <a:t> 매핑</a:t>
            </a:r>
            <a:r>
              <a:rPr lang="en-US" altLang="ko-KR" dirty="0" smtClean="0"/>
              <a:t>: /login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9533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8337376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가입 실습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136576" y="980728"/>
            <a:ext cx="712879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여러 개의 </a:t>
            </a:r>
            <a:r>
              <a:rPr lang="en-US" altLang="ko-KR" sz="2000" b="1" dirty="0" smtClean="0"/>
              <a:t>name </a:t>
            </a:r>
            <a:r>
              <a:rPr lang="ko-KR" altLang="en-US" sz="2000" b="1" dirty="0" smtClean="0"/>
              <a:t>요청 처리</a:t>
            </a:r>
            <a:endParaRPr lang="en-US" altLang="ko-KR" sz="2000" b="1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25" y="1911147"/>
            <a:ext cx="2445700" cy="28083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632" y="1911147"/>
            <a:ext cx="3045699" cy="209391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오른쪽 화살표 7"/>
          <p:cNvSpPr/>
          <p:nvPr/>
        </p:nvSpPr>
        <p:spPr>
          <a:xfrm>
            <a:off x="5025008" y="2636912"/>
            <a:ext cx="360040" cy="144016"/>
          </a:xfrm>
          <a:prstGeom prst="right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862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8337376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가입 실습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136576" y="980728"/>
            <a:ext cx="712879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여러 개의 </a:t>
            </a:r>
            <a:r>
              <a:rPr lang="en-US" altLang="ko-KR" sz="2000" b="1" dirty="0" smtClean="0"/>
              <a:t>name </a:t>
            </a:r>
            <a:r>
              <a:rPr lang="ko-KR" altLang="en-US" sz="2000" b="1" dirty="0" smtClean="0"/>
              <a:t>요청 처리</a:t>
            </a:r>
            <a:endParaRPr lang="en-US" altLang="ko-KR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628366"/>
            <a:ext cx="7571885" cy="44742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20858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8337376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회원 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가입 실습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136576" y="980728"/>
            <a:ext cx="712879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여러 개의 </a:t>
            </a:r>
            <a:r>
              <a:rPr lang="en-US" altLang="ko-KR" sz="2000" b="1" dirty="0" smtClean="0"/>
              <a:t>name </a:t>
            </a:r>
            <a:r>
              <a:rPr lang="ko-KR" altLang="en-US" sz="2000" b="1" dirty="0" smtClean="0"/>
              <a:t>요청 처리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b="10788"/>
          <a:stretch/>
        </p:blipFill>
        <p:spPr>
          <a:xfrm>
            <a:off x="1640632" y="1612275"/>
            <a:ext cx="7001325" cy="475252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59052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8337376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간단한 계산기</a:t>
            </a:r>
            <a:endParaRPr lang="ko-KR" altLang="en-US" dirty="0"/>
          </a:p>
        </p:txBody>
      </p:sp>
      <p:sp>
        <p:nvSpPr>
          <p:cNvPr id="10" name="오른쪽 화살표 9"/>
          <p:cNvSpPr/>
          <p:nvPr/>
        </p:nvSpPr>
        <p:spPr>
          <a:xfrm rot="5400000" flipV="1">
            <a:off x="3874259" y="3775449"/>
            <a:ext cx="432048" cy="104520"/>
          </a:xfrm>
          <a:prstGeom prst="right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36576" y="980728"/>
            <a:ext cx="712879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정수형 계산기 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688" y="1796759"/>
            <a:ext cx="4176464" cy="17433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784" y="4259757"/>
            <a:ext cx="2705478" cy="12574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96363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8337376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간단한 계산기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36576" y="980728"/>
            <a:ext cx="712879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정수형 계산기 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783" y="1772816"/>
            <a:ext cx="6106377" cy="359142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6393160" y="1988840"/>
            <a:ext cx="2411306" cy="316149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ysClr val="windowText" lastClr="000000"/>
                </a:solidFill>
              </a:rPr>
              <a:t>calculator/</a:t>
            </a:r>
            <a:r>
              <a:rPr lang="en-US" altLang="ko-KR" sz="1600" dirty="0" err="1" smtClean="0">
                <a:solidFill>
                  <a:sysClr val="windowText" lastClr="000000"/>
                </a:solidFill>
              </a:rPr>
              <a:t>calcForm.jsp</a:t>
            </a:r>
            <a:endParaRPr lang="en-US" altLang="ko-KR" sz="1600" dirty="0" smtClea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2896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8337376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간단한 계산기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624" y="1656859"/>
            <a:ext cx="7600728" cy="468052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6915699" y="3839044"/>
            <a:ext cx="2699338" cy="316149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ysClr val="windowText" lastClr="000000"/>
                </a:solidFill>
              </a:rPr>
              <a:t>servlet.CalcServlet.java</a:t>
            </a:r>
            <a:endParaRPr lang="en-US" altLang="ko-KR" sz="1600" dirty="0" smtClean="0">
              <a:solidFill>
                <a:sysClr val="windowText" lastClr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6576" y="980728"/>
            <a:ext cx="712879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정수형 계산기 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980002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8337376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간단한 계산기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512" y="1700808"/>
            <a:ext cx="9182896" cy="260626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1136576" y="980728"/>
            <a:ext cx="712879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정수형 계산기 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4286007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13158</TotalTime>
  <Words>774</Words>
  <Application>Microsoft Office PowerPoint</Application>
  <PresentationFormat>A4 용지(210x297mm)</PresentationFormat>
  <Paragraphs>138</Paragraphs>
  <Slides>27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4" baseType="lpstr">
      <vt:lpstr>HY헤드라인M</vt:lpstr>
      <vt:lpstr>맑은 고딕</vt:lpstr>
      <vt:lpstr>휴먼모음T</vt:lpstr>
      <vt:lpstr>휴먼엑스포</vt:lpstr>
      <vt:lpstr>Arial</vt:lpstr>
      <vt:lpstr>Wingdings</vt:lpstr>
      <vt:lpstr>Office 테마</vt:lpstr>
      <vt:lpstr>2장. 서블릿(Servlet)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LG</cp:lastModifiedBy>
  <cp:revision>841</cp:revision>
  <dcterms:created xsi:type="dcterms:W3CDTF">2019-03-04T02:36:55Z</dcterms:created>
  <dcterms:modified xsi:type="dcterms:W3CDTF">2025-10-01T22:42:34Z</dcterms:modified>
</cp:coreProperties>
</file>