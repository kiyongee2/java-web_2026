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8"/>
  </p:notesMasterIdLst>
  <p:sldIdLst>
    <p:sldId id="256" r:id="rId2"/>
    <p:sldId id="351" r:id="rId3"/>
    <p:sldId id="479" r:id="rId4"/>
    <p:sldId id="352" r:id="rId5"/>
    <p:sldId id="355" r:id="rId6"/>
    <p:sldId id="375" r:id="rId7"/>
    <p:sldId id="578" r:id="rId8"/>
    <p:sldId id="575" r:id="rId9"/>
    <p:sldId id="576" r:id="rId10"/>
    <p:sldId id="577" r:id="rId11"/>
    <p:sldId id="483" r:id="rId12"/>
    <p:sldId id="554" r:id="rId13"/>
    <p:sldId id="484" r:id="rId14"/>
    <p:sldId id="542" r:id="rId15"/>
    <p:sldId id="528" r:id="rId16"/>
    <p:sldId id="530" r:id="rId17"/>
    <p:sldId id="532" r:id="rId18"/>
    <p:sldId id="546" r:id="rId19"/>
    <p:sldId id="545" r:id="rId20"/>
    <p:sldId id="543" r:id="rId21"/>
    <p:sldId id="557" r:id="rId22"/>
    <p:sldId id="556" r:id="rId23"/>
    <p:sldId id="555" r:id="rId24"/>
    <p:sldId id="547" r:id="rId25"/>
    <p:sldId id="551" r:id="rId26"/>
    <p:sldId id="548" r:id="rId27"/>
    <p:sldId id="549" r:id="rId28"/>
    <p:sldId id="550" r:id="rId29"/>
    <p:sldId id="544" r:id="rId30"/>
    <p:sldId id="552" r:id="rId31"/>
    <p:sldId id="553" r:id="rId32"/>
    <p:sldId id="508" r:id="rId33"/>
    <p:sldId id="541" r:id="rId34"/>
    <p:sldId id="558" r:id="rId35"/>
    <p:sldId id="540" r:id="rId36"/>
    <p:sldId id="559" r:id="rId37"/>
    <p:sldId id="560" r:id="rId38"/>
    <p:sldId id="565" r:id="rId39"/>
    <p:sldId id="566" r:id="rId40"/>
    <p:sldId id="567" r:id="rId41"/>
    <p:sldId id="569" r:id="rId42"/>
    <p:sldId id="570" r:id="rId43"/>
    <p:sldId id="571" r:id="rId44"/>
    <p:sldId id="572" r:id="rId45"/>
    <p:sldId id="579" r:id="rId46"/>
    <p:sldId id="386" r:id="rId47"/>
    <p:sldId id="527" r:id="rId48"/>
    <p:sldId id="394" r:id="rId49"/>
    <p:sldId id="562" r:id="rId50"/>
    <p:sldId id="563" r:id="rId51"/>
    <p:sldId id="564" r:id="rId52"/>
    <p:sldId id="522" r:id="rId53"/>
    <p:sldId id="523" r:id="rId54"/>
    <p:sldId id="524" r:id="rId55"/>
    <p:sldId id="525" r:id="rId56"/>
    <p:sldId id="526" r:id="rId57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76" autoAdjust="0"/>
    <p:restoredTop sz="94660"/>
  </p:normalViewPr>
  <p:slideViewPr>
    <p:cSldViewPr>
      <p:cViewPr varScale="1">
        <p:scale>
          <a:sx n="88" d="100"/>
          <a:sy n="88" d="100"/>
        </p:scale>
        <p:origin x="1037" y="77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5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 smtClean="0"/>
              <a:t> 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39555" y="6525344"/>
            <a:ext cx="9945555" cy="332656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  마스터 제목 스타일 편집</a:t>
            </a:r>
            <a:endParaRPr lang="ko-KR" altLang="en-US" dirty="0"/>
          </a:p>
        </p:txBody>
      </p:sp>
      <p:pic>
        <p:nvPicPr>
          <p:cNvPr id="9" name="Picture 2" descr="JSP] sendRedirect() 메소드로 파라미터 값을 받아오기"/>
          <p:cNvPicPr>
            <a:picLocks noChangeAspect="1" noChangeArrowheads="1"/>
          </p:cNvPicPr>
          <p:nvPr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72" y="5953107"/>
            <a:ext cx="654360" cy="65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41432" y="6525344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mvnrepository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186687" cy="1226567"/>
          </a:xfrm>
        </p:spPr>
        <p:txBody>
          <a:bodyPr>
            <a:normAutofit/>
          </a:bodyPr>
          <a:lstStyle/>
          <a:p>
            <a:r>
              <a:rPr lang="en-US" altLang="ko-KR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5</a:t>
            </a:r>
            <a:r>
              <a:rPr lang="ko-KR" altLang="en-US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en-US" altLang="ko-KR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EL &amp; JSTL</a:t>
            </a:r>
            <a:endParaRPr lang="ko-KR" altLang="en-US" b="1" dirty="0">
              <a:solidFill>
                <a:schemeClr val="tx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75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2000" i="1" dirty="0" smtClean="0">
                <a:solidFill>
                  <a:schemeClr val="bg1"/>
                </a:solidFill>
              </a:rPr>
              <a:t> EL /  JSTL </a:t>
            </a:r>
            <a:endParaRPr lang="ko-KR" altLang="en-US" sz="1600" i="1" dirty="0"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26" name="Picture 2" descr="JSP] sendRedirect() 메소드로 파라미터 값을 받아오기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191" y="4082682"/>
            <a:ext cx="1938605" cy="193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dirty="0" smtClean="0"/>
              <a:t>EL(Expression Language)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13156" y="1499300"/>
            <a:ext cx="83529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smtClean="0"/>
              <a:t>MVC </a:t>
            </a:r>
            <a:r>
              <a:rPr lang="ko-KR" altLang="en-US" sz="1600" dirty="0" smtClean="0"/>
              <a:t>패턴에 따라 </a:t>
            </a:r>
            <a:r>
              <a:rPr lang="ko-KR" altLang="en-US" sz="1600" dirty="0" err="1" smtClean="0"/>
              <a:t>뷰</a:t>
            </a:r>
            <a:r>
              <a:rPr lang="en-US" altLang="ko-KR" sz="1600" dirty="0" smtClean="0"/>
              <a:t>(view) </a:t>
            </a:r>
            <a:r>
              <a:rPr lang="ko-KR" altLang="en-US" sz="1600" dirty="0" smtClean="0"/>
              <a:t>역할을 수행하는 </a:t>
            </a:r>
            <a:r>
              <a:rPr lang="en-US" altLang="ko-KR" sz="1600" dirty="0" smtClean="0"/>
              <a:t>JSP</a:t>
            </a:r>
            <a:r>
              <a:rPr lang="ko-KR" altLang="en-US" sz="1600" dirty="0" smtClean="0"/>
              <a:t>를 더욱 효과적으로 만들려는 목적으로 개발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개발 배경 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코드와 태그가 섞여서 </a:t>
            </a:r>
            <a:r>
              <a:rPr lang="ko-KR" altLang="en-US" sz="1600" dirty="0" err="1" smtClean="0"/>
              <a:t>복잡해짐</a:t>
            </a:r>
            <a:r>
              <a:rPr lang="en-US" altLang="ko-KR" sz="1600" dirty="0" smtClean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smtClean="0"/>
              <a:t>JSP </a:t>
            </a:r>
            <a:r>
              <a:rPr lang="ko-KR" altLang="en-US" sz="1600" dirty="0"/>
              <a:t>페이지에서 자바 코드를 직접 쓰지 않고</a:t>
            </a:r>
            <a:r>
              <a:rPr lang="en-US" altLang="ko-KR" sz="1600" dirty="0"/>
              <a:t>, </a:t>
            </a:r>
            <a:r>
              <a:rPr lang="ko-KR" altLang="en-US" sz="1600" dirty="0"/>
              <a:t>간단한 표현식으로 데이터</a:t>
            </a:r>
            <a:r>
              <a:rPr lang="en-US" altLang="ko-KR" sz="1600" dirty="0"/>
              <a:t>(</a:t>
            </a:r>
            <a:r>
              <a:rPr lang="ko-KR" altLang="en-US" sz="1600" dirty="0"/>
              <a:t>변수</a:t>
            </a:r>
            <a:r>
              <a:rPr lang="en-US" altLang="ko-KR" sz="1600" dirty="0"/>
              <a:t>, </a:t>
            </a:r>
            <a:r>
              <a:rPr lang="ko-KR" altLang="en-US" sz="1600" dirty="0"/>
              <a:t>객체</a:t>
            </a:r>
            <a:r>
              <a:rPr lang="en-US" altLang="ko-KR" sz="1600" dirty="0"/>
              <a:t>, </a:t>
            </a:r>
            <a:r>
              <a:rPr lang="ko-KR" altLang="en-US" sz="1600" dirty="0"/>
              <a:t>속성 등</a:t>
            </a:r>
            <a:r>
              <a:rPr lang="en-US" altLang="ko-KR" sz="1600" dirty="0"/>
              <a:t>)</a:t>
            </a:r>
            <a:r>
              <a:rPr lang="ko-KR" altLang="en-US" sz="1600" dirty="0"/>
              <a:t>를 접근할 수 있게 해주는 </a:t>
            </a:r>
            <a:r>
              <a:rPr lang="ko-KR" altLang="en-US" sz="1600" dirty="0" smtClean="0"/>
              <a:t>기능을 한다</a:t>
            </a:r>
            <a:r>
              <a:rPr lang="en-US" altLang="ko-KR" sz="1600" dirty="0" smtClean="0"/>
              <a:t>.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992560" y="995244"/>
            <a:ext cx="1428596" cy="4944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EL </a:t>
            </a:r>
            <a:r>
              <a:rPr lang="ko-KR" altLang="en-US" sz="2000" b="1" dirty="0" smtClean="0"/>
              <a:t>언어란</a:t>
            </a:r>
            <a:r>
              <a:rPr lang="en-US" altLang="ko-KR" sz="2000" b="1" dirty="0" smtClean="0"/>
              <a:t>?</a:t>
            </a:r>
            <a:endParaRPr lang="en-US" altLang="ko-KR" sz="2000" b="1" dirty="0"/>
          </a:p>
        </p:txBody>
      </p:sp>
      <p:sp>
        <p:nvSpPr>
          <p:cNvPr id="7" name="직사각형 6"/>
          <p:cNvSpPr/>
          <p:nvPr/>
        </p:nvSpPr>
        <p:spPr>
          <a:xfrm>
            <a:off x="1113156" y="3011468"/>
            <a:ext cx="8136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JSP 2.0부터 </a:t>
            </a:r>
            <a:r>
              <a:rPr lang="ko-KR" altLang="en-US" sz="1600" dirty="0" smtClean="0"/>
              <a:t>도입</a:t>
            </a:r>
            <a:endParaRPr lang="ko-KR" alt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/>
              <a:t>${...} 구문</a:t>
            </a:r>
            <a:r>
              <a:rPr lang="ko-KR" altLang="en-US" sz="1600" dirty="0"/>
              <a:t>을 </a:t>
            </a:r>
            <a:r>
              <a:rPr lang="ko-KR" altLang="en-US" sz="1600" dirty="0" smtClean="0"/>
              <a:t>사용</a:t>
            </a:r>
            <a:endParaRPr lang="ko-KR" alt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JSP 내에서 자바 코드(&lt;% ... %&gt;)</a:t>
            </a:r>
            <a:r>
              <a:rPr lang="ko-KR" altLang="en-US" sz="1600" dirty="0" err="1"/>
              <a:t>를</a:t>
            </a:r>
            <a:r>
              <a:rPr lang="ko-KR" altLang="en-US" sz="1600" dirty="0"/>
              <a:t> 최소화하고, 보기 쉽게 데이터를 표현하는 </a:t>
            </a:r>
            <a:r>
              <a:rPr lang="ko-KR" altLang="en-US" sz="1600" dirty="0" smtClean="0"/>
              <a:t>목적</a:t>
            </a:r>
            <a:endParaRPr lang="ko-KR" alt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JSP 내장 객체(</a:t>
            </a:r>
            <a:r>
              <a:rPr lang="ko-KR" altLang="en-US" sz="1600" dirty="0" err="1"/>
              <a:t>request</a:t>
            </a:r>
            <a:r>
              <a:rPr lang="ko-KR" altLang="en-US" sz="1600" dirty="0"/>
              <a:t>, </a:t>
            </a:r>
            <a:r>
              <a:rPr lang="ko-KR" altLang="en-US" sz="1600" dirty="0" err="1"/>
              <a:t>session</a:t>
            </a:r>
            <a:r>
              <a:rPr lang="ko-KR" altLang="en-US" sz="1600" dirty="0"/>
              <a:t>, </a:t>
            </a:r>
            <a:r>
              <a:rPr lang="ko-KR" altLang="en-US" sz="1600" dirty="0" err="1"/>
              <a:t>application</a:t>
            </a:r>
            <a:r>
              <a:rPr lang="ko-KR" altLang="en-US" sz="1600" dirty="0"/>
              <a:t> 등)에 담긴 속성 값을 쉽게 꺼낼 수 있음</a:t>
            </a:r>
          </a:p>
        </p:txBody>
      </p:sp>
    </p:spTree>
    <p:extLst>
      <p:ext uri="{BB962C8B-B14F-4D97-AF65-F5344CB8AC3E}">
        <p14:creationId xmlns:p14="http://schemas.microsoft.com/office/powerpoint/2010/main" val="2241920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dirty="0" smtClean="0"/>
              <a:t>EL(Expression Language)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13156" y="1484784"/>
            <a:ext cx="8352928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smtClean="0"/>
              <a:t>JSP</a:t>
            </a:r>
            <a:r>
              <a:rPr lang="ko-KR" altLang="en-US" sz="1600" dirty="0" smtClean="0"/>
              <a:t>의 데이터를 표현할 때 </a:t>
            </a:r>
            <a:r>
              <a:rPr lang="ko-KR" altLang="en-US" sz="1600" dirty="0" err="1" smtClean="0"/>
              <a:t>스크립트릿</a:t>
            </a:r>
            <a:r>
              <a:rPr lang="en-US" altLang="ko-KR" sz="1600" dirty="0" smtClean="0"/>
              <a:t>&lt;% %&gt;</a:t>
            </a:r>
            <a:r>
              <a:rPr lang="ko-KR" altLang="en-US" sz="1600" dirty="0" smtClean="0"/>
              <a:t>이나</a:t>
            </a:r>
            <a:r>
              <a:rPr lang="en-US" altLang="ko-KR" sz="1600" dirty="0" smtClean="0"/>
              <a:t> </a:t>
            </a:r>
            <a:r>
              <a:rPr lang="ko-KR" altLang="en-US" sz="1600" dirty="0" err="1" smtClean="0"/>
              <a:t>표현식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&lt;%= %&gt;</a:t>
            </a:r>
            <a:r>
              <a:rPr lang="ko-KR" altLang="en-US" sz="1600" dirty="0" smtClean="0"/>
              <a:t>을 대체하기 위해 사용되는  언어이다</a:t>
            </a:r>
            <a:r>
              <a:rPr lang="en-US" altLang="ko-KR" sz="1600" dirty="0" smtClean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4648" y="2492896"/>
            <a:ext cx="5544616" cy="71508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0070C0"/>
                </a:solidFill>
              </a:rPr>
              <a:t>&lt;</a:t>
            </a:r>
            <a:r>
              <a:rPr lang="en-US" altLang="ko-KR" b="1" dirty="0" err="1" smtClean="0">
                <a:solidFill>
                  <a:srgbClr val="0070C0"/>
                </a:solidFill>
              </a:rPr>
              <a:t>jsp:useBean</a:t>
            </a:r>
            <a:r>
              <a:rPr lang="en-US" altLang="ko-KR" b="1" dirty="0" smtClean="0">
                <a:solidFill>
                  <a:srgbClr val="0070C0"/>
                </a:solidFill>
              </a:rPr>
              <a:t> id=“test” class=“</a:t>
            </a:r>
            <a:r>
              <a:rPr lang="en-US" altLang="ko-KR" b="1" dirty="0" err="1" smtClean="0">
                <a:solidFill>
                  <a:srgbClr val="0070C0"/>
                </a:solidFill>
              </a:rPr>
              <a:t>TestBean</a:t>
            </a:r>
            <a:r>
              <a:rPr lang="en-US" altLang="ko-KR" b="1" dirty="0" smtClean="0">
                <a:solidFill>
                  <a:srgbClr val="0070C0"/>
                </a:solidFill>
              </a:rPr>
              <a:t>” /&gt;</a:t>
            </a:r>
          </a:p>
          <a:p>
            <a:r>
              <a:rPr lang="en-US" altLang="ko-KR" b="1" dirty="0" smtClean="0">
                <a:solidFill>
                  <a:srgbClr val="0070C0"/>
                </a:solidFill>
              </a:rPr>
              <a:t>&lt;%= </a:t>
            </a:r>
            <a:r>
              <a:rPr lang="en-US" altLang="ko-KR" b="1" dirty="0" err="1" smtClean="0">
                <a:solidFill>
                  <a:srgbClr val="0070C0"/>
                </a:solidFill>
              </a:rPr>
              <a:t>test.getName</a:t>
            </a:r>
            <a:r>
              <a:rPr lang="en-US" altLang="ko-KR" b="1" dirty="0" smtClean="0">
                <a:solidFill>
                  <a:srgbClr val="0070C0"/>
                </a:solidFill>
              </a:rPr>
              <a:t>()&gt;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4648" y="3519442"/>
            <a:ext cx="5544616" cy="408623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tx1"/>
                </a:solidFill>
              </a:rPr>
              <a:t>${</a:t>
            </a:r>
            <a:r>
              <a:rPr lang="en-US" altLang="ko-KR" b="1" dirty="0">
                <a:solidFill>
                  <a:schemeClr val="tx1"/>
                </a:solidFill>
              </a:rPr>
              <a:t>test.name}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4608" y="4146980"/>
            <a:ext cx="72728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600" dirty="0" smtClean="0"/>
              <a:t>표현 언어는 </a:t>
            </a:r>
            <a:r>
              <a:rPr lang="en-US" altLang="ko-KR" sz="1600" dirty="0" smtClean="0"/>
              <a:t>$</a:t>
            </a:r>
            <a:r>
              <a:rPr lang="ko-KR" altLang="en-US" sz="1600" dirty="0" smtClean="0"/>
              <a:t>로 시작한다</a:t>
            </a:r>
            <a:r>
              <a:rPr lang="en-US" altLang="ko-KR" sz="1600" dirty="0" smtClean="0"/>
              <a:t>.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600" dirty="0" smtClean="0"/>
              <a:t>모든 내용은 </a:t>
            </a:r>
            <a:r>
              <a:rPr lang="en-US" altLang="ko-KR" sz="1600" dirty="0" smtClean="0"/>
              <a:t>‘{</a:t>
            </a:r>
            <a:r>
              <a:rPr lang="ko-KR" altLang="en-US" sz="1600" dirty="0" err="1" smtClean="0"/>
              <a:t>표현식</a:t>
            </a:r>
            <a:r>
              <a:rPr lang="en-US" altLang="ko-KR" sz="1600" dirty="0" smtClean="0"/>
              <a:t>}’</a:t>
            </a:r>
            <a:r>
              <a:rPr lang="ko-KR" altLang="en-US" sz="1600" dirty="0" smtClean="0"/>
              <a:t>과 같이 표기한다</a:t>
            </a:r>
            <a:r>
              <a:rPr lang="en-US" altLang="ko-KR" sz="1600" dirty="0" smtClean="0"/>
              <a:t>.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600" dirty="0" err="1" smtClean="0"/>
              <a:t>표현식에는</a:t>
            </a:r>
            <a:r>
              <a:rPr lang="ko-KR" altLang="en-US" sz="1600" dirty="0" smtClean="0"/>
              <a:t> 기본적으로 변수 이름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혹은 </a:t>
            </a:r>
            <a:r>
              <a:rPr lang="en-US" altLang="ko-KR" sz="1600" dirty="0" smtClean="0"/>
              <a:t>‘</a:t>
            </a:r>
            <a:r>
              <a:rPr lang="ko-KR" altLang="en-US" sz="1600" b="1" dirty="0" smtClean="0">
                <a:solidFill>
                  <a:srgbClr val="C00000"/>
                </a:solidFill>
              </a:rPr>
              <a:t>객체</a:t>
            </a:r>
            <a:r>
              <a:rPr lang="en-US" altLang="ko-KR" sz="1600" b="1" dirty="0" smtClean="0">
                <a:solidFill>
                  <a:srgbClr val="C00000"/>
                </a:solidFill>
              </a:rPr>
              <a:t>_</a:t>
            </a:r>
            <a:r>
              <a:rPr lang="ko-KR" altLang="en-US" sz="1600" b="1" dirty="0" smtClean="0">
                <a:solidFill>
                  <a:srgbClr val="C00000"/>
                </a:solidFill>
              </a:rPr>
              <a:t>이름</a:t>
            </a:r>
            <a:r>
              <a:rPr lang="en-US" altLang="ko-KR" sz="1600" dirty="0" smtClean="0"/>
              <a:t>.</a:t>
            </a:r>
            <a:r>
              <a:rPr lang="ko-KR" altLang="en-US" sz="1600" dirty="0" smtClean="0"/>
              <a:t>멤버 변수</a:t>
            </a:r>
            <a:r>
              <a:rPr lang="en-US" altLang="ko-KR" sz="1600" dirty="0" smtClean="0"/>
              <a:t>_</a:t>
            </a:r>
            <a:r>
              <a:rPr lang="ko-KR" altLang="en-US" sz="1600" dirty="0" smtClean="0"/>
              <a:t>이름</a:t>
            </a:r>
            <a:r>
              <a:rPr lang="en-US" altLang="ko-KR" sz="1600" dirty="0" smtClean="0"/>
              <a:t>’ </a:t>
            </a:r>
            <a:r>
              <a:rPr lang="ko-KR" altLang="en-US" sz="1600" dirty="0" smtClean="0"/>
              <a:t>구조</a:t>
            </a:r>
            <a:endParaRPr lang="en-US" altLang="ko-KR" sz="1600" dirty="0" smtClean="0"/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600" dirty="0" err="1" smtClean="0"/>
              <a:t>표현식에는</a:t>
            </a:r>
            <a:r>
              <a:rPr lang="ko-KR" altLang="en-US" sz="1600" dirty="0" smtClean="0"/>
              <a:t> 기본적인 연산을 할 수 있다</a:t>
            </a:r>
            <a:r>
              <a:rPr lang="en-US" altLang="ko-KR" sz="1600" dirty="0" smtClean="0"/>
              <a:t>.</a:t>
            </a:r>
          </a:p>
        </p:txBody>
      </p:sp>
      <p:sp>
        <p:nvSpPr>
          <p:cNvPr id="3" name="아래쪽 화살표 2"/>
          <p:cNvSpPr/>
          <p:nvPr/>
        </p:nvSpPr>
        <p:spPr>
          <a:xfrm>
            <a:off x="3872880" y="3234883"/>
            <a:ext cx="95428" cy="189126"/>
          </a:xfrm>
          <a:prstGeom prst="down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992560" y="980728"/>
            <a:ext cx="191590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EL </a:t>
            </a:r>
            <a:r>
              <a:rPr lang="ko-KR" altLang="en-US" sz="2000" b="1" dirty="0" smtClean="0"/>
              <a:t>언어의 사용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2438780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dirty="0" smtClean="0"/>
              <a:t>EL </a:t>
            </a:r>
            <a:r>
              <a:rPr lang="ko-KR" altLang="en-US" dirty="0" smtClean="0"/>
              <a:t>언어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980726"/>
            <a:ext cx="30243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/>
              <a:t>표현 언어 사용 연산자</a:t>
            </a:r>
            <a:endParaRPr lang="en-US" altLang="ko-KR" sz="2000" b="1" dirty="0" smtClean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55671"/>
              </p:ext>
            </p:extLst>
          </p:nvPr>
        </p:nvGraphicFramePr>
        <p:xfrm>
          <a:off x="1136577" y="2070718"/>
          <a:ext cx="6120680" cy="14597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4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13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38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9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연산자</a:t>
                      </a:r>
                      <a:endParaRPr lang="ko-KR" altLang="en-US" sz="16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기 능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연산자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기능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93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+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더하기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-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빼기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93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*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곱하기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/</a:t>
                      </a:r>
                      <a:endParaRPr lang="ko-KR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몫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93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%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aseline="0" dirty="0" smtClean="0"/>
                        <a:t> </a:t>
                      </a:r>
                      <a:r>
                        <a:rPr lang="ko-KR" altLang="en-US" sz="1600" baseline="0" dirty="0" smtClean="0"/>
                        <a:t>나머지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64568" y="1644718"/>
            <a:ext cx="1512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/>
              <a:t>산술 연산자</a:t>
            </a:r>
            <a:endParaRPr lang="ko-KR" altLang="en-US" sz="1600" b="1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60586"/>
              </p:ext>
            </p:extLst>
          </p:nvPr>
        </p:nvGraphicFramePr>
        <p:xfrm>
          <a:off x="992560" y="4165578"/>
          <a:ext cx="8712968" cy="1855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11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19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9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1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연산자</a:t>
                      </a:r>
                      <a:endParaRPr lang="ko-KR" altLang="en-US" sz="16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기 능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연산자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기능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14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== </a:t>
                      </a:r>
                      <a:r>
                        <a:rPr lang="ko-KR" altLang="en-US" sz="1600" dirty="0" smtClean="0"/>
                        <a:t>또는 </a:t>
                      </a:r>
                      <a:r>
                        <a:rPr lang="en-US" altLang="ko-KR" sz="1600" dirty="0" err="1" smtClean="0">
                          <a:solidFill>
                            <a:schemeClr val="tx1"/>
                          </a:solidFill>
                        </a:rPr>
                        <a:t>eq</a:t>
                      </a:r>
                      <a:endParaRPr lang="en-US" altLang="ko-KR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같다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!=</a:t>
                      </a:r>
                      <a:r>
                        <a:rPr lang="en-US" altLang="ko-KR" sz="1600" baseline="0" dirty="0" smtClean="0"/>
                        <a:t> </a:t>
                      </a:r>
                      <a:r>
                        <a:rPr lang="ko-KR" altLang="en-US" sz="1600" baseline="0" dirty="0" smtClean="0"/>
                        <a:t>또는 </a:t>
                      </a:r>
                      <a:r>
                        <a:rPr lang="en-US" altLang="ko-KR" sz="1600" baseline="0" dirty="0" smtClean="0"/>
                        <a:t>ne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aseline="0" dirty="0" smtClean="0"/>
                        <a:t>같지 않다</a:t>
                      </a:r>
                      <a:r>
                        <a:rPr lang="en-US" altLang="ko-KR" sz="1600" baseline="0" dirty="0" smtClean="0"/>
                        <a:t>.</a:t>
                      </a:r>
                      <a:endParaRPr lang="ko-KR" altLang="en-US" sz="160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1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&lt; </a:t>
                      </a:r>
                      <a:r>
                        <a:rPr lang="ko-KR" altLang="en-US" sz="1600" dirty="0" smtClean="0"/>
                        <a:t>혹은 </a:t>
                      </a:r>
                      <a:r>
                        <a:rPr lang="en-US" altLang="ko-KR" sz="1600" dirty="0" err="1" smtClean="0"/>
                        <a:t>lt</a:t>
                      </a:r>
                      <a:endParaRPr lang="en-US" altLang="ko-KR" sz="160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좌변이 우변보다 작다</a:t>
                      </a:r>
                      <a:r>
                        <a:rPr lang="en-US" altLang="ko-KR" sz="1600" dirty="0" smtClean="0"/>
                        <a:t>.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&gt;</a:t>
                      </a:r>
                      <a:r>
                        <a:rPr lang="en-US" altLang="ko-KR" sz="1600" baseline="0" dirty="0" smtClean="0"/>
                        <a:t> </a:t>
                      </a:r>
                      <a:r>
                        <a:rPr lang="ko-KR" altLang="en-US" sz="1600" baseline="0" dirty="0" smtClean="0"/>
                        <a:t>혹은 </a:t>
                      </a:r>
                      <a:r>
                        <a:rPr lang="en-US" altLang="ko-KR" sz="1600" baseline="0" dirty="0" err="1" smtClean="0"/>
                        <a:t>gt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좌변이 우변보다 크다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1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&lt;= </a:t>
                      </a:r>
                      <a:r>
                        <a:rPr lang="ko-KR" altLang="en-US" sz="1600" dirty="0" smtClean="0"/>
                        <a:t>혹은 </a:t>
                      </a:r>
                      <a:r>
                        <a:rPr lang="en-US" altLang="ko-KR" sz="1600" dirty="0" smtClean="0"/>
                        <a:t>le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좌변이 우변보다 같거나 작다</a:t>
                      </a:r>
                      <a:r>
                        <a:rPr lang="en-US" altLang="ko-KR" sz="1600" dirty="0" smtClean="0"/>
                        <a:t>.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&gt;=</a:t>
                      </a:r>
                      <a:r>
                        <a:rPr lang="en-US" altLang="ko-KR" sz="1600" baseline="0" dirty="0" smtClean="0"/>
                        <a:t> </a:t>
                      </a:r>
                      <a:r>
                        <a:rPr lang="ko-KR" altLang="en-US" sz="1600" baseline="0" dirty="0" smtClean="0"/>
                        <a:t>혹은 </a:t>
                      </a:r>
                      <a:r>
                        <a:rPr lang="en-US" altLang="ko-KR" sz="1600" baseline="0" dirty="0" err="1" smtClean="0"/>
                        <a:t>ge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좌변이 우변보다 크거나 같다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1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a ?</a:t>
                      </a:r>
                      <a:r>
                        <a:rPr lang="en-US" altLang="ko-KR" sz="1600" baseline="0" dirty="0" smtClean="0"/>
                        <a:t> x : y</a:t>
                      </a:r>
                      <a:endParaRPr lang="en-US" altLang="ko-KR" sz="160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a</a:t>
                      </a:r>
                      <a:r>
                        <a:rPr lang="ko-KR" altLang="en-US" sz="1600" dirty="0" smtClean="0"/>
                        <a:t>가 참이면 </a:t>
                      </a:r>
                      <a:r>
                        <a:rPr lang="en-US" altLang="ko-KR" sz="1600" dirty="0" smtClean="0"/>
                        <a:t>x, </a:t>
                      </a:r>
                      <a:r>
                        <a:rPr lang="ko-KR" altLang="en-US" sz="1600" dirty="0" smtClean="0"/>
                        <a:t>거짓이면 </a:t>
                      </a:r>
                      <a:r>
                        <a:rPr lang="en-US" altLang="ko-KR" sz="1600" dirty="0" smtClean="0"/>
                        <a:t>y</a:t>
                      </a:r>
                      <a:r>
                        <a:rPr lang="ko-KR" altLang="en-US" sz="1600" dirty="0" smtClean="0"/>
                        <a:t>를 반환한다</a:t>
                      </a:r>
                      <a:r>
                        <a:rPr lang="en-US" altLang="ko-KR" sz="1600" dirty="0" smtClean="0"/>
                        <a:t>.</a:t>
                      </a:r>
                      <a:endParaRPr lang="ko-KR" altLang="en-US" sz="160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10666" y="3717030"/>
            <a:ext cx="2232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/>
              <a:t>비교 </a:t>
            </a:r>
            <a:r>
              <a:rPr lang="en-US" altLang="ko-KR" sz="1600" b="1" dirty="0" smtClean="0"/>
              <a:t>/ </a:t>
            </a:r>
            <a:r>
              <a:rPr lang="ko-KR" altLang="en-US" sz="1600" b="1" dirty="0" smtClean="0"/>
              <a:t>조건 연산자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196589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dirty="0" smtClean="0"/>
              <a:t>EL </a:t>
            </a:r>
            <a:r>
              <a:rPr lang="ko-KR" altLang="en-US" dirty="0" smtClean="0"/>
              <a:t>언어</a:t>
            </a:r>
            <a:endParaRPr lang="ko-KR" altLang="en-US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069801"/>
              </p:ext>
            </p:extLst>
          </p:nvPr>
        </p:nvGraphicFramePr>
        <p:xfrm>
          <a:off x="1280592" y="2077348"/>
          <a:ext cx="5544616" cy="1639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9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연산자</a:t>
                      </a:r>
                      <a:endParaRPr lang="ko-KR" altLang="en-US" sz="16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기 능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92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&amp;&amp;</a:t>
                      </a:r>
                      <a:r>
                        <a:rPr lang="en-US" altLang="ko-KR" sz="1600" baseline="0" dirty="0" smtClean="0"/>
                        <a:t> </a:t>
                      </a:r>
                      <a:r>
                        <a:rPr lang="ko-KR" altLang="en-US" sz="1600" baseline="0" dirty="0" smtClean="0"/>
                        <a:t>또는 </a:t>
                      </a:r>
                      <a:r>
                        <a:rPr lang="en-US" altLang="ko-KR" sz="1600" baseline="0" dirty="0" smtClean="0"/>
                        <a:t>and</a:t>
                      </a:r>
                      <a:endParaRPr lang="en-US" altLang="ko-KR" sz="160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AND</a:t>
                      </a:r>
                      <a:r>
                        <a:rPr lang="en-US" altLang="ko-KR" sz="1600" baseline="0" dirty="0" smtClean="0"/>
                        <a:t> </a:t>
                      </a:r>
                      <a:r>
                        <a:rPr lang="ko-KR" altLang="en-US" sz="1600" baseline="0" dirty="0" smtClean="0"/>
                        <a:t>연산</a:t>
                      </a:r>
                      <a:endParaRPr lang="ko-KR" altLang="en-US" sz="160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9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||</a:t>
                      </a:r>
                      <a:r>
                        <a:rPr lang="en-US" altLang="ko-KR" sz="1600" baseline="0" dirty="0" smtClean="0"/>
                        <a:t> </a:t>
                      </a:r>
                      <a:r>
                        <a:rPr lang="ko-KR" altLang="en-US" sz="1600" baseline="0" dirty="0" smtClean="0"/>
                        <a:t>또는 </a:t>
                      </a:r>
                      <a:r>
                        <a:rPr lang="en-US" altLang="ko-KR" sz="1600" baseline="0" dirty="0" smtClean="0"/>
                        <a:t>or</a:t>
                      </a:r>
                      <a:endParaRPr lang="en-US" altLang="ko-KR" sz="160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OR</a:t>
                      </a:r>
                      <a:r>
                        <a:rPr lang="en-US" altLang="ko-KR" sz="1600" baseline="0" dirty="0" smtClean="0"/>
                        <a:t> </a:t>
                      </a:r>
                      <a:r>
                        <a:rPr lang="ko-KR" altLang="en-US" sz="1600" baseline="0" dirty="0" smtClean="0"/>
                        <a:t>연산</a:t>
                      </a:r>
                      <a:endParaRPr lang="ko-KR" altLang="en-US" sz="160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9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!</a:t>
                      </a:r>
                      <a:r>
                        <a:rPr lang="en-US" altLang="ko-KR" sz="1600" baseline="0" dirty="0" smtClean="0"/>
                        <a:t> </a:t>
                      </a:r>
                      <a:r>
                        <a:rPr lang="ko-KR" altLang="en-US" sz="1600" baseline="0" dirty="0" smtClean="0"/>
                        <a:t>또는 </a:t>
                      </a:r>
                      <a:r>
                        <a:rPr lang="en-US" altLang="ko-KR" sz="1600" baseline="0" dirty="0" smtClean="0"/>
                        <a:t>not</a:t>
                      </a:r>
                      <a:endParaRPr lang="en-US" altLang="ko-KR" sz="160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aseline="0" dirty="0" smtClean="0"/>
                        <a:t> NOT </a:t>
                      </a:r>
                      <a:r>
                        <a:rPr lang="ko-KR" altLang="en-US" sz="1600" baseline="0" dirty="0" smtClean="0"/>
                        <a:t>연산</a:t>
                      </a:r>
                      <a:endParaRPr lang="ko-KR" altLang="en-US" sz="160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08584" y="1628800"/>
            <a:ext cx="2232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/>
              <a:t>논</a:t>
            </a:r>
            <a:r>
              <a:rPr lang="ko-KR" altLang="en-US" sz="1600" b="1" dirty="0"/>
              <a:t>리</a:t>
            </a:r>
            <a:r>
              <a:rPr lang="ko-KR" altLang="en-US" sz="1600" b="1" dirty="0" smtClean="0"/>
              <a:t> 연산자</a:t>
            </a:r>
            <a:endParaRPr lang="ko-KR" altLang="en-US" sz="1600" b="1" dirty="0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422468"/>
              </p:ext>
            </p:extLst>
          </p:nvPr>
        </p:nvGraphicFramePr>
        <p:xfrm>
          <a:off x="1280592" y="4464144"/>
          <a:ext cx="7056784" cy="12691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24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연산자</a:t>
                      </a:r>
                      <a:endParaRPr lang="ko-KR" altLang="en-US" sz="16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기 능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69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empty &lt;</a:t>
                      </a:r>
                      <a:r>
                        <a:rPr lang="ko-KR" altLang="en-US" sz="1600" dirty="0" smtClean="0"/>
                        <a:t>값</a:t>
                      </a:r>
                      <a:r>
                        <a:rPr lang="en-US" altLang="ko-KR" sz="1600" dirty="0" smtClean="0"/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&lt;</a:t>
                      </a:r>
                      <a:r>
                        <a:rPr lang="ko-KR" altLang="en-US" sz="1600" dirty="0" smtClean="0"/>
                        <a:t>값</a:t>
                      </a:r>
                      <a:r>
                        <a:rPr lang="en-US" altLang="ko-KR" sz="1600" dirty="0" smtClean="0"/>
                        <a:t>&gt;</a:t>
                      </a:r>
                      <a:r>
                        <a:rPr lang="ko-KR" altLang="en-US" sz="1600" dirty="0" smtClean="0"/>
                        <a:t>이 </a:t>
                      </a:r>
                      <a:r>
                        <a:rPr lang="en-US" altLang="ko-KR" sz="1600" dirty="0" smtClean="0"/>
                        <a:t>null </a:t>
                      </a:r>
                      <a:r>
                        <a:rPr lang="ko-KR" altLang="en-US" sz="1600" dirty="0" smtClean="0"/>
                        <a:t>이거나 빈 문자열이면 </a:t>
                      </a:r>
                      <a:r>
                        <a:rPr lang="en-US" altLang="ko-KR" sz="1600" dirty="0" smtClean="0"/>
                        <a:t>true </a:t>
                      </a:r>
                      <a:r>
                        <a:rPr lang="ko-KR" altLang="en-US" sz="1600" dirty="0" smtClean="0"/>
                        <a:t>를 반환</a:t>
                      </a:r>
                      <a:endParaRPr lang="en-US" altLang="ko-KR" sz="1600" dirty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${</a:t>
                      </a:r>
                      <a:r>
                        <a:rPr lang="en-US" altLang="ko-KR" sz="1600" b="1" dirty="0" smtClean="0">
                          <a:solidFill>
                            <a:srgbClr val="C00000"/>
                          </a:solidFill>
                        </a:rPr>
                        <a:t>empty</a:t>
                      </a:r>
                      <a:r>
                        <a:rPr lang="en-US" altLang="ko-KR" sz="1600" dirty="0" smtClean="0"/>
                        <a:t> </a:t>
                      </a:r>
                      <a:r>
                        <a:rPr lang="en-US" altLang="ko-KR" sz="1600" dirty="0" err="1" smtClean="0"/>
                        <a:t>param.n</a:t>
                      </a:r>
                      <a:r>
                        <a:rPr lang="en-US" altLang="ko-KR" sz="1600" dirty="0" smtClean="0"/>
                        <a:t>}</a:t>
                      </a:r>
                      <a:endParaRPr lang="ko-KR" altLang="en-US" sz="160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208584" y="4015596"/>
            <a:ext cx="2232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/>
              <a:t>empty </a:t>
            </a:r>
            <a:r>
              <a:rPr lang="ko-KR" altLang="en-US" sz="1600" b="1" dirty="0" smtClean="0"/>
              <a:t>연산자</a:t>
            </a:r>
            <a:endParaRPr lang="ko-KR" altLang="en-US" sz="16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920552" y="980728"/>
            <a:ext cx="30243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/>
              <a:t>표현 언어 사용 연산자</a:t>
            </a:r>
            <a:endParaRPr lang="en-US" altLang="ko-KR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1560917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dirty="0" smtClean="0"/>
              <a:t>EL </a:t>
            </a:r>
            <a:r>
              <a:rPr lang="ko-KR" altLang="en-US" dirty="0" smtClean="0"/>
              <a:t>언어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20552" y="967825"/>
            <a:ext cx="28083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/>
              <a:t>표현 언어 실습</a:t>
            </a:r>
            <a:endParaRPr lang="en-US" altLang="ko-KR" sz="2000" b="1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781" y="1700808"/>
            <a:ext cx="4404165" cy="44644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184" y="2005935"/>
            <a:ext cx="1897834" cy="38542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직사각형 7"/>
          <p:cNvSpPr/>
          <p:nvPr/>
        </p:nvSpPr>
        <p:spPr>
          <a:xfrm>
            <a:off x="4840487" y="2191961"/>
            <a:ext cx="1264641" cy="33855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/>
              <a:t>e</a:t>
            </a:r>
            <a:r>
              <a:rPr lang="en-US" altLang="ko-KR" sz="1600" dirty="0" smtClean="0"/>
              <a:t>l/el01.jsp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01462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MVC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와 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EL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언어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69847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smtClean="0"/>
              <a:t>EL</a:t>
            </a:r>
            <a:r>
              <a:rPr lang="ko-KR" altLang="en-US" sz="2000" b="1" dirty="0" smtClean="0"/>
              <a:t> 언어 사용 내장 객체</a:t>
            </a:r>
            <a:r>
              <a:rPr lang="en-US" altLang="ko-KR" sz="2000" b="1" dirty="0" smtClean="0"/>
              <a:t>(</a:t>
            </a:r>
            <a:r>
              <a:rPr lang="ko-KR" altLang="en-US" sz="2000" b="1" dirty="0" smtClean="0"/>
              <a:t>데이터 저장소</a:t>
            </a:r>
            <a:r>
              <a:rPr lang="en-US" altLang="ko-KR" sz="2000" b="1" dirty="0" smtClean="0"/>
              <a:t>)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/>
          </p:nvPr>
        </p:nvGraphicFramePr>
        <p:xfrm>
          <a:off x="1352600" y="1700806"/>
          <a:ext cx="7488832" cy="21602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90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8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1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내장 객체</a:t>
                      </a:r>
                      <a:endParaRPr lang="ko-KR" altLang="en-US" sz="16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기 능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04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1" dirty="0" smtClean="0">
                          <a:solidFill>
                            <a:schemeClr val="tx1"/>
                          </a:solidFill>
                        </a:rPr>
                        <a:t> request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en-US" altLang="ko-KR" sz="1800" dirty="0" smtClean="0"/>
                        <a:t>request</a:t>
                      </a:r>
                      <a:r>
                        <a:rPr lang="en-US" altLang="ko-KR" sz="1800" baseline="0" dirty="0" smtClean="0"/>
                        <a:t> </a:t>
                      </a:r>
                      <a:r>
                        <a:rPr lang="ko-KR" altLang="en-US" sz="1600" baseline="0" dirty="0" smtClean="0"/>
                        <a:t>영역의 생명 주기에서 사용되는 저장소</a:t>
                      </a:r>
                      <a:endParaRPr lang="ko-KR" altLang="en-US" sz="160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04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1" dirty="0" smtClean="0">
                          <a:solidFill>
                            <a:schemeClr val="tx1"/>
                          </a:solidFill>
                        </a:rPr>
                        <a:t> session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en-US" altLang="ko-KR" sz="1800" dirty="0" smtClean="0"/>
                        <a:t>session</a:t>
                      </a: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영역의 생명 주기에서 사용되는 저장소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04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1" dirty="0" smtClean="0">
                          <a:solidFill>
                            <a:schemeClr val="tx1"/>
                          </a:solidFill>
                        </a:rPr>
                        <a:t> application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en-US" altLang="ko-KR" sz="1800" dirty="0" smtClean="0"/>
                        <a:t>application </a:t>
                      </a:r>
                      <a:r>
                        <a:rPr lang="ko-KR" altLang="en-US" sz="1600" dirty="0" smtClean="0"/>
                        <a:t>영역의 생명 주기에서 사용되는 저장소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340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dirty="0" smtClean="0"/>
              <a:t>EL </a:t>
            </a:r>
            <a:r>
              <a:rPr lang="ko-KR" altLang="en-US" dirty="0" smtClean="0"/>
              <a:t>언어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20552" y="967825"/>
            <a:ext cx="28083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/>
              <a:t>표현 언어 실습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700808"/>
            <a:ext cx="4120422" cy="346569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6163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dirty="0" smtClean="0"/>
              <a:t>EL </a:t>
            </a:r>
            <a:r>
              <a:rPr lang="ko-KR" altLang="en-US" dirty="0" smtClean="0"/>
              <a:t>언어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20552" y="967825"/>
            <a:ext cx="28083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/>
              <a:t>표현 언어 실습</a:t>
            </a:r>
            <a:endParaRPr lang="en-US" altLang="ko-KR" sz="2000" b="1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15896"/>
            <a:ext cx="6189074" cy="440539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직사각형 5"/>
          <p:cNvSpPr/>
          <p:nvPr/>
        </p:nvSpPr>
        <p:spPr>
          <a:xfrm>
            <a:off x="7257256" y="2276872"/>
            <a:ext cx="1264641" cy="33855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 smtClean="0"/>
              <a:t>el/el02.jsp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011901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dirty="0" smtClean="0"/>
              <a:t>EL </a:t>
            </a:r>
            <a:r>
              <a:rPr lang="ko-KR" altLang="en-US" dirty="0" smtClean="0"/>
              <a:t>언어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20552" y="967825"/>
            <a:ext cx="28083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/>
              <a:t>표현 언어 실습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7" y="1593315"/>
            <a:ext cx="5472608" cy="431353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06557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53752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JSTL(JSP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표준태그 라이브러리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980728"/>
            <a:ext cx="46805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smtClean="0"/>
              <a:t>JSTL(</a:t>
            </a:r>
            <a:r>
              <a:rPr lang="en-US" altLang="ko-KR" sz="2000" b="1" dirty="0" err="1" smtClean="0"/>
              <a:t>Jsp</a:t>
            </a:r>
            <a:r>
              <a:rPr lang="en-US" altLang="ko-KR" sz="2000" b="1" dirty="0" smtClean="0"/>
              <a:t> Standard Tag Library)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064568" y="1556792"/>
            <a:ext cx="806489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JSTL</a:t>
            </a:r>
            <a:r>
              <a:rPr lang="ko-KR" altLang="en-US" dirty="0"/>
              <a:t>은 </a:t>
            </a:r>
            <a:r>
              <a:rPr lang="en-US" altLang="ko-KR" dirty="0"/>
              <a:t>'JSP Standard Tag Library'</a:t>
            </a:r>
            <a:r>
              <a:rPr lang="ko-KR" altLang="en-US" dirty="0"/>
              <a:t>의 약자로</a:t>
            </a:r>
            <a:r>
              <a:rPr lang="en-US" altLang="ko-KR" dirty="0"/>
              <a:t>, JSP</a:t>
            </a:r>
            <a:r>
              <a:rPr lang="ko-KR" altLang="en-US" dirty="0"/>
              <a:t>에서 자바 코드 대신 사용할 수 있는 표준 태그 라이브러리입니다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JSTL</a:t>
            </a:r>
            <a:r>
              <a:rPr lang="ko-KR" altLang="en-US" dirty="0"/>
              <a:t>을 사용하면 </a:t>
            </a:r>
            <a:r>
              <a:rPr lang="ko-KR" altLang="en-US" dirty="0" err="1"/>
              <a:t>스크립틀릿</a:t>
            </a:r>
            <a:r>
              <a:rPr lang="en-US" altLang="ko-KR" dirty="0" smtClean="0"/>
              <a:t>(&lt;% %&gt;)</a:t>
            </a:r>
            <a:r>
              <a:rPr lang="ko-KR" altLang="en-US" dirty="0"/>
              <a:t>과 같은 자바 코드를 </a:t>
            </a:r>
            <a:r>
              <a:rPr lang="en-US" altLang="ko-KR" dirty="0"/>
              <a:t>JSP </a:t>
            </a:r>
            <a:r>
              <a:rPr lang="ko-KR" altLang="en-US" dirty="0"/>
              <a:t>페이지에서 제거하여 </a:t>
            </a:r>
            <a:r>
              <a:rPr lang="ko-KR" altLang="en-US" dirty="0" err="1"/>
              <a:t>가독성을</a:t>
            </a:r>
            <a:r>
              <a:rPr lang="ko-KR" altLang="en-US" dirty="0"/>
              <a:t> 높이고</a:t>
            </a:r>
            <a:r>
              <a:rPr lang="en-US" altLang="ko-KR" dirty="0"/>
              <a:t>, </a:t>
            </a:r>
            <a:r>
              <a:rPr lang="ko-KR" altLang="en-US" dirty="0" err="1"/>
              <a:t>반복문</a:t>
            </a:r>
            <a:r>
              <a:rPr lang="en-US" altLang="ko-KR" dirty="0"/>
              <a:t>, </a:t>
            </a:r>
            <a:r>
              <a:rPr lang="ko-KR" altLang="en-US" dirty="0" err="1"/>
              <a:t>조건문</a:t>
            </a:r>
            <a:r>
              <a:rPr lang="en-US" altLang="ko-KR" dirty="0"/>
              <a:t>, </a:t>
            </a:r>
            <a:r>
              <a:rPr lang="ko-KR" altLang="en-US" dirty="0"/>
              <a:t>데이터베이스 연동 등 일반적인 작업을 태그 형태로 간편하게 처리할 수 있습니다</a:t>
            </a:r>
            <a:r>
              <a:rPr lang="en-US" altLang="ko-KR" dirty="0"/>
              <a:t>. 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핵심</a:t>
            </a:r>
            <a:r>
              <a:rPr lang="en-US" altLang="ko-KR" dirty="0"/>
              <a:t>(Core),  XML,  I18N(</a:t>
            </a:r>
            <a:r>
              <a:rPr lang="ko-KR" altLang="en-US" dirty="0"/>
              <a:t>국제화</a:t>
            </a:r>
            <a:r>
              <a:rPr lang="en-US" altLang="ko-KR" dirty="0"/>
              <a:t>),  </a:t>
            </a:r>
            <a:r>
              <a:rPr lang="ko-KR" altLang="en-US" dirty="0"/>
              <a:t>데이터베이스</a:t>
            </a:r>
            <a:r>
              <a:rPr lang="en-US" altLang="ko-KR" dirty="0"/>
              <a:t>(SQL),  </a:t>
            </a:r>
            <a:r>
              <a:rPr lang="ko-KR" altLang="en-US" dirty="0"/>
              <a:t>함수</a:t>
            </a:r>
            <a:r>
              <a:rPr lang="en-US" altLang="ko-KR" dirty="0"/>
              <a:t>(Function) </a:t>
            </a:r>
            <a:r>
              <a:rPr lang="ko-KR" altLang="en-US" dirty="0"/>
              <a:t>라이브러리로 구성됨</a:t>
            </a:r>
            <a:r>
              <a:rPr lang="en-US" altLang="ko-KR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일반적으로 </a:t>
            </a:r>
            <a:r>
              <a:rPr lang="en-US" altLang="ko-KR" dirty="0"/>
              <a:t>EL(Expression Language)</a:t>
            </a:r>
            <a:r>
              <a:rPr lang="ko-KR" altLang="en-US" dirty="0"/>
              <a:t>과 함께 </a:t>
            </a:r>
            <a:r>
              <a:rPr lang="ko-KR" altLang="en-US" dirty="0" smtClean="0"/>
              <a:t>사용함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22630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53752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JSTL(JSP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표준태그 라이브러리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)</a:t>
            </a:r>
            <a:endParaRPr lang="ko-KR" altLang="en-US" dirty="0"/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348506"/>
              </p:ext>
            </p:extLst>
          </p:nvPr>
        </p:nvGraphicFramePr>
        <p:xfrm>
          <a:off x="1064568" y="1684674"/>
          <a:ext cx="7776863" cy="24437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4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4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56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라이브러리</a:t>
                      </a:r>
                      <a:endParaRPr lang="ko-KR" altLang="en-US" sz="16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URI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prefix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029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Core(</a:t>
                      </a:r>
                      <a:r>
                        <a:rPr lang="ko-KR" altLang="en-US" sz="1600" dirty="0" smtClean="0"/>
                        <a:t>핵심</a:t>
                      </a:r>
                      <a:r>
                        <a:rPr lang="en-US" altLang="ko-KR" sz="1600" dirty="0" smtClean="0"/>
                        <a:t>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http://java.sun.com/jsp/jstl/core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/>
                        <a:t> c</a:t>
                      </a:r>
                      <a:endParaRPr lang="ko-KR" altLang="en-US" sz="180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02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I18N(</a:t>
                      </a:r>
                      <a:r>
                        <a:rPr lang="ko-KR" altLang="en-US" sz="1600" dirty="0" smtClean="0"/>
                        <a:t>데이터포맷</a:t>
                      </a:r>
                      <a:r>
                        <a:rPr lang="en-US" altLang="ko-KR" sz="1600" dirty="0" smtClean="0"/>
                        <a:t>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http://java.sun.com/jsp/jstl/fmt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aseline="0" dirty="0" smtClean="0"/>
                        <a:t> </a:t>
                      </a:r>
                      <a:r>
                        <a:rPr lang="en-US" altLang="ko-KR" sz="1800" baseline="0" dirty="0" err="1" smtClean="0"/>
                        <a:t>fmt</a:t>
                      </a:r>
                      <a:endParaRPr lang="ko-KR" altLang="en-US" sz="180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02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데이터베이스</a:t>
                      </a:r>
                      <a:endParaRPr lang="en-US" altLang="ko-KR" sz="160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http://java.sun.com/jsp/jstl/sql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/>
                        <a:t> </a:t>
                      </a:r>
                      <a:r>
                        <a:rPr lang="en-US" altLang="ko-KR" sz="1800" dirty="0" err="1" smtClean="0"/>
                        <a:t>sql</a:t>
                      </a:r>
                      <a:endParaRPr lang="ko-KR" altLang="en-US" sz="180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02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함수</a:t>
                      </a:r>
                      <a:endParaRPr lang="en-US" altLang="ko-KR" sz="160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http://java.sun.com/jsp/jstl/functions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/>
                        <a:t> </a:t>
                      </a:r>
                      <a:r>
                        <a:rPr lang="en-US" altLang="ko-KR" sz="1800" dirty="0" err="1" smtClean="0"/>
                        <a:t>fn</a:t>
                      </a:r>
                      <a:endParaRPr lang="ko-KR" altLang="en-US" sz="180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48544" y="1082261"/>
            <a:ext cx="4680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/>
              <a:t>JSTL </a:t>
            </a:r>
            <a:r>
              <a:rPr lang="ko-KR" altLang="en-US" sz="2000" b="1" dirty="0" err="1" smtClean="0"/>
              <a:t>라이브러리별</a:t>
            </a:r>
            <a:r>
              <a:rPr lang="ko-KR" altLang="en-US" sz="2000" b="1" dirty="0" smtClean="0"/>
              <a:t> </a:t>
            </a:r>
            <a:r>
              <a:rPr lang="en-US" altLang="ko-KR" sz="2000" b="1" dirty="0" smtClean="0"/>
              <a:t>URI </a:t>
            </a:r>
            <a:r>
              <a:rPr lang="ko-KR" altLang="en-US" sz="2000" b="1" dirty="0" smtClean="0"/>
              <a:t>및 </a:t>
            </a:r>
            <a:r>
              <a:rPr lang="en-US" altLang="ko-KR" sz="2000" b="1" dirty="0" smtClean="0"/>
              <a:t>prefix</a:t>
            </a:r>
            <a:r>
              <a:rPr lang="ko-KR" altLang="en-US" sz="2000" b="1" dirty="0" smtClean="0"/>
              <a:t> 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34906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53752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JSTL(JSP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표준태그 라이브러리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980728"/>
            <a:ext cx="41764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smtClean="0"/>
              <a:t>JSTL</a:t>
            </a:r>
            <a:r>
              <a:rPr lang="ko-KR" altLang="en-US" sz="2000" b="1" dirty="0"/>
              <a:t>이 제공하는 태그의 종류 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816848"/>
              </p:ext>
            </p:extLst>
          </p:nvPr>
        </p:nvGraphicFramePr>
        <p:xfrm>
          <a:off x="1136576" y="1700808"/>
          <a:ext cx="7632848" cy="327689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4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8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2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태그</a:t>
                      </a:r>
                      <a:endParaRPr lang="ko-KR" altLang="en-US" sz="16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기능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350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 smtClean="0"/>
                        <a:t> Core </a:t>
                      </a:r>
                      <a:r>
                        <a:rPr lang="ko-KR" altLang="en-US" sz="1800" dirty="0" smtClean="0"/>
                        <a:t>태그</a:t>
                      </a:r>
                      <a:endParaRPr lang="en-US" altLang="ko-KR" sz="180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- </a:t>
                      </a:r>
                      <a:r>
                        <a:rPr lang="ko-KR" altLang="en-US" sz="1600" dirty="0" smtClean="0"/>
                        <a:t>변수 선언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삭제 등 변수와 관련된 작업</a:t>
                      </a:r>
                      <a:endParaRPr lang="en-US" altLang="ko-KR" sz="1600" dirty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- if</a:t>
                      </a:r>
                      <a:r>
                        <a:rPr lang="ko-KR" altLang="en-US" sz="1600" dirty="0" smtClean="0"/>
                        <a:t>문 </a:t>
                      </a:r>
                      <a:r>
                        <a:rPr lang="en-US" altLang="ko-KR" sz="1600" dirty="0" smtClean="0"/>
                        <a:t>for</a:t>
                      </a:r>
                      <a:r>
                        <a:rPr lang="ko-KR" altLang="en-US" sz="1600" dirty="0" smtClean="0"/>
                        <a:t>문과 같은 제어기능</a:t>
                      </a:r>
                      <a:endParaRPr lang="en-US" altLang="ko-KR" sz="1600" dirty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aseline="0" dirty="0" smtClean="0"/>
                        <a:t> - URL </a:t>
                      </a:r>
                      <a:r>
                        <a:rPr lang="ko-KR" altLang="en-US" sz="1600" baseline="0" dirty="0" smtClean="0"/>
                        <a:t>처리로 페이지 이동 기능</a:t>
                      </a:r>
                      <a:endParaRPr lang="ko-KR" altLang="en-US" sz="160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350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/>
                        <a:t> Formatting </a:t>
                      </a:r>
                      <a:r>
                        <a:rPr lang="ko-KR" altLang="en-US" sz="1800" dirty="0" smtClean="0"/>
                        <a:t>태그</a:t>
                      </a:r>
                      <a:endParaRPr lang="en-US" altLang="ko-KR" sz="180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- </a:t>
                      </a:r>
                      <a:r>
                        <a:rPr lang="ko-KR" altLang="en-US" sz="1600" dirty="0" smtClean="0"/>
                        <a:t>문자열이나 컬렉션을 처리하는 함수 태그</a:t>
                      </a:r>
                      <a:endParaRPr lang="en-US" altLang="ko-KR" sz="1600" dirty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- </a:t>
                      </a:r>
                      <a:r>
                        <a:rPr lang="ko-KR" altLang="en-US" sz="1600" dirty="0" smtClean="0"/>
                        <a:t>숫자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날짜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시간 등을 형식화하는 기능</a:t>
                      </a:r>
                      <a:endParaRPr lang="en-US" altLang="ko-KR" sz="1600" dirty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- </a:t>
                      </a:r>
                      <a:r>
                        <a:rPr lang="ko-KR" altLang="en-US" sz="1600" dirty="0" smtClean="0"/>
                        <a:t>다국어 지원 기능을 제공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0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/>
                        <a:t> Functions</a:t>
                      </a:r>
                      <a:r>
                        <a:rPr lang="en-US" altLang="ko-KR" sz="1800" baseline="0" dirty="0" smtClean="0"/>
                        <a:t> </a:t>
                      </a:r>
                      <a:r>
                        <a:rPr lang="ko-KR" altLang="en-US" sz="1800" baseline="0" dirty="0" smtClean="0"/>
                        <a:t>태그</a:t>
                      </a:r>
                      <a:endParaRPr lang="en-US" altLang="ko-KR" sz="180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- </a:t>
                      </a:r>
                      <a:r>
                        <a:rPr lang="ko-KR" altLang="en-US" sz="1600" dirty="0" smtClean="0"/>
                        <a:t>문자열을 처리하는 함수 제공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8246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53752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JSTL(JSP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표준태그 라이브러리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980728"/>
            <a:ext cx="6912768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smtClean="0"/>
              <a:t>JSTL(Jakarta </a:t>
            </a:r>
            <a:r>
              <a:rPr lang="en-US" altLang="ko-KR" sz="2000" b="1" dirty="0" err="1" smtClean="0"/>
              <a:t>Standart</a:t>
            </a:r>
            <a:r>
              <a:rPr lang="en-US" altLang="ko-KR" sz="2000" b="1" dirty="0" smtClean="0"/>
              <a:t> Tag Library) </a:t>
            </a:r>
            <a:r>
              <a:rPr lang="ko-KR" altLang="en-US" sz="2000" b="1" dirty="0" smtClean="0"/>
              <a:t>설치</a:t>
            </a:r>
            <a:endParaRPr lang="en-US" altLang="ko-KR" sz="2000" b="1" dirty="0" smtClean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 smtClean="0"/>
              <a:t>Maven Repository</a:t>
            </a:r>
            <a:r>
              <a:rPr lang="ko-KR" altLang="en-US" dirty="0" smtClean="0"/>
              <a:t> 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https://mvnrepository.com</a:t>
            </a:r>
            <a:r>
              <a:rPr lang="en-US" altLang="ko-KR" dirty="0" smtClean="0">
                <a:hlinkClick r:id="rId2"/>
              </a:rPr>
              <a:t>/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638" y="2132856"/>
            <a:ext cx="5630061" cy="166710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1259" y="3982596"/>
            <a:ext cx="6949173" cy="214628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35530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dirty="0" smtClean="0"/>
              <a:t>Maven(</a:t>
            </a:r>
            <a:r>
              <a:rPr lang="ko-KR" altLang="en-US" dirty="0" err="1" smtClean="0"/>
              <a:t>메이븐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980728"/>
            <a:ext cx="31683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smtClean="0"/>
              <a:t>Maven </a:t>
            </a:r>
            <a:r>
              <a:rPr lang="ko-KR" altLang="en-US" sz="2000" b="1" dirty="0" smtClean="0"/>
              <a:t>이란</a:t>
            </a:r>
            <a:r>
              <a:rPr lang="en-US" altLang="ko-KR" sz="2000" b="1" dirty="0" smtClean="0"/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4568" y="1568167"/>
            <a:ext cx="8208912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복잡한 프로젝트의 소스를 체계적으로 컴파일하고 관련 라이브러리의 버전이나 종속성 관리를 쉽게 도와주는 </a:t>
            </a:r>
            <a:r>
              <a:rPr lang="en-US" altLang="ko-KR" dirty="0" smtClean="0"/>
              <a:t>tool(</a:t>
            </a:r>
            <a:r>
              <a:rPr lang="ko-KR" altLang="en-US" dirty="0" smtClean="0"/>
              <a:t>도구</a:t>
            </a:r>
            <a:r>
              <a:rPr lang="en-US" altLang="ko-KR" dirty="0" smtClean="0"/>
              <a:t>)</a:t>
            </a:r>
            <a:r>
              <a:rPr lang="ko-KR" altLang="en-US" dirty="0" smtClean="0"/>
              <a:t>이다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smtClean="0"/>
              <a:t>2004</a:t>
            </a:r>
            <a:r>
              <a:rPr lang="ko-KR" altLang="en-US" dirty="0" smtClean="0"/>
              <a:t>년 아파치 프로젝트로 </a:t>
            </a:r>
            <a:r>
              <a:rPr lang="en-US" altLang="ko-KR" dirty="0" smtClean="0"/>
              <a:t>Maven(</a:t>
            </a:r>
            <a:r>
              <a:rPr lang="ko-KR" altLang="en-US" dirty="0" err="1" smtClean="0"/>
              <a:t>메이븐</a:t>
            </a:r>
            <a:r>
              <a:rPr lang="en-US" altLang="ko-KR" dirty="0" smtClean="0"/>
              <a:t>)</a:t>
            </a:r>
            <a:r>
              <a:rPr lang="ko-KR" altLang="en-US" dirty="0" smtClean="0"/>
              <a:t>이 출시되어 다수가 사용하는 자바 빌드 도구가 되었으며 특히 스프링 프레임워크 개발에서 기본 빌드 도구로 활용되고 있다</a:t>
            </a:r>
            <a:r>
              <a:rPr lang="en-US" altLang="ko-KR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smtClean="0"/>
              <a:t>2012</a:t>
            </a:r>
            <a:r>
              <a:rPr lang="ko-KR" altLang="en-US" dirty="0" smtClean="0"/>
              <a:t>년 </a:t>
            </a:r>
            <a:r>
              <a:rPr lang="en-US" altLang="ko-KR" dirty="0" err="1" smtClean="0"/>
              <a:t>Gradle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그래이들</a:t>
            </a:r>
            <a:r>
              <a:rPr lang="en-US" altLang="ko-KR" dirty="0" smtClean="0"/>
              <a:t>)</a:t>
            </a:r>
            <a:r>
              <a:rPr lang="ko-KR" altLang="en-US" dirty="0" smtClean="0"/>
              <a:t>이 출시되어 안드로이드 앱 개발의 기본 빌드 도구가 되었고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스프링 프레임워크에서도 사용되고 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9513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dirty="0" smtClean="0"/>
              <a:t>Maven </a:t>
            </a:r>
            <a:r>
              <a:rPr lang="ko-KR" altLang="en-US" dirty="0" smtClean="0"/>
              <a:t>기반 프로젝트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02794"/>
            <a:ext cx="76328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/>
              <a:t>프로젝트 </a:t>
            </a:r>
            <a:r>
              <a:rPr lang="en-US" altLang="ko-KR" sz="2000" b="1" dirty="0" smtClean="0"/>
              <a:t>&gt; </a:t>
            </a:r>
            <a:r>
              <a:rPr lang="ko-KR" altLang="en-US" sz="2000" b="1" dirty="0" err="1" smtClean="0"/>
              <a:t>우클릭</a:t>
            </a:r>
            <a:r>
              <a:rPr lang="ko-KR" altLang="en-US" sz="2000" b="1" dirty="0" smtClean="0"/>
              <a:t> </a:t>
            </a:r>
            <a:r>
              <a:rPr lang="en-US" altLang="ko-KR" sz="2000" b="1" dirty="0" smtClean="0"/>
              <a:t>&gt; configure &gt; Convert to Maven Project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604"/>
          <a:stretch/>
        </p:blipFill>
        <p:spPr>
          <a:xfrm>
            <a:off x="1280592" y="1748675"/>
            <a:ext cx="6241321" cy="167474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28" r="36149"/>
          <a:stretch/>
        </p:blipFill>
        <p:spPr>
          <a:xfrm>
            <a:off x="3656856" y="4005064"/>
            <a:ext cx="4680520" cy="169336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630174" y="4483668"/>
            <a:ext cx="239181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pom.xml</a:t>
            </a:r>
            <a:r>
              <a:rPr lang="ko-KR" altLang="en-US" b="1" dirty="0" smtClean="0"/>
              <a:t> 생성됨</a:t>
            </a:r>
            <a:endParaRPr lang="en-US" altLang="ko-KR" b="1" dirty="0" smtClean="0"/>
          </a:p>
        </p:txBody>
      </p:sp>
      <p:cxnSp>
        <p:nvCxnSpPr>
          <p:cNvPr id="9" name="직선 화살표 연결선 8"/>
          <p:cNvCxnSpPr/>
          <p:nvPr/>
        </p:nvCxnSpPr>
        <p:spPr>
          <a:xfrm>
            <a:off x="3152800" y="5013176"/>
            <a:ext cx="811315" cy="504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800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Maven </a:t>
            </a:r>
            <a:r>
              <a:rPr lang="ko-KR" altLang="en-US" dirty="0"/>
              <a:t>기반 프로젝트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858" y="1052736"/>
            <a:ext cx="66234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1. pox.xml </a:t>
            </a:r>
            <a:r>
              <a:rPr lang="ko-KR" altLang="en-US" b="1" dirty="0" smtClean="0"/>
              <a:t>에 </a:t>
            </a:r>
            <a:r>
              <a:rPr lang="en-US" altLang="ko-KR" b="1" dirty="0" smtClean="0"/>
              <a:t>&lt;dependencies&gt; </a:t>
            </a:r>
            <a:r>
              <a:rPr lang="ko-KR" altLang="en-US" b="1" dirty="0" smtClean="0"/>
              <a:t>의존성 관리 </a:t>
            </a:r>
            <a:r>
              <a:rPr lang="en-US" altLang="ko-KR" b="1" dirty="0" smtClean="0"/>
              <a:t>(2</a:t>
            </a:r>
            <a:r>
              <a:rPr lang="ko-KR" altLang="en-US" b="1" dirty="0" smtClean="0"/>
              <a:t>개 추가</a:t>
            </a:r>
            <a:r>
              <a:rPr lang="en-US" altLang="ko-KR" b="1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2</a:t>
            </a:r>
            <a:r>
              <a:rPr lang="en-US" altLang="ko-KR" b="1" dirty="0" smtClean="0"/>
              <a:t>. </a:t>
            </a:r>
            <a:r>
              <a:rPr lang="ko-KR" altLang="en-US" b="1" dirty="0" smtClean="0"/>
              <a:t>프로젝트 </a:t>
            </a:r>
            <a:r>
              <a:rPr lang="en-US" altLang="ko-KR" b="1" dirty="0" smtClean="0"/>
              <a:t>&gt; </a:t>
            </a:r>
            <a:r>
              <a:rPr lang="ko-KR" altLang="en-US" b="1" dirty="0" err="1" smtClean="0"/>
              <a:t>우클릭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&gt; Maven &gt;</a:t>
            </a:r>
            <a:r>
              <a:rPr lang="ko-KR" altLang="en-US" b="1" dirty="0"/>
              <a:t> </a:t>
            </a:r>
            <a:r>
              <a:rPr lang="en-US" altLang="ko-KR" b="1" dirty="0" smtClean="0"/>
              <a:t>update project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2162516"/>
            <a:ext cx="7532532" cy="276306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73504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53752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JSTL(JSP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표준태그 라이브러리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30786"/>
            <a:ext cx="489654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Core </a:t>
            </a:r>
            <a:r>
              <a:rPr lang="ko-KR" altLang="en-US" sz="2000" b="1" dirty="0"/>
              <a:t>태그의 종류 </a:t>
            </a:r>
            <a:endParaRPr lang="en-US" altLang="ko-KR" sz="2000" b="1" dirty="0" smtClean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270736"/>
              </p:ext>
            </p:extLst>
          </p:nvPr>
        </p:nvGraphicFramePr>
        <p:xfrm>
          <a:off x="1352600" y="1700808"/>
          <a:ext cx="7812868" cy="36003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12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3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태그</a:t>
                      </a:r>
                      <a:endParaRPr lang="ko-KR" altLang="en-US" sz="16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설명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93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 smtClean="0"/>
                        <a:t> &lt;</a:t>
                      </a:r>
                      <a:r>
                        <a:rPr lang="en-US" altLang="ko-KR" sz="1800" b="1" dirty="0" err="1" smtClean="0"/>
                        <a:t>c:set</a:t>
                      </a:r>
                      <a:r>
                        <a:rPr lang="en-US" altLang="ko-KR" sz="1800" b="1" dirty="0" smtClean="0"/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사용할 변수를 설정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93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 smtClean="0"/>
                        <a:t> &lt;</a:t>
                      </a:r>
                      <a:r>
                        <a:rPr lang="en-US" altLang="ko-KR" sz="1800" b="1" dirty="0" err="1" smtClean="0"/>
                        <a:t>c:if</a:t>
                      </a:r>
                      <a:r>
                        <a:rPr lang="en-US" altLang="ko-KR" sz="1800" b="1" dirty="0" smtClean="0"/>
                        <a:t>&gt;~&lt;/</a:t>
                      </a:r>
                      <a:r>
                        <a:rPr lang="en-US" altLang="ko-KR" sz="1800" b="1" dirty="0" err="1" smtClean="0"/>
                        <a:t>c:if</a:t>
                      </a:r>
                      <a:r>
                        <a:rPr lang="en-US" altLang="ko-KR" sz="1800" b="1" dirty="0" smtClean="0"/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err="1" smtClean="0"/>
                        <a:t>조건문</a:t>
                      </a:r>
                      <a:r>
                        <a:rPr lang="ko-KR" altLang="en-US" sz="1600" dirty="0" smtClean="0"/>
                        <a:t> 처리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93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 smtClean="0"/>
                        <a:t> &lt;</a:t>
                      </a:r>
                      <a:r>
                        <a:rPr lang="en-US" altLang="ko-KR" sz="1800" b="1" dirty="0" err="1" smtClean="0"/>
                        <a:t>c:forEach</a:t>
                      </a:r>
                      <a:r>
                        <a:rPr lang="en-US" altLang="ko-KR" sz="1800" b="1" dirty="0" smtClean="0"/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err="1" smtClean="0"/>
                        <a:t>반복문</a:t>
                      </a:r>
                      <a:r>
                        <a:rPr lang="ko-KR" altLang="en-US" sz="1600" dirty="0" smtClean="0"/>
                        <a:t> 처리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5279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 smtClean="0"/>
                        <a:t> &lt;</a:t>
                      </a:r>
                      <a:r>
                        <a:rPr lang="en-US" altLang="ko-KR" sz="1800" b="1" dirty="0" err="1" smtClean="0"/>
                        <a:t>c:choose</a:t>
                      </a:r>
                      <a:r>
                        <a:rPr lang="en-US" altLang="ko-KR" sz="1800" b="1" dirty="0" smtClean="0"/>
                        <a:t>&gt;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 smtClean="0"/>
                        <a:t>   &lt;</a:t>
                      </a:r>
                      <a:r>
                        <a:rPr lang="en-US" altLang="ko-KR" sz="1800" b="1" dirty="0" err="1" smtClean="0"/>
                        <a:t>c:when</a:t>
                      </a:r>
                      <a:r>
                        <a:rPr lang="en-US" altLang="ko-KR" sz="1800" b="1" dirty="0" smtClean="0"/>
                        <a:t>&gt;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 smtClean="0"/>
                        <a:t>   &lt;</a:t>
                      </a:r>
                      <a:r>
                        <a:rPr lang="en-US" altLang="ko-KR" sz="1800" b="1" dirty="0" err="1" smtClean="0"/>
                        <a:t>c:otherwise</a:t>
                      </a:r>
                      <a:r>
                        <a:rPr lang="en-US" altLang="ko-KR" sz="1800" b="1" dirty="0" smtClean="0"/>
                        <a:t>&gt;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 smtClean="0"/>
                        <a:t> &lt;/</a:t>
                      </a:r>
                      <a:r>
                        <a:rPr lang="en-US" altLang="ko-KR" sz="1800" b="1" dirty="0" err="1" smtClean="0"/>
                        <a:t>c:choose</a:t>
                      </a:r>
                      <a:r>
                        <a:rPr lang="en-US" altLang="ko-KR" sz="1800" b="1" dirty="0" smtClean="0"/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다중 </a:t>
                      </a:r>
                      <a:r>
                        <a:rPr lang="ko-KR" altLang="en-US" sz="1600" dirty="0" err="1" smtClean="0"/>
                        <a:t>조건문</a:t>
                      </a:r>
                      <a:r>
                        <a:rPr lang="ko-KR" altLang="en-US" sz="1600" dirty="0" smtClean="0"/>
                        <a:t> 처리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&lt;</a:t>
                      </a:r>
                      <a:r>
                        <a:rPr lang="en-US" altLang="ko-KR" sz="1600" dirty="0" err="1" smtClean="0"/>
                        <a:t>c:choose</a:t>
                      </a:r>
                      <a:r>
                        <a:rPr lang="en-US" altLang="ko-KR" sz="1600" dirty="0" smtClean="0"/>
                        <a:t>&gt;</a:t>
                      </a:r>
                      <a:r>
                        <a:rPr lang="ko-KR" altLang="en-US" sz="1600" dirty="0" smtClean="0"/>
                        <a:t>의 서브 태그로 </a:t>
                      </a:r>
                      <a:r>
                        <a:rPr lang="ko-KR" altLang="en-US" sz="1600" dirty="0" err="1" smtClean="0"/>
                        <a:t>조건문이</a:t>
                      </a:r>
                      <a:r>
                        <a:rPr lang="ko-KR" altLang="en-US" sz="1600" dirty="0" smtClean="0"/>
                        <a:t> 참일</a:t>
                      </a:r>
                      <a:r>
                        <a:rPr lang="ko-KR" altLang="en-US" sz="1600" baseline="0" dirty="0" smtClean="0"/>
                        <a:t> 때 수행</a:t>
                      </a:r>
                      <a:endParaRPr lang="ko-KR" altLang="en-US" sz="1600" dirty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&lt;</a:t>
                      </a:r>
                      <a:r>
                        <a:rPr lang="en-US" altLang="ko-KR" sz="1600" dirty="0" err="1" smtClean="0"/>
                        <a:t>c:choose</a:t>
                      </a:r>
                      <a:r>
                        <a:rPr lang="en-US" altLang="ko-KR" sz="1600" dirty="0" smtClean="0"/>
                        <a:t>&gt;</a:t>
                      </a:r>
                      <a:r>
                        <a:rPr lang="ko-KR" altLang="en-US" sz="1600" dirty="0" smtClean="0"/>
                        <a:t>의 서브 태그로 </a:t>
                      </a:r>
                      <a:r>
                        <a:rPr lang="ko-KR" altLang="en-US" sz="1600" dirty="0" err="1" smtClean="0"/>
                        <a:t>조건문이</a:t>
                      </a:r>
                      <a:r>
                        <a:rPr lang="ko-KR" altLang="en-US" sz="1600" dirty="0" smtClean="0"/>
                        <a:t> 거짓일</a:t>
                      </a:r>
                      <a:r>
                        <a:rPr lang="ko-KR" altLang="en-US" sz="1600" baseline="0" dirty="0" smtClean="0"/>
                        <a:t> 때 수행</a:t>
                      </a:r>
                      <a:endParaRPr lang="en-US" altLang="ko-KR" sz="1600" baseline="0" dirty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93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1" dirty="0" smtClean="0"/>
                        <a:t> &lt;</a:t>
                      </a:r>
                      <a:r>
                        <a:rPr lang="en-US" altLang="ko-KR" sz="1800" b="1" dirty="0" err="1" smtClean="0"/>
                        <a:t>c:out</a:t>
                      </a:r>
                      <a:r>
                        <a:rPr lang="en-US" altLang="ko-KR" sz="1800" b="1" dirty="0" smtClean="0"/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출력에 사용</a:t>
                      </a:r>
                    </a:p>
                  </a:txBody>
                  <a:tcPr anchor="ctr">
                    <a:lnR w="12700" cmpd="sng">
                      <a:noFill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460612" y="2722589"/>
            <a:ext cx="23402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/>
              <a:t>  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442790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53752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JSTL(JSP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표준태그 라이브러리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08720"/>
            <a:ext cx="489654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JSTL </a:t>
            </a:r>
            <a:r>
              <a:rPr lang="ko-KR" altLang="en-US" sz="2000" b="1" dirty="0" smtClean="0"/>
              <a:t>태그 사용하기</a:t>
            </a:r>
            <a:endParaRPr lang="en-US" altLang="ko-KR" sz="2000" b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1352600" y="1556792"/>
            <a:ext cx="7056784" cy="408623"/>
          </a:xfrm>
          <a:prstGeom prst="roundRect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tx1"/>
                </a:solidFill>
              </a:rPr>
              <a:t>&lt;%@  </a:t>
            </a:r>
            <a:r>
              <a:rPr lang="en-US" altLang="ko-KR" b="1" dirty="0" err="1" smtClean="0">
                <a:solidFill>
                  <a:schemeClr val="tx1"/>
                </a:solidFill>
              </a:rPr>
              <a:t>taglib</a:t>
            </a:r>
            <a:r>
              <a:rPr lang="en-US" altLang="ko-KR" b="1" dirty="0" smtClean="0">
                <a:solidFill>
                  <a:schemeClr val="tx1"/>
                </a:solidFill>
              </a:rPr>
              <a:t>  prefix=“</a:t>
            </a:r>
            <a:r>
              <a:rPr lang="ko-KR" altLang="en-US" b="1" dirty="0" smtClean="0">
                <a:solidFill>
                  <a:schemeClr val="tx1"/>
                </a:solidFill>
              </a:rPr>
              <a:t>태그 식별이름</a:t>
            </a:r>
            <a:r>
              <a:rPr lang="en-US" altLang="ko-KR" b="1" dirty="0" smtClean="0">
                <a:solidFill>
                  <a:schemeClr val="tx1"/>
                </a:solidFill>
              </a:rPr>
              <a:t>”  </a:t>
            </a:r>
            <a:r>
              <a:rPr lang="en-US" altLang="ko-KR" b="1" dirty="0" err="1" smtClean="0">
                <a:solidFill>
                  <a:schemeClr val="tx1"/>
                </a:solidFill>
              </a:rPr>
              <a:t>uri</a:t>
            </a:r>
            <a:r>
              <a:rPr lang="en-US" altLang="ko-KR" b="1" dirty="0" smtClean="0">
                <a:solidFill>
                  <a:schemeClr val="tx1"/>
                </a:solidFill>
              </a:rPr>
              <a:t>=“</a:t>
            </a:r>
            <a:r>
              <a:rPr lang="ko-KR" altLang="en-US" b="1" dirty="0" smtClean="0">
                <a:solidFill>
                  <a:schemeClr val="tx1"/>
                </a:solidFill>
              </a:rPr>
              <a:t>태그 지원 </a:t>
            </a:r>
            <a:r>
              <a:rPr lang="en-US" altLang="ko-KR" b="1" dirty="0" smtClean="0">
                <a:solidFill>
                  <a:schemeClr val="tx1"/>
                </a:solidFill>
              </a:rPr>
              <a:t>URL” %&gt;</a:t>
            </a:r>
            <a:r>
              <a:rPr lang="ko-KR" altLang="en-US" b="1" dirty="0" smtClean="0">
                <a:solidFill>
                  <a:schemeClr val="tx1"/>
                </a:solidFill>
              </a:rPr>
              <a:t> 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52600" y="2204864"/>
            <a:ext cx="7056784" cy="408623"/>
          </a:xfrm>
          <a:prstGeom prst="roundRect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tx1"/>
                </a:solidFill>
              </a:rPr>
              <a:t>&lt;%@ </a:t>
            </a:r>
            <a:r>
              <a:rPr lang="en-US" altLang="ko-KR" b="1" dirty="0" err="1" smtClean="0">
                <a:solidFill>
                  <a:schemeClr val="tx1"/>
                </a:solidFill>
              </a:rPr>
              <a:t>taglib</a:t>
            </a:r>
            <a:r>
              <a:rPr lang="en-US" altLang="ko-KR" b="1" dirty="0" smtClean="0">
                <a:solidFill>
                  <a:schemeClr val="tx1"/>
                </a:solidFill>
              </a:rPr>
              <a:t> </a:t>
            </a:r>
            <a:r>
              <a:rPr lang="en-US" altLang="ko-KR" b="1" dirty="0" smtClean="0">
                <a:solidFill>
                  <a:srgbClr val="C00000"/>
                </a:solidFill>
              </a:rPr>
              <a:t>prefix</a:t>
            </a:r>
            <a:r>
              <a:rPr lang="en-US" altLang="ko-KR" b="1" dirty="0" smtClean="0">
                <a:solidFill>
                  <a:schemeClr val="tx1"/>
                </a:solidFill>
              </a:rPr>
              <a:t>=“c” </a:t>
            </a:r>
            <a:r>
              <a:rPr lang="en-US" altLang="ko-KR" b="1" dirty="0" err="1" smtClean="0">
                <a:solidFill>
                  <a:srgbClr val="C00000"/>
                </a:solidFill>
              </a:rPr>
              <a:t>uri</a:t>
            </a:r>
            <a:r>
              <a:rPr lang="en-US" altLang="ko-KR" b="1" dirty="0" smtClean="0">
                <a:solidFill>
                  <a:schemeClr val="tx1"/>
                </a:solidFill>
              </a:rPr>
              <a:t>=“</a:t>
            </a:r>
            <a:r>
              <a:rPr lang="en-US" altLang="ko-KR" b="1" dirty="0" err="1"/>
              <a:t>jakarta.tags.core</a:t>
            </a:r>
            <a:r>
              <a:rPr lang="en-US" altLang="ko-KR" b="1" dirty="0" smtClean="0">
                <a:solidFill>
                  <a:schemeClr val="tx1"/>
                </a:solidFill>
              </a:rPr>
              <a:t>” %&gt;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9" name="아래쪽 화살표 8"/>
          <p:cNvSpPr/>
          <p:nvPr/>
        </p:nvSpPr>
        <p:spPr>
          <a:xfrm>
            <a:off x="4376936" y="1988840"/>
            <a:ext cx="72008" cy="180020"/>
          </a:xfrm>
          <a:prstGeom prst="downArrow">
            <a:avLst/>
          </a:prstGeom>
          <a:solidFill>
            <a:srgbClr val="FFC000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363283" y="2780928"/>
            <a:ext cx="7056784" cy="3779758"/>
          </a:xfrm>
          <a:prstGeom prst="round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&lt;</a:t>
            </a:r>
            <a:r>
              <a:rPr lang="en-US" altLang="ko-KR" b="1" dirty="0" err="1"/>
              <a:t>c:if</a:t>
            </a:r>
            <a:r>
              <a:rPr lang="en-US" altLang="ko-KR" b="1" dirty="0"/>
              <a:t> </a:t>
            </a:r>
            <a:r>
              <a:rPr lang="en-US" altLang="ko-KR" b="1" dirty="0">
                <a:solidFill>
                  <a:srgbClr val="C00000"/>
                </a:solidFill>
              </a:rPr>
              <a:t>test</a:t>
            </a:r>
            <a:r>
              <a:rPr lang="en-US" altLang="ko-KR" b="1" dirty="0"/>
              <a:t>="${</a:t>
            </a:r>
            <a:r>
              <a:rPr lang="ko-KR" altLang="en-US" b="1" dirty="0"/>
              <a:t>조건식</a:t>
            </a:r>
            <a:r>
              <a:rPr lang="en-US" altLang="ko-KR" b="1" dirty="0"/>
              <a:t>}"&gt;</a:t>
            </a:r>
            <a:r>
              <a:rPr lang="ko-KR" altLang="en-US" b="1" dirty="0" err="1"/>
              <a:t>출력문</a:t>
            </a:r>
            <a:r>
              <a:rPr lang="en-US" altLang="ko-KR" b="1" dirty="0"/>
              <a:t>&lt;/</a:t>
            </a:r>
            <a:r>
              <a:rPr lang="en-US" altLang="ko-KR" b="1" dirty="0" err="1"/>
              <a:t>c:if</a:t>
            </a:r>
            <a:r>
              <a:rPr lang="en-US" altLang="ko-KR" b="1" dirty="0"/>
              <a:t>&gt; </a:t>
            </a: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ko-KR" altLang="en-US" b="1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조건문</a:t>
            </a:r>
            <a:endParaRPr lang="en-US" altLang="ko-KR" b="1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ko-KR" b="1" dirty="0" smtClean="0"/>
          </a:p>
          <a:p>
            <a:pPr>
              <a:lnSpc>
                <a:spcPct val="150000"/>
              </a:lnSpc>
            </a:pPr>
            <a:r>
              <a:rPr lang="en-US" altLang="ko-KR" b="1" dirty="0" smtClean="0"/>
              <a:t>&lt;</a:t>
            </a:r>
            <a:r>
              <a:rPr lang="en-US" altLang="ko-KR" b="1" dirty="0" err="1" smtClean="0"/>
              <a:t>c:choose</a:t>
            </a:r>
            <a:r>
              <a:rPr lang="en-US" altLang="ko-KR" b="1" dirty="0" smtClean="0"/>
              <a:t>&gt; </a:t>
            </a:r>
            <a:r>
              <a:rPr lang="en-US" altLang="ko-KR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//</a:t>
            </a:r>
            <a:r>
              <a:rPr lang="ko-KR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다중 </a:t>
            </a:r>
            <a:r>
              <a:rPr lang="ko-KR" altLang="en-US" b="1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조건문</a:t>
            </a:r>
            <a:endParaRPr lang="en-US" altLang="ko-KR" b="1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b="1" dirty="0"/>
              <a:t> </a:t>
            </a:r>
            <a:r>
              <a:rPr lang="en-US" altLang="ko-KR" b="1" dirty="0" smtClean="0"/>
              <a:t>  &lt;</a:t>
            </a:r>
            <a:r>
              <a:rPr lang="en-US" altLang="ko-KR" b="1" dirty="0" err="1" smtClean="0"/>
              <a:t>c:when</a:t>
            </a:r>
            <a:r>
              <a:rPr lang="en-US" altLang="ko-KR" b="1" dirty="0" smtClean="0"/>
              <a:t> </a:t>
            </a:r>
            <a:r>
              <a:rPr lang="en-US" altLang="ko-KR" b="1" dirty="0" smtClean="0">
                <a:solidFill>
                  <a:srgbClr val="C00000"/>
                </a:solidFill>
              </a:rPr>
              <a:t>test</a:t>
            </a:r>
            <a:r>
              <a:rPr lang="en-US" altLang="ko-KR" b="1" dirty="0" smtClean="0"/>
              <a:t>=“${</a:t>
            </a:r>
            <a:r>
              <a:rPr lang="ko-KR" altLang="en-US" b="1" dirty="0" smtClean="0"/>
              <a:t>조건식</a:t>
            </a:r>
            <a:r>
              <a:rPr lang="en-US" altLang="ko-KR" b="1" dirty="0" smtClean="0"/>
              <a:t>1}”&gt;</a:t>
            </a:r>
            <a:r>
              <a:rPr lang="ko-KR" altLang="en-US" b="1" dirty="0" smtClean="0"/>
              <a:t>본문 내용</a:t>
            </a:r>
            <a:r>
              <a:rPr lang="en-US" altLang="ko-KR" b="1" dirty="0" smtClean="0"/>
              <a:t>1&lt;/</a:t>
            </a:r>
            <a:r>
              <a:rPr lang="en-US" altLang="ko-KR" b="1" dirty="0" err="1" smtClean="0"/>
              <a:t>c:when</a:t>
            </a:r>
            <a:r>
              <a:rPr lang="en-US" altLang="ko-KR" b="1" dirty="0" smtClean="0"/>
              <a:t>&gt;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1"/>
                </a:solidFill>
              </a:rPr>
              <a:t> </a:t>
            </a:r>
            <a:r>
              <a:rPr lang="en-US" altLang="ko-KR" b="1" dirty="0" smtClean="0">
                <a:solidFill>
                  <a:schemeClr val="tx1"/>
                </a:solidFill>
              </a:rPr>
              <a:t>  </a:t>
            </a:r>
            <a:r>
              <a:rPr lang="en-US" altLang="ko-KR" b="1" dirty="0"/>
              <a:t>&lt;</a:t>
            </a:r>
            <a:r>
              <a:rPr lang="en-US" altLang="ko-KR" b="1" dirty="0" err="1" smtClean="0"/>
              <a:t>c:when</a:t>
            </a:r>
            <a:r>
              <a:rPr lang="en-US" altLang="ko-KR" b="1" dirty="0"/>
              <a:t> </a:t>
            </a:r>
            <a:r>
              <a:rPr lang="en-US" altLang="ko-KR" b="1" dirty="0" smtClean="0">
                <a:solidFill>
                  <a:srgbClr val="C00000"/>
                </a:solidFill>
              </a:rPr>
              <a:t>test</a:t>
            </a:r>
            <a:r>
              <a:rPr lang="en-US" altLang="ko-KR" b="1" dirty="0" smtClean="0"/>
              <a:t>=“${</a:t>
            </a:r>
            <a:r>
              <a:rPr lang="ko-KR" altLang="en-US" b="1" dirty="0" smtClean="0"/>
              <a:t>조건식</a:t>
            </a:r>
            <a:r>
              <a:rPr lang="en-US" altLang="ko-KR" b="1" dirty="0" smtClean="0"/>
              <a:t>2}”&gt;</a:t>
            </a:r>
            <a:r>
              <a:rPr lang="ko-KR" altLang="en-US" b="1" dirty="0"/>
              <a:t>본문 </a:t>
            </a:r>
            <a:r>
              <a:rPr lang="ko-KR" altLang="en-US" b="1" dirty="0" smtClean="0"/>
              <a:t>내용</a:t>
            </a:r>
            <a:r>
              <a:rPr lang="en-US" altLang="ko-KR" b="1" dirty="0"/>
              <a:t>2</a:t>
            </a:r>
            <a:r>
              <a:rPr lang="en-US" altLang="ko-KR" b="1" dirty="0" smtClean="0"/>
              <a:t>&lt;/</a:t>
            </a:r>
            <a:r>
              <a:rPr lang="en-US" altLang="ko-KR" b="1" dirty="0" err="1"/>
              <a:t>c:when</a:t>
            </a:r>
            <a:r>
              <a:rPr lang="en-US" altLang="ko-KR" b="1" dirty="0" smtClean="0"/>
              <a:t>&gt;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1"/>
                </a:solidFill>
              </a:rPr>
              <a:t> </a:t>
            </a:r>
            <a:r>
              <a:rPr lang="en-US" altLang="ko-KR" b="1" dirty="0" smtClean="0">
                <a:solidFill>
                  <a:schemeClr val="tx1"/>
                </a:solidFill>
              </a:rPr>
              <a:t>  …..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1"/>
                </a:solidFill>
              </a:rPr>
              <a:t> </a:t>
            </a:r>
            <a:r>
              <a:rPr lang="en-US" altLang="ko-KR" b="1" dirty="0" smtClean="0">
                <a:solidFill>
                  <a:schemeClr val="tx1"/>
                </a:solidFill>
              </a:rPr>
              <a:t>  &lt;</a:t>
            </a:r>
            <a:r>
              <a:rPr lang="en-US" altLang="ko-KR" b="1" dirty="0" err="1" smtClean="0">
                <a:solidFill>
                  <a:schemeClr val="tx1"/>
                </a:solidFill>
              </a:rPr>
              <a:t>c:otherwise</a:t>
            </a:r>
            <a:r>
              <a:rPr lang="en-US" altLang="ko-KR" b="1" dirty="0" smtClean="0">
                <a:solidFill>
                  <a:schemeClr val="tx1"/>
                </a:solidFill>
              </a:rPr>
              <a:t>&gt;</a:t>
            </a:r>
            <a:r>
              <a:rPr lang="ko-KR" altLang="en-US" b="1" dirty="0" smtClean="0">
                <a:solidFill>
                  <a:schemeClr val="tx1"/>
                </a:solidFill>
              </a:rPr>
              <a:t>본문내용</a:t>
            </a:r>
            <a:r>
              <a:rPr lang="en-US" altLang="ko-KR" b="1" dirty="0" smtClean="0">
                <a:solidFill>
                  <a:schemeClr val="tx1"/>
                </a:solidFill>
              </a:rPr>
              <a:t>&lt;c:/otherwise&gt;</a:t>
            </a:r>
            <a:endParaRPr lang="en-US" altLang="ko-KR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b="1" dirty="0" smtClean="0">
                <a:solidFill>
                  <a:schemeClr val="tx1"/>
                </a:solidFill>
              </a:rPr>
              <a:t>&lt;/</a:t>
            </a:r>
            <a:r>
              <a:rPr lang="en-US" altLang="ko-KR" b="1" dirty="0" err="1" smtClean="0">
                <a:solidFill>
                  <a:schemeClr val="tx1"/>
                </a:solidFill>
              </a:rPr>
              <a:t>c:choose</a:t>
            </a:r>
            <a:r>
              <a:rPr lang="en-US" altLang="ko-KR" b="1" dirty="0" smtClean="0">
                <a:solidFill>
                  <a:schemeClr val="tx1"/>
                </a:solidFill>
              </a:rPr>
              <a:t>&gt;</a:t>
            </a:r>
            <a:endParaRPr lang="en-US" altLang="ko-KR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643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53752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JSTL(JSP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표준태그 라이브러리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)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992560" y="990290"/>
            <a:ext cx="521056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JTSL </a:t>
            </a:r>
            <a:r>
              <a:rPr lang="ko-KR" altLang="en-US" sz="2000" b="1" dirty="0" smtClean="0"/>
              <a:t>실습 예제 </a:t>
            </a:r>
            <a:endParaRPr lang="en-US" altLang="ko-KR" sz="20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17998"/>
          <a:stretch/>
        </p:blipFill>
        <p:spPr>
          <a:xfrm>
            <a:off x="1520823" y="1700531"/>
            <a:ext cx="2476846" cy="295288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952" y="2276871"/>
            <a:ext cx="1836026" cy="18002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50445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53752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JSTL(JSP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표준태그 라이브러리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)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992560" y="990290"/>
            <a:ext cx="521056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JTSL </a:t>
            </a:r>
            <a:r>
              <a:rPr lang="ko-KR" altLang="en-US" sz="2000" b="1" dirty="0" smtClean="0"/>
              <a:t>실습 예제 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596536"/>
            <a:ext cx="6827695" cy="428073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2508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53752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JSTL(JSP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표준태그 라이브러리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)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992560" y="990290"/>
            <a:ext cx="521056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JTSL </a:t>
            </a:r>
            <a:r>
              <a:rPr lang="ko-KR" altLang="en-US" sz="2000" b="1" dirty="0" smtClean="0"/>
              <a:t>실습 예제 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700808"/>
            <a:ext cx="7521967" cy="30963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21483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53752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JSTL(JSP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표준태그 라이브러리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)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992560" y="990290"/>
            <a:ext cx="521056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짝수</a:t>
            </a:r>
            <a:r>
              <a:rPr lang="en-US" altLang="ko-KR" sz="2000" b="1" dirty="0" smtClean="0"/>
              <a:t>/</a:t>
            </a:r>
            <a:r>
              <a:rPr lang="ko-KR" altLang="en-US" sz="2000" b="1" dirty="0" smtClean="0"/>
              <a:t>홀수 판정 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28800"/>
            <a:ext cx="6129224" cy="43204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82402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53752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JSTL(JSP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표준태그 라이브러리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)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992560" y="990290"/>
            <a:ext cx="521056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짝수</a:t>
            </a:r>
            <a:r>
              <a:rPr lang="en-US" altLang="ko-KR" sz="2000" b="1" dirty="0" smtClean="0"/>
              <a:t>/</a:t>
            </a:r>
            <a:r>
              <a:rPr lang="ko-KR" altLang="en-US" sz="2000" b="1" dirty="0" smtClean="0"/>
              <a:t>홀수 판정 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28800"/>
            <a:ext cx="6354706" cy="27058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43229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53752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JSTL(JSP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표준태그 라이브러리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)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992560" y="990290"/>
            <a:ext cx="521056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학점 계산 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31" y="1628800"/>
            <a:ext cx="5436307" cy="45365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192" y="4161080"/>
            <a:ext cx="1783384" cy="95113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85250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53752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JSTL(JSP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표준태그 라이브러리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)</a:t>
            </a:r>
            <a:endParaRPr lang="ko-KR" altLang="en-US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6033120" y="3501008"/>
            <a:ext cx="1869985" cy="374571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600" dirty="0" err="1" smtClean="0"/>
              <a:t>scoreForm.jsp</a:t>
            </a:r>
            <a:r>
              <a:rPr lang="en-US" altLang="ko-KR" sz="1600" dirty="0" smtClean="0"/>
              <a:t> </a:t>
            </a:r>
            <a:endParaRPr lang="ko-KR" alt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992560" y="990290"/>
            <a:ext cx="521056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학점 계산 </a:t>
            </a:r>
            <a:r>
              <a:rPr lang="en-US" altLang="ko-KR" sz="2000" b="1" dirty="0" smtClean="0"/>
              <a:t>- </a:t>
            </a:r>
            <a:r>
              <a:rPr lang="ko-KR" altLang="en-US" sz="2000" b="1" dirty="0" smtClean="0"/>
              <a:t>사용자 입력 폼 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7" y="1807287"/>
            <a:ext cx="3960440" cy="15165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249" y="2090007"/>
            <a:ext cx="1783384" cy="95113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오른쪽 화살표 5"/>
          <p:cNvSpPr/>
          <p:nvPr/>
        </p:nvSpPr>
        <p:spPr>
          <a:xfrm>
            <a:off x="5601072" y="2420888"/>
            <a:ext cx="288032" cy="144688"/>
          </a:xfrm>
          <a:prstGeom prst="right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930" y="4077072"/>
            <a:ext cx="8560254" cy="133092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2148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53752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JSTL(JSP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표준태그 라이브러리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)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792" y="1844824"/>
            <a:ext cx="5401671" cy="43924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모서리가 둥근 직사각형 5"/>
          <p:cNvSpPr/>
          <p:nvPr/>
        </p:nvSpPr>
        <p:spPr>
          <a:xfrm>
            <a:off x="6609185" y="2924944"/>
            <a:ext cx="1656184" cy="374571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600" dirty="0" err="1" smtClean="0"/>
              <a:t>scorePoint.jsp</a:t>
            </a:r>
            <a:r>
              <a:rPr lang="en-US" altLang="ko-KR" sz="1600" dirty="0" smtClean="0"/>
              <a:t> </a:t>
            </a:r>
            <a:endParaRPr lang="ko-KR" altLang="en-US"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90290"/>
            <a:ext cx="521056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학점 계산 </a:t>
            </a:r>
            <a:r>
              <a:rPr lang="en-US" altLang="ko-KR" sz="2000" b="1" dirty="0" smtClean="0"/>
              <a:t>- </a:t>
            </a:r>
            <a:r>
              <a:rPr lang="ko-KR" altLang="en-US" sz="2000" b="1" dirty="0" smtClean="0"/>
              <a:t>사용자 입력 폼 </a:t>
            </a:r>
            <a:endParaRPr lang="en-US" altLang="ko-KR" sz="2000" b="1" dirty="0"/>
          </a:p>
        </p:txBody>
      </p:sp>
      <p:sp>
        <p:nvSpPr>
          <p:cNvPr id="3" name="모서리가 둥근 직사각형 2"/>
          <p:cNvSpPr/>
          <p:nvPr/>
        </p:nvSpPr>
        <p:spPr>
          <a:xfrm>
            <a:off x="4520952" y="1772816"/>
            <a:ext cx="1800200" cy="432048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051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53752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JSTL(JSP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표준태그 라이브러리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)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92560" y="990290"/>
            <a:ext cx="52105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학점 계산 </a:t>
            </a:r>
            <a:r>
              <a:rPr lang="en-US" altLang="ko-KR" sz="2000" b="1" dirty="0" smtClean="0"/>
              <a:t>– </a:t>
            </a:r>
            <a:r>
              <a:rPr lang="ko-KR" altLang="en-US" sz="2000" b="1" dirty="0" smtClean="0"/>
              <a:t>유효성 검사</a:t>
            </a:r>
            <a:r>
              <a:rPr lang="en-US" altLang="ko-KR" sz="2000" b="1" dirty="0" smtClean="0"/>
              <a:t>(validation)</a:t>
            </a:r>
            <a:r>
              <a:rPr lang="ko-KR" altLang="en-US" sz="2000" b="1" dirty="0" smtClean="0"/>
              <a:t> 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556147"/>
            <a:ext cx="5976664" cy="49712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53326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53752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JSTL(JSP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표준태그 라이브러리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388843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반복문</a:t>
            </a:r>
            <a:endParaRPr lang="en-US" altLang="ko-KR" sz="2000" b="1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1514618" y="1649036"/>
            <a:ext cx="6480720" cy="1481257"/>
          </a:xfrm>
          <a:prstGeom prst="roundRect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&lt;</a:t>
            </a:r>
            <a:r>
              <a:rPr lang="en-US" altLang="ko-KR" b="1" dirty="0" err="1"/>
              <a:t>c:forEach</a:t>
            </a:r>
            <a:r>
              <a:rPr lang="en-US" altLang="ko-KR" b="1" dirty="0"/>
              <a:t> </a:t>
            </a:r>
            <a:r>
              <a:rPr lang="en-US" altLang="ko-KR" b="1" dirty="0" smtClean="0"/>
              <a:t> </a:t>
            </a:r>
            <a:r>
              <a:rPr lang="en-US" altLang="ko-KR" b="1" dirty="0" err="1" smtClean="0">
                <a:solidFill>
                  <a:srgbClr val="C00000"/>
                </a:solidFill>
              </a:rPr>
              <a:t>var</a:t>
            </a:r>
            <a:r>
              <a:rPr lang="en-US" altLang="ko-KR" b="1" dirty="0" smtClean="0"/>
              <a:t>=</a:t>
            </a:r>
            <a:r>
              <a:rPr lang="ko-KR" altLang="en-US" b="1" dirty="0" smtClean="0"/>
              <a:t>변수이름</a:t>
            </a:r>
            <a:r>
              <a:rPr lang="en-US" altLang="ko-KR" b="1" dirty="0" smtClean="0"/>
              <a:t>”  </a:t>
            </a:r>
            <a:r>
              <a:rPr lang="en-US" altLang="ko-KR" b="1" dirty="0" smtClean="0">
                <a:solidFill>
                  <a:srgbClr val="C00000"/>
                </a:solidFill>
              </a:rPr>
              <a:t>items</a:t>
            </a:r>
            <a:r>
              <a:rPr lang="en-US" altLang="ko-KR" b="1" dirty="0" smtClean="0"/>
              <a:t>=“</a:t>
            </a:r>
            <a:r>
              <a:rPr lang="ko-KR" altLang="en-US" b="1" dirty="0" smtClean="0"/>
              <a:t>반복할 객체이름</a:t>
            </a:r>
            <a:r>
              <a:rPr lang="en-US" altLang="ko-KR" b="1" dirty="0" smtClean="0"/>
              <a:t>”    </a:t>
            </a:r>
          </a:p>
          <a:p>
            <a:pPr>
              <a:lnSpc>
                <a:spcPct val="150000"/>
              </a:lnSpc>
            </a:pPr>
            <a:r>
              <a:rPr lang="en-US" altLang="ko-KR" b="1" dirty="0" smtClean="0">
                <a:solidFill>
                  <a:srgbClr val="C00000"/>
                </a:solidFill>
              </a:rPr>
              <a:t>      begin</a:t>
            </a:r>
            <a:r>
              <a:rPr lang="en-US" altLang="ko-KR" b="1" dirty="0" smtClean="0"/>
              <a:t>=“</a:t>
            </a:r>
            <a:r>
              <a:rPr lang="ko-KR" altLang="en-US" b="1" dirty="0" err="1" smtClean="0"/>
              <a:t>시작값</a:t>
            </a:r>
            <a:r>
              <a:rPr lang="en-US" altLang="ko-KR" b="1" dirty="0" smtClean="0"/>
              <a:t>" </a:t>
            </a:r>
            <a:r>
              <a:rPr lang="en-US" altLang="ko-KR" b="1" dirty="0" smtClean="0">
                <a:solidFill>
                  <a:srgbClr val="C00000"/>
                </a:solidFill>
              </a:rPr>
              <a:t>end</a:t>
            </a:r>
            <a:r>
              <a:rPr lang="en-US" altLang="ko-KR" b="1" dirty="0" smtClean="0"/>
              <a:t>=＂</a:t>
            </a:r>
            <a:r>
              <a:rPr lang="ko-KR" altLang="en-US" b="1" dirty="0" err="1" smtClean="0"/>
              <a:t>마지막값</a:t>
            </a:r>
            <a:r>
              <a:rPr lang="en-US" altLang="ko-KR" b="1" dirty="0" smtClean="0"/>
              <a:t>“  </a:t>
            </a:r>
            <a:r>
              <a:rPr lang="en-US" altLang="ko-KR" b="1" dirty="0" smtClean="0">
                <a:solidFill>
                  <a:srgbClr val="C00000"/>
                </a:solidFill>
              </a:rPr>
              <a:t>step</a:t>
            </a:r>
            <a:r>
              <a:rPr lang="en-US" altLang="ko-KR" b="1" dirty="0" smtClean="0"/>
              <a:t>=“</a:t>
            </a:r>
            <a:r>
              <a:rPr lang="ko-KR" altLang="en-US" b="1" dirty="0" err="1" smtClean="0"/>
              <a:t>증가값</a:t>
            </a:r>
            <a:r>
              <a:rPr lang="en-US" altLang="ko-KR" b="1" dirty="0" smtClean="0"/>
              <a:t>”&gt;</a:t>
            </a:r>
            <a:endParaRPr lang="en-US" altLang="ko-KR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b="1" dirty="0" smtClean="0"/>
              <a:t>&lt;/</a:t>
            </a:r>
            <a:r>
              <a:rPr lang="en-US" altLang="ko-KR" b="1" dirty="0" err="1" smtClean="0"/>
              <a:t>c:forEach</a:t>
            </a:r>
            <a:r>
              <a:rPr lang="en-US" altLang="ko-KR" b="1" dirty="0" smtClean="0"/>
              <a:t>&gt;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3818543"/>
            <a:ext cx="6426713" cy="87718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176" y="4837274"/>
            <a:ext cx="1133633" cy="1209844"/>
          </a:xfrm>
          <a:prstGeom prst="rect">
            <a:avLst/>
          </a:prstGeom>
        </p:spPr>
      </p:pic>
      <p:sp>
        <p:nvSpPr>
          <p:cNvPr id="8" name="모서리가 둥근 직사각형 7"/>
          <p:cNvSpPr/>
          <p:nvPr/>
        </p:nvSpPr>
        <p:spPr>
          <a:xfrm>
            <a:off x="7311261" y="4238359"/>
            <a:ext cx="1368152" cy="374571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600" dirty="0" err="1" smtClean="0"/>
              <a:t>forEach.jsp</a:t>
            </a:r>
            <a:r>
              <a:rPr lang="en-US" altLang="ko-KR" sz="1600" dirty="0" smtClean="0"/>
              <a:t> </a:t>
            </a:r>
            <a:endParaRPr lang="ko-KR" altLang="en-US" sz="16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/>
          <a:srcRect t="17306"/>
          <a:stretch/>
        </p:blipFill>
        <p:spPr>
          <a:xfrm>
            <a:off x="1552532" y="3428999"/>
            <a:ext cx="6442805" cy="2811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16468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53752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JSTL(JSP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표준태그 라이브러리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388843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반복문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628800"/>
            <a:ext cx="6984775" cy="30142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3518" y="4746016"/>
            <a:ext cx="1114581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393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53752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JSTL(JSP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표준태그 라이브러리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388843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반복문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648" y="1700808"/>
            <a:ext cx="5331697" cy="396417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모서리가 둥근 직사각형 5"/>
          <p:cNvSpPr/>
          <p:nvPr/>
        </p:nvSpPr>
        <p:spPr>
          <a:xfrm>
            <a:off x="6897216" y="1988840"/>
            <a:ext cx="1656184" cy="374571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600" dirty="0" err="1" smtClean="0"/>
              <a:t>gugudan.jsp</a:t>
            </a:r>
            <a:r>
              <a:rPr lang="en-US" altLang="ko-KR" sz="1600" dirty="0" smtClean="0"/>
              <a:t> 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192127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en-US" altLang="ko-KR" b="1" dirty="0" err="1" smtClean="0"/>
              <a:t>fmt</a:t>
            </a:r>
            <a:r>
              <a:rPr lang="en-US" altLang="ko-KR" b="1" dirty="0" smtClean="0"/>
              <a:t> </a:t>
            </a:r>
            <a:r>
              <a:rPr lang="ko-KR" altLang="en-US" b="1" dirty="0"/>
              <a:t>태그를 이용한 </a:t>
            </a:r>
            <a:r>
              <a:rPr lang="ko-KR" altLang="en-US" b="1" dirty="0" smtClean="0"/>
              <a:t>날짜</a:t>
            </a:r>
            <a:r>
              <a:rPr lang="en-US" altLang="ko-KR" b="1" dirty="0" smtClean="0"/>
              <a:t>/</a:t>
            </a:r>
            <a:r>
              <a:rPr lang="ko-KR" altLang="en-US" b="1" dirty="0" smtClean="0"/>
              <a:t>시간 표기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992560" y="980728"/>
            <a:ext cx="7920880" cy="494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err="1" smtClean="0">
                <a:solidFill>
                  <a:srgbClr val="C00000"/>
                </a:solidFill>
              </a:rPr>
              <a:t>formatDate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태그</a:t>
            </a:r>
            <a:r>
              <a:rPr lang="en-US" altLang="ko-KR" sz="2000" b="1" dirty="0" smtClean="0"/>
              <a:t> - </a:t>
            </a:r>
            <a:r>
              <a:rPr lang="ko-KR" altLang="en-US" b="1" dirty="0" smtClean="0"/>
              <a:t>날짜 정보를 담고 있는 객체를 </a:t>
            </a:r>
            <a:r>
              <a:rPr lang="ko-KR" altLang="en-US" b="1" dirty="0" err="1" smtClean="0"/>
              <a:t>형식화하여</a:t>
            </a:r>
            <a:r>
              <a:rPr lang="ko-KR" altLang="en-US" b="1" dirty="0" smtClean="0"/>
              <a:t> 출력함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712" y="2276872"/>
            <a:ext cx="3844862" cy="39492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136577" y="1628366"/>
            <a:ext cx="6408712" cy="408623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tx1"/>
                </a:solidFill>
              </a:rPr>
              <a:t>&lt;%@  </a:t>
            </a:r>
            <a:r>
              <a:rPr lang="en-US" altLang="ko-KR" b="1" dirty="0" err="1" smtClean="0">
                <a:solidFill>
                  <a:schemeClr val="tx1"/>
                </a:solidFill>
              </a:rPr>
              <a:t>taglib</a:t>
            </a:r>
            <a:r>
              <a:rPr lang="en-US" altLang="ko-KR" b="1" dirty="0" smtClean="0">
                <a:solidFill>
                  <a:schemeClr val="tx1"/>
                </a:solidFill>
              </a:rPr>
              <a:t>  </a:t>
            </a:r>
            <a:r>
              <a:rPr lang="en-US" altLang="ko-KR" b="1" dirty="0" err="1" smtClean="0">
                <a:solidFill>
                  <a:srgbClr val="C00000"/>
                </a:solidFill>
              </a:rPr>
              <a:t>uri</a:t>
            </a:r>
            <a:r>
              <a:rPr lang="en-US" altLang="ko-KR" b="1" dirty="0" smtClean="0">
                <a:solidFill>
                  <a:schemeClr val="tx1"/>
                </a:solidFill>
              </a:rPr>
              <a:t>=“</a:t>
            </a:r>
            <a:r>
              <a:rPr lang="en-US" altLang="ko-KR" b="1" dirty="0" err="1">
                <a:solidFill>
                  <a:schemeClr val="tx1"/>
                </a:solidFill>
              </a:rPr>
              <a:t>j</a:t>
            </a:r>
            <a:r>
              <a:rPr lang="en-US" altLang="ko-KR" b="1" dirty="0" err="1" smtClean="0">
                <a:solidFill>
                  <a:schemeClr val="tx1"/>
                </a:solidFill>
              </a:rPr>
              <a:t>akarta.tags.fmt</a:t>
            </a:r>
            <a:r>
              <a:rPr lang="en-US" altLang="ko-KR" b="1" dirty="0" smtClean="0">
                <a:solidFill>
                  <a:schemeClr val="tx1"/>
                </a:solidFill>
              </a:rPr>
              <a:t>” %  </a:t>
            </a:r>
            <a:r>
              <a:rPr lang="en-US" altLang="ko-KR" b="1" dirty="0">
                <a:solidFill>
                  <a:srgbClr val="C00000"/>
                </a:solidFill>
              </a:rPr>
              <a:t>prefix</a:t>
            </a:r>
            <a:r>
              <a:rPr lang="en-US" altLang="ko-KR" b="1" dirty="0">
                <a:solidFill>
                  <a:schemeClr val="tx1"/>
                </a:solidFill>
              </a:rPr>
              <a:t>=“</a:t>
            </a:r>
            <a:r>
              <a:rPr lang="en-US" altLang="ko-KR" b="1" dirty="0" err="1">
                <a:solidFill>
                  <a:schemeClr val="tx1"/>
                </a:solidFill>
              </a:rPr>
              <a:t>fmt</a:t>
            </a:r>
            <a:r>
              <a:rPr lang="en-US" altLang="ko-KR" b="1" dirty="0">
                <a:solidFill>
                  <a:schemeClr val="tx1"/>
                </a:solidFill>
              </a:rPr>
              <a:t>” &gt;</a:t>
            </a:r>
          </a:p>
        </p:txBody>
      </p:sp>
    </p:spTree>
    <p:extLst>
      <p:ext uri="{BB962C8B-B14F-4D97-AF65-F5344CB8AC3E}">
        <p14:creationId xmlns:p14="http://schemas.microsoft.com/office/powerpoint/2010/main" val="1060925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en-US" altLang="ko-KR" b="1" dirty="0" err="1" smtClean="0"/>
              <a:t>fmt</a:t>
            </a:r>
            <a:r>
              <a:rPr lang="en-US" altLang="ko-KR" b="1" dirty="0" smtClean="0"/>
              <a:t> </a:t>
            </a:r>
            <a:r>
              <a:rPr lang="ko-KR" altLang="en-US" b="1" dirty="0"/>
              <a:t>태그를 이용한 날짜</a:t>
            </a:r>
            <a:r>
              <a:rPr lang="en-US" altLang="ko-KR" b="1" dirty="0"/>
              <a:t>/</a:t>
            </a:r>
            <a:r>
              <a:rPr lang="ko-KR" altLang="en-US" b="1" dirty="0"/>
              <a:t>시간 표기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1002794"/>
            <a:ext cx="316835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rgbClr val="C00000"/>
                </a:solidFill>
              </a:rPr>
              <a:t>formatDate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태그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2176422"/>
            <a:ext cx="6444671" cy="391687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직사각형 5"/>
          <p:cNvSpPr/>
          <p:nvPr/>
        </p:nvSpPr>
        <p:spPr>
          <a:xfrm>
            <a:off x="7329264" y="2420888"/>
            <a:ext cx="1743113" cy="33855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 err="1" smtClean="0"/>
              <a:t>formatDate.jsp</a:t>
            </a:r>
            <a:endParaRPr lang="en-US" altLang="ko-KR" sz="16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992" y="1745577"/>
            <a:ext cx="6450280" cy="31527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62660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en-US" altLang="ko-KR" b="1" dirty="0" err="1" smtClean="0"/>
              <a:t>fmt</a:t>
            </a:r>
            <a:r>
              <a:rPr lang="en-US" altLang="ko-KR" b="1" dirty="0" smtClean="0"/>
              <a:t> </a:t>
            </a:r>
            <a:r>
              <a:rPr lang="ko-KR" altLang="en-US" b="1" dirty="0"/>
              <a:t>태그를 이용한 날짜</a:t>
            </a:r>
            <a:r>
              <a:rPr lang="en-US" altLang="ko-KR" b="1" dirty="0"/>
              <a:t>/</a:t>
            </a:r>
            <a:r>
              <a:rPr lang="ko-KR" altLang="en-US" b="1" dirty="0"/>
              <a:t>시간 표기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1002794"/>
            <a:ext cx="316835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rgbClr val="C00000"/>
                </a:solidFill>
              </a:rPr>
              <a:t>formatDate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태그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28800"/>
            <a:ext cx="7938923" cy="460471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68242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en-US" altLang="ko-KR" b="1" dirty="0" err="1" smtClean="0"/>
              <a:t>fmt</a:t>
            </a:r>
            <a:r>
              <a:rPr lang="en-US" altLang="ko-KR" b="1" dirty="0" smtClean="0"/>
              <a:t> </a:t>
            </a:r>
            <a:r>
              <a:rPr lang="ko-KR" altLang="en-US" b="1" dirty="0"/>
              <a:t>태그를 이용한 </a:t>
            </a:r>
            <a:r>
              <a:rPr lang="ko-KR" altLang="en-US" b="1" dirty="0" smtClean="0"/>
              <a:t>숫자 </a:t>
            </a:r>
            <a:r>
              <a:rPr lang="ko-KR" altLang="en-US" b="1" dirty="0"/>
              <a:t>표기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85680" y="1002794"/>
            <a:ext cx="31683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err="1" smtClean="0">
                <a:solidFill>
                  <a:srgbClr val="C00000"/>
                </a:solidFill>
              </a:rPr>
              <a:t>formatNumber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태그</a:t>
            </a:r>
            <a:endParaRPr lang="en-US" altLang="ko-KR" sz="2000" b="1" dirty="0" smtClean="0"/>
          </a:p>
        </p:txBody>
      </p:sp>
      <p:sp>
        <p:nvSpPr>
          <p:cNvPr id="2" name="직사각형 1"/>
          <p:cNvSpPr/>
          <p:nvPr/>
        </p:nvSpPr>
        <p:spPr>
          <a:xfrm>
            <a:off x="1129696" y="1481009"/>
            <a:ext cx="734481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사용자의 로케일</a:t>
            </a:r>
            <a:r>
              <a:rPr lang="en-US" altLang="ko-KR" b="1" dirty="0"/>
              <a:t>(Locale)</a:t>
            </a:r>
            <a:r>
              <a:rPr lang="ko-KR" altLang="en-US" b="1" dirty="0"/>
              <a:t>에 따라 숫자를 다양한 형식으로 </a:t>
            </a:r>
            <a:r>
              <a:rPr lang="ko-KR" altLang="en-US" b="1" dirty="0" smtClean="0"/>
              <a:t>출력</a:t>
            </a:r>
            <a:r>
              <a:rPr lang="ko-KR" altLang="en-US" b="1" dirty="0"/>
              <a:t>함</a:t>
            </a:r>
            <a:endParaRPr lang="en-US" altLang="ko-KR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648" y="2132856"/>
            <a:ext cx="2626560" cy="365116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1" y="3429000"/>
            <a:ext cx="2592288" cy="14753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32677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en-US" altLang="ko-KR" b="1" dirty="0" err="1" smtClean="0"/>
              <a:t>fmt</a:t>
            </a:r>
            <a:r>
              <a:rPr lang="en-US" altLang="ko-KR" b="1" dirty="0" smtClean="0"/>
              <a:t> </a:t>
            </a:r>
            <a:r>
              <a:rPr lang="ko-KR" altLang="en-US" b="1" dirty="0"/>
              <a:t>태그를 이용한 </a:t>
            </a:r>
            <a:r>
              <a:rPr lang="ko-KR" altLang="en-US" b="1" dirty="0" smtClean="0"/>
              <a:t>숫자 </a:t>
            </a:r>
            <a:r>
              <a:rPr lang="ko-KR" altLang="en-US" b="1" dirty="0"/>
              <a:t>표기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85680" y="1002794"/>
            <a:ext cx="31683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err="1" smtClean="0">
                <a:solidFill>
                  <a:srgbClr val="C00000"/>
                </a:solidFill>
              </a:rPr>
              <a:t>formatNumber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태그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732002"/>
            <a:ext cx="6552728" cy="413970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0" name="직사각형 9"/>
          <p:cNvSpPr/>
          <p:nvPr/>
        </p:nvSpPr>
        <p:spPr>
          <a:xfrm>
            <a:off x="6537176" y="2060848"/>
            <a:ext cx="2016224" cy="33855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 err="1"/>
              <a:t>f</a:t>
            </a:r>
            <a:r>
              <a:rPr lang="en-US" altLang="ko-KR" sz="1600" dirty="0" err="1" smtClean="0"/>
              <a:t>ormatNumber.jsp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816668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en-US" altLang="ko-KR" b="1" dirty="0" err="1" smtClean="0"/>
              <a:t>fmt</a:t>
            </a:r>
            <a:r>
              <a:rPr lang="en-US" altLang="ko-KR" b="1" dirty="0" smtClean="0"/>
              <a:t> </a:t>
            </a:r>
            <a:r>
              <a:rPr lang="ko-KR" altLang="en-US" b="1" dirty="0"/>
              <a:t>태그를 이용한 </a:t>
            </a:r>
            <a:r>
              <a:rPr lang="ko-KR" altLang="en-US" b="1" dirty="0" smtClean="0"/>
              <a:t>숫자 </a:t>
            </a:r>
            <a:r>
              <a:rPr lang="ko-KR" altLang="en-US" b="1" dirty="0"/>
              <a:t>표기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85680" y="1002794"/>
            <a:ext cx="31683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err="1" smtClean="0">
                <a:solidFill>
                  <a:srgbClr val="C00000"/>
                </a:solidFill>
              </a:rPr>
              <a:t>formatNumber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태그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475" y="1821003"/>
            <a:ext cx="8459029" cy="348020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0" name="직사각형 9"/>
          <p:cNvSpPr/>
          <p:nvPr/>
        </p:nvSpPr>
        <p:spPr>
          <a:xfrm>
            <a:off x="7185248" y="1628800"/>
            <a:ext cx="2016224" cy="33855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 err="1"/>
              <a:t>f</a:t>
            </a:r>
            <a:r>
              <a:rPr lang="en-US" altLang="ko-KR" sz="1600" dirty="0" err="1" smtClean="0"/>
              <a:t>ormatNumber.jsp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806235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다국어 처리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318225" y="1556792"/>
            <a:ext cx="809927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smtClean="0"/>
              <a:t>JSTL</a:t>
            </a:r>
            <a:r>
              <a:rPr lang="ko-KR" altLang="en-US" sz="1600" dirty="0" smtClean="0"/>
              <a:t>의 </a:t>
            </a:r>
            <a:r>
              <a:rPr lang="en-US" altLang="ko-KR" sz="1600" dirty="0" err="1" smtClean="0"/>
              <a:t>fmt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태그를 이용하면 언어별로 페이지를 따로 만들 필요 없이 아주 간단하게 다국어를 지원할 수 있다</a:t>
            </a:r>
            <a:r>
              <a:rPr lang="en-US" altLang="ko-KR" sz="1600" dirty="0" smtClean="0"/>
              <a:t>.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 smtClean="0"/>
              <a:t>지역화는 사용 국가별 환경에서 특정 언어와 지역에 맞게 적합화 하는 것으로 </a:t>
            </a:r>
            <a:r>
              <a:rPr lang="en-US" altLang="ko-KR" sz="1600" dirty="0"/>
              <a:t>L</a:t>
            </a:r>
            <a:r>
              <a:rPr lang="en-US" altLang="ko-KR" sz="1600" dirty="0" smtClean="0"/>
              <a:t>10n</a:t>
            </a:r>
            <a:r>
              <a:rPr lang="ko-KR" altLang="en-US" sz="1600" dirty="0" smtClean="0"/>
              <a:t>으로 표기</a:t>
            </a:r>
            <a:endParaRPr lang="en-US" altLang="ko-KR" sz="1600" dirty="0" smtClean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숫자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날짜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시간의 형식</a:t>
            </a:r>
            <a:endParaRPr lang="en-US" altLang="ko-KR" sz="1600" dirty="0" smtClean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화폐의 표시</a:t>
            </a:r>
            <a:endParaRPr lang="en-US" altLang="ko-KR" sz="1600" dirty="0" smtClean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키보드의 지원</a:t>
            </a:r>
            <a:r>
              <a:rPr lang="en-US" altLang="ko-KR" sz="1600" dirty="0"/>
              <a:t> </a:t>
            </a:r>
            <a:r>
              <a:rPr lang="ko-KR" altLang="en-US" sz="1600" dirty="0" smtClean="0"/>
              <a:t>등</a:t>
            </a:r>
            <a:endParaRPr lang="en-US" altLang="ko-KR" sz="1600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 smtClean="0"/>
              <a:t>국제화는 여러 국가에서 사용할 수 있도록 다국어를 지원하는 것으로 </a:t>
            </a:r>
            <a:r>
              <a:rPr lang="en-US" altLang="ko-KR" sz="1600" dirty="0" smtClean="0"/>
              <a:t>i18n</a:t>
            </a:r>
            <a:r>
              <a:rPr lang="ko-KR" altLang="en-US" sz="1600" dirty="0" smtClean="0"/>
              <a:t>으로 표기</a:t>
            </a:r>
            <a:endParaRPr lang="en-US" altLang="ko-KR" sz="1600" dirty="0" smtClean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유니코드의 사용이나 기존의 </a:t>
            </a:r>
            <a:r>
              <a:rPr lang="ko-KR" altLang="en-US" sz="1600" dirty="0" err="1" smtClean="0"/>
              <a:t>인코딩을</a:t>
            </a:r>
            <a:r>
              <a:rPr lang="ko-KR" altLang="en-US" sz="1600" dirty="0" smtClean="0"/>
              <a:t> 적절히 처리해야 한다</a:t>
            </a:r>
            <a:r>
              <a:rPr lang="en-US" altLang="ko-KR" sz="1600" dirty="0" smtClean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날짜와 시간 표시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지역의 달력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숫자 표시등 사용자 설정을 지원해야 한다</a:t>
            </a:r>
            <a:r>
              <a:rPr lang="en-US" altLang="ko-KR" sz="1600" dirty="0" smtClean="0"/>
              <a:t>.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992560" y="990290"/>
            <a:ext cx="1903085" cy="4944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/>
              <a:t>다국어 처리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1899522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b="1" dirty="0" err="1" smtClean="0"/>
              <a:t>fmt</a:t>
            </a:r>
            <a:r>
              <a:rPr lang="en-US" altLang="ko-KR" b="1" dirty="0" smtClean="0"/>
              <a:t> </a:t>
            </a:r>
            <a:r>
              <a:rPr lang="ko-KR" altLang="en-US" b="1" dirty="0"/>
              <a:t>태그를 이용한 다국어 처리</a:t>
            </a:r>
            <a:endParaRPr lang="en-US" altLang="ko-KR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352600" y="1525141"/>
            <a:ext cx="806489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 smtClean="0">
                <a:solidFill>
                  <a:srgbClr val="0070C0"/>
                </a:solidFill>
              </a:rPr>
              <a:t>리소스 번들</a:t>
            </a:r>
            <a:endParaRPr lang="en-US" altLang="ko-KR" b="1" dirty="0" smtClean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리소스 번들은 메시지 처리 태그에서 사용하는 파일로 </a:t>
            </a:r>
            <a:r>
              <a:rPr lang="en-US" altLang="ko-KR" sz="1600" dirty="0" err="1" smtClean="0"/>
              <a:t>java.util.Properties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클래스에서 정의된 방법으로 확장자가 </a:t>
            </a:r>
            <a:r>
              <a:rPr lang="en-US" altLang="ko-KR" sz="1600" b="1" dirty="0" smtClean="0"/>
              <a:t>properties</a:t>
            </a:r>
            <a:r>
              <a:rPr lang="ko-KR" altLang="en-US" sz="1600" b="1" dirty="0" smtClean="0"/>
              <a:t>인 파일이 반드시 있어야 함</a:t>
            </a:r>
            <a:endParaRPr lang="en-US" altLang="ko-KR" sz="1600" b="1" dirty="0" smtClean="0"/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알파벳이나 숫자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라틴 문자 외의 언어를 유니코드 값으로 표현한다</a:t>
            </a:r>
            <a:r>
              <a:rPr lang="en-US" altLang="ko-KR" sz="1600" dirty="0" smtClean="0"/>
              <a:t>.</a:t>
            </a: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059356"/>
              </p:ext>
            </p:extLst>
          </p:nvPr>
        </p:nvGraphicFramePr>
        <p:xfrm>
          <a:off x="1496616" y="3388643"/>
          <a:ext cx="6624736" cy="17685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4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*.properties </a:t>
                      </a:r>
                      <a:r>
                        <a:rPr lang="ko-KR" altLang="en-US" sz="1600" dirty="0" smtClean="0"/>
                        <a:t>파일</a:t>
                      </a:r>
                      <a:endParaRPr lang="ko-KR" altLang="en-US" sz="16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설명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137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파일이름</a:t>
                      </a:r>
                      <a:r>
                        <a:rPr lang="en-US" altLang="ko-KR" sz="1600" dirty="0" smtClean="0"/>
                        <a:t>.properties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기본 </a:t>
                      </a:r>
                      <a:r>
                        <a:rPr lang="ko-KR" altLang="en-US" sz="1600" dirty="0" err="1" smtClean="0"/>
                        <a:t>메시지일때</a:t>
                      </a:r>
                      <a:r>
                        <a:rPr lang="ko-KR" altLang="en-US" sz="1600" dirty="0" smtClean="0"/>
                        <a:t> 사용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1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파일이름</a:t>
                      </a:r>
                      <a:r>
                        <a:rPr lang="en-US" altLang="ko-KR" sz="1600" dirty="0" smtClean="0"/>
                        <a:t>_</a:t>
                      </a:r>
                      <a:r>
                        <a:rPr lang="en-US" altLang="ko-KR" sz="1600" dirty="0" err="1" smtClean="0"/>
                        <a:t>ko.properties</a:t>
                      </a:r>
                      <a:endParaRPr lang="en-US" altLang="ko-KR" sz="160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한글 </a:t>
                      </a:r>
                      <a:r>
                        <a:rPr lang="ko-KR" altLang="en-US" sz="1600" dirty="0" err="1" smtClean="0"/>
                        <a:t>메시지일때</a:t>
                      </a:r>
                      <a:r>
                        <a:rPr lang="ko-KR" altLang="en-US" sz="1600" dirty="0" smtClean="0"/>
                        <a:t> 사용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137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파일이름</a:t>
                      </a:r>
                      <a:r>
                        <a:rPr lang="en-US" altLang="ko-KR" sz="1600" dirty="0" smtClean="0"/>
                        <a:t>_</a:t>
                      </a:r>
                      <a:r>
                        <a:rPr lang="en-US" altLang="ko-KR" sz="1600" dirty="0" err="1" smtClean="0"/>
                        <a:t>en.properties</a:t>
                      </a:r>
                      <a:endParaRPr lang="en-US" altLang="ko-KR" sz="160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영어 </a:t>
                      </a:r>
                      <a:r>
                        <a:rPr lang="ko-KR" altLang="en-US" sz="1600" dirty="0" err="1" smtClean="0"/>
                        <a:t>메시지일때</a:t>
                      </a:r>
                      <a:r>
                        <a:rPr lang="ko-KR" altLang="en-US" sz="1600" dirty="0" smtClean="0"/>
                        <a:t> 사용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3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3741" y="4403941"/>
            <a:ext cx="2983193" cy="179453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직사각형 6"/>
          <p:cNvSpPr/>
          <p:nvPr/>
        </p:nvSpPr>
        <p:spPr>
          <a:xfrm>
            <a:off x="992560" y="990290"/>
            <a:ext cx="1903085" cy="4944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/>
              <a:t>다국어 처리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2271361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en-US" altLang="ko-KR" b="1" dirty="0" err="1" smtClean="0"/>
              <a:t>fmt</a:t>
            </a:r>
            <a:r>
              <a:rPr lang="en-US" altLang="ko-KR" b="1" dirty="0" smtClean="0"/>
              <a:t> </a:t>
            </a:r>
            <a:r>
              <a:rPr lang="ko-KR" altLang="en-US" b="1" dirty="0"/>
              <a:t>태그를 이용한 다국어 처리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352600" y="1488266"/>
            <a:ext cx="828092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err="1" smtClean="0"/>
              <a:t>setLocale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태그</a:t>
            </a:r>
            <a:endParaRPr lang="en-US" altLang="ko-KR" b="1" dirty="0" smtClean="0"/>
          </a:p>
          <a:p>
            <a:pPr>
              <a:lnSpc>
                <a:spcPct val="150000"/>
              </a:lnSpc>
            </a:pPr>
            <a:r>
              <a:rPr lang="en-US" altLang="ko-KR" sz="1600" dirty="0" err="1"/>
              <a:t>s</a:t>
            </a:r>
            <a:r>
              <a:rPr lang="en-US" altLang="ko-KR" sz="1600" dirty="0" err="1" smtClean="0"/>
              <a:t>etLocale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태그는 국제화 태그가 사용할 </a:t>
            </a:r>
            <a:r>
              <a:rPr lang="ko-KR" altLang="en-US" sz="1600" dirty="0" err="1" smtClean="0"/>
              <a:t>로케일을</a:t>
            </a:r>
            <a:r>
              <a:rPr lang="ko-KR" altLang="en-US" sz="1600" dirty="0" smtClean="0"/>
              <a:t> 설정하는 태그이다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다국어를 지원하는 웹 페이지를 만들 때 리소스 번들인 </a:t>
            </a:r>
            <a:r>
              <a:rPr lang="en-US" altLang="ko-KR" sz="1600" dirty="0" smtClean="0"/>
              <a:t>*.properties </a:t>
            </a:r>
            <a:r>
              <a:rPr lang="ko-KR" altLang="en-US" sz="1600" dirty="0" smtClean="0"/>
              <a:t>파일과 연계 사용함</a:t>
            </a: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en-US" altLang="ko-KR" b="1" dirty="0" smtClean="0">
                <a:solidFill>
                  <a:srgbClr val="00B050"/>
                </a:solidFill>
              </a:rPr>
              <a:t>&lt;</a:t>
            </a:r>
            <a:r>
              <a:rPr lang="en-US" altLang="ko-KR" b="1" dirty="0" err="1" smtClean="0">
                <a:solidFill>
                  <a:srgbClr val="00B050"/>
                </a:solidFill>
              </a:rPr>
              <a:t>fmt:setLocale</a:t>
            </a:r>
            <a:r>
              <a:rPr lang="en-US" altLang="ko-KR" b="1" dirty="0" smtClean="0">
                <a:solidFill>
                  <a:srgbClr val="00B050"/>
                </a:solidFill>
              </a:rPr>
              <a:t>  value=</a:t>
            </a:r>
            <a:r>
              <a:rPr lang="en-US" altLang="ko-KR" b="1" i="1" dirty="0" smtClean="0">
                <a:solidFill>
                  <a:srgbClr val="00B050"/>
                </a:solidFill>
              </a:rPr>
              <a:t>“</a:t>
            </a:r>
            <a:r>
              <a:rPr lang="ko-KR" altLang="en-US" b="1" dirty="0" smtClean="0"/>
              <a:t>언어 코드</a:t>
            </a:r>
            <a:r>
              <a:rPr lang="en-US" altLang="ko-KR" b="1" dirty="0" smtClean="0">
                <a:solidFill>
                  <a:srgbClr val="00B050"/>
                </a:solidFill>
              </a:rPr>
              <a:t>"</a:t>
            </a:r>
            <a:r>
              <a:rPr lang="en-US" altLang="ko-KR" b="1" i="1" dirty="0" smtClean="0">
                <a:solidFill>
                  <a:srgbClr val="00B050"/>
                </a:solidFill>
              </a:rPr>
              <a:t>/&gt;</a:t>
            </a:r>
            <a:endParaRPr lang="en-US" altLang="ko-KR" b="1" dirty="0" smtClean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52600" y="4728626"/>
            <a:ext cx="792088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message </a:t>
            </a:r>
            <a:r>
              <a:rPr lang="ko-KR" altLang="en-US" b="1" dirty="0" smtClean="0"/>
              <a:t>태그</a:t>
            </a:r>
            <a:endParaRPr lang="en-US" altLang="ko-KR" b="1" dirty="0" smtClean="0"/>
          </a:p>
          <a:p>
            <a:pPr>
              <a:lnSpc>
                <a:spcPct val="150000"/>
              </a:lnSpc>
            </a:pPr>
            <a:r>
              <a:rPr lang="en-US" altLang="ko-KR" sz="1600" dirty="0" smtClean="0"/>
              <a:t>message </a:t>
            </a:r>
            <a:r>
              <a:rPr lang="ko-KR" altLang="en-US" sz="1600" dirty="0" smtClean="0"/>
              <a:t>태그는 </a:t>
            </a:r>
            <a:r>
              <a:rPr lang="en-US" altLang="ko-KR" sz="1600" dirty="0" smtClean="0"/>
              <a:t>bundle </a:t>
            </a:r>
            <a:r>
              <a:rPr lang="ko-KR" altLang="en-US" sz="1600" dirty="0" smtClean="0"/>
              <a:t>태그에 설정한 리소스 번들에서 메시지를 읽어와 출력하는 태그이다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rgbClr val="00B050"/>
                </a:solidFill>
              </a:rPr>
              <a:t>&lt;</a:t>
            </a:r>
            <a:r>
              <a:rPr lang="en-US" altLang="ko-KR" b="1" dirty="0" err="1" smtClean="0">
                <a:solidFill>
                  <a:srgbClr val="00B050"/>
                </a:solidFill>
              </a:rPr>
              <a:t>fmt:message</a:t>
            </a:r>
            <a:r>
              <a:rPr lang="en-US" altLang="ko-KR" b="1" dirty="0" smtClean="0">
                <a:solidFill>
                  <a:srgbClr val="00B050"/>
                </a:solidFill>
              </a:rPr>
              <a:t>  key=</a:t>
            </a:r>
            <a:r>
              <a:rPr lang="en-US" altLang="ko-KR" b="1" i="1" dirty="0" smtClean="0">
                <a:solidFill>
                  <a:srgbClr val="00B050"/>
                </a:solidFill>
              </a:rPr>
              <a:t>“</a:t>
            </a:r>
            <a:r>
              <a:rPr lang="en-US" altLang="ko-KR" b="1" dirty="0" smtClean="0">
                <a:solidFill>
                  <a:srgbClr val="00B050"/>
                </a:solidFill>
              </a:rPr>
              <a:t>key </a:t>
            </a:r>
            <a:r>
              <a:rPr lang="ko-KR" altLang="en-US" b="1" dirty="0" smtClean="0">
                <a:solidFill>
                  <a:srgbClr val="00B050"/>
                </a:solidFill>
              </a:rPr>
              <a:t>이름</a:t>
            </a:r>
            <a:r>
              <a:rPr lang="en-US" altLang="ko-KR" b="1" dirty="0" smtClean="0">
                <a:solidFill>
                  <a:srgbClr val="00B050"/>
                </a:solidFill>
              </a:rPr>
              <a:t>"</a:t>
            </a:r>
            <a:r>
              <a:rPr lang="en-US" altLang="ko-KR" b="1" i="1" dirty="0" smtClean="0">
                <a:solidFill>
                  <a:srgbClr val="00B050"/>
                </a:solidFill>
              </a:rPr>
              <a:t>/&gt;</a:t>
            </a:r>
            <a:endParaRPr lang="en-US" altLang="ko-KR" b="1" dirty="0" smtClean="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52600" y="3288466"/>
            <a:ext cx="806489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err="1" smtClean="0"/>
              <a:t>setBundle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태그</a:t>
            </a:r>
            <a:endParaRPr lang="en-US" altLang="ko-KR" b="1" dirty="0" smtClean="0"/>
          </a:p>
          <a:p>
            <a:pPr>
              <a:lnSpc>
                <a:spcPct val="150000"/>
              </a:lnSpc>
            </a:pPr>
            <a:r>
              <a:rPr lang="en-US" altLang="ko-KR" sz="1600" dirty="0" err="1" smtClean="0"/>
              <a:t>setBundle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태그는 사용할 리소스 번들을 설정하는 태그이다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rgbClr val="00B050"/>
                </a:solidFill>
              </a:rPr>
              <a:t>&lt;</a:t>
            </a:r>
            <a:r>
              <a:rPr lang="en-US" altLang="ko-KR" b="1" dirty="0" err="1">
                <a:solidFill>
                  <a:srgbClr val="00B050"/>
                </a:solidFill>
              </a:rPr>
              <a:t>fmt:setBundle</a:t>
            </a:r>
            <a:r>
              <a:rPr lang="en-US" altLang="ko-KR" b="1" dirty="0">
                <a:solidFill>
                  <a:srgbClr val="00B050"/>
                </a:solidFill>
              </a:rPr>
              <a:t> </a:t>
            </a:r>
            <a:r>
              <a:rPr lang="en-US" altLang="ko-KR" b="1" dirty="0" smtClean="0">
                <a:solidFill>
                  <a:srgbClr val="00B050"/>
                </a:solidFill>
              </a:rPr>
              <a:t> </a:t>
            </a:r>
            <a:r>
              <a:rPr lang="en-US" altLang="ko-KR" b="1" dirty="0" err="1" smtClean="0">
                <a:solidFill>
                  <a:srgbClr val="00B050"/>
                </a:solidFill>
              </a:rPr>
              <a:t>basename</a:t>
            </a:r>
            <a:r>
              <a:rPr lang="en-US" altLang="ko-KR" b="1" dirty="0" smtClean="0">
                <a:solidFill>
                  <a:srgbClr val="00B050"/>
                </a:solidFill>
              </a:rPr>
              <a:t>=</a:t>
            </a:r>
            <a:r>
              <a:rPr lang="en-US" altLang="ko-KR" b="1" i="1" dirty="0" smtClean="0">
                <a:solidFill>
                  <a:srgbClr val="00B050"/>
                </a:solidFill>
              </a:rPr>
              <a:t>“</a:t>
            </a:r>
            <a:r>
              <a:rPr lang="ko-KR" altLang="en-US" b="1" dirty="0" err="1" smtClean="0"/>
              <a:t>리소스번들</a:t>
            </a:r>
            <a:r>
              <a:rPr lang="en-US" altLang="ko-KR" b="1" dirty="0" smtClean="0">
                <a:solidFill>
                  <a:srgbClr val="00B050"/>
                </a:solidFill>
              </a:rPr>
              <a:t>"</a:t>
            </a:r>
            <a:r>
              <a:rPr lang="en-US" altLang="ko-KR" b="1" i="1" dirty="0" smtClean="0">
                <a:solidFill>
                  <a:srgbClr val="00B050"/>
                </a:solidFill>
              </a:rPr>
              <a:t>/&gt;</a:t>
            </a:r>
            <a:endParaRPr lang="en-US" altLang="ko-KR" b="1" dirty="0" smtClean="0">
              <a:solidFill>
                <a:srgbClr val="00B05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992560" y="990290"/>
            <a:ext cx="3312368" cy="494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 smtClean="0"/>
              <a:t>주요 태그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3864289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en-US" altLang="ko-KR" b="1" dirty="0" err="1" smtClean="0"/>
              <a:t>fmt</a:t>
            </a:r>
            <a:r>
              <a:rPr lang="en-US" altLang="ko-KR" b="1" dirty="0" smtClean="0"/>
              <a:t> </a:t>
            </a:r>
            <a:r>
              <a:rPr lang="ko-KR" altLang="en-US" b="1" dirty="0"/>
              <a:t>태그를 이용한 다국어 처리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1496616" y="1552232"/>
            <a:ext cx="7222996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 smtClean="0"/>
              <a:t>src</a:t>
            </a:r>
            <a:r>
              <a:rPr lang="en-US" altLang="ko-KR" dirty="0" smtClean="0"/>
              <a:t> </a:t>
            </a:r>
            <a:r>
              <a:rPr lang="ko-KR" altLang="en-US" dirty="0" smtClean="0"/>
              <a:t>하위에 </a:t>
            </a:r>
            <a:r>
              <a:rPr lang="en-US" altLang="ko-KR" dirty="0" err="1" smtClean="0"/>
              <a:t>com.bundle</a:t>
            </a:r>
            <a:r>
              <a:rPr lang="en-US" altLang="ko-KR" dirty="0" smtClean="0"/>
              <a:t> </a:t>
            </a:r>
            <a:r>
              <a:rPr lang="ko-KR" altLang="en-US" dirty="0" smtClean="0"/>
              <a:t>패키지 생성 </a:t>
            </a:r>
            <a:r>
              <a:rPr lang="en-US" altLang="ko-KR" dirty="0" smtClean="0"/>
              <a:t>&gt; properties </a:t>
            </a:r>
            <a:r>
              <a:rPr lang="ko-KR" altLang="en-US" dirty="0" smtClean="0"/>
              <a:t>파일 만들기</a:t>
            </a:r>
            <a:endParaRPr lang="en-US" altLang="ko-KR" dirty="0"/>
          </a:p>
        </p:txBody>
      </p:sp>
      <p:sp>
        <p:nvSpPr>
          <p:cNvPr id="12" name="TextBox 11"/>
          <p:cNvSpPr txBox="1"/>
          <p:nvPr/>
        </p:nvSpPr>
        <p:spPr>
          <a:xfrm>
            <a:off x="4376936" y="4797152"/>
            <a:ext cx="2683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m</a:t>
            </a:r>
            <a:r>
              <a:rPr lang="en-US" altLang="ko-KR" dirty="0" err="1" smtClean="0"/>
              <a:t>essage_ko.properties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376936" y="2321240"/>
            <a:ext cx="224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message.txt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810" y="2317522"/>
            <a:ext cx="2469094" cy="211092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" name="직사각형 1"/>
          <p:cNvSpPr/>
          <p:nvPr/>
        </p:nvSpPr>
        <p:spPr>
          <a:xfrm>
            <a:off x="992560" y="1068396"/>
            <a:ext cx="6768752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/>
              <a:t>사용자의 </a:t>
            </a:r>
            <a:r>
              <a:rPr lang="ko-KR" altLang="en-US" b="1" dirty="0" err="1"/>
              <a:t>로케일에</a:t>
            </a:r>
            <a:r>
              <a:rPr lang="ko-KR" altLang="en-US" b="1" dirty="0"/>
              <a:t> 따라 리소스 번들의 메시지 출력 실습</a:t>
            </a:r>
            <a:endParaRPr lang="en-US" altLang="ko-KR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4376936" y="3635732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message_en.properties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944" y="2763432"/>
            <a:ext cx="2428475" cy="5215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2920" y="5229200"/>
            <a:ext cx="5399276" cy="43165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8944" y="4087446"/>
            <a:ext cx="2748625" cy="4646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55863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en-US" altLang="ko-KR" b="1" dirty="0" err="1" smtClean="0"/>
              <a:t>fmt</a:t>
            </a:r>
            <a:r>
              <a:rPr lang="en-US" altLang="ko-KR" b="1" dirty="0" smtClean="0"/>
              <a:t> </a:t>
            </a:r>
            <a:r>
              <a:rPr lang="ko-KR" altLang="en-US" b="1" dirty="0"/>
              <a:t>태그를 이용한 다국어 처리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88" r="39687"/>
          <a:stretch/>
        </p:blipFill>
        <p:spPr>
          <a:xfrm>
            <a:off x="1568624" y="1817039"/>
            <a:ext cx="2160240" cy="21776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직사각형 5"/>
          <p:cNvSpPr/>
          <p:nvPr/>
        </p:nvSpPr>
        <p:spPr>
          <a:xfrm>
            <a:off x="7185248" y="2687434"/>
            <a:ext cx="1872208" cy="33855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 smtClean="0"/>
              <a:t>language01.jsp</a:t>
            </a:r>
            <a:endParaRPr lang="en-US" altLang="ko-KR" sz="16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4848" y="3212976"/>
            <a:ext cx="5841993" cy="23726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직사각형 7"/>
          <p:cNvSpPr/>
          <p:nvPr/>
        </p:nvSpPr>
        <p:spPr>
          <a:xfrm>
            <a:off x="992560" y="1068396"/>
            <a:ext cx="6768752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/>
              <a:t>사용자의 </a:t>
            </a:r>
            <a:r>
              <a:rPr lang="ko-KR" altLang="en-US" b="1" dirty="0" err="1"/>
              <a:t>로케일에</a:t>
            </a:r>
            <a:r>
              <a:rPr lang="ko-KR" altLang="en-US" b="1" dirty="0"/>
              <a:t> 따라 리소스 번들의 메시지 출력 실습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661257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en-US" altLang="ko-KR" b="1" dirty="0" err="1" smtClean="0"/>
              <a:t>fmt</a:t>
            </a:r>
            <a:r>
              <a:rPr lang="en-US" altLang="ko-KR" b="1" dirty="0" smtClean="0"/>
              <a:t> </a:t>
            </a:r>
            <a:r>
              <a:rPr lang="ko-KR" altLang="en-US" b="1" dirty="0"/>
              <a:t>태그를 이용한 다국어 처리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997106" y="1052736"/>
            <a:ext cx="431593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한국어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영어로 출력하기</a:t>
            </a:r>
            <a:endParaRPr lang="en-US" altLang="ko-KR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616" y="1700808"/>
            <a:ext cx="4390520" cy="201420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8864" y="2624305"/>
            <a:ext cx="4502472" cy="211198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26814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en-US" altLang="ko-KR" b="1" dirty="0" err="1" smtClean="0"/>
              <a:t>fmt</a:t>
            </a:r>
            <a:r>
              <a:rPr lang="en-US" altLang="ko-KR" b="1" dirty="0" smtClean="0"/>
              <a:t> </a:t>
            </a:r>
            <a:r>
              <a:rPr lang="ko-KR" altLang="en-US" b="1" dirty="0"/>
              <a:t>태그를 이용한 다국어 처리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00" y="1700808"/>
            <a:ext cx="7413833" cy="39080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직사각형 5"/>
          <p:cNvSpPr/>
          <p:nvPr/>
        </p:nvSpPr>
        <p:spPr>
          <a:xfrm>
            <a:off x="997106" y="1052736"/>
            <a:ext cx="431593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한국어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영어로 출력하기</a:t>
            </a:r>
            <a:endParaRPr lang="en-US" altLang="ko-KR" b="1" dirty="0" smtClean="0"/>
          </a:p>
        </p:txBody>
      </p:sp>
      <p:sp>
        <p:nvSpPr>
          <p:cNvPr id="8" name="직사각형 7"/>
          <p:cNvSpPr/>
          <p:nvPr/>
        </p:nvSpPr>
        <p:spPr>
          <a:xfrm>
            <a:off x="7473280" y="1988840"/>
            <a:ext cx="1872208" cy="33855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 smtClean="0"/>
              <a:t>language02.jsp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36038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en-US" altLang="ko-KR" b="1" dirty="0" err="1" smtClean="0"/>
              <a:t>fmt</a:t>
            </a:r>
            <a:r>
              <a:rPr lang="en-US" altLang="ko-KR" b="1" dirty="0" smtClean="0"/>
              <a:t> </a:t>
            </a:r>
            <a:r>
              <a:rPr lang="ko-KR" altLang="en-US" b="1" dirty="0"/>
              <a:t>태그를 이용한 다국어 처리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997106" y="1052736"/>
            <a:ext cx="4315934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실습 문제</a:t>
            </a:r>
            <a:endParaRPr lang="en-US" altLang="ko-KR" b="1" dirty="0" smtClean="0"/>
          </a:p>
        </p:txBody>
      </p:sp>
      <p:sp>
        <p:nvSpPr>
          <p:cNvPr id="8" name="직사각형 7"/>
          <p:cNvSpPr/>
          <p:nvPr/>
        </p:nvSpPr>
        <p:spPr>
          <a:xfrm>
            <a:off x="6825208" y="2029995"/>
            <a:ext cx="1584176" cy="33855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 err="1" smtClean="0"/>
              <a:t>loginForm.jsp</a:t>
            </a:r>
            <a:endParaRPr lang="en-US" altLang="ko-KR" sz="16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732180"/>
            <a:ext cx="3253408" cy="23762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200" y="2666364"/>
            <a:ext cx="3573168" cy="233171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592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dirty="0" smtClean="0"/>
              <a:t>MVC</a:t>
            </a:r>
            <a:r>
              <a:rPr lang="ko-KR" altLang="en-US" dirty="0" smtClean="0"/>
              <a:t>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992560" y="1052736"/>
            <a:ext cx="7776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000" b="1" dirty="0" smtClean="0"/>
              <a:t>MVC</a:t>
            </a:r>
            <a:r>
              <a:rPr lang="ko-KR" altLang="en-US" sz="2000" b="1" dirty="0" smtClean="0"/>
              <a:t>란</a:t>
            </a:r>
            <a:r>
              <a:rPr lang="en-US" altLang="ko-KR" sz="2000" b="1" dirty="0" smtClean="0"/>
              <a:t>?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280591" y="1502608"/>
            <a:ext cx="8136904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Model, View, Controller</a:t>
            </a:r>
            <a:r>
              <a:rPr lang="ko-KR" altLang="en-US" dirty="0"/>
              <a:t>의 약자로 웹 애플리케이션을 비즈니스 </a:t>
            </a:r>
            <a:r>
              <a:rPr lang="ko-KR" altLang="en-US" dirty="0" err="1"/>
              <a:t>로직</a:t>
            </a:r>
            <a:r>
              <a:rPr lang="en-US" altLang="ko-KR" dirty="0"/>
              <a:t>, </a:t>
            </a:r>
            <a:r>
              <a:rPr lang="ko-KR" altLang="en-US" dirty="0"/>
              <a:t>프레젠테이션 </a:t>
            </a:r>
            <a:r>
              <a:rPr lang="ko-KR" altLang="en-US" dirty="0" err="1"/>
              <a:t>로직</a:t>
            </a:r>
            <a:r>
              <a:rPr lang="en-US" altLang="ko-KR" dirty="0"/>
              <a:t>, </a:t>
            </a:r>
            <a:r>
              <a:rPr lang="ko-KR" altLang="en-US" dirty="0"/>
              <a:t>데이터로 분리하는 디자인 패턴이다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클라이언트의 요청 처리</a:t>
            </a:r>
            <a:r>
              <a:rPr lang="en-US" altLang="ko-KR" dirty="0"/>
              <a:t>, </a:t>
            </a:r>
            <a:r>
              <a:rPr lang="ko-KR" altLang="en-US" dirty="0"/>
              <a:t>응답 처리</a:t>
            </a:r>
            <a:r>
              <a:rPr lang="en-US" altLang="ko-KR" dirty="0"/>
              <a:t>, </a:t>
            </a:r>
            <a:r>
              <a:rPr lang="ko-KR" altLang="en-US" dirty="0" err="1"/>
              <a:t>로직</a:t>
            </a:r>
            <a:r>
              <a:rPr lang="ko-KR" altLang="en-US" dirty="0"/>
              <a:t> 처리 부분을 </a:t>
            </a:r>
            <a:r>
              <a:rPr lang="ko-KR" altLang="en-US" dirty="0" err="1"/>
              <a:t>모듈화한</a:t>
            </a:r>
            <a:r>
              <a:rPr lang="ko-KR" altLang="en-US" dirty="0"/>
              <a:t> 구조이다</a:t>
            </a:r>
            <a:r>
              <a:rPr lang="en-US" altLang="ko-KR" dirty="0"/>
              <a:t>.</a:t>
            </a:r>
          </a:p>
        </p:txBody>
      </p:sp>
      <p:sp>
        <p:nvSpPr>
          <p:cNvPr id="27" name="모서리가 둥근 직사각형 26"/>
          <p:cNvSpPr/>
          <p:nvPr/>
        </p:nvSpPr>
        <p:spPr>
          <a:xfrm>
            <a:off x="3340758" y="3284984"/>
            <a:ext cx="3898495" cy="127001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8" name="원통 27"/>
          <p:cNvSpPr/>
          <p:nvPr/>
        </p:nvSpPr>
        <p:spPr>
          <a:xfrm>
            <a:off x="7773157" y="3356991"/>
            <a:ext cx="1698344" cy="667458"/>
          </a:xfrm>
          <a:prstGeom prst="can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데이터베이스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1406606" y="3501007"/>
            <a:ext cx="1440160" cy="57631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tx1"/>
                </a:solidFill>
              </a:rPr>
              <a:t>클라이언트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3710861" y="3356991"/>
            <a:ext cx="1300125" cy="42593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컨트롤</a:t>
            </a:r>
            <a:r>
              <a:rPr lang="ko-KR" altLang="en-US" sz="1400" dirty="0">
                <a:solidFill>
                  <a:schemeClr val="tx1"/>
                </a:solidFill>
              </a:rPr>
              <a:t>러</a:t>
            </a:r>
          </a:p>
        </p:txBody>
      </p:sp>
      <p:sp>
        <p:nvSpPr>
          <p:cNvPr id="31" name="모서리가 둥근 직사각형 30"/>
          <p:cNvSpPr/>
          <p:nvPr/>
        </p:nvSpPr>
        <p:spPr>
          <a:xfrm>
            <a:off x="3753405" y="4077071"/>
            <a:ext cx="1300125" cy="40591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뷰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5795112" y="3429000"/>
            <a:ext cx="1300125" cy="42593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모</a:t>
            </a:r>
            <a:r>
              <a:rPr lang="ko-KR" altLang="en-US" sz="1400" dirty="0">
                <a:solidFill>
                  <a:schemeClr val="tx1"/>
                </a:solidFill>
              </a:rPr>
              <a:t>델</a:t>
            </a:r>
          </a:p>
        </p:txBody>
      </p:sp>
      <p:cxnSp>
        <p:nvCxnSpPr>
          <p:cNvPr id="33" name="직선 화살표 연결선 32"/>
          <p:cNvCxnSpPr/>
          <p:nvPr/>
        </p:nvCxnSpPr>
        <p:spPr>
          <a:xfrm flipH="1">
            <a:off x="7184682" y="3717031"/>
            <a:ext cx="558627" cy="76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 flipH="1" flipV="1">
            <a:off x="2936775" y="3777806"/>
            <a:ext cx="774086" cy="22338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>
            <a:off x="2918774" y="3645023"/>
            <a:ext cx="72007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>
            <a:off x="5007006" y="3573015"/>
            <a:ext cx="72007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>
            <a:off x="7184682" y="3573015"/>
            <a:ext cx="558627" cy="76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>
            <a:off x="4348739" y="3789039"/>
            <a:ext cx="0" cy="28204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716630" y="4024449"/>
            <a:ext cx="936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 smtClean="0"/>
              <a:t>웹서버</a:t>
            </a:r>
            <a:endParaRPr lang="ko-KR" altLang="en-US" sz="1600" b="1" dirty="0"/>
          </a:p>
        </p:txBody>
      </p:sp>
      <p:cxnSp>
        <p:nvCxnSpPr>
          <p:cNvPr id="42" name="직선 화살표 연결선 41"/>
          <p:cNvCxnSpPr/>
          <p:nvPr/>
        </p:nvCxnSpPr>
        <p:spPr>
          <a:xfrm flipH="1">
            <a:off x="5010986" y="3717031"/>
            <a:ext cx="72007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889929" y="3356991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rgbClr val="C00000"/>
                </a:solidFill>
              </a:rPr>
              <a:t>요청</a:t>
            </a:r>
            <a:endParaRPr lang="ko-KR" altLang="en-US" sz="1400" dirty="0">
              <a:solidFill>
                <a:srgbClr val="C0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889929" y="3935861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rgbClr val="C00000"/>
                </a:solidFill>
              </a:rPr>
              <a:t>응답</a:t>
            </a:r>
            <a:endParaRPr lang="ko-KR" alt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2691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1" y="-18256"/>
            <a:ext cx="507901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992560" y="1052736"/>
            <a:ext cx="40324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000" b="1" dirty="0" smtClean="0"/>
              <a:t>MVC </a:t>
            </a:r>
            <a:r>
              <a:rPr lang="ko-KR" altLang="en-US" sz="2000" b="1" dirty="0" smtClean="0"/>
              <a:t>구성 요소와 기능</a:t>
            </a:r>
            <a:endParaRPr lang="en-US" altLang="ko-KR" sz="2000" b="1" dirty="0" smtClean="0"/>
          </a:p>
        </p:txBody>
      </p:sp>
      <p:sp>
        <p:nvSpPr>
          <p:cNvPr id="11" name="제목 5"/>
          <p:cNvSpPr txBox="1">
            <a:spLocks/>
          </p:cNvSpPr>
          <p:nvPr/>
        </p:nvSpPr>
        <p:spPr>
          <a:xfrm>
            <a:off x="152401" y="44624"/>
            <a:ext cx="507901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MVC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란</a:t>
            </a:r>
            <a:r>
              <a:rPr lang="en-US" altLang="ko-KR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?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424608" y="1460103"/>
            <a:ext cx="6480720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Controller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 err="1" smtClean="0"/>
              <a:t>서블릿이</a:t>
            </a:r>
            <a:r>
              <a:rPr lang="ko-KR" altLang="en-US" sz="1600" dirty="0" smtClean="0"/>
              <a:t> 컨트롤러의 역할을 한다</a:t>
            </a:r>
            <a:r>
              <a:rPr lang="en-US" altLang="ko-KR" sz="1600" dirty="0" smtClean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 smtClean="0"/>
              <a:t>클라이언트의 요청을 분석한다</a:t>
            </a:r>
            <a:r>
              <a:rPr lang="en-US" altLang="ko-KR" sz="1600" dirty="0" smtClean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 smtClean="0"/>
              <a:t>요청에 대해서 필요한 모델을 호출한다</a:t>
            </a:r>
            <a:r>
              <a:rPr lang="en-US" altLang="ko-KR" sz="1600" dirty="0" smtClean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 smtClean="0"/>
              <a:t>Model</a:t>
            </a:r>
            <a:r>
              <a:rPr lang="ko-KR" altLang="en-US" sz="1600" dirty="0" smtClean="0"/>
              <a:t>에서 처리한 결과를 보여주기 위해 </a:t>
            </a:r>
            <a:r>
              <a:rPr lang="en-US" altLang="ko-KR" sz="1600" dirty="0" err="1" smtClean="0"/>
              <a:t>jsp</a:t>
            </a:r>
            <a:r>
              <a:rPr lang="ko-KR" altLang="en-US" sz="1600" dirty="0" smtClean="0"/>
              <a:t>를 선택한다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sp>
        <p:nvSpPr>
          <p:cNvPr id="29" name="TextBox 28"/>
          <p:cNvSpPr txBox="1"/>
          <p:nvPr/>
        </p:nvSpPr>
        <p:spPr>
          <a:xfrm>
            <a:off x="1424608" y="3476327"/>
            <a:ext cx="648072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Model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 smtClean="0"/>
              <a:t>데이터베이스 연동과 같은 비즈니스 </a:t>
            </a:r>
            <a:r>
              <a:rPr lang="ko-KR" altLang="en-US" sz="1600" dirty="0" err="1" smtClean="0"/>
              <a:t>로직을</a:t>
            </a:r>
            <a:r>
              <a:rPr lang="ko-KR" altLang="en-US" sz="1600" dirty="0" smtClean="0"/>
              <a:t> 수행한다</a:t>
            </a:r>
            <a:r>
              <a:rPr lang="en-US" altLang="ko-KR" sz="1600" dirty="0" smtClean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 smtClean="0"/>
              <a:t>DTO(VO)</a:t>
            </a:r>
            <a:r>
              <a:rPr lang="ko-KR" altLang="en-US" sz="1600" dirty="0" smtClean="0"/>
              <a:t>와 </a:t>
            </a:r>
            <a:r>
              <a:rPr lang="en-US" altLang="ko-KR" sz="1600" dirty="0" smtClean="0"/>
              <a:t>DAO</a:t>
            </a:r>
            <a:r>
              <a:rPr lang="ko-KR" altLang="en-US" sz="1600" dirty="0" smtClean="0"/>
              <a:t>클래스로 이루어져 있다</a:t>
            </a:r>
            <a:r>
              <a:rPr lang="en-US" altLang="ko-KR" sz="1600" dirty="0" smtClean="0"/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24608" y="4869160"/>
            <a:ext cx="648072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View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 smtClean="0"/>
              <a:t>JSP</a:t>
            </a:r>
            <a:r>
              <a:rPr lang="ko-KR" altLang="en-US" sz="1600" dirty="0" smtClean="0"/>
              <a:t>가 화면 기능을 담당한다</a:t>
            </a:r>
            <a:r>
              <a:rPr lang="en-US" altLang="ko-KR" sz="1600" dirty="0" smtClean="0"/>
              <a:t>..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 smtClean="0"/>
              <a:t>Model</a:t>
            </a:r>
            <a:r>
              <a:rPr lang="ko-KR" altLang="en-US" sz="1600" dirty="0" smtClean="0"/>
              <a:t>에서 처리한 결과를 화면에 표시한다</a:t>
            </a:r>
            <a:r>
              <a:rPr lang="en-US" altLang="ko-KR" sz="16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631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MVC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실습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064568" y="980728"/>
            <a:ext cx="511256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smtClean="0"/>
              <a:t>MVC </a:t>
            </a:r>
            <a:r>
              <a:rPr lang="ko-KR" altLang="en-US" sz="2000" b="1" dirty="0" smtClean="0"/>
              <a:t>실습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844824"/>
            <a:ext cx="1990313" cy="294220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904" y="1839265"/>
            <a:ext cx="2527875" cy="294775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37016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MVC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실습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064568" y="980728"/>
            <a:ext cx="662473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컨트롤러</a:t>
            </a:r>
            <a:r>
              <a:rPr lang="en-US" altLang="ko-KR" sz="2000" b="1" dirty="0" smtClean="0"/>
              <a:t>(</a:t>
            </a:r>
            <a:r>
              <a:rPr lang="ko-KR" altLang="en-US" sz="2000" b="1" dirty="0" err="1" smtClean="0"/>
              <a:t>서블릿</a:t>
            </a:r>
            <a:r>
              <a:rPr lang="en-US" altLang="ko-KR" sz="2000" b="1" dirty="0"/>
              <a:t>) – </a:t>
            </a:r>
            <a:r>
              <a:rPr lang="ko-KR" altLang="en-US" sz="2000" b="1" dirty="0"/>
              <a:t>모델을 만들어 뷰에 보내줌 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68" y="1628366"/>
            <a:ext cx="8368888" cy="36728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56172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MVC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실습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064568" y="980728"/>
            <a:ext cx="64807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컨트롤러</a:t>
            </a:r>
            <a:r>
              <a:rPr lang="en-US" altLang="ko-KR" sz="2000" b="1" dirty="0" smtClean="0"/>
              <a:t>(</a:t>
            </a:r>
            <a:r>
              <a:rPr lang="ko-KR" altLang="en-US" sz="2000" b="1" dirty="0" err="1" smtClean="0"/>
              <a:t>서블릿</a:t>
            </a:r>
            <a:r>
              <a:rPr lang="en-US" altLang="ko-KR" sz="2000" b="1" dirty="0" smtClean="0"/>
              <a:t>) – </a:t>
            </a:r>
            <a:r>
              <a:rPr lang="ko-KR" altLang="en-US" sz="2000" b="1" dirty="0" smtClean="0"/>
              <a:t>모델을 만들어 뷰에 보내줌 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28366"/>
            <a:ext cx="7721377" cy="388056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74052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MVC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실습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064568" y="980728"/>
            <a:ext cx="648072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뷰</a:t>
            </a:r>
            <a:r>
              <a:rPr lang="en-US" altLang="ko-KR" sz="2000" b="1" dirty="0" smtClean="0"/>
              <a:t>(mvc01.jsp)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628366"/>
            <a:ext cx="5328592" cy="489407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직사각형 5"/>
          <p:cNvSpPr/>
          <p:nvPr/>
        </p:nvSpPr>
        <p:spPr>
          <a:xfrm>
            <a:off x="6105128" y="1988840"/>
            <a:ext cx="1890210" cy="33855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 smtClean="0"/>
              <a:t>/model/mvc01.jsp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4038363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MVC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실습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92560" y="980728"/>
            <a:ext cx="446449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상품 출력 프로그램</a:t>
            </a:r>
            <a:endParaRPr lang="en-US" altLang="ko-KR" sz="2000" b="1" dirty="0" smtClean="0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98688"/>
              </p:ext>
            </p:extLst>
          </p:nvPr>
        </p:nvGraphicFramePr>
        <p:xfrm>
          <a:off x="1136576" y="2254806"/>
          <a:ext cx="8424936" cy="30175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0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3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4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/>
                        <a:t>파일 이름</a:t>
                      </a:r>
                      <a:endParaRPr lang="ko-KR" altLang="en-US" sz="18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/>
                        <a:t>역 할</a:t>
                      </a:r>
                      <a:endParaRPr lang="ko-KR" altLang="en-US" sz="1800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5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/>
                        <a:t> </a:t>
                      </a:r>
                      <a:r>
                        <a:rPr lang="en-US" altLang="ko-KR" sz="1800" dirty="0" err="1" smtClean="0"/>
                        <a:t>productList.jsp</a:t>
                      </a:r>
                      <a:endParaRPr lang="en-US" altLang="ko-KR" sz="180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aseline="0" dirty="0" smtClean="0"/>
                        <a:t>상품 목록을 출력하기 위한 </a:t>
                      </a:r>
                      <a:r>
                        <a:rPr lang="en-US" altLang="ko-KR" sz="1800" baseline="0" dirty="0" err="1" smtClean="0"/>
                        <a:t>jsp</a:t>
                      </a:r>
                      <a:r>
                        <a:rPr lang="en-US" altLang="ko-KR" sz="1800" baseline="0" dirty="0" smtClean="0"/>
                        <a:t> </a:t>
                      </a:r>
                      <a:r>
                        <a:rPr lang="ko-KR" altLang="en-US" sz="1800" baseline="0" dirty="0" smtClean="0"/>
                        <a:t>파일</a:t>
                      </a:r>
                      <a:endParaRPr lang="ko-KR" altLang="en-US" sz="180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92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/>
                        <a:t> </a:t>
                      </a:r>
                      <a:r>
                        <a:rPr lang="en-US" altLang="ko-KR" sz="1800" dirty="0" err="1" smtClean="0"/>
                        <a:t>selProduct.jsp</a:t>
                      </a:r>
                      <a:endParaRPr lang="en-US" altLang="ko-KR" sz="180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 smtClean="0"/>
                        <a:t>productList</a:t>
                      </a:r>
                      <a:r>
                        <a:rPr lang="ko-KR" altLang="en-US" sz="1800" dirty="0" smtClean="0"/>
                        <a:t>에서 </a:t>
                      </a:r>
                      <a:r>
                        <a:rPr lang="en-US" altLang="ko-KR" sz="1800" dirty="0" smtClean="0"/>
                        <a:t>item</a:t>
                      </a:r>
                      <a:r>
                        <a:rPr lang="ko-KR" altLang="en-US" sz="1800" dirty="0" smtClean="0"/>
                        <a:t>을 선택하고 </a:t>
                      </a:r>
                      <a:r>
                        <a:rPr lang="en-US" altLang="ko-KR" sz="1800" dirty="0" smtClean="0"/>
                        <a:t>&lt;</a:t>
                      </a:r>
                      <a:r>
                        <a:rPr lang="ko-KR" altLang="en-US" sz="1800" dirty="0" smtClean="0"/>
                        <a:t>확인</a:t>
                      </a:r>
                      <a:r>
                        <a:rPr lang="en-US" altLang="ko-KR" sz="1800" dirty="0" smtClean="0"/>
                        <a:t>&gt; </a:t>
                      </a:r>
                      <a:r>
                        <a:rPr lang="ko-KR" altLang="en-US" sz="1800" dirty="0" smtClean="0"/>
                        <a:t>버튼을 누르면 호출되는 </a:t>
                      </a:r>
                      <a:r>
                        <a:rPr lang="en-US" altLang="ko-KR" sz="1800" dirty="0" err="1" smtClean="0"/>
                        <a:t>jsp</a:t>
                      </a:r>
                      <a:r>
                        <a:rPr lang="ko-KR" altLang="en-US" sz="1800" dirty="0" smtClean="0"/>
                        <a:t>로 표현언어를 이용해 데이터 출력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92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/>
                        <a:t>ProductServlet.java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 smtClean="0"/>
                        <a:t>컨트롤러 역할을 하는 </a:t>
                      </a:r>
                      <a:r>
                        <a:rPr lang="ko-KR" altLang="en-US" sz="1800" dirty="0" err="1" smtClean="0"/>
                        <a:t>서블릿으로</a:t>
                      </a:r>
                      <a:r>
                        <a:rPr lang="ko-KR" altLang="en-US" sz="1800" dirty="0" smtClean="0"/>
                        <a:t> 선택된 상품을</a:t>
                      </a:r>
                      <a:r>
                        <a:rPr lang="ko-KR" altLang="en-US" sz="1800" baseline="0" dirty="0" smtClean="0"/>
                        <a:t> 모델 데이터로 저장하여 뷰</a:t>
                      </a:r>
                      <a:r>
                        <a:rPr lang="en-US" altLang="ko-KR" sz="1800" baseline="0" dirty="0" smtClean="0"/>
                        <a:t>(</a:t>
                      </a:r>
                      <a:r>
                        <a:rPr lang="en-US" altLang="ko-KR" sz="1800" baseline="0" dirty="0" err="1" smtClean="0"/>
                        <a:t>selProduct.jsp</a:t>
                      </a:r>
                      <a:r>
                        <a:rPr lang="en-US" altLang="ko-KR" sz="1800" baseline="0" dirty="0" smtClean="0"/>
                        <a:t>)</a:t>
                      </a:r>
                      <a:r>
                        <a:rPr lang="ko-KR" altLang="en-US" sz="1800" baseline="0" dirty="0" smtClean="0"/>
                        <a:t>에 보내준다</a:t>
                      </a:r>
                      <a:r>
                        <a:rPr lang="en-US" altLang="ko-KR" sz="1800" baseline="0" dirty="0" smtClean="0"/>
                        <a:t>.</a:t>
                      </a:r>
                      <a:endParaRPr lang="ko-KR" altLang="en-US" sz="180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79608637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64568" y="1606734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프로그램 소스 목록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0681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MVC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실습</a:t>
            </a:r>
            <a:endParaRPr lang="ko-KR" altLang="en-US" dirty="0"/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4304928" y="2770611"/>
            <a:ext cx="661796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974" y="1966774"/>
            <a:ext cx="2559790" cy="187220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632" y="1859158"/>
            <a:ext cx="2304256" cy="219727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992560" y="980728"/>
            <a:ext cx="446449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상품 출력 프로그램</a:t>
            </a:r>
            <a:endParaRPr lang="en-US" altLang="ko-KR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1673850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MVC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실습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28800"/>
            <a:ext cx="6902112" cy="333443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992560" y="980728"/>
            <a:ext cx="446449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상품 출력 프로그램</a:t>
            </a:r>
            <a:endParaRPr lang="en-US" altLang="ko-KR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1040698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MVC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실습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236" y="1628800"/>
            <a:ext cx="8112276" cy="39604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직사각형 8"/>
          <p:cNvSpPr/>
          <p:nvPr/>
        </p:nvSpPr>
        <p:spPr>
          <a:xfrm>
            <a:off x="7123781" y="1484784"/>
            <a:ext cx="2221707" cy="33855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 smtClean="0"/>
              <a:t>productServlet.java</a:t>
            </a:r>
            <a:endParaRPr lang="en-US" altLang="ko-KR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992560" y="980728"/>
            <a:ext cx="446449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상품 출력 프로그램</a:t>
            </a:r>
            <a:endParaRPr lang="en-US" altLang="ko-KR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821310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MVC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실습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700808"/>
            <a:ext cx="5976664" cy="318205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직사각형 5"/>
          <p:cNvSpPr/>
          <p:nvPr/>
        </p:nvSpPr>
        <p:spPr>
          <a:xfrm>
            <a:off x="6609184" y="1772816"/>
            <a:ext cx="1536804" cy="33855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 err="1" smtClean="0"/>
              <a:t>selProduct.jsp</a:t>
            </a:r>
            <a:endParaRPr lang="en-US" altLang="ko-KR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992560" y="980728"/>
            <a:ext cx="446449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상품 출력 프로그램</a:t>
            </a:r>
            <a:endParaRPr lang="en-US" altLang="ko-KR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2913843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15848</TotalTime>
  <Words>1673</Words>
  <Application>Microsoft Office PowerPoint</Application>
  <PresentationFormat>A4 용지(210x297mm)</PresentationFormat>
  <Paragraphs>333</Paragraphs>
  <Slides>56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63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5장. EL &amp; JSTL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LG</cp:lastModifiedBy>
  <cp:revision>936</cp:revision>
  <dcterms:created xsi:type="dcterms:W3CDTF">2019-03-04T02:36:55Z</dcterms:created>
  <dcterms:modified xsi:type="dcterms:W3CDTF">2025-10-15T12:46:09Z</dcterms:modified>
</cp:coreProperties>
</file>